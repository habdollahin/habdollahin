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thank you for being here. Today’s talk is titled “From Quantitative Imaging to Predictive Virtual Trials: Computational Approaches toward Precision Medicine.” I’ll take you from how we measure cancer with imaging, through radiomics and its reliability, to digital twins, theranostics and predictive dosimetry, and finish with my research vision for the next years at Lakehead University.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talk has two parts. Part I, about 35 minutes, covers my research background and current work: why cancer is complex, dynamic and heterogeneous; imaging biomarkers, radiomics, radiogenomics and robustness; and predictive modeling, dosimetry and theranostics. Part II, about 10 minutes, is my research vision, organized as five aims: quantitative imaging and biological characterization; AI-enhanced molecular imaging; patient-specific digital twins and personalized radiopharmaceutical therapy; molecular imaging integrated with advanced treatment technologies; and imaging-informed virtual trials and radiopharmaceutical development. Key words that tie it together: medical physics, PET/CT (PSMA, FDG), radiomics, radiogenomics, quantitative biomarkers, multimodal imaging, radiobiology, machine learning, PBPK modeling, dosimetry, theranostics, digital twins, virtual trials, personalized care and precision medicine.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start: I’ll share selected PhD and postdoctoral research that shaped my approach to precision medicine. I have no conflicts of interest to declare. I thank all collaborators who contributed to these works, and I thank the search committee for this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I: research background and current work, about 35 minutes. I’ll start with the problem — cancer’s complexity — then show how imaging biomarkers and radiomics measure it, and finally how predictive modeling, dosimetry and theranostics turn those measurements into decisions.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Cancer is the number one cause of death in Canada. According to Canadian Cancer Statistics 2025, two in five Canadians will develop cancer in their lifetime and one in four will die from it. About 254,800 new diagnoses and 87,400 cancer deaths are expected in 2025, and five-year net survival is 64%.</a:t>
            </a:r>
          </a:p>
          <a:p/>
          <a:p>
            <a:r>
              <a:t>One way to frame it is “the good, the bad and the ugly.” The good: a rich cancer technology ecosystem. The bad: high incidence and mortality. The ugly: tumour heterogeneity — which is what makes cancer so hard to treat and is the thread running through this talk.</a:t>
            </a:r>
          </a:p>
          <a:p/>
          <a:p>
            <a:r>
              <a:t>Source: https://cancer.ca/en/research/cancer-statistics/cancer-statistics-infographics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highlights three defining features of cancer: complexity, heterogeneity, and continuous change.</a:t>
            </a:r>
          </a:p>
          <a:p>
            <a:r>
              <a:t>Cancer is complex because its behavior emerges from interactions among cancer cells, immune cells, blood vessels, and the surrounding tissue. Genetic alterations, epigenetic changes, and the microenvironment shape these interactions.</a:t>
            </a:r>
          </a:p>
          <a:p>
            <a:r>
              <a:t>Cancer is heterogeneous at several levels: between patients, between lesions in the same patient, and between regions within a single tumor. These differences extend from molecules and cells to tissues and whole patients.</a:t>
            </a:r>
          </a:p>
          <a:p>
            <a:r>
              <a:t>Cancer is also dynamic. Cell populations evolve over time under pressures such as limited oxygen, immune surveillance, and treatment. Therapy can eliminate sensitive cells while allowing resistant populations to survive and expand.</a:t>
            </a:r>
          </a:p>
          <a:p>
            <a:r>
              <a:t>Together, these features help explain differences in treatment response, progression, and recurrence. They also motivate my research vision: using quantitative imaging and computational models to characterize this variability, predict its evolution, and support personalized, adaptive treatment.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good news is that we have a strong cancer technology ecosystem.</a:t>
            </a:r>
          </a:p>
          <a:p>
            <a:r>
              <a:t>On the left is the cancer care continuum: prevention and screening, diagnosis and stratification, treatment planning, treatment delivery, response assessment, and survivorship and monitoring. Each step generates data and decisions.</a:t>
            </a:r>
          </a:p>
          <a:p>
            <a:r>
              <a:t>On the right are the four pillars of personalized cancer care: multimodal data — medical and molecular imaging, genomics and clinical outcomes; multidisciplinary expertise — patients, clinicians, physicists and scientists; treatment technologies — imaging, surgery, radiotherapy, systemic therapy and theranostics; and computational models — radiomics, AI, predictive models and digital twins.</a:t>
            </a:r>
          </a:p>
          <a:p>
            <a:r>
              <a:t>Connecting them must be multimodal, multiscale, multipurpose and multidisciplinary, and it works as a learning loop: evidence leads to decisions, decisions to outcomes, and outcomes back to learning.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Imaging lets us measure the tumour phenotype non-invasively and repeatedly.</a:t>
            </a:r>
          </a:p>
          <a:p>
            <a:r>
              <a:t>We have three families of imaging: anatomic imaging with CT, MRI and ultrasound; functional imaging with diffusion, perfusion, BOLD and spectroscopy; and molecular imaging with PET, SPECT and targeted tracers.</a:t>
            </a:r>
          </a:p>
          <a:p>
            <a:r>
              <a:t>Together they capture tumour hallmarks: structure, such as cell density and fat and water composition; and function, such as metabolism, proliferation, hypoxia and angiogenesis, receptor expression, apoptosis and the microenvironment.</a:t>
            </a:r>
          </a:p>
          <a:p>
            <a:r>
              <a:t>These quantitative, multiscale measurements connect with the other ‘omics’ — radiomics, pathomics, metabolomics, proteomics, transcriptomics and genomics — to build an integrated cancer phenotype for biomarkers, prediction and personalization.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main ways to build radiomics models.</a:t>
            </a:r>
          </a:p>
          <a:p>
            <a:r>
              <a:t>A, handcrafted radiomics: we preprocess the images, segment the tumour, extract predefined shape, intensity and texture features, select the most informative ones, and train a machine-learning model such as SVM, random forest or regression to predict risk.</a:t>
            </a:r>
          </a:p>
          <a:p>
            <a:r>
              <a:t>B, end-to-end deep learning: a convolutional network or vision transformer learns its own features directly from the images, and the whole chain from image to risk is optimized jointly.</a:t>
            </a:r>
          </a:p>
          <a:p>
            <a:r>
              <a:t>C, deep features plus machine learning: a pretrained or fine-tuned network is used only as a feature extractor; its embeddings are selected and passed to a separate machine-learning model.</a:t>
            </a:r>
          </a:p>
          <a:p>
            <a:r>
              <a:t>All three can support diagnosis, prognosis and treatment-response prediction, but each needs independent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radiomics work uses four complementary, patient-centred perspectives.</a:t>
            </a:r>
          </a:p>
          <a:p>
            <a:r>
              <a:t>First, tumour phenotyping — characterizing the cancer itself in prostate, lung, brain and kidney: grade, molecular status, prognosis and treatment response.</a:t>
            </a:r>
          </a:p>
          <a:p>
            <a:r>
              <a:t>Second, normal-tissue response and toxicity — characterizing organs at risk such as the cochlea, salivary glands, rectum and bladder, their changes after radiotherapy, and toxicity risk.</a:t>
            </a:r>
          </a:p>
          <a:p>
            <a:r>
              <a:t>Third, systemic and multi-organ phenotyping — characterizing the host beyond the tumour, for example multi-organ and endocrine-organ signatures in PSMA-negative prostate cancer.</a:t>
            </a:r>
          </a:p>
          <a:p>
            <a:r>
              <a:t>Fourth, non-oncologic disease — myocardial infarction on cardiac MRI, COVID-19 lung disease on CT, and bone mineral loss on radiographs.</a:t>
            </a:r>
          </a:p>
          <a:p>
            <a:r>
              <a:t>Cross-cutting approaches are multimodal imaging, radiogenomics and longitudinal or delta radiomics.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Radiomics has six main applications, from image features to prediction and monitoring.</a:t>
            </a:r>
          </a:p>
          <a:p>
            <a:r>
              <a:t>One, radiotherapy response prediction — predicting tumour response and identifying resistance patterns.</a:t>
            </a:r>
          </a:p>
          <a:p>
            <a:r>
              <a:t>Two, radiation toxicity prediction — estimating normal-tissue injury risk in organs such as the salivary glands, rectum and bladder.</a:t>
            </a:r>
          </a:p>
          <a:p>
            <a:r>
              <a:t>Three, diagnosis and tumour characterization — assessing tumour type, grade and aggressiveness alongside pathology.</a:t>
            </a:r>
          </a:p>
          <a:p>
            <a:r>
              <a:t>Four, prognosis and recurrence prediction — estimating progression risk and stratifying patients over follow-up.</a:t>
            </a:r>
          </a:p>
          <a:p>
            <a:r>
              <a:t>Five, molecular characterization — radiogenomics, linking imaging features with tumour biology.</a:t>
            </a:r>
          </a:p>
          <a:p>
            <a:r>
              <a:t>Six, treatment monitoring — tracking change during and after therapy with delta radiomics.</a:t>
            </a:r>
          </a:p>
          <a:p>
            <a:r>
              <a:t>Radiomics also extends beyond the tumour to systemic and non-cancer disease. All of these need multimodal imaging, reproducible features and external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walk through selected studies from my PhD and postdoctoral work. They follow one thread: first, using radiomics to characterize tumours, predict response and predict toxicity; second, making those features reliable through robustness and harmonization studies; and third, moving from statistical prediction to mechanistic, patient-specific models — digital twins and theranostic digital twins — with predictive dosimetry as an application. For each study I will show the design, the main method and the key quantitative results, and note the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asked whether normal endocrine organs carry signals about disease progression — systemic imaging signatures beyond visible tumour lesions.</a:t>
            </a:r>
          </a:p>
          <a:p/>
          <a:p>
            <a:r>
              <a:t>Cohort: 101 men with biochemical recurrence after prostatectomy and a negative baseline [18F]DCFPyL PET/CT. 67 developed clinical progression (new lesions on follow-up imaging) and 34 stayed progression-free. We drew regions of interest on normal endocrine organs: adrenal glands, thyroid, hypothalamus–pituitary and testes, with manual CT segmentation and paired PET and CT features. Only baseline predictors were used; post-imaging treatment variables were excluded.</a:t>
            </a:r>
          </a:p>
          <a:p/>
          <a:p>
            <a:r>
              <a:t>Modeling: CT radiomics, PET radiomics and clinical variables; PyRadiomics first-order and texture features; a stratified 70% train / 30% test split; training-only preprocessing (imputation, filtering, z-score scaling); feature selection to 5 features with SelectKBest, LASSO or RFE; five classifiers (logistic regression, random forest, SVM, gradient boosting, histogram gradient boosting); held-out evaluation with bootstrap intervals, DeLong test, calibration and SHAP.</a:t>
            </a:r>
          </a:p>
          <a:p/>
          <a:p>
            <a:r>
              <a:t>Results: the best fusion model was testis CT + PET + clinical with RFE and gradient boosting, AUC 0.758 (95% CI 0.653–0.849). Best per category: clinical only 0.727, CT + clinical 0.729, PET + clinical 0.733, CT + PET + clinical 0.758. The incremental gain was ΔAUC 0.031, DeLong p = 0.569 — not a significant improvement over clinical-only.</a:t>
            </a:r>
          </a:p>
          <a:p/>
          <a:p>
            <a:r>
              <a:t>Interpretation: complementary, modest predictive value; biological mechanisms remain exploratory. Retrospective single-centre cohort, no external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trusting radiomic features we need to know how robust they are. This study measured the effect of PET reconstruction settings.</a:t>
            </a:r>
          </a:p>
          <a:p/>
          <a:p>
            <a:r>
              <a:t>Study design: phantom and patient studies. A NEMA body phantom with six spherical inserts, and 25 patients with lung, head and neck and liver cancers. Two PET/CT scanners: GE Discovery 690 and Siemens Biograph 6 TruePoint. In total 654 phantom reconstructions and 60 patient reconstructions.</a:t>
            </a:r>
          </a:p>
          <a:p/>
          <a:p>
            <a:r>
              <a:t>Reconstruction and analysis: the same lesion reconstructed with OSEM, OSEM + PSF, OSEM + TOF and OSEM + PSF + TOF. Settings varied by study arm: sub-iterations and subsets, Gaussian filter width, time per bed position and matrix size. A fixed reference VOI (42% SUVmax threshold) was propagated across reconstructions. 100 radiomic features (intensity, geometry, texture); variability assessed by the coefficient of variation, COV = SD / mean × 100%, binned as ≤5%, &gt;5–10%, &gt;10–20% and &gt;20%.</a:t>
            </a:r>
          </a:p>
          <a:p/>
          <a:p>
            <a:r>
              <a:t>Findings: 47% of features had COV ≤5% and 10% had COV &gt;20%. By family, COV ≤5% for geometry 100%, intensity 44%, texture 41% (geometry results reflect the fixed-VOI design). Matrix size, analysed separately, had the largest impact: 56% of features with COV &gt;20% and only 6% with COV ≤5%.</a:t>
            </a:r>
          </a:p>
          <a:p/>
          <a:p>
            <a:r>
              <a:t>Message: robustness is feature- and setting-dependent. Standardize reconstruction and voxel sampling, and select features validated for the intended protocol.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Radiomics-guided radiation therapy (RGRT) uses radiomics at every stage of radiotherapy.</a:t>
            </a:r>
          </a:p>
          <a:p/>
          <a:p>
            <a:r>
              <a:t>Before treatment — characterize and plan: radiomic feature mapping of CT, MRI and PET/CT for patient and treatment selection; a radiomics target volume (RTV) made of feature-defined intratumoral subregions; and a radiomics volumetric signature map (RVSM) of the tumour and organs at risk.</a:t>
            </a:r>
          </a:p>
          <a:p/>
          <a:p>
            <a:r>
              <a:t>During treatment — monitor and adapt: radiomics knowledge-based planning (RKBP) and feature-informed beam optimization; dose painting by feature (DPBF), a proposed dose modulation across target subregions that optimizes tumour control while respecting OAR constraints; delta radiomics and adaptive replanning (baseline → on-treatment → updated plan, updating predictions as treatment evolves); and delivery verification and error detection.</a:t>
            </a:r>
          </a:p>
          <a:p/>
          <a:p>
            <a:r>
              <a:t>After treatment — assess and distinguish: tumour response versus normal-tissue injury, and late recurrence versus treatment effect, to inform follow-up.</a:t>
            </a:r>
          </a:p>
          <a:p/>
          <a:p>
            <a:r>
              <a:t>Inputs are longitudinal imaging, radiomic features, clinical data and dosimetry. These are conceptual research applications that require biological and prospective clinical validation. Adapted from Abdollahi et al. (2022), Radiomics-guided radiation therapy: opportunities and challenges, Phys Med Biol 67, 12TR02 (CC BY 4.0).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Multicentre data bring scanner and protocol differences — “batch effects.” Here we tested ComBat harmonization for predicting EGFR and KRAS mutation status in lung cancer.</a:t>
            </a:r>
          </a:p>
          <a:p/>
          <a:p>
            <a:r>
              <a:t>Multicentre imaging and fusion: 136 NSCLC patients from two institutions with 18F-FDG PET/CT and mutation status. CT and PET were fused with wavelet fusion: 9 wavelet fusion configurations, 16/32/64 grey-level bins, 33 imaging configurations and 218 features per configuration, extracted with SERA in an IBSI-consistent way.</a:t>
            </a:r>
          </a:p>
          <a:p/>
          <a:p>
            <a:r>
              <a:t>Feature harmonization and modeling: features were analysed without and with ComBat (feature-space batch correction that aligns the centre 1 and centre 2 distributions). Then mRMR feature selection and a random forest, with 70% training / 30% testing over 10 repeated random splits (internal evaluation).</a:t>
            </a:r>
          </a:p>
          <a:p/>
          <a:p>
            <a:r>
              <a:t>Results — range of mean model AUCs: EGFR improved from 0.87–0.90 before to 0.92–0.94 after; KRAS from 0.85–0.90 to 0.91–0.94. Multivariate AUC improved across models (q &lt; 0.05). The highlighted harmonized fusion model (R = 0.66, W = 0.75, 64 bins) reached EGFR AUC 0.94 and KRAS AUC 0.93.</a:t>
            </a:r>
          </a:p>
          <a:p/>
          <a:p>
            <a:r>
              <a:t>Single-feature effects varied: broader improvement for EGFR; most KRAS features showed no significant change. Independent validation remains necessary.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CT radiomics predict the Fuhrman nuclear grade of clear-cell renal cell carcinoma before surgery?</a:t>
            </a:r>
          </a:p>
          <a:p/>
          <a:p>
            <a:r>
              <a:t>CT cohort and preprocessing: 222 TCIA studies were screened, giving 71 ccRCC patients — 31 low grade (I–II) and 40 high grade (III–IV), with Fuhrman grade at nephrectomy. Manual VOI with radiologist verification in 3D Slicer, then isotropic resampling. Images were filtered with LoG (σ 0.5–5.0) and wavelets and discretized at 32, 64 and 128 bins.</a:t>
            </a:r>
          </a:p>
          <a:p/>
          <a:p>
            <a:r>
              <a:t>Radiomic modeling: 2,530 PyRadiomics features per tumour (shape, first-order, texture), z-score normalization. Two branches: univariate feature filtering (correlation filtering → t-test → FDR correction), and feature selection for modeling (LASSO, t-test, mRMR) feeding machine-learning classifiers (logistic regression, random forest, SVM), with cross-validation for tuning and bootstrap internal evaluation.</a:t>
            </a:r>
          </a:p>
          <a:p/>
          <a:p>
            <a:r>
              <a:t>Fuhrman grade discrimination (selected AUCs, Table 4 of the paper): Original LR 0.68 / RF 0.62 / SVM 0.76; 32 bins 0.73 / 0.56 / 0.70; 64 bins 0.70 / 0.55 / 0.65; 128 bins 0.75 / 0.60 / 0.77; LoG σ 4.5 0.62 / 0.62 / 0.83. The highest reported AUC was 0.83 with SVM, t-test selection and coarse LoG. Four texture features were significant on 128-bin images (FDR-adjusted q &lt; 0.05): GLRLM, GLCM, NGTDM and GLDM.</a:t>
            </a:r>
          </a:p>
          <a:p/>
          <a:p>
            <a:r>
              <a:t>Message: potential for non-invasive preoperative ccRCC grading. Exploratory retrospective study, 71 patients, no external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“virtual biopsy”: can CT radiomics classify thoracic lesions without a needle?</a:t>
            </a:r>
          </a:p>
          <a:p/>
          <a:p>
            <a:r>
              <a:t>Cohort: a retrospective study of 300 patients. From the biopsy series, the pre-biopsy CT was selected so that needle-free images were used for radiomics. Expert segmentation plus radiologist review. 189 tumoral and 111 study-defined normal cases: 80 adenocarcinoma, 32 SCC, 20 SCLC, 36 lymphoma and 21 mesenchymal tumours; pathology provided the reference labels. Preprocessing: resampling, grey-level discretization, Gaussian smoothing.</a:t>
            </a:r>
          </a:p>
          <a:p/>
          <a:p>
            <a:r>
              <a:t>Feature extraction and modeling: 106 PyRadiomics features (shape, first-order, texture), ReliefF feature selection, and two feature sets — radiomics alone, and clinical (demographic and radiological variables) plus radiomics. Model comparison: logistic regression, SVM and random forest; standardization, SMOTE, 80% training / 20% testing, 5-fold cross-validation on the training data; six separate binary comparisons against normal.</a:t>
            </a:r>
          </a:p>
          <a:p/>
          <a:p>
            <a:r>
              <a:t>Reported test AUCs (best classifier per task and feature set; radiomics vs clinical + radiomics): tumoral 0.682 vs 0.721; adenocarcinoma 0.690 vs 0.741; SCC 0.820 vs 0.769; SCLC 0.869 vs 0.875; lymphoma 0.875 vs 0.920; mesenchymal 0.861 vs 0.852. The highest was 0.920 for lymphoma vs normal with the combined model. Clinical variables did not improve every task — AUC was lower for SCC and mesenchymal. Values follow the detailed Tables 2–7; abstract values differ for lymphoma and mesenchymal.</a:t>
            </a:r>
          </a:p>
          <a:p/>
          <a:p>
            <a:r>
              <a:t>Caution: the reported workflow applied SMOTE before splitting, which introduces leakage risk and may inflate performance. These are internal exploratory results — potential decision support alongside tissue biopsy, not a validated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study looked at the parotid glands as organs at risk: can longitudinal CT radiomics and dose information predict late xerostomia?</a:t>
            </a:r>
          </a:p>
          <a:p/>
          <a:p>
            <a:r>
              <a:t>Longitudinal imaging and dose: 31 head-and-neck cancer patients, 59 parotids, treated with VMAT, 58–70 Gy in 30–35 fractions. CT was acquired pre-RT (CT1), mid-RT (CT2) and post-RT (CT3), with bilateral parotid segmentation and a registered dose map; CT contours were reviewed by radiation oncologists. Outcome: late xerostomia assessed 3–6 months after RT.</a:t>
            </a:r>
          </a:p>
          <a:p/>
          <a:p>
            <a:r>
              <a:t>Feature integration and modeling: CT radiomics, delta radiomics, dosiomics/DVH and clinical variables. We looked at feature relationships (CT vs ΔCT, CT vs dose, dose vs DVH), then LASSO feature selection, LASSO modeling and nested cross-validation, reporting AUC, sensitivity, specificity and accuracy.</a:t>
            </a:r>
          </a:p>
          <a:p/>
          <a:p>
            <a:r>
              <a:t>Reported AUCs: CT1 0.68; CT2 0.84; CT3 0.89; ΔCT2−1 0.79; ΔCT3−1 0.78; CT1 + dose 0.58; CT2 + dose 0.86; CT3 + dose 0.71; ΔCT2−1 + dose 0.89; ΔCT3−1 + dose 0.78; dose 0.72; DVH 0.89; clinical 0.88. The highest reported AUC, 0.89, was reached by CT3, by ΔCT2−1 + dose and by DVH.</a:t>
            </a:r>
          </a:p>
          <a:p/>
          <a:p>
            <a:r>
              <a:t>Message: longitudinal parotid imaging plus dose information supports xerostomia risk assessment. (Imaging and correlation matrix in the original were illustrative; AUCs transcribed from the supplied slides.)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used PSMA PET/CT radiomics for non-invasive risk characterization of prostate cancer, with independent external testing.</a:t>
            </a:r>
          </a:p>
          <a:p/>
          <a:p>
            <a:r>
              <a:t>Multicentre cohort: 243 patients from four centres, newly diagnosed and untreated, imaged with [68Ga]Ga-PSMA-11 PET/CT. Expert segmentation in 3D Slicer of the whole prostate on CT and PET, and of the PSMA-avid lesion on PET. Centres 1–2 gave 186 development cases with 10-fold internal cross-validation; centres 3–4 gave 57 external test cases. Two tasks: Gleason grade group 1–3 vs 4–5, and PSA &lt;20 vs ≥20 ng/mL.</a:t>
            </a:r>
          </a:p>
          <a:p/>
          <a:p>
            <a:r>
              <a:t>Feature processing and classification: 1,746 features per segment (PyRadiomics shape, first-order, texture, plus wavelet, LoG, exponential, gradient, square and square-root filtered images); resampling, intensity discretization and image filters; z-score normalization; ComBat harmonization; PCA retaining 90% of variance. Four inputs: prostate CT, prostate PET, lesion PET and PET + CT features. Five classifiers: random forest, nearest centroid, SVM, logistic regression and calibrated classifier CV, with separate models for grade group and PSA.</a:t>
            </a:r>
          </a:p>
          <a:p/>
          <a:p>
            <a:r>
              <a:t>Results (reported mean performance): Gleason grade group — internal 78.0% (nearest centroid, whole-prostate PET); external 73.8% (random forest, PSMA-avid lesion PET). PSA — internal 75.4% (nearest centroid, whole-prostate PET); external 76.4% (nearest centroid, concatenated PET + CT). Differences between classifiers were not statistically significant (p &gt; 0.05). PET lesion features and PET/CT fusion showed potential for risk stratification.</a:t>
            </a:r>
          </a:p>
          <a:p/>
          <a:p>
            <a:r>
              <a:t>Retrospective multicentre study with independent external testing. Percentages follow the narrative results; detailed metric tables were not supplied.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MRI radiomics for treatment-response assessment and prostate cancer characterization.</a:t>
            </a:r>
          </a:p>
          <a:p/>
          <a:p>
            <a:r>
              <a:t>Patient cohort and MRI: 33 prostate cancer patients in a prospective study, all with biopsy-proven adenocarcinoma. T2-weighted MRI and ADC maps were acquired before IMRT (70.2 Gy in 26 fractions) and about 3 months after. Expert 3D segmentation in 3D Slicer. Response was defined by ADC: an ADC increase above 20% — 15 responders (45%) and 18 non-responders. We also classified Gleason score (≤7 vs &gt;7) and stage (T2 vs T3).</a:t>
            </a:r>
          </a:p>
          <a:p/>
          <a:p>
            <a:r>
              <a:t>Radiomics and machine learning: 1,135 IBEX features per image (intensity, shape, texture); intensity normalization μ ± 3σ; quantization to 64 grey levels; pre-, post- and delta radiomics; four feature-selection methods (SelectKBest, Variance Threshold, Select From Model, Select Percentile); classifiers AdaBoost, decision tree, linear SVM, Gaussian NB, Bernoulli NB, KNN and logistic regression; 10-fold cross-validation with ROC AUC.</a:t>
            </a:r>
          </a:p>
          <a:p/>
          <a:p>
            <a:r>
              <a:t>Results: early IMRT response — best pre-treatment models AUC 0.78 for T2-weighted and 0.77 for ADC; mean AUC across models post-T2 0.632, pre-ADC 0.626, pre-T2 0.610. Gleason score classification — mean AUC 0.739 (T2-weighted) and 0.700 (ADC). Stage classification — mean AUC 0.675 (ADC) and 0.625 (T2-weighted).</a:t>
            </a:r>
          </a:p>
          <a:p/>
          <a:p>
            <a:r>
              <a:t>Exploratory cohort, no independent external validation; response is defined by ADC change.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CT radiomics of the cochlea predict treatment-related hearing loss?</a:t>
            </a:r>
          </a:p>
          <a:p/>
          <a:p>
            <a:r>
              <a:t>Patient cohort and cochlea CT: 47 patients, 94 cochleae, in a prospective study of head and neck irradiation. Pre-treatment CT with 1 mm slices; manual cochlear segmentation by a radiation oncologist, verified by two experts. 3D conformal radiotherapy, 50–70 Gy in 28–38 fractions, with or without concurrent chemotherapy. Pure-tone audiometry at baseline, mid-treatment, 3 months and 6 months, graded with CTCAE v4.03. 37 of 94 ears (~40%) developed sensorineural hearing loss (SNHL).</a:t>
            </a:r>
          </a:p>
          <a:p/>
          <a:p>
            <a:r>
              <a:t>Radiomics and modelling: 490 CT radiomic features (MATLAB intensity and texture analysis). Two branches: machine learning in WEKA — correlation-based feature selection (490 → 23 features), ten classifiers evaluated (trees, Bayesian, boosting, bagging, regression), repeated 10-fold cross-validation; and LASSO logistic regression in R (glmnet, penalized modelling), 490 → 10 non-zero features, 10-fold cross-validation for λ. Outcome modelling combined radiomics with clinical and dosimetric variables: age, sex, chemotherapy, dose, fractions and gEUD (generalized equivalent uniform dose).</a:t>
            </a:r>
          </a:p>
          <a:p/>
          <a:p>
            <a:r>
              <a:t>Results: LASSO radiomic model AUC 0.885 with 10 selected features, cross-validation misclassification error 0.205, selected λ 0.0328. Leading radiomic ML classifiers (Decision Stump and Hoeffding): accuracy 76.08%, precision 75.9%. gEUD-only model: AUC 0.79, accuracy 72%, precision 74%. Adding gEUD improved ML precision and AUC; accuracy was similar.</a:t>
            </a:r>
          </a:p>
          <a:p/>
          <a:p>
            <a:r>
              <a:t>Small cohort; further validation needed.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radiogenomics example: non-invasive imaging signatures of MGMT promoter methylation in glioblastoma.</a:t>
            </a:r>
          </a:p>
          <a:p/>
          <a:p>
            <a:r>
              <a:t>MRI cohort and regional segmentation: 122 GBM cases screened in TCIA, 82 with MGMT status — 45 methylated and 37 unmethylated, with molecular reference labels. T1-weighted contrast-enhanced and T2-FLAIR MRI. Regions: whole tumour, enhancing tumour, necrosis and edema; manual segmentation in 3D Slicer with radiologist verification. Preprocessing: grey-level discretization, LoG filtering and wavelet decomposition.</a:t>
            </a:r>
          </a:p>
          <a:p/>
          <a:p>
            <a:r>
              <a:t>Radiomic analysis and modeling: shape, first-order and texture features over 41 image sets. Univariate analysis: z-score normalization, Student’s t-test, individual-feature AUC. Multivariate analysis: 7 feature-selection methods, 12 classifiers (decision tree, AdaBoost, SVM, random forest and others), 10-fold cross-validation. Image region, preprocessing and model were evaluated jointly.</a:t>
            </a:r>
          </a:p>
          <a:p/>
          <a:p>
            <a:r>
              <a:t>MGMT methylation prediction: best multivariate model AUC 0.78 — decision tree with Select From Model, edema region, LoG features. Second-best AUC 0.74 — AdaBoost with Select From Model, edema region, LoG features. Best individual feature AUC 0.71 — GLCM inverse variance, whole tumour, LoG σ = 4.5 mm. The strongest multivariate result arose from the edema region.</a:t>
            </a:r>
          </a:p>
          <a:p/>
          <a:p>
            <a:r>
              <a:t>Exploratory retrospective study, 82 patients, internal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learning can also improve the images themselves. Here we predicted full-dose-like chest CT from ultra-low-dose CT.</a:t>
            </a:r>
          </a:p>
          <a:p/>
          <a:p>
            <a:r>
              <a:t>Multicentre chest CT cohort: 1,141 CT exams from 9 centres, retrospective, including 312 COVID-19-positive exams. Training 800 (112 COVID-19), test 170 (100 COVID-19), external validation 171 (100 COVID-19). Ultra-low-dose CT was simulated: full-dose CT → projection-domain noise (Poisson + Gaussian) → FBP, calibrated to a real ultra-low-dose protocol. Reference CTDIvol fell from 6.5 to 0.72 mGy — up to 89% reduction.</a:t>
            </a:r>
          </a:p>
          <a:p/>
          <a:p>
            <a:r>
              <a:t>Deep residual learning: ultra-low-dose input → predicted CT, with full-dose CT as the training target. 20 convolutional layers, 9 residual blocks with skip connections, dilated convolutions (1, 2, 4), 2D 512 × 512 input; TensorFlow, Adam optimizer, L2 loss. Evaluation was quantitative plus radiologist-based: RMSE, SSIM, PSNR, image quality, lesion visibility and morphology.</a:t>
            </a:r>
          </a:p>
          <a:p/>
          <a:p>
            <a:r>
              <a:t>Results — external validation (ultra-low-dose → predicted): RMSE 0.16 → 0.08; SSIM 0.89 → 0.97; PSNR 29.40 → 33.60 dB (mean values, all p &lt; 0.0001). Test-set improvement: RMSE 0.16 → 0.09; SSIM 0.89 → 0.97. Overall image quality, radiologist score out of 5: ultra-low-dose 2.78, predicted 4.42, full-dose reference 4.72.</a:t>
            </a:r>
          </a:p>
          <a:p/>
          <a:p>
            <a:r>
              <a:t>Caveat: lesion fidelity remains critical. Some outliers showed altered lesion structure or density; improved appearance does not guarantee diagnostic fidelity.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recurring theme in my work is radiomic feature reliability, which has three parts.</a:t>
            </a:r>
          </a:p>
          <a:p/>
          <a:p>
            <a:r>
              <a:t>I. Repeatability — repeated measurements under the same conditions (test and retest on the same scanner). The question: does the feature remain consistent when we repeat the scan? Examples from my research: glioblastoma MRI test–retest, image-registration analysis, and cardiac SPECT phantom repeat scans.</a:t>
            </a:r>
          </a:p>
          <a:p/>
          <a:p>
            <a:r>
              <a:t>II. Reproducibility — measurements under changed conditions (scanner A vs scanner B, the same phantom). The question: does the feature remain consistent across scanners and centres? Examples: multi-scanner PET and SPECT, three-centre bone radiography, and inter-scanner and inter-modality comparisons.</a:t>
            </a:r>
          </a:p>
          <a:p/>
          <a:p>
            <a:r>
              <a:t>III. Robustness — sensitivity to controlled perturbations in reconstruction, preprocessing (smoothing, filtering) and segmentation (threshold). The question: how much does the feature change when the imaging workflow changes? Examples: PET reconstruction and delineation, cervical MRI preprocessing, and radiography acquisition and processing.</a:t>
            </a:r>
          </a:p>
          <a:p/>
          <a:p>
            <a:r>
              <a:t>Research aim: identify stable features and quantify sources of variability. (This is a conceptual grouping of my publication portfolio; study terminology may overlap.)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the challenge? Averaging.</a:t>
            </a:r>
          </a:p>
          <a:p/>
          <a:p>
            <a:r>
              <a:t>We start from population heterogeneity — children, adults, older people; every patient is different. Within each patient there is intra-patient and intra-tumour heterogeneity, shaped by epidemiological factors, patient features, clinical annotations, normal tissue biology, microenvironmental conditions and cellular states. These features interact and combine into a complex patient response to therapy.</a:t>
            </a:r>
          </a:p>
          <a:p/>
          <a:p>
            <a:r>
              <a:t>But clinical evidence is usually summarized as an averaged population outcome — a single probability-versus-treatment curve. The individual patient’s curve can be very different from that dashed average. Designing treatment around the average patient therefore misses many real patients.</a:t>
            </a:r>
          </a:p>
          <a:p/>
          <a:p>
            <a:r>
              <a:t>Source: DREAM team vision, Radiotherapy and Oncology, 2024.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the solution? Digital twinning. This perspective by Thomas Yankeelov and colleagues — David Hormuth II, Ernesto Lima, Guillermo Lorenzo, Chengyue Wu, Lois Okereke, Gaiane Rauch, Aradhana Venkatesan and Caroline Chung — puts it well: we need to design clinical trials for patients who are not average. Instead of fitting each patient to a population curve, we build a patient-specific model that is calibrated and updated with that patient’s own data.</a:t>
            </a:r>
          </a:p>
          <a:p/>
          <a:p>
            <a:r>
              <a:t>Reference: Yankeelov et al., 2023, “Designing clinical trials for patients who are not average,” iScience (Cell Press, open access).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Yankeelov and colleagues describe four building blocks around a loop of measure → predict → optimize → update, aimed at personalized clinical trials with patient-specific prediction and adaptation.</a:t>
            </a:r>
          </a:p>
          <a:p/>
          <a:p>
            <a:r>
              <a:t>Biology-based mathematical models describe growth, migration and treatment response, calibrated with patient-specific data (for example a tumour mesh turned into a cellularity map). Readiness: high.</a:t>
            </a:r>
          </a:p>
          <a:p/>
          <a:p>
            <a:r>
              <a:t>Data assimilation integrates new longitudinal measurements (t1, t2, t3) to update parameters and predictions. Readiness: intermediate.</a:t>
            </a:r>
          </a:p>
          <a:p/>
          <a:p>
            <a:r>
              <a:t>Optimal control theory optimizes dose, timing and sequence — for example comparing regimens A, B and C — to balance higher tumour control against lower toxicity. Readiness: intermediate.</a:t>
            </a:r>
          </a:p>
          <a:p/>
          <a:p>
            <a:r>
              <a:t>Digital twins create a dynamic patient–model connection: patient measurements (imaging, clinical, molecular) flow into the model, which simulates alternative interventions. Readiness: low.</a:t>
            </a:r>
          </a:p>
          <a:p/>
          <a:p>
            <a:r>
              <a:t>Enablers: imaging, clinical and molecular data; scientific machine learning for parameter estimation and surrogate modeling; and prospective clinical validation is needed. Readiness reflects the authors’ assessment at publication; this is a perspective framework, not demonstrated clinical benefit. Conceptual synthesis of Yankeelov et al., iScience 27:108589 (2024; online 2023), doi:10.1016/j.isci.2023.108589.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exactly is a digital twin? Paraphrasing the National Academies of Sciences, Engineering, and Medicine (2024): a digital twin is a virtual representation of a specific real-world system that is dynamically updated with data from that system, predicts its behaviour, and informs decisions affecting its physical counterpart. The key is bidirectional interaction between the physical system and its digital representation.</a:t>
            </a:r>
          </a:p>
          <a:p/>
          <a:p>
            <a:r>
              <a:t>In cancer care: multiscale biology and data — whole body, organs, tissue, cells, molecular processes — plus clinical data (imaging, omics, laboratory tests, clinical history, patient-reported outcomes) feed the twin. The real patient and tumour and the digital twin are linked: new measurements and data assimilation flow in, and treatment and follow-up flow back. Integrated models cover physiology, pharmacokinetics and radiobiology. The twin runs virtual trials of treatment scenarios A, B and C, produces predictions of dose, response and toxicity (and supports diagnosis and prognosis), and informs shared clinical decisions — treatment selection and adaptation.</a:t>
            </a:r>
          </a:p>
          <a:p/>
          <a:p>
            <a:r>
              <a:t>All of this sits on continuous verification, validation and uncertainty quantification across data, models, simulations and decisions. This is a conceptual framework for personalized cancer therapy, for research and illustration, not a clinically validated product. Reference: Laubenbacher et al., Personalized Medicine 2021.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to my own work: theranostic digital twinning, the idea we proposed in Theranostics 2024.</a:t>
            </a:r>
          </a:p>
          <a:p/>
          <a:p>
            <a:r>
              <a:t>We start with the cancer patient. Data collection brings together imaging data (PET/CT and SPECT/CT), biological data (blood samples, genomics, molecular biomarkers) and clinical data. Modelling is intelligent multiscale modelling — PBPK, dosimetry and radiobiology — combining AI with mechanistic models. The digital twin is a whole-body compartmental model with lung, heart, liver, kidneys, tumour 1 and tumour 2, linked by venous and arterial blood.</a:t>
            </a:r>
          </a:p>
          <a:p/>
          <a:p>
            <a:r>
              <a:t>Applications: treatment planning and prediction, predictive dosimetry (activity–time curves for each organ and tumour), and virtual clinical trials across virtual patients. Longitudinal data and model updating close the loop back to data collection.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theranostic twin is built, step by step.</a:t>
            </a:r>
          </a:p>
          <a:p/>
          <a:p>
            <a:r>
              <a:t>Patient data: medical imaging data (whole-body scans, CT and MRI); radiobiological and immunological data (radiosensitivity, molecular biomarkers); clinical and physiological data (PSA, renal function, liver function, age, body size, organ volumes).</a:t>
            </a:r>
          </a:p>
          <a:p/>
          <a:p>
            <a:r>
              <a:t>PBPK modelling: a whole-body physiologically based pharmacokinetic model with lung, heart, liver, kidneys, tumours and other tissues between venous and arterial blood. Parameter estimation uses physiology-informed AI.</a:t>
            </a:r>
          </a:p>
          <a:p/>
          <a:p>
            <a:r>
              <a:t>Model personalization: a patient-specific model (lung, liver, kidneys, tumour 1, other tumours, salivary glands) that includes molecular transport and tumour uptake — from blood to interstitial space, receptor binding and internalization — applied to 177Lu-PSMA therapy to give a computational patient model.</a:t>
            </a:r>
          </a:p>
          <a:p/>
          <a:p>
            <a:r>
              <a:t>Validation and application: post-therapy SPECT/CT at t1, t2, t3; dosimetry and assessment — activity over time, time-integrated activity, absorbed dose; and clinical application in personalized planning and virtual trials. Model refinement with longitudinal data closes the loop.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the twin, we studied how biological parameters change 177Lu-PSMA kinetics, dose and effect.</a:t>
            </a:r>
          </a:p>
          <a:p/>
          <a:p>
            <a:r>
              <a:t>1. PBPK model: a multi-organ, multiscale model for 177Lu-PSMA — venous and arterial blood (systemic circulation), lung, tumour, salivary glands, kidneys and other tissues, plus serum protein binding. At the cellular scale in tumour tissue: vascular space (tissue plasma), transport to interstitial space, binding to the PSMA receptor, internalization and release, with labelled and unlabelled peptide.</a:t>
            </a:r>
          </a:p>
          <a:p/>
          <a:p>
            <a:r>
              <a:t>2. Parameter variation: association rate, internalization rate, release rate, protein binding, receptor density, ligand amount and tumour volume, each varied one at a time, with baseline release and zero tumour release scenarios.</a:t>
            </a:r>
          </a:p>
          <a:p/>
          <a:p>
            <a:r>
              <a:t>3. Physical and biological modelling: 728 simulated time–activity curves. Physical dosimetry from ligand kinetics → dose rate → absorbed dose: AUC = ∫N(t)dt and D = ∫Ḋ(t)dt. Radiobiological modelling with BED = D[1 + GD/(α/β)], using the Lea–Catcheside, simplified Lea–Catcheside, Kalogianni and Howell formulations.</a:t>
            </a:r>
          </a:p>
          <a:p/>
          <a:p>
            <a:r>
              <a:t>4. Model outputs: physical outputs (organ and tumour AUC, absorbed dose D); biological outputs (biologically effective dose, BED, and fractionated BED, fBED); TAC features (magnitude — peak and AUC; timing — time to peak; shape — wash-in/wash-out). fBED evaluates the tumour–organ balance.</a:t>
            </a:r>
          </a:p>
          <a:p/>
          <a:p>
            <a:r>
              <a:t>Key findings: (1) association rate ↑ → tumour uptake and dose ↑, but normal-organ doses also increase; (2) internalization rate → non-linear response, dose peaks at intermediate rates; (3) tumour release rate ↑ → tumour dose and BED ↓, little change in kidneys and salivary glands; (4) protein binding ↑ → AUC and dose ↓ across simulated tissues; (5) receptor density ↑ → tumour uptake and dose ↑ with limited normal-organ changes; (6) ligand amount ↑ → dose ↑, and tumour volume ↑ → total uptake ↑ but tumour dose ↓.</a:t>
            </a:r>
          </a:p>
          <a:p/>
          <a:p>
            <a:r>
              <a:t>Message: patient-specific kinetics guide the tumour–organ trade-off. Simplified model and qualitative simulation findings.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application of the twin: predictive dosimetry. Can we predict 177Lu-PSMA therapy dosimetry from pre-therapy PET kinetics? The pipeline has three layers.</a:t>
            </a:r>
          </a:p>
          <a:p/>
          <a:p>
            <a:r>
              <a:t>Layer 1 — physiological forward modelling: a PET-PSMA PBPK model for 18F, 68Ga and 64Cu tracers, translated (tracer-to-therapy) to a 177Lu-PSMA PBPK model consistent with post-therapy SPECT. Parameter variation and noise create simulated physiological variability.</a:t>
            </a:r>
          </a:p>
          <a:p/>
          <a:p>
            <a:r>
              <a:t>Layer 2 — kinetic-to-dosimetry mapping: from simulated time–activity curves we extract kinetic features (uptake, peak time, clearance); from simulated dose-rate curves we compute dosimetric targets (time-integrated activity, absorbed dose, BED, EQD2). This gives paired features and dosimetric targets.</a:t>
            </a:r>
          </a:p>
          <a:p/>
          <a:p>
            <a:r>
              <a:t>Layer 3 — predictive modelling: machine learning maps kinetic features to dosimetric targets with training and held-out testing, giving predicted dosimetry, evaluated with MAPE and R² for prediction accuracy and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results of the predictive dosimetry study.</a:t>
            </a:r>
          </a:p>
          <a:p/>
          <a:p>
            <a:r>
              <a:t>1. Mathematical biomarkers: AMax was the highest-ranked feature across all four targets. The top five by normalized feature frequency were AMax, Clearance, Tmax, P25 and Skewness. Consistent leading features for AUC, dose, BED and EQD2 were AMax, Clearance, Tmax and P25.</a:t>
            </a:r>
          </a:p>
          <a:p/>
          <a:p>
            <a:r>
              <a:t>2. Prediction performance: dose and BED prediction using 68Ga, 18F and 64Cu tracers. Noise generally increases prediction error, with the strongest noise penalty at 0.001 L tumour volume for 68Ga and 18F. 177Lu dosimetry can be predicted from PET-derived features. Tumour volumes simulated: 0.001, 0.01, 0.1 and 1 L. Metric: MAPE (%), lower is better.</a:t>
            </a:r>
          </a:p>
          <a:p/>
          <a:p>
            <a:r>
              <a:t>3. Model interpretation (SHAP feature ranking): 1 AMax (largest contribution to model output), 2 AMean, 3 Tmax, 4 Clearance, 5 Skewness. Higher AMax values generally push predictions upward.</a:t>
            </a:r>
          </a:p>
          <a:p/>
          <a:p>
            <a:r>
              <a:t>Message: uptake magnitude and kinetics support dosimetry prediction; noise sensitivity depends on tracer and tumour volume. (Qualitative synthesis of the supplied results.)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II: my research vision, about 10 minutes. It is organized as five aims that build on each other: (I) quantitative molecular imaging biomarker discovery; (II) AI-enhanced molecular imaging; (III) digital twins and personalized radiopharmaceutical therapy; (IV) integration of molecular imaging with advanced therapeutic technologies; and (V) imaging-informed virtual trials and radiopharmaceutical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first research aim is to transform molecular imaging into a predictive, therapy-guiding platform by integrating imaging, biology, and physics.</a:t>
            </a:r>
          </a:p>
          <a:p>
            <a:r>
              <a:t>I will combine complementary information from PET/CT, SPECT, and MRI to assess disease burden, target expression, tracer kinetics, and changes over time. Radiotheranostic approaches, including PSMA- and somatostatin-receptor-targeted imaging and therapy, provide a direct connection between disease characterization and treatment.</a:t>
            </a:r>
          </a:p>
          <a:p>
            <a:r>
              <a:t>A central focus will be understanding biological heterogeneity within and between lesions, alongside normal-tissue physiology. By integrating radiomics and AI with molecular and clinical data, I will investigate biomarkers of receptor expression, perfusion, hypoxia, and the tumour microenvironment, together with normal-organ uptake and clearance. These biomarkers will support patient stratification, response prediction, and biopsy or therapy targeting.</a:t>
            </a:r>
          </a:p>
          <a:p>
            <a:r>
              <a:t>I will translate this information into patient-specific digital twins that connect tumour and normal-organ models, enabling predictive dosimetry and investigation of the balance between tumour control and toxicity. Virtual trials will support comparison of treatment options, while longitudinal imaging will update the models as disease and response evolve.</a:t>
            </a:r>
          </a:p>
          <a:p>
            <a:r>
              <a:t>Throughout this work, reproducibility, uncertainty quantification, and independent clinical validation will guide the development of reliable tools for personalized treatment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second research direction focuses on AI-enhanced molecular imaging, from image acquisition to clinical decision support.</a:t>
            </a:r>
          </a:p>
          <a:p>
            <a:r>
              <a:t>First, I will develop physics-informed reconstruction and denoising methods for next-generation PET and SPECT systems, aiming to enable lower-dose and faster imaging while preserving quantitative accuracy. Second, automated lesion detection, segmentation, and registration will support consistent tumor delineation and monitoring over time.</a:t>
            </a:r>
          </a:p>
          <a:p>
            <a:r>
              <a:t>Third, I will combine quantitative imaging and radiomic features with clinical and biological data to characterize disease burden and heterogeneity, discover meaningful biomarkers, and support personalized dosimetry. These measurements will inform models for therapy-response prediction and patient stratification.</a:t>
            </a:r>
          </a:p>
          <a:p>
            <a:r>
              <a:t>Across this workflow, my priorities are physical consistency, biological interpretability, and robust validation. The goal is to produce reliable measurements and interpretable predictions that support clinicians, while reducing repetitive work and improving workflow efficiency.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shows how I plan to connect a patient’s evolving disease with a digital twin that learns from each treatment cycle. Building on Lorenzo and colleagues’ framework, imaging and biomarkers will initialize the model at baseline and update it after treatment.</a:t>
            </a:r>
          </a:p>
          <a:p>
            <a:r>
              <a:t>The model combines radiopharmaceutical pharmacokinetics, absorbed dose and dose rate, and tumor biology—including growth, damage, repair, and resistance. AI will help extract patient-specific parameters and accelerate simulations.</a:t>
            </a:r>
          </a:p>
          <a:p>
            <a:r>
              <a:t>The twin will then test alternative treatment strategies, predicting tumor response and organ toxicity. These predictions will guide optimization of administered activity, treatment timing, and number of cycles within clinically feasible constraints.</a:t>
            </a:r>
          </a:p>
          <a:p>
            <a:r>
              <a:t>The key is the feedback loop: measure, predict, optimize, and update. My goal is to develop and prospectively validate this framework so that each treatment decision can reflect the individual patient’s changing biology and response.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fourth research direction connects molecular imaging with advanced treatment technologies through four complementary approaches.</a:t>
            </a:r>
          </a:p>
          <a:p>
            <a:r>
              <a:t>In radiopharmaceutical therapy, I will investigate how PET-derived target expression and tracer kinetics can inform personalized treatment planning and dose–response models, validated against post-therapy dosimetry.</a:t>
            </a:r>
          </a:p>
          <a:p>
            <a:r>
              <a:t>For biological dose painting, I will explore combining metabolic and hypoxia imaging to estimate spatial differences in tumor cellularity and radiosensitivity, guiding dose distributions while respecting normal-tissue constraints.</a:t>
            </a:r>
          </a:p>
          <a:p>
            <a:r>
              <a:t>In proton therapy, I will investigate beam-induced PET activity for range verification and model-assisted dosimetry. This requires accounting for tissue composition, imaging timing, and biological washout because PET activity does not directly represent absorbed dose.</a:t>
            </a:r>
          </a:p>
          <a:p>
            <a:r>
              <a:t>Finally, in biology-guided radiotherapy, I will explore how rapidly acquired PET signals can guide radiation delivery to moving targets within a planned treatment framework.</a:t>
            </a:r>
          </a:p>
          <a:p>
            <a:r>
              <a:t>These approaches share a common goal: use molecular information to plan treatment, verify delivery, measure response, and guide adaptation, including opportunities to combine systemic radiopharmaceutical therapy with external-beam treatment.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fifth research direction uses molecular imaging to build virtual trials that inform imaging protocols, radiopharmaceutical development, and clinical study design.</a:t>
            </a:r>
          </a:p>
          <a:p>
            <a:r>
              <a:t>I will combine imaging, biological measurements, and clinical data to develop virtual patient cohorts that capture differences in anatomy, disease burden, tracer kinetics, and treatment sensitivity.</a:t>
            </a:r>
          </a:p>
          <a:p>
            <a:r>
              <a:t>These cohorts will support two complementary pathways. Virtual imaging trials will compare scanner configurations, acquisition protocols, reconstruction methods, and response biomarkers—for example, testing when dynamic PET kinetic measures provide more useful information than static SUV measurements.</a:t>
            </a:r>
          </a:p>
          <a:p>
            <a:r>
              <a:t>Virtual therapy trials will combine PBPK, dosimetry, and response models to evaluate candidate radiopharmaceuticals, administered activities, treatment schedules, and combinations across diverse patient groups.</a:t>
            </a:r>
          </a:p>
          <a:p>
            <a:r>
              <a:t>The goal is to prioritize promising strategies and design more informative prospective studies. Throughout this work, I will emphasize physiological plausibility, uncertainty analysis, and independent validation, using virtual trials to complement and strengthen clinical evidence.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this work happens alone. I collaborate with seven centres.</a:t>
            </a:r>
          </a:p>
          <a:p/>
          <a:p>
            <a:r>
              <a:t>QURIT lab (Quantitative Radiomolecular Imaging &amp; Therapy) — BC Cancer and the University of British Columbia, Vancouver: theranostic digital twins, PBPK and AI quantification.</a:t>
            </a:r>
          </a:p>
          <a:p>
            <a:r>
              <a:t>PIN lab (PET Instrumentation and Neurosciences lab) — Geneva University Hospital, Switzerland: AI-based quantitative imaging, Monte Carlo and deep-learning dosimetry.</a:t>
            </a:r>
          </a:p>
          <a:p>
            <a:r>
              <a:t>United Theranostics — an international theranostics network: clinical theranostics translation and real-world data.</a:t>
            </a:r>
          </a:p>
          <a:p>
            <a:r>
              <a:t>Johns Hopkins University — Baltimore, USA: radiopharmaceutical therapy dosimetry, radiobiology and molecular imaging.</a:t>
            </a:r>
          </a:p>
          <a:p>
            <a:r>
              <a:t>Tehran University of Medical Sciences — nuclear medicine and molecular imaging research and clinical centre: clinical theranostics cohorts and PET/SPECT data for validation.</a:t>
            </a:r>
          </a:p>
          <a:p>
            <a:r>
              <a:t>Iran University of Medical Sciences — medical physics and nuclear medicine: patient dosimetry and AI for 177Lu-PSMA therapy.</a:t>
            </a:r>
          </a:p>
          <a:p>
            <a:r>
              <a:t>Bushehr University of Medical Sciences — Persian Gulf Nuclear Medicine Research Center: radionuclide therapy clinic and animal imaging laboratory.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The future is bright, and we’re building it together — molecular imaging, personalized cancer medicine, virtual trials and digital twins, fitting together like pieces of one puzzle. I’d be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 Id="rId8" Type="http://schemas.openxmlformats.org/officeDocument/2006/relationships/image" Target="../media/image2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jpg"/><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4.jpg"/><Relationship Id="rId4"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9.jpg"/><Relationship Id="rId4" Type="http://schemas.openxmlformats.org/officeDocument/2006/relationships/image" Target="../media/image3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1.jpg"/><Relationship Id="rId4" Type="http://schemas.openxmlformats.org/officeDocument/2006/relationships/image" Target="../media/image3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3.jpg"/><Relationship Id="rId4" Type="http://schemas.openxmlformats.org/officeDocument/2006/relationships/image" Target="../media/image3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5.jpg"/><Relationship Id="rId4" Type="http://schemas.openxmlformats.org/officeDocument/2006/relationships/image" Target="../media/image3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7.jpg"/><Relationship Id="rId4" Type="http://schemas.openxmlformats.org/officeDocument/2006/relationships/image" Target="../media/image3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9.jpg"/><Relationship Id="rId4" Type="http://schemas.openxmlformats.org/officeDocument/2006/relationships/image" Target="../media/image4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1.jpg"/><Relationship Id="rId4" Type="http://schemas.openxmlformats.org/officeDocument/2006/relationships/image" Target="../media/image4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43.jpg"/><Relationship Id="rId4" Type="http://schemas.openxmlformats.org/officeDocument/2006/relationships/image" Target="../media/image4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45.jpg"/><Relationship Id="rId4" Type="http://schemas.openxmlformats.org/officeDocument/2006/relationships/image" Target="../media/image4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7.jpg"/><Relationship Id="rId4" Type="http://schemas.openxmlformats.org/officeDocument/2006/relationships/image" Target="../media/image48.jpg"/><Relationship Id="rId5" Type="http://schemas.openxmlformats.org/officeDocument/2006/relationships/image" Target="../media/image4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5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5.jpg"/><Relationship Id="rId4" Type="http://schemas.openxmlformats.org/officeDocument/2006/relationships/image" Target="../media/image56.jpg"/><Relationship Id="rId5" Type="http://schemas.openxmlformats.org/officeDocument/2006/relationships/image" Target="../media/image57.jpg"/><Relationship Id="rId6" Type="http://schemas.openxmlformats.org/officeDocument/2006/relationships/image" Target="../media/image5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9.jpg"/><Relationship Id="rId4" Type="http://schemas.openxmlformats.org/officeDocument/2006/relationships/image" Target="../media/image6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61.jpg"/><Relationship Id="rId4" Type="http://schemas.openxmlformats.org/officeDocument/2006/relationships/image" Target="../media/image62.jpg"/><Relationship Id="rId5" Type="http://schemas.openxmlformats.org/officeDocument/2006/relationships/image" Target="../media/image6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64.jpg"/><Relationship Id="rId4" Type="http://schemas.openxmlformats.org/officeDocument/2006/relationships/image" Target="../media/image65.jpg"/><Relationship Id="rId5" Type="http://schemas.openxmlformats.org/officeDocument/2006/relationships/image" Target="../media/image6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67.jpg"/><Relationship Id="rId4" Type="http://schemas.openxmlformats.org/officeDocument/2006/relationships/image" Target="../media/image68.jpg"/><Relationship Id="rId5" Type="http://schemas.openxmlformats.org/officeDocument/2006/relationships/image" Target="../media/image69.jpg"/><Relationship Id="rId6" Type="http://schemas.openxmlformats.org/officeDocument/2006/relationships/image" Target="../media/image7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71.jpg"/><Relationship Id="rId4" Type="http://schemas.openxmlformats.org/officeDocument/2006/relationships/image" Target="../media/image72.jpg"/><Relationship Id="rId5" Type="http://schemas.openxmlformats.org/officeDocument/2006/relationships/image" Target="../media/image73.jpg"/><Relationship Id="rId6" Type="http://schemas.openxmlformats.org/officeDocument/2006/relationships/image" Target="../media/image7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7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76.jpg"/><Relationship Id="rId4" Type="http://schemas.openxmlformats.org/officeDocument/2006/relationships/image" Target="../media/image77.jpg"/><Relationship Id="rId5" Type="http://schemas.openxmlformats.org/officeDocument/2006/relationships/image" Target="../media/image78.jpg"/><Relationship Id="rId6" Type="http://schemas.openxmlformats.org/officeDocument/2006/relationships/image" Target="../media/image7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80.jpg"/><Relationship Id="rId4" Type="http://schemas.openxmlformats.org/officeDocument/2006/relationships/image" Target="../media/image81.jpg"/><Relationship Id="rId5" Type="http://schemas.openxmlformats.org/officeDocument/2006/relationships/image" Target="../media/image82.jpg"/><Relationship Id="rId6" Type="http://schemas.openxmlformats.org/officeDocument/2006/relationships/image" Target="../media/image8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Rectangle 1"/>
          <p:cNvSpPr/>
          <p:nvPr/>
        </p:nvSpPr>
        <p:spPr>
          <a:xfrm>
            <a:off x="0" y="0"/>
            <a:ext cx="101600" cy="2286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01600" cy="2286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72000"/>
            <a:ext cx="101600" cy="2286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587500"/>
            <a:ext cx="9525000" cy="254000"/>
          </a:xfrm>
          <a:prstGeom prst="rect">
            <a:avLst/>
          </a:prstGeom>
          <a:noFill/>
        </p:spPr>
        <p:txBody>
          <a:bodyPr wrap="square" lIns="0" rIns="0" tIns="0" bIns="0">
            <a:spAutoFit/>
          </a:bodyPr>
          <a:lstStyle/>
          <a:p>
            <a:r>
              <a:rPr sz="1600" b="1" i="0">
                <a:solidFill>
                  <a:srgbClr val="BFD8D5"/>
                </a:solidFill>
                <a:latin typeface="Calibri"/>
              </a:rPr>
              <a:t>RESEARCH SEMINAR · LAKEHEAD UNIVERSITY</a:t>
            </a:r>
          </a:p>
        </p:txBody>
      </p:sp>
      <p:sp>
        <p:nvSpPr>
          <p:cNvPr id="6" name="TextBox 5"/>
          <p:cNvSpPr txBox="1"/>
          <p:nvPr/>
        </p:nvSpPr>
        <p:spPr>
          <a:xfrm>
            <a:off x="812800" y="1841500"/>
            <a:ext cx="6858000" cy="1841500"/>
          </a:xfrm>
          <a:prstGeom prst="rect">
            <a:avLst/>
          </a:prstGeom>
          <a:noFill/>
        </p:spPr>
        <p:txBody>
          <a:bodyPr wrap="square" lIns="0" rIns="0" tIns="0" bIns="0">
            <a:spAutoFit/>
          </a:bodyPr>
          <a:lstStyle/>
          <a:p>
            <a:r>
              <a:rPr sz="4000" b="1" i="0">
                <a:solidFill>
                  <a:srgbClr val="F7F7F3"/>
                </a:solidFill>
                <a:latin typeface="Garamond"/>
              </a:rPr>
              <a:t>From Quantitative Imaging to Predictive Virtual Trials</a:t>
            </a:r>
          </a:p>
        </p:txBody>
      </p:sp>
      <p:sp>
        <p:nvSpPr>
          <p:cNvPr id="7" name="TextBox 6"/>
          <p:cNvSpPr txBox="1"/>
          <p:nvPr/>
        </p:nvSpPr>
        <p:spPr>
          <a:xfrm>
            <a:off x="812800" y="3810000"/>
            <a:ext cx="6985000" cy="381000"/>
          </a:xfrm>
          <a:prstGeom prst="rect">
            <a:avLst/>
          </a:prstGeom>
          <a:noFill/>
        </p:spPr>
        <p:txBody>
          <a:bodyPr wrap="square" lIns="0" rIns="0" tIns="0" bIns="0">
            <a:spAutoFit/>
          </a:bodyPr>
          <a:lstStyle/>
          <a:p>
            <a:r>
              <a:rPr sz="2200" b="0" i="1">
                <a:solidFill>
                  <a:srgbClr val="BFD8D5"/>
                </a:solidFill>
                <a:latin typeface="Calibri"/>
              </a:rPr>
              <a:t>Computational approaches toward precision medicine</a:t>
            </a:r>
          </a:p>
        </p:txBody>
      </p:sp>
      <p:sp>
        <p:nvSpPr>
          <p:cNvPr id="8" name="Rectangle 7"/>
          <p:cNvSpPr/>
          <p:nvPr/>
        </p:nvSpPr>
        <p:spPr>
          <a:xfrm>
            <a:off x="812800" y="4254500"/>
            <a:ext cx="3302000" cy="254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2800" y="4445000"/>
            <a:ext cx="7620000" cy="317500"/>
          </a:xfrm>
          <a:prstGeom prst="rect">
            <a:avLst/>
          </a:prstGeom>
          <a:noFill/>
        </p:spPr>
        <p:txBody>
          <a:bodyPr wrap="square" lIns="0" rIns="0" tIns="0" bIns="0">
            <a:spAutoFit/>
          </a:bodyPr>
          <a:lstStyle/>
          <a:p>
            <a:r>
              <a:rPr sz="2400" b="1" i="0">
                <a:solidFill>
                  <a:srgbClr val="F7F7F3"/>
                </a:solidFill>
                <a:latin typeface="Calibri"/>
              </a:rPr>
              <a:t>Hamid Abdollahi, PhD</a:t>
            </a:r>
          </a:p>
        </p:txBody>
      </p:sp>
      <p:sp>
        <p:nvSpPr>
          <p:cNvPr id="10" name="TextBox 9"/>
          <p:cNvSpPr txBox="1"/>
          <p:nvPr/>
        </p:nvSpPr>
        <p:spPr>
          <a:xfrm>
            <a:off x="812800" y="4787900"/>
            <a:ext cx="6985000" cy="254000"/>
          </a:xfrm>
          <a:prstGeom prst="rect">
            <a:avLst/>
          </a:prstGeom>
          <a:noFill/>
        </p:spPr>
        <p:txBody>
          <a:bodyPr wrap="square" lIns="0" rIns="0" tIns="0" bIns="0">
            <a:spAutoFit/>
          </a:bodyPr>
          <a:lstStyle/>
          <a:p>
            <a:r>
              <a:rPr sz="1700" b="0" i="0">
                <a:solidFill>
                  <a:srgbClr val="BFD8D5"/>
                </a:solidFill>
                <a:latin typeface="Calibri"/>
              </a:rPr>
              <a:t>Medical physics · Molecular imaging · Theranostics · Digital twins</a:t>
            </a:r>
          </a:p>
        </p:txBody>
      </p:sp>
      <p:sp>
        <p:nvSpPr>
          <p:cNvPr id="11" name="Rounded Rectangle 10"/>
          <p:cNvSpPr/>
          <p:nvPr/>
        </p:nvSpPr>
        <p:spPr>
          <a:xfrm>
            <a:off x="8255000" y="1905000"/>
            <a:ext cx="3048000" cy="762000"/>
          </a:xfrm>
          <a:prstGeom prst="roundRect">
            <a:avLst>
              <a:gd name="adj" fmla="val 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2159000"/>
            <a:ext cx="2667000" cy="317500"/>
          </a:xfrm>
          <a:prstGeom prst="rect">
            <a:avLst/>
          </a:prstGeom>
          <a:noFill/>
        </p:spPr>
        <p:txBody>
          <a:bodyPr wrap="square" lIns="0" rIns="0" tIns="0" bIns="0">
            <a:spAutoFit/>
          </a:bodyPr>
          <a:lstStyle/>
          <a:p>
            <a:r>
              <a:rPr sz="2200" b="1" i="0">
                <a:solidFill>
                  <a:srgbClr val="F7F7F3"/>
                </a:solidFill>
                <a:latin typeface="Calibri"/>
              </a:rPr>
              <a:t>Imaging</a:t>
            </a:r>
          </a:p>
        </p:txBody>
      </p:sp>
      <p:sp>
        <p:nvSpPr>
          <p:cNvPr id="13" name="Rounded Rectangle 12"/>
          <p:cNvSpPr/>
          <p:nvPr/>
        </p:nvSpPr>
        <p:spPr>
          <a:xfrm>
            <a:off x="8255000" y="2857500"/>
            <a:ext cx="3048000" cy="762000"/>
          </a:xfrm>
          <a:prstGeom prst="roundRect">
            <a:avLst>
              <a:gd name="adj" fmla="val 5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45500" y="3111500"/>
            <a:ext cx="2667000" cy="317500"/>
          </a:xfrm>
          <a:prstGeom prst="rect">
            <a:avLst/>
          </a:prstGeom>
          <a:noFill/>
        </p:spPr>
        <p:txBody>
          <a:bodyPr wrap="square" lIns="0" rIns="0" tIns="0" bIns="0">
            <a:spAutoFit/>
          </a:bodyPr>
          <a:lstStyle/>
          <a:p>
            <a:r>
              <a:rPr sz="2200" b="1" i="0">
                <a:solidFill>
                  <a:srgbClr val="F7F7F3"/>
                </a:solidFill>
                <a:latin typeface="Calibri"/>
              </a:rPr>
              <a:t>Modelling</a:t>
            </a:r>
          </a:p>
        </p:txBody>
      </p:sp>
      <p:sp>
        <p:nvSpPr>
          <p:cNvPr id="15" name="Rounded Rectangle 14"/>
          <p:cNvSpPr/>
          <p:nvPr/>
        </p:nvSpPr>
        <p:spPr>
          <a:xfrm>
            <a:off x="8255000" y="3810000"/>
            <a:ext cx="3048000" cy="762000"/>
          </a:xfrm>
          <a:prstGeom prst="roundRect">
            <a:avLst>
              <a:gd name="adj" fmla="val 5000"/>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45500" y="4064000"/>
            <a:ext cx="2667000" cy="317500"/>
          </a:xfrm>
          <a:prstGeom prst="rect">
            <a:avLst/>
          </a:prstGeom>
          <a:noFill/>
        </p:spPr>
        <p:txBody>
          <a:bodyPr wrap="square" lIns="0" rIns="0" tIns="0" bIns="0">
            <a:spAutoFit/>
          </a:bodyPr>
          <a:lstStyle/>
          <a:p>
            <a:r>
              <a:rPr sz="2200" b="1" i="0">
                <a:solidFill>
                  <a:srgbClr val="F7F7F3"/>
                </a:solidFill>
                <a:latin typeface="Calibri"/>
              </a:rPr>
              <a:t>Personalized therapy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3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i="0">
                <a:solidFill>
                  <a:srgbClr val="13294B"/>
                </a:solidFill>
                <a:latin typeface="Calibri"/>
              </a:rPr>
              <a:t>OVERVIEW</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i="0">
                <a:solidFill>
                  <a:srgbClr val="13294B"/>
                </a:solidFill>
                <a:latin typeface="Garamond"/>
              </a:rPr>
              <a:t>Outline</a:t>
            </a:r>
          </a:p>
        </p:txBody>
      </p:sp>
      <p:sp>
        <p:nvSpPr>
          <p:cNvPr id="5" name="Rounded Rectangle 4"/>
          <p:cNvSpPr/>
          <p:nvPr/>
        </p:nvSpPr>
        <p:spPr>
          <a:xfrm>
            <a:off x="812800" y="1397000"/>
            <a:ext cx="3429000" cy="4064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800" y="1397000"/>
            <a:ext cx="3429000" cy="889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676400"/>
            <a:ext cx="3022600" cy="317500"/>
          </a:xfrm>
          <a:prstGeom prst="rect">
            <a:avLst/>
          </a:prstGeom>
          <a:noFill/>
        </p:spPr>
        <p:txBody>
          <a:bodyPr wrap="square" lIns="0" rIns="0" tIns="0" bIns="0">
            <a:spAutoFit/>
          </a:bodyPr>
          <a:lstStyle/>
          <a:p>
            <a:r>
              <a:rPr sz="2200" b="1" i="0">
                <a:solidFill>
                  <a:srgbClr val="0E7C7B"/>
                </a:solidFill>
                <a:latin typeface="Calibri"/>
              </a:rPr>
              <a:t>Introduction</a:t>
            </a:r>
          </a:p>
        </p:txBody>
      </p:sp>
      <p:sp>
        <p:nvSpPr>
          <p:cNvPr id="8" name="TextBox 7"/>
          <p:cNvSpPr txBox="1"/>
          <p:nvPr/>
        </p:nvSpPr>
        <p:spPr>
          <a:xfrm>
            <a:off x="1016000" y="2095500"/>
            <a:ext cx="3022600" cy="3175000"/>
          </a:xfrm>
          <a:prstGeom prst="rect">
            <a:avLst/>
          </a:prstGeom>
          <a:noFill/>
        </p:spPr>
        <p:txBody>
          <a:bodyPr wrap="square" lIns="0" rIns="0" tIns="0" bIns="0">
            <a:spAutoFit/>
          </a:bodyPr>
          <a:lstStyle/>
          <a:p>
            <a:pPr>
              <a:spcAft>
                <a:spcPts val="800"/>
              </a:spcAft>
            </a:pPr>
            <a:r>
              <a:rPr sz="1900" b="0" i="0">
                <a:solidFill>
                  <a:srgbClr val="13294B"/>
                </a:solidFill>
                <a:latin typeface="Calibri"/>
              </a:rPr>
              <a:t>•  Cancer complexity and heterogeneity</a:t>
            </a:r>
          </a:p>
          <a:p>
            <a:pPr>
              <a:spcAft>
                <a:spcPts val="800"/>
              </a:spcAft>
            </a:pPr>
            <a:r>
              <a:rPr sz="1900" b="0" i="0">
                <a:solidFill>
                  <a:srgbClr val="13294B"/>
                </a:solidFill>
                <a:latin typeface="Calibri"/>
              </a:rPr>
              <a:t>•  The cancer technology ecosystem</a:t>
            </a:r>
          </a:p>
          <a:p>
            <a:pPr>
              <a:spcAft>
                <a:spcPts val="800"/>
              </a:spcAft>
            </a:pPr>
            <a:r>
              <a:rPr sz="1900" b="0" i="0">
                <a:solidFill>
                  <a:srgbClr val="13294B"/>
                </a:solidFill>
                <a:latin typeface="Calibri"/>
              </a:rPr>
              <a:t>•  Imaging the tumour phenotype</a:t>
            </a:r>
          </a:p>
          <a:p>
            <a:pPr>
              <a:spcAft>
                <a:spcPts val="800"/>
              </a:spcAft>
            </a:pPr>
            <a:r>
              <a:rPr sz="1900" b="0" i="0">
                <a:solidFill>
                  <a:srgbClr val="13294B"/>
                </a:solidFill>
                <a:latin typeface="Calibri"/>
              </a:rPr>
              <a:t>•  Radiomics: workflows and applications</a:t>
            </a:r>
          </a:p>
        </p:txBody>
      </p:sp>
      <p:sp>
        <p:nvSpPr>
          <p:cNvPr id="9" name="Rounded Rectangle 8"/>
          <p:cNvSpPr/>
          <p:nvPr/>
        </p:nvSpPr>
        <p:spPr>
          <a:xfrm>
            <a:off x="4381500" y="1397000"/>
            <a:ext cx="3429000" cy="4064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1500" y="1397000"/>
            <a:ext cx="3429000" cy="889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4700" y="1676400"/>
            <a:ext cx="3022600" cy="317500"/>
          </a:xfrm>
          <a:prstGeom prst="rect">
            <a:avLst/>
          </a:prstGeom>
          <a:noFill/>
        </p:spPr>
        <p:txBody>
          <a:bodyPr wrap="square" lIns="0" rIns="0" tIns="0" bIns="0">
            <a:spAutoFit/>
          </a:bodyPr>
          <a:lstStyle/>
          <a:p>
            <a:r>
              <a:rPr sz="2200" b="1" i="0">
                <a:solidFill>
                  <a:srgbClr val="1F5FA8"/>
                </a:solidFill>
                <a:latin typeface="Calibri"/>
              </a:rPr>
              <a:t>Research &amp; methods</a:t>
            </a:r>
          </a:p>
        </p:txBody>
      </p:sp>
      <p:sp>
        <p:nvSpPr>
          <p:cNvPr id="12" name="TextBox 11"/>
          <p:cNvSpPr txBox="1"/>
          <p:nvPr/>
        </p:nvSpPr>
        <p:spPr>
          <a:xfrm>
            <a:off x="4584700" y="2095500"/>
            <a:ext cx="3022600" cy="3175000"/>
          </a:xfrm>
          <a:prstGeom prst="rect">
            <a:avLst/>
          </a:prstGeom>
          <a:noFill/>
        </p:spPr>
        <p:txBody>
          <a:bodyPr wrap="square" lIns="0" rIns="0" tIns="0" bIns="0">
            <a:spAutoFit/>
          </a:bodyPr>
          <a:lstStyle/>
          <a:p>
            <a:pPr>
              <a:spcAft>
                <a:spcPts val="800"/>
              </a:spcAft>
            </a:pPr>
            <a:r>
              <a:rPr sz="1900" b="0" i="0">
                <a:solidFill>
                  <a:srgbClr val="13294B"/>
                </a:solidFill>
                <a:latin typeface="Calibri"/>
              </a:rPr>
              <a:t>•  Radiomics studies: diagnosis, response, toxicity</a:t>
            </a:r>
          </a:p>
          <a:p>
            <a:pPr>
              <a:spcAft>
                <a:spcPts val="800"/>
              </a:spcAft>
            </a:pPr>
            <a:r>
              <a:rPr sz="1900" b="0" i="0">
                <a:solidFill>
                  <a:srgbClr val="13294B"/>
                </a:solidFill>
                <a:latin typeface="Calibri"/>
              </a:rPr>
              <a:t>•  Feature reliability and harmonization</a:t>
            </a:r>
          </a:p>
          <a:p>
            <a:pPr>
              <a:spcAft>
                <a:spcPts val="800"/>
              </a:spcAft>
            </a:pPr>
            <a:r>
              <a:rPr sz="1900" b="0" i="0">
                <a:solidFill>
                  <a:srgbClr val="13294B"/>
                </a:solidFill>
                <a:latin typeface="Calibri"/>
              </a:rPr>
              <a:t>•  Digital twins and theranostics</a:t>
            </a:r>
          </a:p>
          <a:p>
            <a:pPr>
              <a:spcAft>
                <a:spcPts val="800"/>
              </a:spcAft>
            </a:pPr>
            <a:r>
              <a:rPr sz="1900" b="0" i="0">
                <a:solidFill>
                  <a:srgbClr val="13294B"/>
                </a:solidFill>
                <a:latin typeface="Calibri"/>
              </a:rPr>
              <a:t>•  Predictive dosimetry</a:t>
            </a:r>
          </a:p>
        </p:txBody>
      </p:sp>
      <p:sp>
        <p:nvSpPr>
          <p:cNvPr id="13" name="Rounded Rectangle 12"/>
          <p:cNvSpPr/>
          <p:nvPr/>
        </p:nvSpPr>
        <p:spPr>
          <a:xfrm>
            <a:off x="7950200" y="1397000"/>
            <a:ext cx="3429000" cy="4064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0200" y="1397000"/>
            <a:ext cx="3429000" cy="889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3400" y="1676400"/>
            <a:ext cx="3022600" cy="317500"/>
          </a:xfrm>
          <a:prstGeom prst="rect">
            <a:avLst/>
          </a:prstGeom>
          <a:noFill/>
        </p:spPr>
        <p:txBody>
          <a:bodyPr wrap="square" lIns="0" rIns="0" tIns="0" bIns="0">
            <a:spAutoFit/>
          </a:bodyPr>
          <a:lstStyle/>
          <a:p>
            <a:r>
              <a:rPr sz="2200" b="1" i="0">
                <a:solidFill>
                  <a:srgbClr val="C0452D"/>
                </a:solidFill>
                <a:latin typeface="Calibri"/>
              </a:rPr>
              <a:t>Research vision</a:t>
            </a:r>
          </a:p>
        </p:txBody>
      </p:sp>
      <p:sp>
        <p:nvSpPr>
          <p:cNvPr id="16" name="TextBox 15"/>
          <p:cNvSpPr txBox="1"/>
          <p:nvPr/>
        </p:nvSpPr>
        <p:spPr>
          <a:xfrm>
            <a:off x="8153400" y="2095500"/>
            <a:ext cx="3022600" cy="3175000"/>
          </a:xfrm>
          <a:prstGeom prst="rect">
            <a:avLst/>
          </a:prstGeom>
          <a:noFill/>
        </p:spPr>
        <p:txBody>
          <a:bodyPr wrap="square" lIns="0" rIns="0" tIns="0" bIns="0">
            <a:spAutoFit/>
          </a:bodyPr>
          <a:lstStyle/>
          <a:p>
            <a:pPr>
              <a:spcAft>
                <a:spcPts val="800"/>
              </a:spcAft>
            </a:pPr>
            <a:r>
              <a:rPr sz="1900" b="0" i="0">
                <a:solidFill>
                  <a:srgbClr val="13294B"/>
                </a:solidFill>
                <a:latin typeface="Calibri"/>
              </a:rPr>
              <a:t>•  I  Imaging biomarkers</a:t>
            </a:r>
          </a:p>
          <a:p>
            <a:pPr>
              <a:spcAft>
                <a:spcPts val="800"/>
              </a:spcAft>
            </a:pPr>
            <a:r>
              <a:rPr sz="1900" b="0" i="0">
                <a:solidFill>
                  <a:srgbClr val="13294B"/>
                </a:solidFill>
                <a:latin typeface="Calibri"/>
              </a:rPr>
              <a:t>•  II  AI-enhanced imaging</a:t>
            </a:r>
          </a:p>
          <a:p>
            <a:pPr>
              <a:spcAft>
                <a:spcPts val="800"/>
              </a:spcAft>
            </a:pPr>
            <a:r>
              <a:rPr sz="1900" b="0" i="0">
                <a:solidFill>
                  <a:srgbClr val="13294B"/>
                </a:solidFill>
                <a:latin typeface="Calibri"/>
              </a:rPr>
              <a:t>•  III  Digital twins for RPT</a:t>
            </a:r>
          </a:p>
          <a:p>
            <a:pPr>
              <a:spcAft>
                <a:spcPts val="800"/>
              </a:spcAft>
            </a:pPr>
            <a:r>
              <a:rPr sz="1900" b="0" i="0">
                <a:solidFill>
                  <a:srgbClr val="13294B"/>
                </a:solidFill>
                <a:latin typeface="Calibri"/>
              </a:rPr>
              <a:t>•  IV  Advanced therapies</a:t>
            </a:r>
          </a:p>
          <a:p>
            <a:pPr>
              <a:spcAft>
                <a:spcPts val="800"/>
              </a:spcAft>
            </a:pPr>
            <a:r>
              <a:rPr sz="1900" b="0" i="0">
                <a:solidFill>
                  <a:srgbClr val="13294B"/>
                </a:solidFill>
                <a:latin typeface="Calibri"/>
              </a:rPr>
              <a:t>•  V  Virtual trials</a:t>
            </a:r>
          </a:p>
        </p:txBody>
      </p:sp>
      <p:sp>
        <p:nvSpPr>
          <p:cNvPr id="17" name="TextBox 16"/>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3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i="0">
                <a:solidFill>
                  <a:srgbClr val="13294B"/>
                </a:solidFill>
                <a:latin typeface="Calibri"/>
              </a:rPr>
              <a:t>BEFORE WE START</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i="0">
                <a:solidFill>
                  <a:srgbClr val="13294B"/>
                </a:solidFill>
                <a:latin typeface="Garamond"/>
              </a:rPr>
              <a:t>Disclosure</a:t>
            </a:r>
          </a:p>
        </p:txBody>
      </p:sp>
      <p:sp>
        <p:nvSpPr>
          <p:cNvPr id="5" name="Rounded Rectangle 4"/>
          <p:cNvSpPr/>
          <p:nvPr/>
        </p:nvSpPr>
        <p:spPr>
          <a:xfrm>
            <a:off x="812800" y="1524000"/>
            <a:ext cx="5207000" cy="1651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800" y="1524000"/>
            <a:ext cx="76200" cy="1651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68400" y="2032000"/>
            <a:ext cx="4572000" cy="889000"/>
          </a:xfrm>
          <a:prstGeom prst="rect">
            <a:avLst/>
          </a:prstGeom>
          <a:noFill/>
        </p:spPr>
        <p:txBody>
          <a:bodyPr wrap="square" lIns="0" rIns="0" tIns="0" bIns="0">
            <a:spAutoFit/>
          </a:bodyPr>
          <a:lstStyle/>
          <a:p>
            <a:r>
              <a:rPr sz="2400" b="0" i="0">
                <a:solidFill>
                  <a:srgbClr val="13294B"/>
                </a:solidFill>
                <a:latin typeface="Calibri"/>
              </a:rPr>
              <a:t>Selected PhD and postdoctoral work that shaped my approach to precision medicine</a:t>
            </a:r>
          </a:p>
        </p:txBody>
      </p:sp>
      <p:sp>
        <p:nvSpPr>
          <p:cNvPr id="8" name="Rounded Rectangle 7"/>
          <p:cNvSpPr/>
          <p:nvPr/>
        </p:nvSpPr>
        <p:spPr>
          <a:xfrm>
            <a:off x="6172200" y="1524000"/>
            <a:ext cx="5207000" cy="1651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524000"/>
            <a:ext cx="76200" cy="1651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7800" y="2032000"/>
            <a:ext cx="4572000" cy="889000"/>
          </a:xfrm>
          <a:prstGeom prst="rect">
            <a:avLst/>
          </a:prstGeom>
          <a:noFill/>
        </p:spPr>
        <p:txBody>
          <a:bodyPr wrap="square" lIns="0" rIns="0" tIns="0" bIns="0">
            <a:spAutoFit/>
          </a:bodyPr>
          <a:lstStyle/>
          <a:p>
            <a:r>
              <a:rPr sz="2400" b="0" i="0">
                <a:solidFill>
                  <a:srgbClr val="13294B"/>
                </a:solidFill>
                <a:latin typeface="Calibri"/>
              </a:rPr>
              <a:t>No conflicts of interest to declare</a:t>
            </a:r>
          </a:p>
        </p:txBody>
      </p:sp>
      <p:sp>
        <p:nvSpPr>
          <p:cNvPr id="11" name="Rounded Rectangle 10"/>
          <p:cNvSpPr/>
          <p:nvPr/>
        </p:nvSpPr>
        <p:spPr>
          <a:xfrm>
            <a:off x="812800" y="3429000"/>
            <a:ext cx="5207000" cy="1651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2800" y="3429000"/>
            <a:ext cx="76200" cy="1651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8400" y="3937000"/>
            <a:ext cx="4572000" cy="889000"/>
          </a:xfrm>
          <a:prstGeom prst="rect">
            <a:avLst/>
          </a:prstGeom>
          <a:noFill/>
        </p:spPr>
        <p:txBody>
          <a:bodyPr wrap="square" lIns="0" rIns="0" tIns="0" bIns="0">
            <a:spAutoFit/>
          </a:bodyPr>
          <a:lstStyle/>
          <a:p>
            <a:r>
              <a:rPr sz="2400" b="0" i="0">
                <a:solidFill>
                  <a:srgbClr val="13294B"/>
                </a:solidFill>
                <a:latin typeface="Calibri"/>
              </a:rPr>
              <a:t>Thanks to all collaborators who contributed to these works</a:t>
            </a:r>
          </a:p>
        </p:txBody>
      </p:sp>
      <p:sp>
        <p:nvSpPr>
          <p:cNvPr id="14" name="Rounded Rectangle 13"/>
          <p:cNvSpPr/>
          <p:nvPr/>
        </p:nvSpPr>
        <p:spPr>
          <a:xfrm>
            <a:off x="6172200" y="3429000"/>
            <a:ext cx="5207000" cy="1651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3429000"/>
            <a:ext cx="76200" cy="1651000"/>
          </a:xfrm>
          <a:prstGeom prst="rect">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7800" y="3937000"/>
            <a:ext cx="4572000" cy="889000"/>
          </a:xfrm>
          <a:prstGeom prst="rect">
            <a:avLst/>
          </a:prstGeom>
          <a:noFill/>
        </p:spPr>
        <p:txBody>
          <a:bodyPr wrap="square" lIns="0" rIns="0" tIns="0" bIns="0">
            <a:spAutoFit/>
          </a:bodyPr>
          <a:lstStyle/>
          <a:p>
            <a:r>
              <a:rPr sz="2400" b="0" i="0">
                <a:solidFill>
                  <a:srgbClr val="13294B"/>
                </a:solidFill>
                <a:latin typeface="Calibri"/>
              </a:rPr>
              <a:t>Thank you to the search committee for this opportunity</a:t>
            </a:r>
          </a:p>
        </p:txBody>
      </p:sp>
      <p:sp>
        <p:nvSpPr>
          <p:cNvPr id="17" name="TextBox 16"/>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2286000"/>
            <a:ext cx="10160000" cy="254000"/>
          </a:xfrm>
          <a:prstGeom prst="rect">
            <a:avLst/>
          </a:prstGeom>
          <a:noFill/>
        </p:spPr>
        <p:txBody>
          <a:bodyPr wrap="square" lIns="0" rIns="0" tIns="0" bIns="0">
            <a:spAutoFit/>
          </a:bodyPr>
          <a:lstStyle/>
          <a:p>
            <a:r>
              <a:rPr sz="1800" b="1" i="0">
                <a:solidFill>
                  <a:srgbClr val="BFD8D5"/>
                </a:solidFill>
                <a:latin typeface="Calibri"/>
              </a:rPr>
              <a:t>PART I · 35 MINUTES</a:t>
            </a:r>
          </a:p>
        </p:txBody>
      </p:sp>
      <p:sp>
        <p:nvSpPr>
          <p:cNvPr id="4" name="TextBox 3"/>
          <p:cNvSpPr txBox="1"/>
          <p:nvPr/>
        </p:nvSpPr>
        <p:spPr>
          <a:xfrm>
            <a:off x="812800" y="2540000"/>
            <a:ext cx="10160000" cy="1270000"/>
          </a:xfrm>
          <a:prstGeom prst="rect">
            <a:avLst/>
          </a:prstGeom>
          <a:noFill/>
        </p:spPr>
        <p:txBody>
          <a:bodyPr wrap="square" lIns="0" rIns="0" tIns="0" bIns="0">
            <a:spAutoFit/>
          </a:bodyPr>
          <a:lstStyle/>
          <a:p>
            <a:r>
              <a:rPr sz="5000" b="1" i="0">
                <a:solidFill>
                  <a:srgbClr val="F7F7F3"/>
                </a:solidFill>
                <a:latin typeface="Garamond"/>
              </a:rPr>
              <a:t>Research background and current work</a:t>
            </a:r>
          </a:p>
        </p:txBody>
      </p:sp>
      <p:sp>
        <p:nvSpPr>
          <p:cNvPr id="5" name="Rectangle 4"/>
          <p:cNvSpPr/>
          <p:nvPr/>
        </p:nvSpPr>
        <p:spPr>
          <a:xfrm>
            <a:off x="812800" y="4127500"/>
            <a:ext cx="3302000" cy="254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9525000" cy="381000"/>
          </a:xfrm>
          <a:prstGeom prst="rect">
            <a:avLst/>
          </a:prstGeom>
          <a:noFill/>
        </p:spPr>
        <p:txBody>
          <a:bodyPr wrap="square" lIns="0" rIns="0" tIns="0" bIns="0">
            <a:spAutoFit/>
          </a:bodyPr>
          <a:lstStyle/>
          <a:p>
            <a:r>
              <a:rPr sz="2200" b="0" i="0">
                <a:solidFill>
                  <a:srgbClr val="BFD8D5"/>
                </a:solidFill>
                <a:latin typeface="Calibri"/>
              </a:rPr>
              <a:t>Cancer complexity · imaging biomarkers · radiomics · digital twins · theranostics</a:t>
            </a:r>
          </a:p>
        </p:txBody>
      </p:sp>
      <p:sp>
        <p:nvSpPr>
          <p:cNvPr id="7" name="TextBox 6"/>
          <p:cNvSpPr txBox="1"/>
          <p:nvPr/>
        </p:nvSpPr>
        <p:spPr>
          <a:xfrm>
            <a:off x="10795000" y="6375400"/>
            <a:ext cx="584200" cy="190500"/>
          </a:xfrm>
          <a:prstGeom prst="rect">
            <a:avLst/>
          </a:prstGeom>
          <a:noFill/>
        </p:spPr>
        <p:txBody>
          <a:bodyPr wrap="square" lIns="0" rIns="0" tIns="0" bIns="0">
            <a:spAutoFit/>
          </a:bodyPr>
          <a:lstStyle/>
          <a:p>
            <a:r>
              <a:rPr sz="1100" b="0" i="0">
                <a:solidFill>
                  <a:srgbClr val="BFD8D5"/>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i="0">
                <a:solidFill>
                  <a:srgbClr val="0E7C7B"/>
                </a:solidFill>
                <a:latin typeface="Calibri"/>
              </a:rPr>
              <a:t>INTRODUCTION · CANCER IN CANADA</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i="0">
                <a:solidFill>
                  <a:srgbClr val="13294B"/>
                </a:solidFill>
                <a:latin typeface="Garamond"/>
              </a:rPr>
              <a:t>Cancer is the leading cause of death in Canada</a:t>
            </a:r>
          </a:p>
        </p:txBody>
      </p:sp>
      <p:sp>
        <p:nvSpPr>
          <p:cNvPr id="5" name="Rounded Rectangle 4"/>
          <p:cNvSpPr/>
          <p:nvPr/>
        </p:nvSpPr>
        <p:spPr>
          <a:xfrm>
            <a:off x="812800" y="1460500"/>
            <a:ext cx="3429000" cy="17145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 y="1778000"/>
            <a:ext cx="2921000" cy="571500"/>
          </a:xfrm>
          <a:prstGeom prst="rect">
            <a:avLst/>
          </a:prstGeom>
          <a:noFill/>
        </p:spPr>
        <p:txBody>
          <a:bodyPr wrap="square" lIns="0" rIns="0" tIns="0" bIns="0">
            <a:spAutoFit/>
          </a:bodyPr>
          <a:lstStyle/>
          <a:p>
            <a:r>
              <a:rPr sz="4800" b="1" i="0">
                <a:solidFill>
                  <a:srgbClr val="C0452D"/>
                </a:solidFill>
                <a:latin typeface="Garamond"/>
              </a:rPr>
              <a:t>2 in 5</a:t>
            </a:r>
          </a:p>
        </p:txBody>
      </p:sp>
      <p:sp>
        <p:nvSpPr>
          <p:cNvPr id="7" name="TextBox 6"/>
          <p:cNvSpPr txBox="1"/>
          <p:nvPr/>
        </p:nvSpPr>
        <p:spPr>
          <a:xfrm>
            <a:off x="1066800" y="2413000"/>
            <a:ext cx="2921000" cy="508000"/>
          </a:xfrm>
          <a:prstGeom prst="rect">
            <a:avLst/>
          </a:prstGeom>
          <a:noFill/>
        </p:spPr>
        <p:txBody>
          <a:bodyPr wrap="square" lIns="0" rIns="0" tIns="0" bIns="0">
            <a:spAutoFit/>
          </a:bodyPr>
          <a:lstStyle/>
          <a:p>
            <a:r>
              <a:rPr sz="2000" b="0" i="0">
                <a:solidFill>
                  <a:srgbClr val="4A5568"/>
                </a:solidFill>
                <a:latin typeface="Calibri"/>
              </a:rPr>
              <a:t>Canadians will develop cancer</a:t>
            </a:r>
          </a:p>
        </p:txBody>
      </p:sp>
      <p:sp>
        <p:nvSpPr>
          <p:cNvPr id="8" name="Rounded Rectangle 7"/>
          <p:cNvSpPr/>
          <p:nvPr/>
        </p:nvSpPr>
        <p:spPr>
          <a:xfrm>
            <a:off x="4381500" y="1460500"/>
            <a:ext cx="3429000" cy="17145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5500" y="1778000"/>
            <a:ext cx="2921000" cy="571500"/>
          </a:xfrm>
          <a:prstGeom prst="rect">
            <a:avLst/>
          </a:prstGeom>
          <a:noFill/>
        </p:spPr>
        <p:txBody>
          <a:bodyPr wrap="square" lIns="0" rIns="0" tIns="0" bIns="0">
            <a:spAutoFit/>
          </a:bodyPr>
          <a:lstStyle/>
          <a:p>
            <a:r>
              <a:rPr sz="4800" b="1" i="0">
                <a:solidFill>
                  <a:srgbClr val="C0452D"/>
                </a:solidFill>
                <a:latin typeface="Garamond"/>
              </a:rPr>
              <a:t>1 in 4</a:t>
            </a:r>
          </a:p>
        </p:txBody>
      </p:sp>
      <p:sp>
        <p:nvSpPr>
          <p:cNvPr id="10" name="TextBox 9"/>
          <p:cNvSpPr txBox="1"/>
          <p:nvPr/>
        </p:nvSpPr>
        <p:spPr>
          <a:xfrm>
            <a:off x="4635500" y="2413000"/>
            <a:ext cx="2921000" cy="508000"/>
          </a:xfrm>
          <a:prstGeom prst="rect">
            <a:avLst/>
          </a:prstGeom>
          <a:noFill/>
        </p:spPr>
        <p:txBody>
          <a:bodyPr wrap="square" lIns="0" rIns="0" tIns="0" bIns="0">
            <a:spAutoFit/>
          </a:bodyPr>
          <a:lstStyle/>
          <a:p>
            <a:r>
              <a:rPr sz="2000" b="0" i="0">
                <a:solidFill>
                  <a:srgbClr val="4A5568"/>
                </a:solidFill>
                <a:latin typeface="Calibri"/>
              </a:rPr>
              <a:t>Canadians will die from cancer</a:t>
            </a:r>
          </a:p>
        </p:txBody>
      </p:sp>
      <p:sp>
        <p:nvSpPr>
          <p:cNvPr id="11" name="Rounded Rectangle 10"/>
          <p:cNvSpPr/>
          <p:nvPr/>
        </p:nvSpPr>
        <p:spPr>
          <a:xfrm>
            <a:off x="7950200" y="1460500"/>
            <a:ext cx="3429000" cy="17145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04200" y="1778000"/>
            <a:ext cx="2921000" cy="571500"/>
          </a:xfrm>
          <a:prstGeom prst="rect">
            <a:avLst/>
          </a:prstGeom>
          <a:noFill/>
        </p:spPr>
        <p:txBody>
          <a:bodyPr wrap="square" lIns="0" rIns="0" tIns="0" bIns="0">
            <a:spAutoFit/>
          </a:bodyPr>
          <a:lstStyle/>
          <a:p>
            <a:r>
              <a:rPr sz="4800" b="1" i="0">
                <a:solidFill>
                  <a:srgbClr val="13294B"/>
                </a:solidFill>
                <a:latin typeface="Garamond"/>
              </a:rPr>
              <a:t>#1</a:t>
            </a:r>
          </a:p>
        </p:txBody>
      </p:sp>
      <p:sp>
        <p:nvSpPr>
          <p:cNvPr id="13" name="TextBox 12"/>
          <p:cNvSpPr txBox="1"/>
          <p:nvPr/>
        </p:nvSpPr>
        <p:spPr>
          <a:xfrm>
            <a:off x="8204200" y="2413000"/>
            <a:ext cx="2921000" cy="508000"/>
          </a:xfrm>
          <a:prstGeom prst="rect">
            <a:avLst/>
          </a:prstGeom>
          <a:noFill/>
        </p:spPr>
        <p:txBody>
          <a:bodyPr wrap="square" lIns="0" rIns="0" tIns="0" bIns="0">
            <a:spAutoFit/>
          </a:bodyPr>
          <a:lstStyle/>
          <a:p>
            <a:r>
              <a:rPr sz="2000" b="0" i="0">
                <a:solidFill>
                  <a:srgbClr val="4A5568"/>
                </a:solidFill>
                <a:latin typeface="Calibri"/>
              </a:rPr>
              <a:t>cause of death in Canada</a:t>
            </a:r>
          </a:p>
        </p:txBody>
      </p:sp>
      <p:sp>
        <p:nvSpPr>
          <p:cNvPr id="14" name="Rounded Rectangle 13"/>
          <p:cNvSpPr/>
          <p:nvPr/>
        </p:nvSpPr>
        <p:spPr>
          <a:xfrm>
            <a:off x="812800" y="3365500"/>
            <a:ext cx="3429000" cy="17145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6800" y="3683000"/>
            <a:ext cx="2921000" cy="571500"/>
          </a:xfrm>
          <a:prstGeom prst="rect">
            <a:avLst/>
          </a:prstGeom>
          <a:noFill/>
        </p:spPr>
        <p:txBody>
          <a:bodyPr wrap="square" lIns="0" rIns="0" tIns="0" bIns="0">
            <a:spAutoFit/>
          </a:bodyPr>
          <a:lstStyle/>
          <a:p>
            <a:r>
              <a:rPr sz="4800" b="1" i="0">
                <a:solidFill>
                  <a:srgbClr val="13294B"/>
                </a:solidFill>
                <a:latin typeface="Garamond"/>
              </a:rPr>
              <a:t>254,800</a:t>
            </a:r>
          </a:p>
        </p:txBody>
      </p:sp>
      <p:sp>
        <p:nvSpPr>
          <p:cNvPr id="16" name="TextBox 15"/>
          <p:cNvSpPr txBox="1"/>
          <p:nvPr/>
        </p:nvSpPr>
        <p:spPr>
          <a:xfrm>
            <a:off x="1066800" y="4318000"/>
            <a:ext cx="2921000" cy="508000"/>
          </a:xfrm>
          <a:prstGeom prst="rect">
            <a:avLst/>
          </a:prstGeom>
          <a:noFill/>
        </p:spPr>
        <p:txBody>
          <a:bodyPr wrap="square" lIns="0" rIns="0" tIns="0" bIns="0">
            <a:spAutoFit/>
          </a:bodyPr>
          <a:lstStyle/>
          <a:p>
            <a:r>
              <a:rPr sz="2000" b="0" i="0">
                <a:solidFill>
                  <a:srgbClr val="4A5568"/>
                </a:solidFill>
                <a:latin typeface="Calibri"/>
              </a:rPr>
              <a:t>new diagnoses expected in 2025</a:t>
            </a:r>
          </a:p>
        </p:txBody>
      </p:sp>
      <p:sp>
        <p:nvSpPr>
          <p:cNvPr id="17" name="Rounded Rectangle 16"/>
          <p:cNvSpPr/>
          <p:nvPr/>
        </p:nvSpPr>
        <p:spPr>
          <a:xfrm>
            <a:off x="4381500" y="3365500"/>
            <a:ext cx="3429000" cy="17145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5500" y="3683000"/>
            <a:ext cx="2921000" cy="571500"/>
          </a:xfrm>
          <a:prstGeom prst="rect">
            <a:avLst/>
          </a:prstGeom>
          <a:noFill/>
        </p:spPr>
        <p:txBody>
          <a:bodyPr wrap="square" lIns="0" rIns="0" tIns="0" bIns="0">
            <a:spAutoFit/>
          </a:bodyPr>
          <a:lstStyle/>
          <a:p>
            <a:r>
              <a:rPr sz="4800" b="1" i="0">
                <a:solidFill>
                  <a:srgbClr val="13294B"/>
                </a:solidFill>
                <a:latin typeface="Garamond"/>
              </a:rPr>
              <a:t>87,400</a:t>
            </a:r>
          </a:p>
        </p:txBody>
      </p:sp>
      <p:sp>
        <p:nvSpPr>
          <p:cNvPr id="19" name="TextBox 18"/>
          <p:cNvSpPr txBox="1"/>
          <p:nvPr/>
        </p:nvSpPr>
        <p:spPr>
          <a:xfrm>
            <a:off x="4635500" y="4318000"/>
            <a:ext cx="2921000" cy="508000"/>
          </a:xfrm>
          <a:prstGeom prst="rect">
            <a:avLst/>
          </a:prstGeom>
          <a:noFill/>
        </p:spPr>
        <p:txBody>
          <a:bodyPr wrap="square" lIns="0" rIns="0" tIns="0" bIns="0">
            <a:spAutoFit/>
          </a:bodyPr>
          <a:lstStyle/>
          <a:p>
            <a:r>
              <a:rPr sz="2000" b="0" i="0">
                <a:solidFill>
                  <a:srgbClr val="4A5568"/>
                </a:solidFill>
                <a:latin typeface="Calibri"/>
              </a:rPr>
              <a:t>cancer deaths expected in 2025</a:t>
            </a:r>
          </a:p>
        </p:txBody>
      </p:sp>
      <p:sp>
        <p:nvSpPr>
          <p:cNvPr id="20" name="Rounded Rectangle 19"/>
          <p:cNvSpPr/>
          <p:nvPr/>
        </p:nvSpPr>
        <p:spPr>
          <a:xfrm>
            <a:off x="7950200" y="3365500"/>
            <a:ext cx="3429000" cy="17145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4200" y="3683000"/>
            <a:ext cx="2921000" cy="571500"/>
          </a:xfrm>
          <a:prstGeom prst="rect">
            <a:avLst/>
          </a:prstGeom>
          <a:noFill/>
        </p:spPr>
        <p:txBody>
          <a:bodyPr wrap="square" lIns="0" rIns="0" tIns="0" bIns="0">
            <a:spAutoFit/>
          </a:bodyPr>
          <a:lstStyle/>
          <a:p>
            <a:r>
              <a:rPr sz="4800" b="1" i="0">
                <a:solidFill>
                  <a:srgbClr val="13294B"/>
                </a:solidFill>
                <a:latin typeface="Garamond"/>
              </a:rPr>
              <a:t>64%</a:t>
            </a:r>
          </a:p>
        </p:txBody>
      </p:sp>
      <p:sp>
        <p:nvSpPr>
          <p:cNvPr id="22" name="TextBox 21"/>
          <p:cNvSpPr txBox="1"/>
          <p:nvPr/>
        </p:nvSpPr>
        <p:spPr>
          <a:xfrm>
            <a:off x="8204200" y="4318000"/>
            <a:ext cx="2921000" cy="508000"/>
          </a:xfrm>
          <a:prstGeom prst="rect">
            <a:avLst/>
          </a:prstGeom>
          <a:noFill/>
        </p:spPr>
        <p:txBody>
          <a:bodyPr wrap="square" lIns="0" rIns="0" tIns="0" bIns="0">
            <a:spAutoFit/>
          </a:bodyPr>
          <a:lstStyle/>
          <a:p>
            <a:r>
              <a:rPr sz="2000" b="0" i="0">
                <a:solidFill>
                  <a:srgbClr val="4A5568"/>
                </a:solidFill>
                <a:latin typeface="Calibri"/>
              </a:rPr>
              <a:t>five-year net survival</a:t>
            </a:r>
          </a:p>
        </p:txBody>
      </p:sp>
      <p:sp>
        <p:nvSpPr>
          <p:cNvPr id="23" name="TextBox 22"/>
          <p:cNvSpPr txBox="1"/>
          <p:nvPr/>
        </p:nvSpPr>
        <p:spPr>
          <a:xfrm>
            <a:off x="812800" y="6375400"/>
            <a:ext cx="9525000" cy="190500"/>
          </a:xfrm>
          <a:prstGeom prst="rect">
            <a:avLst/>
          </a:prstGeom>
          <a:noFill/>
        </p:spPr>
        <p:txBody>
          <a:bodyPr wrap="square" lIns="0" rIns="0" tIns="0" bIns="0">
            <a:spAutoFit/>
          </a:bodyPr>
          <a:lstStyle/>
          <a:p>
            <a:r>
              <a:rPr sz="1100" b="0" i="0">
                <a:solidFill>
                  <a:srgbClr val="4A5568"/>
                </a:solidFill>
                <a:latin typeface="Calibri"/>
              </a:rPr>
              <a:t>Canadian Cancer Statistics 2025 · cancer.ca</a:t>
            </a:r>
          </a:p>
        </p:txBody>
      </p:sp>
      <p:sp>
        <p:nvSpPr>
          <p:cNvPr id="24" name="TextBox 23"/>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INTRODUCTION · CANCER COMPLEXITY</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A complex, dynamic and heterogeneous disease</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Hanahan &amp; Weinberg, Cell 144, 2011 · Kashyap et al., Trends in Biotechnology, 2022</a:t>
            </a:r>
          </a:p>
        </p:txBody>
      </p:sp>
      <p:sp>
        <p:nvSpPr>
          <p:cNvPr id="7" name="Rounded Rectangle 6"/>
          <p:cNvSpPr/>
          <p:nvPr/>
        </p:nvSpPr>
        <p:spPr>
          <a:xfrm>
            <a:off x="812800" y="1397000"/>
            <a:ext cx="3556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capab.jpg"/>
          <p:cNvPicPr>
            <a:picLocks noChangeAspect="1"/>
          </p:cNvPicPr>
          <p:nvPr/>
        </p:nvPicPr>
        <p:blipFill>
          <a:blip r:embed="rId3"/>
          <a:stretch>
            <a:fillRect/>
          </a:stretch>
        </p:blipFill>
        <p:spPr>
          <a:xfrm>
            <a:off x="1356240" y="1498600"/>
            <a:ext cx="2469119" cy="1682750"/>
          </a:xfrm>
          <a:prstGeom prst="rect">
            <a:avLst/>
          </a:prstGeom>
        </p:spPr>
      </p:pic>
      <p:sp>
        <p:nvSpPr>
          <p:cNvPr id="9" name="TextBox 8"/>
          <p:cNvSpPr txBox="1"/>
          <p:nvPr/>
        </p:nvSpPr>
        <p:spPr>
          <a:xfrm>
            <a:off x="939800" y="3270250"/>
            <a:ext cx="3302000" cy="254000"/>
          </a:xfrm>
          <a:prstGeom prst="rect">
            <a:avLst/>
          </a:prstGeom>
          <a:noFill/>
        </p:spPr>
        <p:txBody>
          <a:bodyPr wrap="square" lIns="0" rIns="0" tIns="0" bIns="0">
            <a:spAutoFit/>
          </a:bodyPr>
          <a:lstStyle/>
          <a:p>
            <a:r>
              <a:rPr sz="1700" b="1">
                <a:solidFill>
                  <a:srgbClr val="13294B"/>
                </a:solidFill>
                <a:latin typeface="Calibri"/>
              </a:rPr>
              <a:t>1  Complex biology</a:t>
            </a:r>
          </a:p>
        </p:txBody>
      </p:sp>
      <p:sp>
        <p:nvSpPr>
          <p:cNvPr id="10" name="TextBox 9"/>
          <p:cNvSpPr txBox="1"/>
          <p:nvPr/>
        </p:nvSpPr>
        <p:spPr>
          <a:xfrm>
            <a:off x="939800" y="3549650"/>
            <a:ext cx="3302000" cy="1593850"/>
          </a:xfrm>
          <a:prstGeom prst="rect">
            <a:avLst/>
          </a:prstGeom>
          <a:noFill/>
        </p:spPr>
        <p:txBody>
          <a:bodyPr wrap="square" lIns="0" rIns="0" tIns="0" bIns="0">
            <a:spAutoFit/>
          </a:bodyPr>
          <a:lstStyle/>
          <a:p>
            <a:pPr>
              <a:spcAft>
                <a:spcPts val="400"/>
              </a:spcAft>
            </a:pPr>
            <a:r>
              <a:rPr sz="1500" b="0">
                <a:solidFill>
                  <a:srgbClr val="4A5568"/>
                </a:solidFill>
                <a:latin typeface="Calibri"/>
              </a:rPr>
              <a:t>• 14 hallmarks and enabling characteristics</a:t>
            </a:r>
          </a:p>
          <a:p>
            <a:pPr>
              <a:spcAft>
                <a:spcPts val="400"/>
              </a:spcAft>
            </a:pPr>
            <a:r>
              <a:rPr sz="1500" b="0">
                <a:solidFill>
                  <a:srgbClr val="4A5568"/>
                </a:solidFill>
                <a:latin typeface="Calibri"/>
              </a:rPr>
              <a:t>• Genetic and epigenetic alterations</a:t>
            </a:r>
          </a:p>
          <a:p>
            <a:pPr>
              <a:spcAft>
                <a:spcPts val="400"/>
              </a:spcAft>
            </a:pPr>
            <a:r>
              <a:rPr sz="1500" b="0">
                <a:solidFill>
                  <a:srgbClr val="4A5568"/>
                </a:solidFill>
                <a:latin typeface="Calibri"/>
              </a:rPr>
              <a:t>• Shaped by the microenvironment</a:t>
            </a:r>
          </a:p>
        </p:txBody>
      </p:sp>
      <p:sp>
        <p:nvSpPr>
          <p:cNvPr id="11" name="Right Arrow 10"/>
          <p:cNvSpPr/>
          <p:nvPr/>
        </p:nvSpPr>
        <p:spPr>
          <a:xfrm>
            <a:off x="44196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60900" y="1397000"/>
            <a:ext cx="3556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eco.jpg"/>
          <p:cNvPicPr>
            <a:picLocks noChangeAspect="1"/>
          </p:cNvPicPr>
          <p:nvPr/>
        </p:nvPicPr>
        <p:blipFill>
          <a:blip r:embed="rId4"/>
          <a:stretch>
            <a:fillRect/>
          </a:stretch>
        </p:blipFill>
        <p:spPr>
          <a:xfrm>
            <a:off x="5510212" y="1498600"/>
            <a:ext cx="1857375" cy="1682750"/>
          </a:xfrm>
          <a:prstGeom prst="rect">
            <a:avLst/>
          </a:prstGeom>
        </p:spPr>
      </p:pic>
      <p:sp>
        <p:nvSpPr>
          <p:cNvPr id="14" name="TextBox 13"/>
          <p:cNvSpPr txBox="1"/>
          <p:nvPr/>
        </p:nvSpPr>
        <p:spPr>
          <a:xfrm>
            <a:off x="4787900" y="3270250"/>
            <a:ext cx="3302000" cy="254000"/>
          </a:xfrm>
          <a:prstGeom prst="rect">
            <a:avLst/>
          </a:prstGeom>
          <a:noFill/>
        </p:spPr>
        <p:txBody>
          <a:bodyPr wrap="square" lIns="0" rIns="0" tIns="0" bIns="0">
            <a:spAutoFit/>
          </a:bodyPr>
          <a:lstStyle/>
          <a:p>
            <a:r>
              <a:rPr sz="1700" b="1">
                <a:solidFill>
                  <a:srgbClr val="13294B"/>
                </a:solidFill>
                <a:latin typeface="Calibri"/>
              </a:rPr>
              <a:t>2  Dynamic ecosystem</a:t>
            </a:r>
          </a:p>
        </p:txBody>
      </p:sp>
      <p:sp>
        <p:nvSpPr>
          <p:cNvPr id="15" name="TextBox 14"/>
          <p:cNvSpPr txBox="1"/>
          <p:nvPr/>
        </p:nvSpPr>
        <p:spPr>
          <a:xfrm>
            <a:off x="4787900" y="3549650"/>
            <a:ext cx="3302000" cy="1593850"/>
          </a:xfrm>
          <a:prstGeom prst="rect">
            <a:avLst/>
          </a:prstGeom>
          <a:noFill/>
        </p:spPr>
        <p:txBody>
          <a:bodyPr wrap="square" lIns="0" rIns="0" tIns="0" bIns="0">
            <a:spAutoFit/>
          </a:bodyPr>
          <a:lstStyle/>
          <a:p>
            <a:pPr>
              <a:spcAft>
                <a:spcPts val="400"/>
              </a:spcAft>
            </a:pPr>
            <a:r>
              <a:rPr sz="1500" b="0">
                <a:solidFill>
                  <a:srgbClr val="4A5568"/>
                </a:solidFill>
                <a:latin typeface="Calibri"/>
              </a:rPr>
              <a:t>• Cancer, immune, stromal cells and vessels</a:t>
            </a:r>
          </a:p>
          <a:p>
            <a:pPr>
              <a:spcAft>
                <a:spcPts val="400"/>
              </a:spcAft>
            </a:pPr>
            <a:r>
              <a:rPr sz="1500" b="0">
                <a:solidFill>
                  <a:srgbClr val="4A5568"/>
                </a:solidFill>
                <a:latin typeface="Calibri"/>
              </a:rPr>
              <a:t>• Variation → selection → adaptation → evolution</a:t>
            </a:r>
          </a:p>
          <a:p>
            <a:pPr>
              <a:spcAft>
                <a:spcPts val="400"/>
              </a:spcAft>
            </a:pPr>
            <a:r>
              <a:rPr sz="1500" b="0">
                <a:solidFill>
                  <a:srgbClr val="4A5568"/>
                </a:solidFill>
                <a:latin typeface="Calibri"/>
              </a:rPr>
              <a:t>• Hypoxia, immunity and treatment drive change</a:t>
            </a:r>
          </a:p>
        </p:txBody>
      </p:sp>
      <p:sp>
        <p:nvSpPr>
          <p:cNvPr id="16" name="Right Arrow 15"/>
          <p:cNvSpPr/>
          <p:nvPr/>
        </p:nvSpPr>
        <p:spPr>
          <a:xfrm>
            <a:off x="82677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09000" y="1397000"/>
            <a:ext cx="28702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et.jpg"/>
          <p:cNvPicPr>
            <a:picLocks noChangeAspect="1"/>
          </p:cNvPicPr>
          <p:nvPr/>
        </p:nvPicPr>
        <p:blipFill>
          <a:blip r:embed="rId5"/>
          <a:stretch>
            <a:fillRect/>
          </a:stretch>
        </p:blipFill>
        <p:spPr>
          <a:xfrm>
            <a:off x="9185109" y="1498600"/>
            <a:ext cx="1517980" cy="1682750"/>
          </a:xfrm>
          <a:prstGeom prst="rect">
            <a:avLst/>
          </a:prstGeom>
        </p:spPr>
      </p:pic>
      <p:sp>
        <p:nvSpPr>
          <p:cNvPr id="19" name="TextBox 18"/>
          <p:cNvSpPr txBox="1"/>
          <p:nvPr/>
        </p:nvSpPr>
        <p:spPr>
          <a:xfrm>
            <a:off x="8636000" y="3270250"/>
            <a:ext cx="2616200" cy="254000"/>
          </a:xfrm>
          <a:prstGeom prst="rect">
            <a:avLst/>
          </a:prstGeom>
          <a:noFill/>
        </p:spPr>
        <p:txBody>
          <a:bodyPr wrap="square" lIns="0" rIns="0" tIns="0" bIns="0">
            <a:spAutoFit/>
          </a:bodyPr>
          <a:lstStyle/>
          <a:p>
            <a:r>
              <a:rPr sz="1700" b="1">
                <a:solidFill>
                  <a:srgbClr val="13294B"/>
                </a:solidFill>
                <a:latin typeface="Calibri"/>
              </a:rPr>
              <a:t>3  Heterogeneous</a:t>
            </a:r>
          </a:p>
        </p:txBody>
      </p:sp>
      <p:sp>
        <p:nvSpPr>
          <p:cNvPr id="20" name="TextBox 19"/>
          <p:cNvSpPr txBox="1"/>
          <p:nvPr/>
        </p:nvSpPr>
        <p:spPr>
          <a:xfrm>
            <a:off x="8636000" y="3549650"/>
            <a:ext cx="2616200" cy="1593850"/>
          </a:xfrm>
          <a:prstGeom prst="rect">
            <a:avLst/>
          </a:prstGeom>
          <a:noFill/>
        </p:spPr>
        <p:txBody>
          <a:bodyPr wrap="square" lIns="0" rIns="0" tIns="0" bIns="0">
            <a:spAutoFit/>
          </a:bodyPr>
          <a:lstStyle/>
          <a:p>
            <a:pPr>
              <a:spcAft>
                <a:spcPts val="400"/>
              </a:spcAft>
            </a:pPr>
            <a:r>
              <a:rPr sz="1500" b="0">
                <a:solidFill>
                  <a:srgbClr val="4A5568"/>
                </a:solidFill>
                <a:latin typeface="Calibri"/>
              </a:rPr>
              <a:t>• Between patients</a:t>
            </a:r>
          </a:p>
          <a:p>
            <a:pPr>
              <a:spcAft>
                <a:spcPts val="400"/>
              </a:spcAft>
            </a:pPr>
            <a:r>
              <a:rPr sz="1500" b="0">
                <a:solidFill>
                  <a:srgbClr val="4A5568"/>
                </a:solidFill>
                <a:latin typeface="Calibri"/>
              </a:rPr>
              <a:t>• Between lesions in one patient</a:t>
            </a:r>
          </a:p>
          <a:p>
            <a:pPr>
              <a:spcAft>
                <a:spcPts val="400"/>
              </a:spcAft>
            </a:pPr>
            <a:r>
              <a:rPr sz="1500" b="0">
                <a:solidFill>
                  <a:srgbClr val="4A5568"/>
                </a:solidFill>
                <a:latin typeface="Calibri"/>
              </a:rPr>
              <a:t>• Within a tumour and over time</a:t>
            </a:r>
          </a:p>
        </p:txBody>
      </p:sp>
      <p:sp>
        <p:nvSpPr>
          <p:cNvPr id="21" name="Rounded Rectangle 20"/>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6000" y="5518150"/>
            <a:ext cx="10160000" cy="254000"/>
          </a:xfrm>
          <a:prstGeom prst="rect">
            <a:avLst/>
          </a:prstGeom>
          <a:noFill/>
        </p:spPr>
        <p:txBody>
          <a:bodyPr wrap="square" lIns="0" rIns="0" tIns="0" bIns="0">
            <a:spAutoFit/>
          </a:bodyPr>
          <a:lstStyle/>
          <a:p>
            <a:r>
              <a:rPr sz="1600" b="0">
                <a:solidFill>
                  <a:srgbClr val="13294B"/>
                </a:solidFill>
                <a:latin typeface="Calibri"/>
              </a:rPr>
              <a:t>Clinical consequences: variable prognosis · differential treatment response · resistance · metastasis · recurrence</a:t>
            </a:r>
          </a:p>
        </p:txBody>
      </p:sp>
      <p:sp>
        <p:nvSpPr>
          <p:cNvPr id="23" name="TextBox 22"/>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INTRODUCTION · CANCER TECHNOLOGY ECOSYSTEM</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From the care continuum to personalized care</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
            </a:r>
          </a:p>
        </p:txBody>
      </p:sp>
      <p:sp>
        <p:nvSpPr>
          <p:cNvPr id="7" name="Rounded Rectangle 6"/>
          <p:cNvSpPr/>
          <p:nvPr/>
        </p:nvSpPr>
        <p:spPr>
          <a:xfrm>
            <a:off x="812800" y="1397000"/>
            <a:ext cx="5080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cont.jpg"/>
          <p:cNvPicPr>
            <a:picLocks noChangeAspect="1"/>
          </p:cNvPicPr>
          <p:nvPr/>
        </p:nvPicPr>
        <p:blipFill>
          <a:blip r:embed="rId3"/>
          <a:stretch>
            <a:fillRect/>
          </a:stretch>
        </p:blipFill>
        <p:spPr>
          <a:xfrm>
            <a:off x="914400" y="1730973"/>
            <a:ext cx="2730500" cy="3142053"/>
          </a:xfrm>
          <a:prstGeom prst="rect">
            <a:avLst/>
          </a:prstGeom>
        </p:spPr>
      </p:pic>
      <p:sp>
        <p:nvSpPr>
          <p:cNvPr id="9" name="TextBox 8"/>
          <p:cNvSpPr txBox="1"/>
          <p:nvPr/>
        </p:nvSpPr>
        <p:spPr>
          <a:xfrm>
            <a:off x="3771900" y="1549400"/>
            <a:ext cx="1993900" cy="381000"/>
          </a:xfrm>
          <a:prstGeom prst="rect">
            <a:avLst/>
          </a:prstGeom>
          <a:noFill/>
        </p:spPr>
        <p:txBody>
          <a:bodyPr wrap="square" lIns="0" rIns="0" tIns="0" bIns="0">
            <a:spAutoFit/>
          </a:bodyPr>
          <a:lstStyle/>
          <a:p>
            <a:r>
              <a:rPr sz="1700" b="1">
                <a:solidFill>
                  <a:srgbClr val="13294B"/>
                </a:solidFill>
                <a:latin typeface="Calibri"/>
              </a:rPr>
              <a:t>1  Care continuum</a:t>
            </a:r>
          </a:p>
        </p:txBody>
      </p:sp>
      <p:sp>
        <p:nvSpPr>
          <p:cNvPr id="10" name="TextBox 9"/>
          <p:cNvSpPr txBox="1"/>
          <p:nvPr/>
        </p:nvSpPr>
        <p:spPr>
          <a:xfrm>
            <a:off x="3771900" y="1841500"/>
            <a:ext cx="1993900" cy="3263900"/>
          </a:xfrm>
          <a:prstGeom prst="rect">
            <a:avLst/>
          </a:prstGeom>
          <a:noFill/>
        </p:spPr>
        <p:txBody>
          <a:bodyPr wrap="square" lIns="0" rIns="0" tIns="0" bIns="0">
            <a:spAutoFit/>
          </a:bodyPr>
          <a:lstStyle/>
          <a:p>
            <a:pPr>
              <a:spcAft>
                <a:spcPts val="400"/>
              </a:spcAft>
            </a:pPr>
            <a:r>
              <a:rPr sz="1500" b="0">
                <a:solidFill>
                  <a:srgbClr val="4A5568"/>
                </a:solidFill>
                <a:latin typeface="Calibri"/>
              </a:rPr>
              <a:t>• Prevention and screening</a:t>
            </a:r>
          </a:p>
          <a:p>
            <a:pPr>
              <a:spcAft>
                <a:spcPts val="400"/>
              </a:spcAft>
            </a:pPr>
            <a:r>
              <a:rPr sz="1500" b="0">
                <a:solidFill>
                  <a:srgbClr val="4A5568"/>
                </a:solidFill>
                <a:latin typeface="Calibri"/>
              </a:rPr>
              <a:t>• Diagnosis and stratification</a:t>
            </a:r>
          </a:p>
          <a:p>
            <a:pPr>
              <a:spcAft>
                <a:spcPts val="400"/>
              </a:spcAft>
            </a:pPr>
            <a:r>
              <a:rPr sz="1500" b="0">
                <a:solidFill>
                  <a:srgbClr val="4A5568"/>
                </a:solidFill>
                <a:latin typeface="Calibri"/>
              </a:rPr>
              <a:t>• Treatment planning and delivery</a:t>
            </a:r>
          </a:p>
          <a:p>
            <a:pPr>
              <a:spcAft>
                <a:spcPts val="400"/>
              </a:spcAft>
            </a:pPr>
            <a:r>
              <a:rPr sz="1500" b="0">
                <a:solidFill>
                  <a:srgbClr val="4A5568"/>
                </a:solidFill>
                <a:latin typeface="Calibri"/>
              </a:rPr>
              <a:t>• Response assessment</a:t>
            </a:r>
          </a:p>
          <a:p>
            <a:pPr>
              <a:spcAft>
                <a:spcPts val="400"/>
              </a:spcAft>
            </a:pPr>
            <a:r>
              <a:rPr sz="1500" b="0">
                <a:solidFill>
                  <a:srgbClr val="4A5568"/>
                </a:solidFill>
                <a:latin typeface="Calibri"/>
              </a:rPr>
              <a:t>• Survivorship and monitoring</a:t>
            </a:r>
          </a:p>
        </p:txBody>
      </p:sp>
      <p:sp>
        <p:nvSpPr>
          <p:cNvPr id="11" name="Right Arrow 10"/>
          <p:cNvSpPr/>
          <p:nvPr/>
        </p:nvSpPr>
        <p:spPr>
          <a:xfrm>
            <a:off x="594995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7600" y="1397000"/>
            <a:ext cx="51816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pill.jpg"/>
          <p:cNvPicPr>
            <a:picLocks noChangeAspect="1"/>
          </p:cNvPicPr>
          <p:nvPr/>
        </p:nvPicPr>
        <p:blipFill>
          <a:blip r:embed="rId4"/>
          <a:stretch>
            <a:fillRect/>
          </a:stretch>
        </p:blipFill>
        <p:spPr>
          <a:xfrm>
            <a:off x="6299200" y="1744373"/>
            <a:ext cx="2730500" cy="3115252"/>
          </a:xfrm>
          <a:prstGeom prst="rect">
            <a:avLst/>
          </a:prstGeom>
        </p:spPr>
      </p:pic>
      <p:sp>
        <p:nvSpPr>
          <p:cNvPr id="14" name="TextBox 13"/>
          <p:cNvSpPr txBox="1"/>
          <p:nvPr/>
        </p:nvSpPr>
        <p:spPr>
          <a:xfrm>
            <a:off x="9156700" y="1549400"/>
            <a:ext cx="2095500" cy="381000"/>
          </a:xfrm>
          <a:prstGeom prst="rect">
            <a:avLst/>
          </a:prstGeom>
          <a:noFill/>
        </p:spPr>
        <p:txBody>
          <a:bodyPr wrap="square" lIns="0" rIns="0" tIns="0" bIns="0">
            <a:spAutoFit/>
          </a:bodyPr>
          <a:lstStyle/>
          <a:p>
            <a:r>
              <a:rPr sz="1700" b="1">
                <a:solidFill>
                  <a:srgbClr val="13294B"/>
                </a:solidFill>
                <a:latin typeface="Calibri"/>
              </a:rPr>
              <a:t>2  Personalized care</a:t>
            </a:r>
          </a:p>
        </p:txBody>
      </p:sp>
      <p:sp>
        <p:nvSpPr>
          <p:cNvPr id="15" name="TextBox 14"/>
          <p:cNvSpPr txBox="1"/>
          <p:nvPr/>
        </p:nvSpPr>
        <p:spPr>
          <a:xfrm>
            <a:off x="9156700" y="1841500"/>
            <a:ext cx="2095500" cy="3263900"/>
          </a:xfrm>
          <a:prstGeom prst="rect">
            <a:avLst/>
          </a:prstGeom>
          <a:noFill/>
        </p:spPr>
        <p:txBody>
          <a:bodyPr wrap="square" lIns="0" rIns="0" tIns="0" bIns="0">
            <a:spAutoFit/>
          </a:bodyPr>
          <a:lstStyle/>
          <a:p>
            <a:pPr>
              <a:spcAft>
                <a:spcPts val="400"/>
              </a:spcAft>
            </a:pPr>
            <a:r>
              <a:rPr sz="1500" b="0">
                <a:solidFill>
                  <a:srgbClr val="4A5568"/>
                </a:solidFill>
                <a:latin typeface="Calibri"/>
              </a:rPr>
              <a:t>• Multimodal data: imaging, omics, outcomes</a:t>
            </a:r>
          </a:p>
          <a:p>
            <a:pPr>
              <a:spcAft>
                <a:spcPts val="400"/>
              </a:spcAft>
            </a:pPr>
            <a:r>
              <a:rPr sz="1500" b="0">
                <a:solidFill>
                  <a:srgbClr val="4A5568"/>
                </a:solidFill>
                <a:latin typeface="Calibri"/>
              </a:rPr>
              <a:t>• Multidisciplinary expertise</a:t>
            </a:r>
          </a:p>
          <a:p>
            <a:pPr>
              <a:spcAft>
                <a:spcPts val="400"/>
              </a:spcAft>
            </a:pPr>
            <a:r>
              <a:rPr sz="1500" b="0">
                <a:solidFill>
                  <a:srgbClr val="4A5568"/>
                </a:solidFill>
                <a:latin typeface="Calibri"/>
              </a:rPr>
              <a:t>• Treatment technologies</a:t>
            </a:r>
          </a:p>
          <a:p>
            <a:pPr>
              <a:spcAft>
                <a:spcPts val="400"/>
              </a:spcAft>
            </a:pPr>
            <a:r>
              <a:rPr sz="1500" b="0">
                <a:solidFill>
                  <a:srgbClr val="4A5568"/>
                </a:solidFill>
                <a:latin typeface="Calibri"/>
              </a:rPr>
              <a:t>• Computational models: radiomics, AI, digital twins</a:t>
            </a:r>
          </a:p>
        </p:txBody>
      </p:sp>
      <p:sp>
        <p:nvSpPr>
          <p:cNvPr id="16" name="Rounded Rectangle 15"/>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6000" y="5518150"/>
            <a:ext cx="10160000" cy="254000"/>
          </a:xfrm>
          <a:prstGeom prst="rect">
            <a:avLst/>
          </a:prstGeom>
          <a:noFill/>
        </p:spPr>
        <p:txBody>
          <a:bodyPr wrap="square" lIns="0" rIns="0" tIns="0" bIns="0">
            <a:spAutoFit/>
          </a:bodyPr>
          <a:lstStyle/>
          <a:p>
            <a:r>
              <a:rPr sz="1600" b="0">
                <a:solidFill>
                  <a:srgbClr val="13294B"/>
                </a:solidFill>
                <a:latin typeface="Calibri"/>
              </a:rPr>
              <a:t>Multimodal · multiscale · multipurpose · multidisciplinary — evidence → decisions → outcomes → learning</a:t>
            </a:r>
          </a:p>
        </p:txBody>
      </p:sp>
      <p:sp>
        <p:nvSpPr>
          <p:cNvPr id="18" name="TextBox 17"/>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INTRODUCTION · CANCER IMAGING</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Imaging the tumour phenotype</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García-Figueiras et al., Insights into Imaging (2019) 10:28</a:t>
            </a:r>
          </a:p>
        </p:txBody>
      </p:sp>
      <p:sp>
        <p:nvSpPr>
          <p:cNvPr id="7" name="Rounded Rectangle 6"/>
          <p:cNvSpPr/>
          <p:nvPr/>
        </p:nvSpPr>
        <p:spPr>
          <a:xfrm>
            <a:off x="812800" y="1397000"/>
            <a:ext cx="28575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od.jpg"/>
          <p:cNvPicPr>
            <a:picLocks noChangeAspect="1"/>
          </p:cNvPicPr>
          <p:nvPr/>
        </p:nvPicPr>
        <p:blipFill>
          <a:blip r:embed="rId3"/>
          <a:stretch>
            <a:fillRect/>
          </a:stretch>
        </p:blipFill>
        <p:spPr>
          <a:xfrm>
            <a:off x="1856414" y="1498600"/>
            <a:ext cx="770271" cy="1905000"/>
          </a:xfrm>
          <a:prstGeom prst="rect">
            <a:avLst/>
          </a:prstGeom>
        </p:spPr>
      </p:pic>
      <p:sp>
        <p:nvSpPr>
          <p:cNvPr id="9" name="TextBox 8"/>
          <p:cNvSpPr txBox="1"/>
          <p:nvPr/>
        </p:nvSpPr>
        <p:spPr>
          <a:xfrm>
            <a:off x="939800" y="3492500"/>
            <a:ext cx="2603500" cy="254000"/>
          </a:xfrm>
          <a:prstGeom prst="rect">
            <a:avLst/>
          </a:prstGeom>
          <a:noFill/>
        </p:spPr>
        <p:txBody>
          <a:bodyPr wrap="square" lIns="0" rIns="0" tIns="0" bIns="0">
            <a:spAutoFit/>
          </a:bodyPr>
          <a:lstStyle/>
          <a:p>
            <a:r>
              <a:rPr sz="1700" b="1">
                <a:solidFill>
                  <a:srgbClr val="13294B"/>
                </a:solidFill>
                <a:latin typeface="Calibri"/>
              </a:rPr>
              <a:t>1  Imaging modalities</a:t>
            </a:r>
          </a:p>
        </p:txBody>
      </p:sp>
      <p:sp>
        <p:nvSpPr>
          <p:cNvPr id="10" name="TextBox 9"/>
          <p:cNvSpPr txBox="1"/>
          <p:nvPr/>
        </p:nvSpPr>
        <p:spPr>
          <a:xfrm>
            <a:off x="939800" y="3771900"/>
            <a:ext cx="2603500" cy="1371600"/>
          </a:xfrm>
          <a:prstGeom prst="rect">
            <a:avLst/>
          </a:prstGeom>
          <a:noFill/>
        </p:spPr>
        <p:txBody>
          <a:bodyPr wrap="square" lIns="0" rIns="0" tIns="0" bIns="0">
            <a:spAutoFit/>
          </a:bodyPr>
          <a:lstStyle/>
          <a:p>
            <a:pPr>
              <a:spcAft>
                <a:spcPts val="400"/>
              </a:spcAft>
            </a:pPr>
            <a:r>
              <a:rPr sz="1500" b="0">
                <a:solidFill>
                  <a:srgbClr val="4A5568"/>
                </a:solidFill>
                <a:latin typeface="Calibri"/>
              </a:rPr>
              <a:t>• Anatomic: CT, MRI, ultrasound</a:t>
            </a:r>
          </a:p>
          <a:p>
            <a:pPr>
              <a:spcAft>
                <a:spcPts val="400"/>
              </a:spcAft>
            </a:pPr>
            <a:r>
              <a:rPr sz="1500" b="0">
                <a:solidFill>
                  <a:srgbClr val="4A5568"/>
                </a:solidFill>
                <a:latin typeface="Calibri"/>
              </a:rPr>
              <a:t>• Functional: DWI, DCE, BOLD, MRS</a:t>
            </a:r>
          </a:p>
          <a:p>
            <a:pPr>
              <a:spcAft>
                <a:spcPts val="400"/>
              </a:spcAft>
            </a:pPr>
            <a:r>
              <a:rPr sz="1500" b="0">
                <a:solidFill>
                  <a:srgbClr val="4A5568"/>
                </a:solidFill>
                <a:latin typeface="Calibri"/>
              </a:rPr>
              <a:t>• Molecular: PET, SPECT, tracers</a:t>
            </a:r>
          </a:p>
        </p:txBody>
      </p:sp>
      <p:sp>
        <p:nvSpPr>
          <p:cNvPr id="11" name="Right Arrow 10"/>
          <p:cNvSpPr/>
          <p:nvPr/>
        </p:nvSpPr>
        <p:spPr>
          <a:xfrm>
            <a:off x="37211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962400" y="1397000"/>
            <a:ext cx="4064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pheno.jpg"/>
          <p:cNvPicPr>
            <a:picLocks noChangeAspect="1"/>
          </p:cNvPicPr>
          <p:nvPr/>
        </p:nvPicPr>
        <p:blipFill>
          <a:blip r:embed="rId4"/>
          <a:stretch>
            <a:fillRect/>
          </a:stretch>
        </p:blipFill>
        <p:spPr>
          <a:xfrm>
            <a:off x="5145272" y="1498600"/>
            <a:ext cx="1698255" cy="1905000"/>
          </a:xfrm>
          <a:prstGeom prst="rect">
            <a:avLst/>
          </a:prstGeom>
        </p:spPr>
      </p:pic>
      <p:sp>
        <p:nvSpPr>
          <p:cNvPr id="14" name="TextBox 13"/>
          <p:cNvSpPr txBox="1"/>
          <p:nvPr/>
        </p:nvSpPr>
        <p:spPr>
          <a:xfrm>
            <a:off x="4089400" y="3492500"/>
            <a:ext cx="3810000" cy="254000"/>
          </a:xfrm>
          <a:prstGeom prst="rect">
            <a:avLst/>
          </a:prstGeom>
          <a:noFill/>
        </p:spPr>
        <p:txBody>
          <a:bodyPr wrap="square" lIns="0" rIns="0" tIns="0" bIns="0">
            <a:spAutoFit/>
          </a:bodyPr>
          <a:lstStyle/>
          <a:p>
            <a:r>
              <a:rPr sz="1700" b="1">
                <a:solidFill>
                  <a:srgbClr val="13294B"/>
                </a:solidFill>
                <a:latin typeface="Calibri"/>
              </a:rPr>
              <a:t>2  Tumour hallmarks we can image</a:t>
            </a:r>
          </a:p>
        </p:txBody>
      </p:sp>
      <p:sp>
        <p:nvSpPr>
          <p:cNvPr id="15" name="TextBox 14"/>
          <p:cNvSpPr txBox="1"/>
          <p:nvPr/>
        </p:nvSpPr>
        <p:spPr>
          <a:xfrm>
            <a:off x="4089400" y="3771900"/>
            <a:ext cx="3810000" cy="1371600"/>
          </a:xfrm>
          <a:prstGeom prst="rect">
            <a:avLst/>
          </a:prstGeom>
          <a:noFill/>
        </p:spPr>
        <p:txBody>
          <a:bodyPr wrap="square" lIns="0" rIns="0" tIns="0" bIns="0">
            <a:spAutoFit/>
          </a:bodyPr>
          <a:lstStyle/>
          <a:p>
            <a:pPr>
              <a:spcAft>
                <a:spcPts val="400"/>
              </a:spcAft>
            </a:pPr>
            <a:r>
              <a:rPr sz="1500" b="0">
                <a:solidFill>
                  <a:srgbClr val="4A5568"/>
                </a:solidFill>
                <a:latin typeface="Calibri"/>
              </a:rPr>
              <a:t>• Structure: cell density, fat/water</a:t>
            </a:r>
          </a:p>
          <a:p>
            <a:pPr>
              <a:spcAft>
                <a:spcPts val="400"/>
              </a:spcAft>
            </a:pPr>
            <a:r>
              <a:rPr sz="1500" b="0">
                <a:solidFill>
                  <a:srgbClr val="4A5568"/>
                </a:solidFill>
                <a:latin typeface="Calibri"/>
              </a:rPr>
              <a:t>• Function: metabolism, proliferation, hypoxia, angiogenesis</a:t>
            </a:r>
          </a:p>
          <a:p>
            <a:pPr>
              <a:spcAft>
                <a:spcPts val="400"/>
              </a:spcAft>
            </a:pPr>
            <a:r>
              <a:rPr sz="1500" b="0">
                <a:solidFill>
                  <a:srgbClr val="4A5568"/>
                </a:solidFill>
                <a:latin typeface="Calibri"/>
              </a:rPr>
              <a:t>• Receptors, apoptosis, microenvironment</a:t>
            </a:r>
          </a:p>
        </p:txBody>
      </p:sp>
      <p:sp>
        <p:nvSpPr>
          <p:cNvPr id="16" name="Right Arrow 15"/>
          <p:cNvSpPr/>
          <p:nvPr/>
        </p:nvSpPr>
        <p:spPr>
          <a:xfrm>
            <a:off x="80772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18500" y="1397000"/>
            <a:ext cx="3060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pan.jpg"/>
          <p:cNvPicPr>
            <a:picLocks noChangeAspect="1"/>
          </p:cNvPicPr>
          <p:nvPr/>
        </p:nvPicPr>
        <p:blipFill>
          <a:blip r:embed="rId5"/>
          <a:stretch>
            <a:fillRect/>
          </a:stretch>
        </p:blipFill>
        <p:spPr>
          <a:xfrm>
            <a:off x="9031265" y="1498600"/>
            <a:ext cx="1635169" cy="1905000"/>
          </a:xfrm>
          <a:prstGeom prst="rect">
            <a:avLst/>
          </a:prstGeom>
        </p:spPr>
      </p:pic>
      <p:sp>
        <p:nvSpPr>
          <p:cNvPr id="19" name="TextBox 18"/>
          <p:cNvSpPr txBox="1"/>
          <p:nvPr/>
        </p:nvSpPr>
        <p:spPr>
          <a:xfrm>
            <a:off x="8445500" y="3492500"/>
            <a:ext cx="2806700" cy="254000"/>
          </a:xfrm>
          <a:prstGeom prst="rect">
            <a:avLst/>
          </a:prstGeom>
          <a:noFill/>
        </p:spPr>
        <p:txBody>
          <a:bodyPr wrap="square" lIns="0" rIns="0" tIns="0" bIns="0">
            <a:spAutoFit/>
          </a:bodyPr>
          <a:lstStyle/>
          <a:p>
            <a:r>
              <a:rPr sz="1700" b="1">
                <a:solidFill>
                  <a:srgbClr val="13294B"/>
                </a:solidFill>
                <a:latin typeface="Calibri"/>
              </a:rPr>
              <a:t>3  Multiscale panomics</a:t>
            </a:r>
          </a:p>
        </p:txBody>
      </p:sp>
      <p:sp>
        <p:nvSpPr>
          <p:cNvPr id="20" name="TextBox 19"/>
          <p:cNvSpPr txBox="1"/>
          <p:nvPr/>
        </p:nvSpPr>
        <p:spPr>
          <a:xfrm>
            <a:off x="8445500" y="3771900"/>
            <a:ext cx="2806700" cy="1371600"/>
          </a:xfrm>
          <a:prstGeom prst="rect">
            <a:avLst/>
          </a:prstGeom>
          <a:noFill/>
        </p:spPr>
        <p:txBody>
          <a:bodyPr wrap="square" lIns="0" rIns="0" tIns="0" bIns="0">
            <a:spAutoFit/>
          </a:bodyPr>
          <a:lstStyle/>
          <a:p>
            <a:pPr>
              <a:spcAft>
                <a:spcPts val="400"/>
              </a:spcAft>
            </a:pPr>
            <a:r>
              <a:rPr sz="1500" b="0">
                <a:solidFill>
                  <a:srgbClr val="4A5568"/>
                </a:solidFill>
                <a:latin typeface="Calibri"/>
              </a:rPr>
              <a:t>• Radiomics, pathomics, metabolomics, proteomics, genomics</a:t>
            </a:r>
          </a:p>
          <a:p>
            <a:pPr>
              <a:spcAft>
                <a:spcPts val="400"/>
              </a:spcAft>
            </a:pPr>
            <a:r>
              <a:rPr sz="1500" b="0">
                <a:solidFill>
                  <a:srgbClr val="4A5568"/>
                </a:solidFill>
                <a:latin typeface="Calibri"/>
              </a:rPr>
              <a:t>• → integrated cancer phenotype</a:t>
            </a:r>
          </a:p>
        </p:txBody>
      </p:sp>
      <p:sp>
        <p:nvSpPr>
          <p:cNvPr id="21" name="Rounded Rectangle 20"/>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6000" y="5518150"/>
            <a:ext cx="10160000" cy="254000"/>
          </a:xfrm>
          <a:prstGeom prst="rect">
            <a:avLst/>
          </a:prstGeom>
          <a:noFill/>
        </p:spPr>
        <p:txBody>
          <a:bodyPr wrap="square" lIns="0" rIns="0" tIns="0" bIns="0">
            <a:spAutoFit/>
          </a:bodyPr>
          <a:lstStyle/>
          <a:p>
            <a:r>
              <a:rPr sz="1600" b="0">
                <a:solidFill>
                  <a:srgbClr val="13294B"/>
                </a:solidFill>
                <a:latin typeface="Calibri"/>
              </a:rPr>
              <a:t>Quantitative, multiscale imaging → biomarkers, prediction and personalization</a:t>
            </a:r>
          </a:p>
        </p:txBody>
      </p:sp>
      <p:sp>
        <p:nvSpPr>
          <p:cNvPr id="23" name="TextBox 22"/>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IMAGING BIOMARKER · RADIOMICS</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Three radiomics workflows</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Abdollahi et al., Phys Med Biol 2022</a:t>
            </a:r>
          </a:p>
        </p:txBody>
      </p:sp>
      <p:sp>
        <p:nvSpPr>
          <p:cNvPr id="7" name="Rounded Rectangle 6"/>
          <p:cNvSpPr/>
          <p:nvPr/>
        </p:nvSpPr>
        <p:spPr>
          <a:xfrm>
            <a:off x="812800" y="1333500"/>
            <a:ext cx="10566400" cy="12192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a.jpg"/>
          <p:cNvPicPr>
            <a:picLocks noChangeAspect="1"/>
          </p:cNvPicPr>
          <p:nvPr/>
        </p:nvPicPr>
        <p:blipFill>
          <a:blip r:embed="rId3"/>
          <a:stretch>
            <a:fillRect/>
          </a:stretch>
        </p:blipFill>
        <p:spPr>
          <a:xfrm>
            <a:off x="914400" y="1554615"/>
            <a:ext cx="6731000" cy="776968"/>
          </a:xfrm>
          <a:prstGeom prst="rect">
            <a:avLst/>
          </a:prstGeom>
        </p:spPr>
      </p:pic>
      <p:sp>
        <p:nvSpPr>
          <p:cNvPr id="9" name="TextBox 8"/>
          <p:cNvSpPr txBox="1"/>
          <p:nvPr/>
        </p:nvSpPr>
        <p:spPr>
          <a:xfrm>
            <a:off x="7810500" y="1524000"/>
            <a:ext cx="3429000" cy="254000"/>
          </a:xfrm>
          <a:prstGeom prst="rect">
            <a:avLst/>
          </a:prstGeom>
          <a:noFill/>
        </p:spPr>
        <p:txBody>
          <a:bodyPr wrap="square" lIns="0" rIns="0" tIns="0" bIns="0">
            <a:spAutoFit/>
          </a:bodyPr>
          <a:lstStyle/>
          <a:p>
            <a:r>
              <a:rPr sz="1700" b="1">
                <a:solidFill>
                  <a:srgbClr val="13294B"/>
                </a:solidFill>
                <a:latin typeface="Calibri"/>
              </a:rPr>
              <a:t>A  Handcrafted radiomics</a:t>
            </a:r>
          </a:p>
        </p:txBody>
      </p:sp>
      <p:sp>
        <p:nvSpPr>
          <p:cNvPr id="10" name="TextBox 9"/>
          <p:cNvSpPr txBox="1"/>
          <p:nvPr/>
        </p:nvSpPr>
        <p:spPr>
          <a:xfrm>
            <a:off x="7810500" y="1816100"/>
            <a:ext cx="3429000" cy="698500"/>
          </a:xfrm>
          <a:prstGeom prst="rect">
            <a:avLst/>
          </a:prstGeom>
          <a:noFill/>
        </p:spPr>
        <p:txBody>
          <a:bodyPr wrap="square" lIns="0" rIns="0" tIns="0" bIns="0">
            <a:spAutoFit/>
          </a:bodyPr>
          <a:lstStyle/>
          <a:p>
            <a:pPr>
              <a:spcAft>
                <a:spcPts val="400"/>
              </a:spcAft>
            </a:pPr>
            <a:r>
              <a:rPr sz="1500" b="0">
                <a:solidFill>
                  <a:srgbClr val="4A5568"/>
                </a:solidFill>
                <a:latin typeface="Calibri"/>
              </a:rPr>
              <a:t>• ROI → shape, intensity, texture features</a:t>
            </a:r>
          </a:p>
          <a:p>
            <a:pPr>
              <a:spcAft>
                <a:spcPts val="400"/>
              </a:spcAft>
            </a:pPr>
            <a:r>
              <a:rPr sz="1500" b="0">
                <a:solidFill>
                  <a:srgbClr val="4A5568"/>
                </a:solidFill>
                <a:latin typeface="Calibri"/>
              </a:rPr>
              <a:t>• Feature selection + machine learning</a:t>
            </a:r>
          </a:p>
        </p:txBody>
      </p:sp>
      <p:sp>
        <p:nvSpPr>
          <p:cNvPr id="11" name="Rounded Rectangle 10"/>
          <p:cNvSpPr/>
          <p:nvPr/>
        </p:nvSpPr>
        <p:spPr>
          <a:xfrm>
            <a:off x="812800" y="2654300"/>
            <a:ext cx="10566400" cy="12192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w-b.jpg"/>
          <p:cNvPicPr>
            <a:picLocks noChangeAspect="1"/>
          </p:cNvPicPr>
          <p:nvPr/>
        </p:nvPicPr>
        <p:blipFill>
          <a:blip r:embed="rId4"/>
          <a:stretch>
            <a:fillRect/>
          </a:stretch>
        </p:blipFill>
        <p:spPr>
          <a:xfrm>
            <a:off x="914400" y="2850879"/>
            <a:ext cx="6731000" cy="826040"/>
          </a:xfrm>
          <a:prstGeom prst="rect">
            <a:avLst/>
          </a:prstGeom>
        </p:spPr>
      </p:pic>
      <p:sp>
        <p:nvSpPr>
          <p:cNvPr id="13" name="TextBox 12"/>
          <p:cNvSpPr txBox="1"/>
          <p:nvPr/>
        </p:nvSpPr>
        <p:spPr>
          <a:xfrm>
            <a:off x="7810500" y="2844800"/>
            <a:ext cx="3429000" cy="254000"/>
          </a:xfrm>
          <a:prstGeom prst="rect">
            <a:avLst/>
          </a:prstGeom>
          <a:noFill/>
        </p:spPr>
        <p:txBody>
          <a:bodyPr wrap="square" lIns="0" rIns="0" tIns="0" bIns="0">
            <a:spAutoFit/>
          </a:bodyPr>
          <a:lstStyle/>
          <a:p>
            <a:r>
              <a:rPr sz="1700" b="1">
                <a:solidFill>
                  <a:srgbClr val="13294B"/>
                </a:solidFill>
                <a:latin typeface="Calibri"/>
              </a:rPr>
              <a:t>B  End-to-end deep learning</a:t>
            </a:r>
          </a:p>
        </p:txBody>
      </p:sp>
      <p:sp>
        <p:nvSpPr>
          <p:cNvPr id="14" name="TextBox 13"/>
          <p:cNvSpPr txBox="1"/>
          <p:nvPr/>
        </p:nvSpPr>
        <p:spPr>
          <a:xfrm>
            <a:off x="7810500" y="3136900"/>
            <a:ext cx="3429000" cy="698500"/>
          </a:xfrm>
          <a:prstGeom prst="rect">
            <a:avLst/>
          </a:prstGeom>
          <a:noFill/>
        </p:spPr>
        <p:txBody>
          <a:bodyPr wrap="square" lIns="0" rIns="0" tIns="0" bIns="0">
            <a:spAutoFit/>
          </a:bodyPr>
          <a:lstStyle/>
          <a:p>
            <a:pPr>
              <a:spcAft>
                <a:spcPts val="400"/>
              </a:spcAft>
            </a:pPr>
            <a:r>
              <a:rPr sz="1500" b="0">
                <a:solidFill>
                  <a:srgbClr val="4A5568"/>
                </a:solidFill>
                <a:latin typeface="Calibri"/>
              </a:rPr>
              <a:t>• CNN / transformer learns the features</a:t>
            </a:r>
          </a:p>
          <a:p>
            <a:pPr>
              <a:spcAft>
                <a:spcPts val="400"/>
              </a:spcAft>
            </a:pPr>
            <a:r>
              <a:rPr sz="1500" b="0">
                <a:solidFill>
                  <a:srgbClr val="4A5568"/>
                </a:solidFill>
                <a:latin typeface="Calibri"/>
              </a:rPr>
              <a:t>• Optimized end to end, image → risk</a:t>
            </a:r>
          </a:p>
        </p:txBody>
      </p:sp>
      <p:sp>
        <p:nvSpPr>
          <p:cNvPr id="15" name="Rounded Rectangle 14"/>
          <p:cNvSpPr/>
          <p:nvPr/>
        </p:nvSpPr>
        <p:spPr>
          <a:xfrm>
            <a:off x="812800" y="3975100"/>
            <a:ext cx="10566400" cy="12192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w-c.jpg"/>
          <p:cNvPicPr>
            <a:picLocks noChangeAspect="1"/>
          </p:cNvPicPr>
          <p:nvPr/>
        </p:nvPicPr>
        <p:blipFill>
          <a:blip r:embed="rId5"/>
          <a:stretch>
            <a:fillRect/>
          </a:stretch>
        </p:blipFill>
        <p:spPr>
          <a:xfrm>
            <a:off x="914400" y="4151233"/>
            <a:ext cx="6731000" cy="866933"/>
          </a:xfrm>
          <a:prstGeom prst="rect">
            <a:avLst/>
          </a:prstGeom>
        </p:spPr>
      </p:pic>
      <p:sp>
        <p:nvSpPr>
          <p:cNvPr id="17" name="TextBox 16"/>
          <p:cNvSpPr txBox="1"/>
          <p:nvPr/>
        </p:nvSpPr>
        <p:spPr>
          <a:xfrm>
            <a:off x="7810500" y="4165600"/>
            <a:ext cx="3429000" cy="254000"/>
          </a:xfrm>
          <a:prstGeom prst="rect">
            <a:avLst/>
          </a:prstGeom>
          <a:noFill/>
        </p:spPr>
        <p:txBody>
          <a:bodyPr wrap="square" lIns="0" rIns="0" tIns="0" bIns="0">
            <a:spAutoFit/>
          </a:bodyPr>
          <a:lstStyle/>
          <a:p>
            <a:r>
              <a:rPr sz="1700" b="1">
                <a:solidFill>
                  <a:srgbClr val="13294B"/>
                </a:solidFill>
                <a:latin typeface="Calibri"/>
              </a:rPr>
              <a:t>C  Deep features + ML</a:t>
            </a:r>
          </a:p>
        </p:txBody>
      </p:sp>
      <p:sp>
        <p:nvSpPr>
          <p:cNvPr id="18" name="TextBox 17"/>
          <p:cNvSpPr txBox="1"/>
          <p:nvPr/>
        </p:nvSpPr>
        <p:spPr>
          <a:xfrm>
            <a:off x="7810500" y="4457700"/>
            <a:ext cx="3429000" cy="698500"/>
          </a:xfrm>
          <a:prstGeom prst="rect">
            <a:avLst/>
          </a:prstGeom>
          <a:noFill/>
        </p:spPr>
        <p:txBody>
          <a:bodyPr wrap="square" lIns="0" rIns="0" tIns="0" bIns="0">
            <a:spAutoFit/>
          </a:bodyPr>
          <a:lstStyle/>
          <a:p>
            <a:pPr>
              <a:spcAft>
                <a:spcPts val="400"/>
              </a:spcAft>
            </a:pPr>
            <a:r>
              <a:rPr sz="1500" b="0">
                <a:solidFill>
                  <a:srgbClr val="4A5568"/>
                </a:solidFill>
                <a:latin typeface="Calibri"/>
              </a:rPr>
              <a:t>• Pretrained network exports embeddings</a:t>
            </a:r>
          </a:p>
          <a:p>
            <a:pPr>
              <a:spcAft>
                <a:spcPts val="400"/>
              </a:spcAft>
            </a:pPr>
            <a:r>
              <a:rPr sz="1500" b="0">
                <a:solidFill>
                  <a:srgbClr val="4A5568"/>
                </a:solidFill>
                <a:latin typeface="Calibri"/>
              </a:rPr>
              <a:t>• Separate ML model predicts risk</a:t>
            </a:r>
          </a:p>
        </p:txBody>
      </p:sp>
      <p:sp>
        <p:nvSpPr>
          <p:cNvPr id="19" name="Rounded Rectangle 18"/>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18150"/>
            <a:ext cx="10160000" cy="254000"/>
          </a:xfrm>
          <a:prstGeom prst="rect">
            <a:avLst/>
          </a:prstGeom>
          <a:noFill/>
        </p:spPr>
        <p:txBody>
          <a:bodyPr wrap="square" lIns="0" rIns="0" tIns="0" bIns="0">
            <a:spAutoFit/>
          </a:bodyPr>
          <a:lstStyle/>
          <a:p>
            <a:r>
              <a:rPr sz="1600" b="0">
                <a:solidFill>
                  <a:srgbClr val="13294B"/>
                </a:solidFill>
                <a:latin typeface="Calibri"/>
              </a:rPr>
              <a:t>Applications: diagnosis · prognosis · treatment response — independent validation required</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IMAGING BIOMARKER · RADIOMICS</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Radiomics: from tumour to whole patient</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Abdollahi, radiomics potentials</a:t>
            </a:r>
          </a:p>
        </p:txBody>
      </p:sp>
      <p:sp>
        <p:nvSpPr>
          <p:cNvPr id="7" name="Rounded Rectangle 6"/>
          <p:cNvSpPr/>
          <p:nvPr/>
        </p:nvSpPr>
        <p:spPr>
          <a:xfrm>
            <a:off x="812800" y="1358900"/>
            <a:ext cx="5207000" cy="18796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1.jpg"/>
          <p:cNvPicPr>
            <a:picLocks noChangeAspect="1"/>
          </p:cNvPicPr>
          <p:nvPr/>
        </p:nvPicPr>
        <p:blipFill>
          <a:blip r:embed="rId3"/>
          <a:stretch>
            <a:fillRect/>
          </a:stretch>
        </p:blipFill>
        <p:spPr>
          <a:xfrm>
            <a:off x="914400" y="1644388"/>
            <a:ext cx="2540000" cy="1308622"/>
          </a:xfrm>
          <a:prstGeom prst="rect">
            <a:avLst/>
          </a:prstGeom>
        </p:spPr>
      </p:pic>
      <p:sp>
        <p:nvSpPr>
          <p:cNvPr id="9" name="TextBox 8"/>
          <p:cNvSpPr txBox="1"/>
          <p:nvPr/>
        </p:nvSpPr>
        <p:spPr>
          <a:xfrm>
            <a:off x="3581400" y="1511300"/>
            <a:ext cx="2311400" cy="381000"/>
          </a:xfrm>
          <a:prstGeom prst="rect">
            <a:avLst/>
          </a:prstGeom>
          <a:noFill/>
        </p:spPr>
        <p:txBody>
          <a:bodyPr wrap="square" lIns="0" rIns="0" tIns="0" bIns="0">
            <a:spAutoFit/>
          </a:bodyPr>
          <a:lstStyle/>
          <a:p>
            <a:r>
              <a:rPr sz="1700" b="1">
                <a:solidFill>
                  <a:srgbClr val="13294B"/>
                </a:solidFill>
                <a:latin typeface="Calibri"/>
              </a:rPr>
              <a:t>I  Tumour phenotype</a:t>
            </a:r>
          </a:p>
        </p:txBody>
      </p:sp>
      <p:sp>
        <p:nvSpPr>
          <p:cNvPr id="10" name="TextBox 9"/>
          <p:cNvSpPr txBox="1"/>
          <p:nvPr/>
        </p:nvSpPr>
        <p:spPr>
          <a:xfrm>
            <a:off x="3581400" y="1803400"/>
            <a:ext cx="2311400" cy="1333500"/>
          </a:xfrm>
          <a:prstGeom prst="rect">
            <a:avLst/>
          </a:prstGeom>
          <a:noFill/>
        </p:spPr>
        <p:txBody>
          <a:bodyPr wrap="square" lIns="0" rIns="0" tIns="0" bIns="0">
            <a:spAutoFit/>
          </a:bodyPr>
          <a:lstStyle/>
          <a:p>
            <a:pPr>
              <a:spcAft>
                <a:spcPts val="400"/>
              </a:spcAft>
            </a:pPr>
            <a:r>
              <a:rPr sz="1500" b="0">
                <a:solidFill>
                  <a:srgbClr val="4A5568"/>
                </a:solidFill>
                <a:latin typeface="Calibri"/>
              </a:rPr>
              <a:t>• Prostate, lung, brain, kidney</a:t>
            </a:r>
          </a:p>
          <a:p>
            <a:pPr>
              <a:spcAft>
                <a:spcPts val="400"/>
              </a:spcAft>
            </a:pPr>
            <a:r>
              <a:rPr sz="1500" b="0">
                <a:solidFill>
                  <a:srgbClr val="4A5568"/>
                </a:solidFill>
                <a:latin typeface="Calibri"/>
              </a:rPr>
              <a:t>• Grade, molecular status, prognosis</a:t>
            </a:r>
          </a:p>
          <a:p>
            <a:pPr>
              <a:spcAft>
                <a:spcPts val="400"/>
              </a:spcAft>
            </a:pPr>
            <a:r>
              <a:rPr sz="1500" b="0">
                <a:solidFill>
                  <a:srgbClr val="4A5568"/>
                </a:solidFill>
                <a:latin typeface="Calibri"/>
              </a:rPr>
              <a:t>• Treatment-response prediction</a:t>
            </a:r>
          </a:p>
        </p:txBody>
      </p:sp>
      <p:sp>
        <p:nvSpPr>
          <p:cNvPr id="11" name="Rounded Rectangle 10"/>
          <p:cNvSpPr/>
          <p:nvPr/>
        </p:nvSpPr>
        <p:spPr>
          <a:xfrm>
            <a:off x="6172200" y="1358900"/>
            <a:ext cx="5207000" cy="18796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2.jpg"/>
          <p:cNvPicPr>
            <a:picLocks noChangeAspect="1"/>
          </p:cNvPicPr>
          <p:nvPr/>
        </p:nvPicPr>
        <p:blipFill>
          <a:blip r:embed="rId4"/>
          <a:stretch>
            <a:fillRect/>
          </a:stretch>
        </p:blipFill>
        <p:spPr>
          <a:xfrm>
            <a:off x="6273800" y="1950320"/>
            <a:ext cx="2540000" cy="696758"/>
          </a:xfrm>
          <a:prstGeom prst="rect">
            <a:avLst/>
          </a:prstGeom>
        </p:spPr>
      </p:pic>
      <p:sp>
        <p:nvSpPr>
          <p:cNvPr id="13" name="TextBox 12"/>
          <p:cNvSpPr txBox="1"/>
          <p:nvPr/>
        </p:nvSpPr>
        <p:spPr>
          <a:xfrm>
            <a:off x="8940800" y="1511300"/>
            <a:ext cx="2311400" cy="381000"/>
          </a:xfrm>
          <a:prstGeom prst="rect">
            <a:avLst/>
          </a:prstGeom>
          <a:noFill/>
        </p:spPr>
        <p:txBody>
          <a:bodyPr wrap="square" lIns="0" rIns="0" tIns="0" bIns="0">
            <a:spAutoFit/>
          </a:bodyPr>
          <a:lstStyle/>
          <a:p>
            <a:r>
              <a:rPr sz="1700" b="1">
                <a:solidFill>
                  <a:srgbClr val="13294B"/>
                </a:solidFill>
                <a:latin typeface="Calibri"/>
              </a:rPr>
              <a:t>II  Normal tissue</a:t>
            </a:r>
          </a:p>
        </p:txBody>
      </p:sp>
      <p:sp>
        <p:nvSpPr>
          <p:cNvPr id="14" name="TextBox 13"/>
          <p:cNvSpPr txBox="1"/>
          <p:nvPr/>
        </p:nvSpPr>
        <p:spPr>
          <a:xfrm>
            <a:off x="8940800" y="1803400"/>
            <a:ext cx="2311400" cy="1333500"/>
          </a:xfrm>
          <a:prstGeom prst="rect">
            <a:avLst/>
          </a:prstGeom>
          <a:noFill/>
        </p:spPr>
        <p:txBody>
          <a:bodyPr wrap="square" lIns="0" rIns="0" tIns="0" bIns="0">
            <a:spAutoFit/>
          </a:bodyPr>
          <a:lstStyle/>
          <a:p>
            <a:pPr>
              <a:spcAft>
                <a:spcPts val="400"/>
              </a:spcAft>
            </a:pPr>
            <a:r>
              <a:rPr sz="1500" b="0">
                <a:solidFill>
                  <a:srgbClr val="4A5568"/>
                </a:solidFill>
                <a:latin typeface="Calibri"/>
              </a:rPr>
              <a:t>• Cochlea, salivary glands, rectum, bladder</a:t>
            </a:r>
          </a:p>
          <a:p>
            <a:pPr>
              <a:spcAft>
                <a:spcPts val="400"/>
              </a:spcAft>
            </a:pPr>
            <a:r>
              <a:rPr sz="1500" b="0">
                <a:solidFill>
                  <a:srgbClr val="4A5568"/>
                </a:solidFill>
                <a:latin typeface="Calibri"/>
              </a:rPr>
              <a:t>• Changes after radiotherapy</a:t>
            </a:r>
          </a:p>
          <a:p>
            <a:pPr>
              <a:spcAft>
                <a:spcPts val="400"/>
              </a:spcAft>
            </a:pPr>
            <a:r>
              <a:rPr sz="1500" b="0">
                <a:solidFill>
                  <a:srgbClr val="4A5568"/>
                </a:solidFill>
                <a:latin typeface="Calibri"/>
              </a:rPr>
              <a:t>• Toxicity-risk prediction</a:t>
            </a:r>
          </a:p>
        </p:txBody>
      </p:sp>
      <p:sp>
        <p:nvSpPr>
          <p:cNvPr id="15" name="Rounded Rectangle 14"/>
          <p:cNvSpPr/>
          <p:nvPr/>
        </p:nvSpPr>
        <p:spPr>
          <a:xfrm>
            <a:off x="812800" y="3340100"/>
            <a:ext cx="5207000" cy="18796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3.jpg"/>
          <p:cNvPicPr>
            <a:picLocks noChangeAspect="1"/>
          </p:cNvPicPr>
          <p:nvPr/>
        </p:nvPicPr>
        <p:blipFill>
          <a:blip r:embed="rId5"/>
          <a:stretch>
            <a:fillRect/>
          </a:stretch>
        </p:blipFill>
        <p:spPr>
          <a:xfrm>
            <a:off x="914400" y="3537520"/>
            <a:ext cx="2540000" cy="1484759"/>
          </a:xfrm>
          <a:prstGeom prst="rect">
            <a:avLst/>
          </a:prstGeom>
        </p:spPr>
      </p:pic>
      <p:sp>
        <p:nvSpPr>
          <p:cNvPr id="17" name="TextBox 16"/>
          <p:cNvSpPr txBox="1"/>
          <p:nvPr/>
        </p:nvSpPr>
        <p:spPr>
          <a:xfrm>
            <a:off x="3581400" y="3492500"/>
            <a:ext cx="2311400" cy="381000"/>
          </a:xfrm>
          <a:prstGeom prst="rect">
            <a:avLst/>
          </a:prstGeom>
          <a:noFill/>
        </p:spPr>
        <p:txBody>
          <a:bodyPr wrap="square" lIns="0" rIns="0" tIns="0" bIns="0">
            <a:spAutoFit/>
          </a:bodyPr>
          <a:lstStyle/>
          <a:p>
            <a:r>
              <a:rPr sz="1700" b="1">
                <a:solidFill>
                  <a:srgbClr val="13294B"/>
                </a:solidFill>
                <a:latin typeface="Calibri"/>
              </a:rPr>
              <a:t>III  Systemic, multi-organ</a:t>
            </a:r>
          </a:p>
        </p:txBody>
      </p:sp>
      <p:sp>
        <p:nvSpPr>
          <p:cNvPr id="18" name="TextBox 17"/>
          <p:cNvSpPr txBox="1"/>
          <p:nvPr/>
        </p:nvSpPr>
        <p:spPr>
          <a:xfrm>
            <a:off x="3581400" y="3784600"/>
            <a:ext cx="2311400" cy="1333500"/>
          </a:xfrm>
          <a:prstGeom prst="rect">
            <a:avLst/>
          </a:prstGeom>
          <a:noFill/>
        </p:spPr>
        <p:txBody>
          <a:bodyPr wrap="square" lIns="0" rIns="0" tIns="0" bIns="0">
            <a:spAutoFit/>
          </a:bodyPr>
          <a:lstStyle/>
          <a:p>
            <a:pPr>
              <a:spcAft>
                <a:spcPts val="400"/>
              </a:spcAft>
            </a:pPr>
            <a:r>
              <a:rPr sz="1500" b="0">
                <a:solidFill>
                  <a:srgbClr val="4A5568"/>
                </a:solidFill>
                <a:latin typeface="Calibri"/>
              </a:rPr>
              <a:t>• Host beyond the tumour</a:t>
            </a:r>
          </a:p>
          <a:p>
            <a:pPr>
              <a:spcAft>
                <a:spcPts val="400"/>
              </a:spcAft>
            </a:pPr>
            <a:r>
              <a:rPr sz="1500" b="0">
                <a:solidFill>
                  <a:srgbClr val="4A5568"/>
                </a:solidFill>
                <a:latin typeface="Calibri"/>
              </a:rPr>
              <a:t>• Endocrine-organ signatures</a:t>
            </a:r>
          </a:p>
          <a:p>
            <a:pPr>
              <a:spcAft>
                <a:spcPts val="400"/>
              </a:spcAft>
            </a:pPr>
            <a:r>
              <a:rPr sz="1500" b="0">
                <a:solidFill>
                  <a:srgbClr val="4A5568"/>
                </a:solidFill>
                <a:latin typeface="Calibri"/>
              </a:rPr>
              <a:t>• PSMA-negative prostate cancer</a:t>
            </a:r>
          </a:p>
        </p:txBody>
      </p:sp>
      <p:sp>
        <p:nvSpPr>
          <p:cNvPr id="19" name="Rounded Rectangle 18"/>
          <p:cNvSpPr/>
          <p:nvPr/>
        </p:nvSpPr>
        <p:spPr>
          <a:xfrm>
            <a:off x="6172200" y="3340100"/>
            <a:ext cx="5207000" cy="18796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4.jpg"/>
          <p:cNvPicPr>
            <a:picLocks noChangeAspect="1"/>
          </p:cNvPicPr>
          <p:nvPr/>
        </p:nvPicPr>
        <p:blipFill>
          <a:blip r:embed="rId6"/>
          <a:stretch>
            <a:fillRect/>
          </a:stretch>
        </p:blipFill>
        <p:spPr>
          <a:xfrm>
            <a:off x="6273800" y="3976170"/>
            <a:ext cx="2540000" cy="607459"/>
          </a:xfrm>
          <a:prstGeom prst="rect">
            <a:avLst/>
          </a:prstGeom>
        </p:spPr>
      </p:pic>
      <p:sp>
        <p:nvSpPr>
          <p:cNvPr id="21" name="TextBox 20"/>
          <p:cNvSpPr txBox="1"/>
          <p:nvPr/>
        </p:nvSpPr>
        <p:spPr>
          <a:xfrm>
            <a:off x="8940800" y="3492500"/>
            <a:ext cx="2311400" cy="381000"/>
          </a:xfrm>
          <a:prstGeom prst="rect">
            <a:avLst/>
          </a:prstGeom>
          <a:noFill/>
        </p:spPr>
        <p:txBody>
          <a:bodyPr wrap="square" lIns="0" rIns="0" tIns="0" bIns="0">
            <a:spAutoFit/>
          </a:bodyPr>
          <a:lstStyle/>
          <a:p>
            <a:r>
              <a:rPr sz="1700" b="1">
                <a:solidFill>
                  <a:srgbClr val="13294B"/>
                </a:solidFill>
                <a:latin typeface="Calibri"/>
              </a:rPr>
              <a:t>IV  Non-oncologic</a:t>
            </a:r>
          </a:p>
        </p:txBody>
      </p:sp>
      <p:sp>
        <p:nvSpPr>
          <p:cNvPr id="22" name="TextBox 21"/>
          <p:cNvSpPr txBox="1"/>
          <p:nvPr/>
        </p:nvSpPr>
        <p:spPr>
          <a:xfrm>
            <a:off x="8940800" y="3784600"/>
            <a:ext cx="2311400" cy="1333500"/>
          </a:xfrm>
          <a:prstGeom prst="rect">
            <a:avLst/>
          </a:prstGeom>
          <a:noFill/>
        </p:spPr>
        <p:txBody>
          <a:bodyPr wrap="square" lIns="0" rIns="0" tIns="0" bIns="0">
            <a:spAutoFit/>
          </a:bodyPr>
          <a:lstStyle/>
          <a:p>
            <a:pPr>
              <a:spcAft>
                <a:spcPts val="400"/>
              </a:spcAft>
            </a:pPr>
            <a:r>
              <a:rPr sz="1500" b="0">
                <a:solidFill>
                  <a:srgbClr val="4A5568"/>
                </a:solidFill>
                <a:latin typeface="Calibri"/>
              </a:rPr>
              <a:t>• Myocardial infarction (cardiac MRI)</a:t>
            </a:r>
          </a:p>
          <a:p>
            <a:pPr>
              <a:spcAft>
                <a:spcPts val="400"/>
              </a:spcAft>
            </a:pPr>
            <a:r>
              <a:rPr sz="1500" b="0">
                <a:solidFill>
                  <a:srgbClr val="4A5568"/>
                </a:solidFill>
                <a:latin typeface="Calibri"/>
              </a:rPr>
              <a:t>• COVID-19 lung disease (CT)</a:t>
            </a:r>
          </a:p>
          <a:p>
            <a:pPr>
              <a:spcAft>
                <a:spcPts val="400"/>
              </a:spcAft>
            </a:pPr>
            <a:r>
              <a:rPr sz="1500" b="0">
                <a:solidFill>
                  <a:srgbClr val="4A5568"/>
                </a:solidFill>
                <a:latin typeface="Calibri"/>
              </a:rPr>
              <a:t>• Bone mineral loss (radiograph)</a:t>
            </a:r>
          </a:p>
        </p:txBody>
      </p:sp>
      <p:sp>
        <p:nvSpPr>
          <p:cNvPr id="23" name="Rounded Rectangle 22"/>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6000" y="5518150"/>
            <a:ext cx="10160000" cy="254000"/>
          </a:xfrm>
          <a:prstGeom prst="rect">
            <a:avLst/>
          </a:prstGeom>
          <a:noFill/>
        </p:spPr>
        <p:txBody>
          <a:bodyPr wrap="square" lIns="0" rIns="0" tIns="0" bIns="0">
            <a:spAutoFit/>
          </a:bodyPr>
          <a:lstStyle/>
          <a:p>
            <a:r>
              <a:rPr sz="1600" b="0">
                <a:solidFill>
                  <a:srgbClr val="13294B"/>
                </a:solidFill>
                <a:latin typeface="Calibri"/>
              </a:rPr>
              <a:t>Cross-cutting: multimodal imaging · radiogenomics · longitudinal / delta radiomics</a:t>
            </a:r>
          </a:p>
        </p:txBody>
      </p:sp>
      <p:sp>
        <p:nvSpPr>
          <p:cNvPr id="25" name="TextBox 24"/>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0E7C7B"/>
                </a:solidFill>
                <a:latin typeface="Calibri"/>
              </a:rPr>
              <a:t>IMAGING BIOMARKER · RADIOMICS</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Applications of radiomics</a:t>
            </a:r>
          </a:p>
        </p:txBody>
      </p:sp>
      <p:sp>
        <p:nvSpPr>
          <p:cNvPr id="5" name="TextBox 4"/>
          <p:cNvSpPr txBox="1"/>
          <p:nvPr/>
        </p:nvSpPr>
        <p:spPr>
          <a:xfrm>
            <a:off x="812800" y="6350000"/>
            <a:ext cx="9525000" cy="190500"/>
          </a:xfrm>
          <a:prstGeom prst="rect">
            <a:avLst/>
          </a:prstGeom>
          <a:noFill/>
        </p:spPr>
        <p:txBody>
          <a:bodyPr wrap="square" lIns="0" rIns="0" tIns="0" bIns="0">
            <a:spAutoFit/>
          </a:bodyPr>
          <a:lstStyle/>
          <a:p>
            <a:r>
              <a:rPr sz="1100" b="0">
                <a:solidFill>
                  <a:srgbClr val="4A5568"/>
                </a:solidFill>
                <a:latin typeface="Calibri"/>
              </a:rPr>
              <a:t>Abdollahi, radiomics potentials</a:t>
            </a:r>
          </a:p>
        </p:txBody>
      </p:sp>
      <p:sp>
        <p:nvSpPr>
          <p:cNvPr id="7" name="Rounded Rectangle 6"/>
          <p:cNvSpPr/>
          <p:nvPr/>
        </p:nvSpPr>
        <p:spPr>
          <a:xfrm>
            <a:off x="812800" y="13081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1.jpg"/>
          <p:cNvPicPr>
            <a:picLocks noChangeAspect="1"/>
          </p:cNvPicPr>
          <p:nvPr/>
        </p:nvPicPr>
        <p:blipFill>
          <a:blip r:embed="rId3"/>
          <a:stretch>
            <a:fillRect/>
          </a:stretch>
        </p:blipFill>
        <p:spPr>
          <a:xfrm>
            <a:off x="1074869" y="1409700"/>
            <a:ext cx="2904861" cy="952500"/>
          </a:xfrm>
          <a:prstGeom prst="rect">
            <a:avLst/>
          </a:prstGeom>
        </p:spPr>
      </p:pic>
      <p:sp>
        <p:nvSpPr>
          <p:cNvPr id="9" name="TextBox 8"/>
          <p:cNvSpPr txBox="1"/>
          <p:nvPr/>
        </p:nvSpPr>
        <p:spPr>
          <a:xfrm>
            <a:off x="939800" y="2451100"/>
            <a:ext cx="3175000" cy="254000"/>
          </a:xfrm>
          <a:prstGeom prst="rect">
            <a:avLst/>
          </a:prstGeom>
          <a:noFill/>
        </p:spPr>
        <p:txBody>
          <a:bodyPr wrap="square" lIns="0" rIns="0" tIns="0" bIns="0">
            <a:spAutoFit/>
          </a:bodyPr>
          <a:lstStyle/>
          <a:p>
            <a:r>
              <a:rPr sz="1700" b="1">
                <a:solidFill>
                  <a:srgbClr val="13294B"/>
                </a:solidFill>
                <a:latin typeface="Calibri"/>
              </a:rPr>
              <a:t>I  RT response</a:t>
            </a:r>
          </a:p>
        </p:txBody>
      </p:sp>
      <p:sp>
        <p:nvSpPr>
          <p:cNvPr id="10" name="TextBox 9"/>
          <p:cNvSpPr txBox="1"/>
          <p:nvPr/>
        </p:nvSpPr>
        <p:spPr>
          <a:xfrm>
            <a:off x="939800" y="27305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Predict tumour response to RT</a:t>
            </a:r>
          </a:p>
          <a:p>
            <a:pPr>
              <a:spcAft>
                <a:spcPts val="400"/>
              </a:spcAft>
            </a:pPr>
            <a:r>
              <a:rPr sz="1400" b="0">
                <a:solidFill>
                  <a:srgbClr val="4A5568"/>
                </a:solidFill>
                <a:latin typeface="Calibri"/>
              </a:rPr>
              <a:t>• Identify resistance patterns</a:t>
            </a:r>
          </a:p>
        </p:txBody>
      </p:sp>
      <p:sp>
        <p:nvSpPr>
          <p:cNvPr id="11" name="Rounded Rectangle 10"/>
          <p:cNvSpPr/>
          <p:nvPr/>
        </p:nvSpPr>
        <p:spPr>
          <a:xfrm>
            <a:off x="4381500" y="13081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2.jpg"/>
          <p:cNvPicPr>
            <a:picLocks noChangeAspect="1"/>
          </p:cNvPicPr>
          <p:nvPr/>
        </p:nvPicPr>
        <p:blipFill>
          <a:blip r:embed="rId4"/>
          <a:stretch>
            <a:fillRect/>
          </a:stretch>
        </p:blipFill>
        <p:spPr>
          <a:xfrm>
            <a:off x="4910441" y="1409700"/>
            <a:ext cx="2371117" cy="952500"/>
          </a:xfrm>
          <a:prstGeom prst="rect">
            <a:avLst/>
          </a:prstGeom>
        </p:spPr>
      </p:pic>
      <p:sp>
        <p:nvSpPr>
          <p:cNvPr id="13" name="TextBox 12"/>
          <p:cNvSpPr txBox="1"/>
          <p:nvPr/>
        </p:nvSpPr>
        <p:spPr>
          <a:xfrm>
            <a:off x="4508500" y="2451100"/>
            <a:ext cx="3175000" cy="254000"/>
          </a:xfrm>
          <a:prstGeom prst="rect">
            <a:avLst/>
          </a:prstGeom>
          <a:noFill/>
        </p:spPr>
        <p:txBody>
          <a:bodyPr wrap="square" lIns="0" rIns="0" tIns="0" bIns="0">
            <a:spAutoFit/>
          </a:bodyPr>
          <a:lstStyle/>
          <a:p>
            <a:r>
              <a:rPr sz="1700" b="1">
                <a:solidFill>
                  <a:srgbClr val="13294B"/>
                </a:solidFill>
                <a:latin typeface="Calibri"/>
              </a:rPr>
              <a:t>II  Toxicity</a:t>
            </a:r>
          </a:p>
        </p:txBody>
      </p:sp>
      <p:sp>
        <p:nvSpPr>
          <p:cNvPr id="14" name="TextBox 13"/>
          <p:cNvSpPr txBox="1"/>
          <p:nvPr/>
        </p:nvSpPr>
        <p:spPr>
          <a:xfrm>
            <a:off x="4508500" y="27305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Normal-tissue injury risk</a:t>
            </a:r>
          </a:p>
          <a:p>
            <a:pPr>
              <a:spcAft>
                <a:spcPts val="400"/>
              </a:spcAft>
            </a:pPr>
            <a:r>
              <a:rPr sz="1400" b="0">
                <a:solidFill>
                  <a:srgbClr val="4A5568"/>
                </a:solidFill>
                <a:latin typeface="Calibri"/>
              </a:rPr>
              <a:t>• Salivary glands, rectum, bladder</a:t>
            </a:r>
          </a:p>
        </p:txBody>
      </p:sp>
      <p:sp>
        <p:nvSpPr>
          <p:cNvPr id="15" name="Rounded Rectangle 14"/>
          <p:cNvSpPr/>
          <p:nvPr/>
        </p:nvSpPr>
        <p:spPr>
          <a:xfrm>
            <a:off x="7950200" y="13081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3.jpg"/>
          <p:cNvPicPr>
            <a:picLocks noChangeAspect="1"/>
          </p:cNvPicPr>
          <p:nvPr/>
        </p:nvPicPr>
        <p:blipFill>
          <a:blip r:embed="rId5"/>
          <a:stretch>
            <a:fillRect/>
          </a:stretch>
        </p:blipFill>
        <p:spPr>
          <a:xfrm>
            <a:off x="8337279" y="1409700"/>
            <a:ext cx="2654840" cy="952500"/>
          </a:xfrm>
          <a:prstGeom prst="rect">
            <a:avLst/>
          </a:prstGeom>
        </p:spPr>
      </p:pic>
      <p:sp>
        <p:nvSpPr>
          <p:cNvPr id="17" name="TextBox 16"/>
          <p:cNvSpPr txBox="1"/>
          <p:nvPr/>
        </p:nvSpPr>
        <p:spPr>
          <a:xfrm>
            <a:off x="8077200" y="2451100"/>
            <a:ext cx="3175000" cy="254000"/>
          </a:xfrm>
          <a:prstGeom prst="rect">
            <a:avLst/>
          </a:prstGeom>
          <a:noFill/>
        </p:spPr>
        <p:txBody>
          <a:bodyPr wrap="square" lIns="0" rIns="0" tIns="0" bIns="0">
            <a:spAutoFit/>
          </a:bodyPr>
          <a:lstStyle/>
          <a:p>
            <a:r>
              <a:rPr sz="1700" b="1">
                <a:solidFill>
                  <a:srgbClr val="13294B"/>
                </a:solidFill>
                <a:latin typeface="Calibri"/>
              </a:rPr>
              <a:t>III  Diagnosis</a:t>
            </a:r>
          </a:p>
        </p:txBody>
      </p:sp>
      <p:sp>
        <p:nvSpPr>
          <p:cNvPr id="18" name="TextBox 17"/>
          <p:cNvSpPr txBox="1"/>
          <p:nvPr/>
        </p:nvSpPr>
        <p:spPr>
          <a:xfrm>
            <a:off x="8077200" y="27305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Tumour type, grade, aggressiveness</a:t>
            </a:r>
          </a:p>
          <a:p>
            <a:pPr>
              <a:spcAft>
                <a:spcPts val="400"/>
              </a:spcAft>
            </a:pPr>
            <a:r>
              <a:rPr sz="1400" b="0">
                <a:solidFill>
                  <a:srgbClr val="4A5568"/>
                </a:solidFill>
                <a:latin typeface="Calibri"/>
              </a:rPr>
              <a:t>• Support lesion characterization</a:t>
            </a:r>
          </a:p>
        </p:txBody>
      </p:sp>
      <p:sp>
        <p:nvSpPr>
          <p:cNvPr id="19" name="Rounded Rectangle 18"/>
          <p:cNvSpPr/>
          <p:nvPr/>
        </p:nvSpPr>
        <p:spPr>
          <a:xfrm>
            <a:off x="812800" y="33274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4.jpg"/>
          <p:cNvPicPr>
            <a:picLocks noChangeAspect="1"/>
          </p:cNvPicPr>
          <p:nvPr/>
        </p:nvPicPr>
        <p:blipFill>
          <a:blip r:embed="rId6"/>
          <a:stretch>
            <a:fillRect/>
          </a:stretch>
        </p:blipFill>
        <p:spPr>
          <a:xfrm>
            <a:off x="1002198" y="3429000"/>
            <a:ext cx="3050202" cy="952500"/>
          </a:xfrm>
          <a:prstGeom prst="rect">
            <a:avLst/>
          </a:prstGeom>
        </p:spPr>
      </p:pic>
      <p:sp>
        <p:nvSpPr>
          <p:cNvPr id="21" name="TextBox 20"/>
          <p:cNvSpPr txBox="1"/>
          <p:nvPr/>
        </p:nvSpPr>
        <p:spPr>
          <a:xfrm>
            <a:off x="939800" y="4470400"/>
            <a:ext cx="3175000" cy="254000"/>
          </a:xfrm>
          <a:prstGeom prst="rect">
            <a:avLst/>
          </a:prstGeom>
          <a:noFill/>
        </p:spPr>
        <p:txBody>
          <a:bodyPr wrap="square" lIns="0" rIns="0" tIns="0" bIns="0">
            <a:spAutoFit/>
          </a:bodyPr>
          <a:lstStyle/>
          <a:p>
            <a:r>
              <a:rPr sz="1700" b="1">
                <a:solidFill>
                  <a:srgbClr val="13294B"/>
                </a:solidFill>
                <a:latin typeface="Calibri"/>
              </a:rPr>
              <a:t>IV  Prognosis</a:t>
            </a:r>
          </a:p>
        </p:txBody>
      </p:sp>
      <p:sp>
        <p:nvSpPr>
          <p:cNvPr id="22" name="TextBox 21"/>
          <p:cNvSpPr txBox="1"/>
          <p:nvPr/>
        </p:nvSpPr>
        <p:spPr>
          <a:xfrm>
            <a:off x="939800" y="47498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Progression and recurrence risk</a:t>
            </a:r>
          </a:p>
          <a:p>
            <a:pPr>
              <a:spcAft>
                <a:spcPts val="400"/>
              </a:spcAft>
            </a:pPr>
            <a:r>
              <a:rPr sz="1400" b="0">
                <a:solidFill>
                  <a:srgbClr val="4A5568"/>
                </a:solidFill>
                <a:latin typeface="Calibri"/>
              </a:rPr>
              <a:t>• Stratify patients by outcome</a:t>
            </a:r>
          </a:p>
        </p:txBody>
      </p:sp>
      <p:sp>
        <p:nvSpPr>
          <p:cNvPr id="23" name="Rounded Rectangle 22"/>
          <p:cNvSpPr/>
          <p:nvPr/>
        </p:nvSpPr>
        <p:spPr>
          <a:xfrm>
            <a:off x="4381500" y="33274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5.jpg"/>
          <p:cNvPicPr>
            <a:picLocks noChangeAspect="1"/>
          </p:cNvPicPr>
          <p:nvPr/>
        </p:nvPicPr>
        <p:blipFill>
          <a:blip r:embed="rId7"/>
          <a:stretch>
            <a:fillRect/>
          </a:stretch>
        </p:blipFill>
        <p:spPr>
          <a:xfrm>
            <a:off x="4864843" y="3429000"/>
            <a:ext cx="2462313" cy="952500"/>
          </a:xfrm>
          <a:prstGeom prst="rect">
            <a:avLst/>
          </a:prstGeom>
        </p:spPr>
      </p:pic>
      <p:sp>
        <p:nvSpPr>
          <p:cNvPr id="25" name="TextBox 24"/>
          <p:cNvSpPr txBox="1"/>
          <p:nvPr/>
        </p:nvSpPr>
        <p:spPr>
          <a:xfrm>
            <a:off x="4508500" y="4470400"/>
            <a:ext cx="3175000" cy="254000"/>
          </a:xfrm>
          <a:prstGeom prst="rect">
            <a:avLst/>
          </a:prstGeom>
          <a:noFill/>
        </p:spPr>
        <p:txBody>
          <a:bodyPr wrap="square" lIns="0" rIns="0" tIns="0" bIns="0">
            <a:spAutoFit/>
          </a:bodyPr>
          <a:lstStyle/>
          <a:p>
            <a:r>
              <a:rPr sz="1700" b="1">
                <a:solidFill>
                  <a:srgbClr val="13294B"/>
                </a:solidFill>
                <a:latin typeface="Calibri"/>
              </a:rPr>
              <a:t>V  Radiogenomics</a:t>
            </a:r>
          </a:p>
        </p:txBody>
      </p:sp>
      <p:sp>
        <p:nvSpPr>
          <p:cNvPr id="26" name="TextBox 25"/>
          <p:cNvSpPr txBox="1"/>
          <p:nvPr/>
        </p:nvSpPr>
        <p:spPr>
          <a:xfrm>
            <a:off x="4508500" y="47498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Link features to tumour biology</a:t>
            </a:r>
          </a:p>
          <a:p>
            <a:pPr>
              <a:spcAft>
                <a:spcPts val="400"/>
              </a:spcAft>
            </a:pPr>
            <a:r>
              <a:rPr sz="1400" b="0">
                <a:solidFill>
                  <a:srgbClr val="4A5568"/>
                </a:solidFill>
                <a:latin typeface="Calibri"/>
              </a:rPr>
              <a:t>• Molecular signatures</a:t>
            </a:r>
          </a:p>
        </p:txBody>
      </p:sp>
      <p:sp>
        <p:nvSpPr>
          <p:cNvPr id="27" name="Rounded Rectangle 26"/>
          <p:cNvSpPr/>
          <p:nvPr/>
        </p:nvSpPr>
        <p:spPr>
          <a:xfrm>
            <a:off x="7950200" y="3327400"/>
            <a:ext cx="3429000" cy="19431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a-6.jpg"/>
          <p:cNvPicPr>
            <a:picLocks noChangeAspect="1"/>
          </p:cNvPicPr>
          <p:nvPr/>
        </p:nvPicPr>
        <p:blipFill>
          <a:blip r:embed="rId8"/>
          <a:stretch>
            <a:fillRect/>
          </a:stretch>
        </p:blipFill>
        <p:spPr>
          <a:xfrm>
            <a:off x="8077200" y="3475484"/>
            <a:ext cx="3175000" cy="859530"/>
          </a:xfrm>
          <a:prstGeom prst="rect">
            <a:avLst/>
          </a:prstGeom>
        </p:spPr>
      </p:pic>
      <p:sp>
        <p:nvSpPr>
          <p:cNvPr id="29" name="TextBox 28"/>
          <p:cNvSpPr txBox="1"/>
          <p:nvPr/>
        </p:nvSpPr>
        <p:spPr>
          <a:xfrm>
            <a:off x="8077200" y="4470400"/>
            <a:ext cx="3175000" cy="254000"/>
          </a:xfrm>
          <a:prstGeom prst="rect">
            <a:avLst/>
          </a:prstGeom>
          <a:noFill/>
        </p:spPr>
        <p:txBody>
          <a:bodyPr wrap="square" lIns="0" rIns="0" tIns="0" bIns="0">
            <a:spAutoFit/>
          </a:bodyPr>
          <a:lstStyle/>
          <a:p>
            <a:r>
              <a:rPr sz="1700" b="1">
                <a:solidFill>
                  <a:srgbClr val="13294B"/>
                </a:solidFill>
                <a:latin typeface="Calibri"/>
              </a:rPr>
              <a:t>VI  Monitoring</a:t>
            </a:r>
          </a:p>
        </p:txBody>
      </p:sp>
      <p:sp>
        <p:nvSpPr>
          <p:cNvPr id="30" name="TextBox 29"/>
          <p:cNvSpPr txBox="1"/>
          <p:nvPr/>
        </p:nvSpPr>
        <p:spPr>
          <a:xfrm>
            <a:off x="8077200" y="4749800"/>
            <a:ext cx="3175000" cy="457200"/>
          </a:xfrm>
          <a:prstGeom prst="rect">
            <a:avLst/>
          </a:prstGeom>
          <a:noFill/>
        </p:spPr>
        <p:txBody>
          <a:bodyPr wrap="square" lIns="0" rIns="0" tIns="0" bIns="0">
            <a:spAutoFit/>
          </a:bodyPr>
          <a:lstStyle/>
          <a:p>
            <a:pPr>
              <a:spcAft>
                <a:spcPts val="400"/>
              </a:spcAft>
            </a:pPr>
            <a:r>
              <a:rPr sz="1400" b="0">
                <a:solidFill>
                  <a:srgbClr val="4A5568"/>
                </a:solidFill>
                <a:latin typeface="Calibri"/>
              </a:rPr>
              <a:t>• Track change during and after therapy</a:t>
            </a:r>
          </a:p>
          <a:p>
            <a:pPr>
              <a:spcAft>
                <a:spcPts val="400"/>
              </a:spcAft>
            </a:pPr>
            <a:r>
              <a:rPr sz="1400" b="0">
                <a:solidFill>
                  <a:srgbClr val="4A5568"/>
                </a:solidFill>
                <a:latin typeface="Calibri"/>
              </a:rPr>
              <a:t>• Delta radiomics</a:t>
            </a:r>
          </a:p>
        </p:txBody>
      </p:sp>
      <p:sp>
        <p:nvSpPr>
          <p:cNvPr id="31" name="Rounded Rectangle 30"/>
          <p:cNvSpPr/>
          <p:nvPr/>
        </p:nvSpPr>
        <p:spPr>
          <a:xfrm>
            <a:off x="812800" y="5448300"/>
            <a:ext cx="10566400" cy="3556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6000" y="5543550"/>
            <a:ext cx="10160000" cy="254000"/>
          </a:xfrm>
          <a:prstGeom prst="rect">
            <a:avLst/>
          </a:prstGeom>
          <a:noFill/>
        </p:spPr>
        <p:txBody>
          <a:bodyPr wrap="square" lIns="0" rIns="0" tIns="0" bIns="0">
            <a:spAutoFit/>
          </a:bodyPr>
          <a:lstStyle/>
          <a:p>
            <a:r>
              <a:rPr sz="1600" b="0">
                <a:solidFill>
                  <a:srgbClr val="13294B"/>
                </a:solidFill>
                <a:latin typeface="Calibri"/>
              </a:rPr>
              <a:t>Beyond the tumour: systemic and non-cancer disease · needs reproducible features and external validation</a:t>
            </a:r>
          </a:p>
        </p:txBody>
      </p:sp>
      <p:sp>
        <p:nvSpPr>
          <p:cNvPr id="33" name="TextBox 32"/>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2286000"/>
            <a:ext cx="10160000" cy="254000"/>
          </a:xfrm>
          <a:prstGeom prst="rect">
            <a:avLst/>
          </a:prstGeom>
          <a:noFill/>
        </p:spPr>
        <p:txBody>
          <a:bodyPr wrap="square" lIns="0" rIns="0" tIns="0" bIns="0">
            <a:spAutoFit/>
          </a:bodyPr>
          <a:lstStyle/>
          <a:p>
            <a:r>
              <a:rPr sz="1800" b="1" i="0">
                <a:solidFill>
                  <a:srgbClr val="BFD8D5"/>
                </a:solidFill>
                <a:latin typeface="Calibri"/>
              </a:rPr>
              <a:t>PART I · RESEARCH AND METHODS</a:t>
            </a:r>
          </a:p>
        </p:txBody>
      </p:sp>
      <p:sp>
        <p:nvSpPr>
          <p:cNvPr id="4" name="TextBox 3"/>
          <p:cNvSpPr txBox="1"/>
          <p:nvPr/>
        </p:nvSpPr>
        <p:spPr>
          <a:xfrm>
            <a:off x="812800" y="2540000"/>
            <a:ext cx="10160000" cy="1270000"/>
          </a:xfrm>
          <a:prstGeom prst="rect">
            <a:avLst/>
          </a:prstGeom>
          <a:noFill/>
        </p:spPr>
        <p:txBody>
          <a:bodyPr wrap="square" lIns="0" rIns="0" tIns="0" bIns="0">
            <a:spAutoFit/>
          </a:bodyPr>
          <a:lstStyle/>
          <a:p>
            <a:r>
              <a:rPr sz="5000" b="1" i="0">
                <a:solidFill>
                  <a:srgbClr val="F7F7F3"/>
                </a:solidFill>
                <a:latin typeface="Garamond"/>
              </a:rPr>
              <a:t>Selected studies</a:t>
            </a:r>
          </a:p>
        </p:txBody>
      </p:sp>
      <p:sp>
        <p:nvSpPr>
          <p:cNvPr id="5" name="Rectangle 4"/>
          <p:cNvSpPr/>
          <p:nvPr/>
        </p:nvSpPr>
        <p:spPr>
          <a:xfrm>
            <a:off x="812800" y="4127500"/>
            <a:ext cx="3302000" cy="254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9525000" cy="381000"/>
          </a:xfrm>
          <a:prstGeom prst="rect">
            <a:avLst/>
          </a:prstGeom>
          <a:noFill/>
        </p:spPr>
        <p:txBody>
          <a:bodyPr wrap="square" lIns="0" rIns="0" tIns="0" bIns="0">
            <a:spAutoFit/>
          </a:bodyPr>
          <a:lstStyle/>
          <a:p>
            <a:r>
              <a:rPr sz="2200" b="0" i="0">
                <a:solidFill>
                  <a:srgbClr val="BFD8D5"/>
                </a:solidFill>
                <a:latin typeface="Calibri"/>
              </a:rPr>
              <a:t>Radiomics · reliability · harmonization · digital twins · predictive dosimetry</a:t>
            </a:r>
          </a:p>
        </p:txBody>
      </p:sp>
      <p:sp>
        <p:nvSpPr>
          <p:cNvPr id="7" name="TextBox 6"/>
          <p:cNvSpPr txBox="1"/>
          <p:nvPr/>
        </p:nvSpPr>
        <p:spPr>
          <a:xfrm>
            <a:off x="10795000" y="6375400"/>
            <a:ext cx="584200" cy="190500"/>
          </a:xfrm>
          <a:prstGeom prst="rect">
            <a:avLst/>
          </a:prstGeom>
          <a:noFill/>
        </p:spPr>
        <p:txBody>
          <a:bodyPr wrap="square" lIns="0" rIns="0" tIns="0" bIns="0">
            <a:spAutoFit/>
          </a:bodyPr>
          <a:lstStyle/>
          <a:p>
            <a:r>
              <a:rPr sz="1100" b="0" i="0">
                <a:solidFill>
                  <a:srgbClr val="BFD8D5"/>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SYSTEMIC PHENOTYPING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Endocrine-organ PET/CT radiomics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Cancers (2026) 18:1767</a:t>
            </a:r>
          </a:p>
        </p:txBody>
      </p:sp>
      <p:sp>
        <p:nvSpPr>
          <p:cNvPr id="7" name="Rounded Rectangle 6"/>
          <p:cNvSpPr/>
          <p:nvPr/>
        </p:nvSpPr>
        <p:spPr>
          <a:xfrm>
            <a:off x="812800" y="1301750"/>
            <a:ext cx="36576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img.jpg"/>
          <p:cNvPicPr>
            <a:picLocks noChangeAspect="1"/>
          </p:cNvPicPr>
          <p:nvPr/>
        </p:nvPicPr>
        <p:blipFill>
          <a:blip r:embed="rId3"/>
          <a:stretch>
            <a:fillRect/>
          </a:stretch>
        </p:blipFill>
        <p:spPr>
          <a:xfrm>
            <a:off x="914400" y="1701800"/>
            <a:ext cx="3454400" cy="2844800"/>
          </a:xfrm>
          <a:prstGeom prst="rect">
            <a:avLst/>
          </a:prstGeom>
        </p:spPr>
      </p:pic>
      <p:sp>
        <p:nvSpPr>
          <p:cNvPr id="9" name="TextBox 8"/>
          <p:cNvSpPr txBox="1"/>
          <p:nvPr/>
        </p:nvSpPr>
        <p:spPr>
          <a:xfrm>
            <a:off x="939800" y="4959350"/>
            <a:ext cx="3403600" cy="254000"/>
          </a:xfrm>
          <a:prstGeom prst="rect">
            <a:avLst/>
          </a:prstGeom>
          <a:noFill/>
        </p:spPr>
        <p:txBody>
          <a:bodyPr wrap="square" lIns="0" rIns="0" tIns="0" bIns="0">
            <a:spAutoFit/>
          </a:bodyPr>
          <a:lstStyle/>
          <a:p>
            <a:pPr algn="ctr"/>
            <a:r>
              <a:rPr sz="1600" b="1">
                <a:solidFill>
                  <a:srgbClr val="13294B"/>
                </a:solidFill>
                <a:latin typeface="Calibri"/>
              </a:rPr>
              <a:t>Endocrine organs on PET/CT</a:t>
            </a:r>
          </a:p>
        </p:txBody>
      </p:sp>
      <p:sp>
        <p:nvSpPr>
          <p:cNvPr id="10" name="Right Arrow 9"/>
          <p:cNvSpPr/>
          <p:nvPr/>
        </p:nvSpPr>
        <p:spPr>
          <a:xfrm>
            <a:off x="4502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24400" y="1301750"/>
            <a:ext cx="33274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mod.jpg"/>
          <p:cNvPicPr>
            <a:picLocks noChangeAspect="1"/>
          </p:cNvPicPr>
          <p:nvPr/>
        </p:nvPicPr>
        <p:blipFill>
          <a:blip r:embed="rId4"/>
          <a:stretch>
            <a:fillRect/>
          </a:stretch>
        </p:blipFill>
        <p:spPr>
          <a:xfrm>
            <a:off x="5206620" y="1403350"/>
            <a:ext cx="2362958" cy="3441700"/>
          </a:xfrm>
          <a:prstGeom prst="rect">
            <a:avLst/>
          </a:prstGeom>
        </p:spPr>
      </p:pic>
      <p:sp>
        <p:nvSpPr>
          <p:cNvPr id="13" name="TextBox 12"/>
          <p:cNvSpPr txBox="1"/>
          <p:nvPr/>
        </p:nvSpPr>
        <p:spPr>
          <a:xfrm>
            <a:off x="4851400" y="4959350"/>
            <a:ext cx="3073400" cy="254000"/>
          </a:xfrm>
          <a:prstGeom prst="rect">
            <a:avLst/>
          </a:prstGeom>
          <a:noFill/>
        </p:spPr>
        <p:txBody>
          <a:bodyPr wrap="square" lIns="0" rIns="0" tIns="0" bIns="0">
            <a:spAutoFit/>
          </a:bodyPr>
          <a:lstStyle/>
          <a:p>
            <a:pPr algn="ctr"/>
            <a:r>
              <a:rPr sz="1600" b="1">
                <a:solidFill>
                  <a:srgbClr val="13294B"/>
                </a:solidFill>
                <a:latin typeface="Calibri"/>
              </a:rPr>
              <a:t>CT + PET + clinical fusion model</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Test AUC (held-out 30%)</a:t>
            </a:r>
          </a:p>
        </p:txBody>
      </p:sp>
      <p:graphicFrame>
        <p:nvGraphicFramePr>
          <p:cNvPr id="17" name="Table 16"/>
          <p:cNvGraphicFramePr>
            <a:graphicFrameLocks noGrp="1"/>
          </p:cNvGraphicFramePr>
          <p:nvPr/>
        </p:nvGraphicFramePr>
        <p:xfrm>
          <a:off x="8331200" y="1936750"/>
          <a:ext cx="2920999" cy="2133600"/>
        </p:xfrm>
        <a:graphic>
          <a:graphicData uri="http://schemas.openxmlformats.org/drawingml/2006/table">
            <a:tbl>
              <a:tblPr firstRow="1" bandRow="1">
                <a:tableStyleId>{5C22544A-7EE6-4342-B048-85BDC9FD1C3A}</a:tableStyleId>
              </a:tblPr>
              <a:tblGrid>
                <a:gridCol w="1927860"/>
                <a:gridCol w="993139"/>
              </a:tblGrid>
              <a:tr h="266700">
                <a:tc>
                  <a:txBody>
                    <a:bodyPr/>
                    <a:lstStyle/>
                    <a:p>
                      <a:r>
                        <a:rPr sz="1300" b="1">
                          <a:solidFill>
                            <a:srgbClr val="FFFFFF"/>
                          </a:solidFill>
                          <a:latin typeface="Calibri"/>
                        </a:rPr>
                        <a:t>Model</a:t>
                      </a:r>
                    </a:p>
                  </a:txBody>
                  <a:tcPr marL="63500" marR="63500" marT="25400" marB="25400">
                    <a:solidFill>
                      <a:srgbClr val="1F5FA8"/>
                    </a:solidFill>
                  </a:tcPr>
                </a:tc>
                <a:tc>
                  <a:txBody>
                    <a:bodyPr/>
                    <a:lstStyle/>
                    <a:p>
                      <a:pPr algn="ctr"/>
                      <a:r>
                        <a:rPr sz="1300" b="1">
                          <a:solidFill>
                            <a:srgbClr val="FFFFFF"/>
                          </a:solidFill>
                          <a:latin typeface="Calibri"/>
                        </a:rPr>
                        <a:t>AUC</a:t>
                      </a:r>
                    </a:p>
                  </a:txBody>
                  <a:tcPr marL="63500" marR="63500" marT="25400" marB="25400">
                    <a:solidFill>
                      <a:srgbClr val="1F5FA8"/>
                    </a:solidFill>
                  </a:tcPr>
                </a:tc>
              </a:tr>
              <a:tr h="266700">
                <a:tc>
                  <a:txBody>
                    <a:bodyPr/>
                    <a:lstStyle/>
                    <a:p>
                      <a:r>
                        <a:rPr sz="1300" b="0">
                          <a:solidFill>
                            <a:srgbClr val="13294B"/>
                          </a:solidFill>
                          <a:latin typeface="Calibri"/>
                        </a:rPr>
                        <a:t>Clinical only</a:t>
                      </a:r>
                    </a:p>
                  </a:txBody>
                  <a:tcPr marL="63500" marR="63500" marT="25400" marB="25400">
                    <a:solidFill>
                      <a:srgbClr val="FFFFFF"/>
                    </a:solidFill>
                  </a:tcPr>
                </a:tc>
                <a:tc>
                  <a:txBody>
                    <a:bodyPr/>
                    <a:lstStyle/>
                    <a:p>
                      <a:pPr algn="ctr"/>
                      <a:r>
                        <a:rPr sz="1300" b="0">
                          <a:solidFill>
                            <a:srgbClr val="13294B"/>
                          </a:solidFill>
                          <a:latin typeface="Calibri"/>
                        </a:rPr>
                        <a:t>0.727</a:t>
                      </a:r>
                    </a:p>
                  </a:txBody>
                  <a:tcPr marL="63500" marR="63500" marT="25400" marB="25400">
                    <a:solidFill>
                      <a:srgbClr val="FFFFFF"/>
                    </a:solidFill>
                  </a:tcPr>
                </a:tc>
              </a:tr>
              <a:tr h="266700">
                <a:tc>
                  <a:txBody>
                    <a:bodyPr/>
                    <a:lstStyle/>
                    <a:p>
                      <a:r>
                        <a:rPr sz="1300" b="0">
                          <a:solidFill>
                            <a:srgbClr val="13294B"/>
                          </a:solidFill>
                          <a:latin typeface="Calibri"/>
                        </a:rPr>
                        <a:t>CT + clinical</a:t>
                      </a:r>
                    </a:p>
                  </a:txBody>
                  <a:tcPr marL="63500" marR="63500" marT="25400" marB="25400">
                    <a:solidFill>
                      <a:srgbClr val="F3F6FB"/>
                    </a:solidFill>
                  </a:tcPr>
                </a:tc>
                <a:tc>
                  <a:txBody>
                    <a:bodyPr/>
                    <a:lstStyle/>
                    <a:p>
                      <a:pPr algn="ctr"/>
                      <a:r>
                        <a:rPr sz="1300" b="0">
                          <a:solidFill>
                            <a:srgbClr val="13294B"/>
                          </a:solidFill>
                          <a:latin typeface="Calibri"/>
                        </a:rPr>
                        <a:t>0.729</a:t>
                      </a:r>
                    </a:p>
                  </a:txBody>
                  <a:tcPr marL="63500" marR="63500" marT="25400" marB="25400">
                    <a:solidFill>
                      <a:srgbClr val="F3F6FB"/>
                    </a:solidFill>
                  </a:tcPr>
                </a:tc>
              </a:tr>
              <a:tr h="266700">
                <a:tc>
                  <a:txBody>
                    <a:bodyPr/>
                    <a:lstStyle/>
                    <a:p>
                      <a:r>
                        <a:rPr sz="1300" b="0">
                          <a:solidFill>
                            <a:srgbClr val="13294B"/>
                          </a:solidFill>
                          <a:latin typeface="Calibri"/>
                        </a:rPr>
                        <a:t>PET + clinical</a:t>
                      </a:r>
                    </a:p>
                  </a:txBody>
                  <a:tcPr marL="63500" marR="63500" marT="25400" marB="25400">
                    <a:solidFill>
                      <a:srgbClr val="FFFFFF"/>
                    </a:solidFill>
                  </a:tcPr>
                </a:tc>
                <a:tc>
                  <a:txBody>
                    <a:bodyPr/>
                    <a:lstStyle/>
                    <a:p>
                      <a:pPr algn="ctr"/>
                      <a:r>
                        <a:rPr sz="1300" b="0">
                          <a:solidFill>
                            <a:srgbClr val="13294B"/>
                          </a:solidFill>
                          <a:latin typeface="Calibri"/>
                        </a:rPr>
                        <a:t>0.733</a:t>
                      </a:r>
                    </a:p>
                  </a:txBody>
                  <a:tcPr marL="63500" marR="63500" marT="25400" marB="25400">
                    <a:solidFill>
                      <a:srgbClr val="FFFFFF"/>
                    </a:solidFill>
                  </a:tcPr>
                </a:tc>
              </a:tr>
              <a:tr h="266700">
                <a:tc>
                  <a:txBody>
                    <a:bodyPr/>
                    <a:lstStyle/>
                    <a:p>
                      <a:r>
                        <a:rPr sz="1300" b="0">
                          <a:solidFill>
                            <a:srgbClr val="13294B"/>
                          </a:solidFill>
                          <a:latin typeface="Calibri"/>
                        </a:rPr>
                        <a:t>CT + PET + clinical</a:t>
                      </a:r>
                    </a:p>
                  </a:txBody>
                  <a:tcPr marL="63500" marR="63500" marT="25400" marB="25400">
                    <a:solidFill>
                      <a:srgbClr val="F3F6FB"/>
                    </a:solidFill>
                  </a:tcPr>
                </a:tc>
                <a:tc>
                  <a:txBody>
                    <a:bodyPr/>
                    <a:lstStyle/>
                    <a:p>
                      <a:pPr algn="ctr"/>
                      <a:r>
                        <a:rPr sz="1300" b="0">
                          <a:solidFill>
                            <a:srgbClr val="13294B"/>
                          </a:solidFill>
                          <a:latin typeface="Calibri"/>
                        </a:rPr>
                        <a:t>0.758</a:t>
                      </a:r>
                    </a:p>
                  </a:txBody>
                  <a:tcPr marL="63500" marR="63500" marT="25400" marB="25400">
                    <a:solidFill>
                      <a:srgbClr val="F3F6FB"/>
                    </a:solidFill>
                  </a:tcPr>
                </a:tc>
              </a:tr>
              <a:tr h="266700">
                <a:tc>
                  <a:txBody>
                    <a:bodyPr/>
                    <a:lstStyle/>
                    <a:p>
                      <a:r>
                        <a:rPr sz="1300" b="0">
                          <a:solidFill>
                            <a:srgbClr val="13294B"/>
                          </a:solidFill>
                          <a:latin typeface="Calibri"/>
                        </a:rPr>
                        <a:t>95% CI (best)</a:t>
                      </a:r>
                    </a:p>
                  </a:txBody>
                  <a:tcPr marL="63500" marR="63500" marT="25400" marB="25400">
                    <a:solidFill>
                      <a:srgbClr val="FFFFFF"/>
                    </a:solidFill>
                  </a:tcPr>
                </a:tc>
                <a:tc>
                  <a:txBody>
                    <a:bodyPr/>
                    <a:lstStyle/>
                    <a:p>
                      <a:pPr algn="ctr"/>
                      <a:r>
                        <a:rPr sz="1300" b="0">
                          <a:solidFill>
                            <a:srgbClr val="13294B"/>
                          </a:solidFill>
                          <a:latin typeface="Calibri"/>
                        </a:rPr>
                        <a:t>0.653–0.849</a:t>
                      </a:r>
                    </a:p>
                  </a:txBody>
                  <a:tcPr marL="63500" marR="63500" marT="25400" marB="25400">
                    <a:solidFill>
                      <a:srgbClr val="FFFFFF"/>
                    </a:solidFill>
                  </a:tcPr>
                </a:tc>
              </a:tr>
              <a:tr h="266700">
                <a:tc>
                  <a:txBody>
                    <a:bodyPr/>
                    <a:lstStyle/>
                    <a:p>
                      <a:r>
                        <a:rPr sz="1300" b="0">
                          <a:solidFill>
                            <a:srgbClr val="13294B"/>
                          </a:solidFill>
                          <a:latin typeface="Calibri"/>
                        </a:rPr>
                        <a:t>ΔAUC vs clinical</a:t>
                      </a:r>
                    </a:p>
                  </a:txBody>
                  <a:tcPr marL="63500" marR="63500" marT="25400" marB="25400">
                    <a:solidFill>
                      <a:srgbClr val="F3F6FB"/>
                    </a:solidFill>
                  </a:tcPr>
                </a:tc>
                <a:tc>
                  <a:txBody>
                    <a:bodyPr/>
                    <a:lstStyle/>
                    <a:p>
                      <a:pPr algn="ctr"/>
                      <a:r>
                        <a:rPr sz="1300" b="0">
                          <a:solidFill>
                            <a:srgbClr val="13294B"/>
                          </a:solidFill>
                          <a:latin typeface="Calibri"/>
                        </a:rPr>
                        <a:t>0.031</a:t>
                      </a:r>
                    </a:p>
                  </a:txBody>
                  <a:tcPr marL="63500" marR="63500" marT="25400" marB="25400">
                    <a:solidFill>
                      <a:srgbClr val="F3F6FB"/>
                    </a:solidFill>
                  </a:tcPr>
                </a:tc>
              </a:tr>
              <a:tr h="266700">
                <a:tc>
                  <a:txBody>
                    <a:bodyPr/>
                    <a:lstStyle/>
                    <a:p>
                      <a:r>
                        <a:rPr sz="1300" b="0">
                          <a:solidFill>
                            <a:srgbClr val="13294B"/>
                          </a:solidFill>
                          <a:latin typeface="Calibri"/>
                        </a:rPr>
                        <a:t>DeLong p</a:t>
                      </a:r>
                    </a:p>
                  </a:txBody>
                  <a:tcPr marL="63500" marR="63500" marT="25400" marB="25400">
                    <a:solidFill>
                      <a:srgbClr val="FFFFFF"/>
                    </a:solidFill>
                  </a:tcPr>
                </a:tc>
                <a:tc>
                  <a:txBody>
                    <a:bodyPr/>
                    <a:lstStyle/>
                    <a:p>
                      <a:pPr algn="ctr"/>
                      <a:r>
                        <a:rPr sz="1300" b="0">
                          <a:solidFill>
                            <a:srgbClr val="13294B"/>
                          </a:solidFill>
                          <a:latin typeface="Calibri"/>
                        </a:rPr>
                        <a:t>0.569</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Retrospective, single centre</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Systemic imaging signatures beyond visible lesions</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ROBUSTNESS</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PET reconstruction changes radiomic features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Shiri et al., Eur Radiol 2017</a:t>
            </a:r>
          </a:p>
        </p:txBody>
      </p:sp>
      <p:sp>
        <p:nvSpPr>
          <p:cNvPr id="7" name="Rounded Rectangle 6"/>
          <p:cNvSpPr/>
          <p:nvPr/>
        </p:nvSpPr>
        <p:spPr>
          <a:xfrm>
            <a:off x="812800" y="1301750"/>
            <a:ext cx="2971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img.jpg"/>
          <p:cNvPicPr>
            <a:picLocks noChangeAspect="1"/>
          </p:cNvPicPr>
          <p:nvPr/>
        </p:nvPicPr>
        <p:blipFill>
          <a:blip r:embed="rId3"/>
          <a:stretch>
            <a:fillRect/>
          </a:stretch>
        </p:blipFill>
        <p:spPr>
          <a:xfrm>
            <a:off x="1054393" y="1403350"/>
            <a:ext cx="2488613" cy="3441700"/>
          </a:xfrm>
          <a:prstGeom prst="rect">
            <a:avLst/>
          </a:prstGeom>
        </p:spPr>
      </p:pic>
      <p:sp>
        <p:nvSpPr>
          <p:cNvPr id="9" name="TextBox 8"/>
          <p:cNvSpPr txBox="1"/>
          <p:nvPr/>
        </p:nvSpPr>
        <p:spPr>
          <a:xfrm>
            <a:off x="939800" y="4959350"/>
            <a:ext cx="2717800" cy="254000"/>
          </a:xfrm>
          <a:prstGeom prst="rect">
            <a:avLst/>
          </a:prstGeom>
          <a:noFill/>
        </p:spPr>
        <p:txBody>
          <a:bodyPr wrap="square" lIns="0" rIns="0" tIns="0" bIns="0">
            <a:spAutoFit/>
          </a:bodyPr>
          <a:lstStyle/>
          <a:p>
            <a:pPr algn="ctr"/>
            <a:r>
              <a:rPr sz="1600" b="1">
                <a:solidFill>
                  <a:srgbClr val="13294B"/>
                </a:solidFill>
                <a:latin typeface="Calibri"/>
              </a:rPr>
              <a:t>Phantom + patients, 2 scanners</a:t>
            </a:r>
          </a:p>
        </p:txBody>
      </p:sp>
      <p:sp>
        <p:nvSpPr>
          <p:cNvPr id="10" name="Right Arrow 9"/>
          <p:cNvSpPr/>
          <p:nvPr/>
        </p:nvSpPr>
        <p:spPr>
          <a:xfrm>
            <a:off x="38163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038600" y="1301750"/>
            <a:ext cx="40132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2-rec.jpg"/>
          <p:cNvPicPr>
            <a:picLocks noChangeAspect="1"/>
          </p:cNvPicPr>
          <p:nvPr/>
        </p:nvPicPr>
        <p:blipFill>
          <a:blip r:embed="rId4"/>
          <a:stretch>
            <a:fillRect/>
          </a:stretch>
        </p:blipFill>
        <p:spPr>
          <a:xfrm>
            <a:off x="4140200" y="1496290"/>
            <a:ext cx="3810000" cy="3255818"/>
          </a:xfrm>
          <a:prstGeom prst="rect">
            <a:avLst/>
          </a:prstGeom>
        </p:spPr>
      </p:pic>
      <p:sp>
        <p:nvSpPr>
          <p:cNvPr id="13" name="TextBox 12"/>
          <p:cNvSpPr txBox="1"/>
          <p:nvPr/>
        </p:nvSpPr>
        <p:spPr>
          <a:xfrm>
            <a:off x="4165600" y="4959350"/>
            <a:ext cx="3759200" cy="254000"/>
          </a:xfrm>
          <a:prstGeom prst="rect">
            <a:avLst/>
          </a:prstGeom>
          <a:noFill/>
        </p:spPr>
        <p:txBody>
          <a:bodyPr wrap="square" lIns="0" rIns="0" tIns="0" bIns="0">
            <a:spAutoFit/>
          </a:bodyPr>
          <a:lstStyle/>
          <a:p>
            <a:pPr algn="ctr"/>
            <a:r>
              <a:rPr sz="1600" b="1">
                <a:solidFill>
                  <a:srgbClr val="13294B"/>
                </a:solidFill>
                <a:latin typeface="Calibri"/>
              </a:rPr>
              <a:t>Same lesion, many reconstructions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Feature variability (COV)</a:t>
            </a:r>
          </a:p>
        </p:txBody>
      </p:sp>
      <p:graphicFrame>
        <p:nvGraphicFramePr>
          <p:cNvPr id="17" name="Table 16"/>
          <p:cNvGraphicFramePr>
            <a:graphicFrameLocks noGrp="1"/>
          </p:cNvGraphicFramePr>
          <p:nvPr/>
        </p:nvGraphicFramePr>
        <p:xfrm>
          <a:off x="8331200" y="1936750"/>
          <a:ext cx="2920999" cy="2133600"/>
        </p:xfrm>
        <a:graphic>
          <a:graphicData uri="http://schemas.openxmlformats.org/drawingml/2006/table">
            <a:tbl>
              <a:tblPr firstRow="1" bandRow="1">
                <a:tableStyleId>{5C22544A-7EE6-4342-B048-85BDC9FD1C3A}</a:tableStyleId>
              </a:tblPr>
              <a:tblGrid>
                <a:gridCol w="1927860"/>
                <a:gridCol w="993139"/>
              </a:tblGrid>
              <a:tr h="266700">
                <a:tc>
                  <a:txBody>
                    <a:bodyPr/>
                    <a:lstStyle/>
                    <a:p>
                      <a:r>
                        <a:rPr sz="1300" b="1">
                          <a:solidFill>
                            <a:srgbClr val="FFFFFF"/>
                          </a:solidFill>
                          <a:latin typeface="Calibri"/>
                        </a:rPr>
                        <a:t>Measure</a:t>
                      </a:r>
                    </a:p>
                  </a:txBody>
                  <a:tcPr marL="63500" marR="63500" marT="25400" marB="25400">
                    <a:solidFill>
                      <a:srgbClr val="1F5FA8"/>
                    </a:solidFill>
                  </a:tcPr>
                </a:tc>
                <a:tc>
                  <a:txBody>
                    <a:bodyPr/>
                    <a:lstStyle/>
                    <a:p>
                      <a:pPr algn="ctr"/>
                      <a:r>
                        <a:rPr sz="1300" b="1">
                          <a:solidFill>
                            <a:srgbClr val="FFFFFF"/>
                          </a:solidFill>
                          <a:latin typeface="Calibri"/>
                        </a:rPr>
                        <a:t>Features</a:t>
                      </a:r>
                    </a:p>
                  </a:txBody>
                  <a:tcPr marL="63500" marR="63500" marT="25400" marB="25400">
                    <a:solidFill>
                      <a:srgbClr val="1F5FA8"/>
                    </a:solidFill>
                  </a:tcPr>
                </a:tc>
              </a:tr>
              <a:tr h="266700">
                <a:tc>
                  <a:txBody>
                    <a:bodyPr/>
                    <a:lstStyle/>
                    <a:p>
                      <a:r>
                        <a:rPr sz="1300" b="0">
                          <a:solidFill>
                            <a:srgbClr val="13294B"/>
                          </a:solidFill>
                          <a:latin typeface="Calibri"/>
                        </a:rPr>
                        <a:t>COV ≤5% (robust)</a:t>
                      </a:r>
                    </a:p>
                  </a:txBody>
                  <a:tcPr marL="63500" marR="63500" marT="25400" marB="25400">
                    <a:solidFill>
                      <a:srgbClr val="FFFFFF"/>
                    </a:solidFill>
                  </a:tcPr>
                </a:tc>
                <a:tc>
                  <a:txBody>
                    <a:bodyPr/>
                    <a:lstStyle/>
                    <a:p>
                      <a:pPr algn="ctr"/>
                      <a:r>
                        <a:rPr sz="1300" b="0">
                          <a:solidFill>
                            <a:srgbClr val="13294B"/>
                          </a:solidFill>
                          <a:latin typeface="Calibri"/>
                        </a:rPr>
                        <a:t>47%</a:t>
                      </a:r>
                    </a:p>
                  </a:txBody>
                  <a:tcPr marL="63500" marR="63500" marT="25400" marB="25400">
                    <a:solidFill>
                      <a:srgbClr val="FFFFFF"/>
                    </a:solidFill>
                  </a:tcPr>
                </a:tc>
              </a:tr>
              <a:tr h="266700">
                <a:tc>
                  <a:txBody>
                    <a:bodyPr/>
                    <a:lstStyle/>
                    <a:p>
                      <a:r>
                        <a:rPr sz="1300" b="0">
                          <a:solidFill>
                            <a:srgbClr val="13294B"/>
                          </a:solidFill>
                          <a:latin typeface="Calibri"/>
                        </a:rPr>
                        <a:t>COV &gt;20% (unstable)</a:t>
                      </a:r>
                    </a:p>
                  </a:txBody>
                  <a:tcPr marL="63500" marR="63500" marT="25400" marB="25400">
                    <a:solidFill>
                      <a:srgbClr val="F3F6FB"/>
                    </a:solidFill>
                  </a:tcPr>
                </a:tc>
                <a:tc>
                  <a:txBody>
                    <a:bodyPr/>
                    <a:lstStyle/>
                    <a:p>
                      <a:pPr algn="ctr"/>
                      <a:r>
                        <a:rPr sz="1300" b="0">
                          <a:solidFill>
                            <a:srgbClr val="13294B"/>
                          </a:solidFill>
                          <a:latin typeface="Calibri"/>
                        </a:rPr>
                        <a:t>10%</a:t>
                      </a:r>
                    </a:p>
                  </a:txBody>
                  <a:tcPr marL="63500" marR="63500" marT="25400" marB="25400">
                    <a:solidFill>
                      <a:srgbClr val="F3F6FB"/>
                    </a:solidFill>
                  </a:tcPr>
                </a:tc>
              </a:tr>
              <a:tr h="266700">
                <a:tc>
                  <a:txBody>
                    <a:bodyPr/>
                    <a:lstStyle/>
                    <a:p>
                      <a:r>
                        <a:rPr sz="1300" b="0">
                          <a:solidFill>
                            <a:srgbClr val="13294B"/>
                          </a:solidFill>
                          <a:latin typeface="Calibri"/>
                        </a:rPr>
                        <a:t>Geometry, COV ≤5%</a:t>
                      </a:r>
                    </a:p>
                  </a:txBody>
                  <a:tcPr marL="63500" marR="63500" marT="25400" marB="25400">
                    <a:solidFill>
                      <a:srgbClr val="FFFFFF"/>
                    </a:solidFill>
                  </a:tcPr>
                </a:tc>
                <a:tc>
                  <a:txBody>
                    <a:bodyPr/>
                    <a:lstStyle/>
                    <a:p>
                      <a:pPr algn="ctr"/>
                      <a:r>
                        <a:rPr sz="1300" b="0">
                          <a:solidFill>
                            <a:srgbClr val="13294B"/>
                          </a:solidFill>
                          <a:latin typeface="Calibri"/>
                        </a:rPr>
                        <a:t>100%</a:t>
                      </a:r>
                    </a:p>
                  </a:txBody>
                  <a:tcPr marL="63500" marR="63500" marT="25400" marB="25400">
                    <a:solidFill>
                      <a:srgbClr val="FFFFFF"/>
                    </a:solidFill>
                  </a:tcPr>
                </a:tc>
              </a:tr>
              <a:tr h="266700">
                <a:tc>
                  <a:txBody>
                    <a:bodyPr/>
                    <a:lstStyle/>
                    <a:p>
                      <a:r>
                        <a:rPr sz="1300" b="0">
                          <a:solidFill>
                            <a:srgbClr val="13294B"/>
                          </a:solidFill>
                          <a:latin typeface="Calibri"/>
                        </a:rPr>
                        <a:t>Intensity, COV ≤5%</a:t>
                      </a:r>
                    </a:p>
                  </a:txBody>
                  <a:tcPr marL="63500" marR="63500" marT="25400" marB="25400">
                    <a:solidFill>
                      <a:srgbClr val="F3F6FB"/>
                    </a:solidFill>
                  </a:tcPr>
                </a:tc>
                <a:tc>
                  <a:txBody>
                    <a:bodyPr/>
                    <a:lstStyle/>
                    <a:p>
                      <a:pPr algn="ctr"/>
                      <a:r>
                        <a:rPr sz="1300" b="0">
                          <a:solidFill>
                            <a:srgbClr val="13294B"/>
                          </a:solidFill>
                          <a:latin typeface="Calibri"/>
                        </a:rPr>
                        <a:t>44%</a:t>
                      </a:r>
                    </a:p>
                  </a:txBody>
                  <a:tcPr marL="63500" marR="63500" marT="25400" marB="25400">
                    <a:solidFill>
                      <a:srgbClr val="F3F6FB"/>
                    </a:solidFill>
                  </a:tcPr>
                </a:tc>
              </a:tr>
              <a:tr h="266700">
                <a:tc>
                  <a:txBody>
                    <a:bodyPr/>
                    <a:lstStyle/>
                    <a:p>
                      <a:r>
                        <a:rPr sz="1300" b="0">
                          <a:solidFill>
                            <a:srgbClr val="13294B"/>
                          </a:solidFill>
                          <a:latin typeface="Calibri"/>
                        </a:rPr>
                        <a:t>Texture, COV ≤5%</a:t>
                      </a:r>
                    </a:p>
                  </a:txBody>
                  <a:tcPr marL="63500" marR="63500" marT="25400" marB="25400">
                    <a:solidFill>
                      <a:srgbClr val="FFFFFF"/>
                    </a:solidFill>
                  </a:tcPr>
                </a:tc>
                <a:tc>
                  <a:txBody>
                    <a:bodyPr/>
                    <a:lstStyle/>
                    <a:p>
                      <a:pPr algn="ctr"/>
                      <a:r>
                        <a:rPr sz="1300" b="0">
                          <a:solidFill>
                            <a:srgbClr val="13294B"/>
                          </a:solidFill>
                          <a:latin typeface="Calibri"/>
                        </a:rPr>
                        <a:t>41%</a:t>
                      </a:r>
                    </a:p>
                  </a:txBody>
                  <a:tcPr marL="63500" marR="63500" marT="25400" marB="25400">
                    <a:solidFill>
                      <a:srgbClr val="FFFFFF"/>
                    </a:solidFill>
                  </a:tcPr>
                </a:tc>
              </a:tr>
              <a:tr h="266700">
                <a:tc>
                  <a:txBody>
                    <a:bodyPr/>
                    <a:lstStyle/>
                    <a:p>
                      <a:r>
                        <a:rPr sz="1300" b="0">
                          <a:solidFill>
                            <a:srgbClr val="13294B"/>
                          </a:solidFill>
                          <a:latin typeface="Calibri"/>
                        </a:rPr>
                        <a:t>Matrix size, COV &gt;20%</a:t>
                      </a:r>
                    </a:p>
                  </a:txBody>
                  <a:tcPr marL="63500" marR="63500" marT="25400" marB="25400">
                    <a:solidFill>
                      <a:srgbClr val="F3F6FB"/>
                    </a:solidFill>
                  </a:tcPr>
                </a:tc>
                <a:tc>
                  <a:txBody>
                    <a:bodyPr/>
                    <a:lstStyle/>
                    <a:p>
                      <a:pPr algn="ctr"/>
                      <a:r>
                        <a:rPr sz="1300" b="0">
                          <a:solidFill>
                            <a:srgbClr val="13294B"/>
                          </a:solidFill>
                          <a:latin typeface="Calibri"/>
                        </a:rPr>
                        <a:t>56%</a:t>
                      </a:r>
                    </a:p>
                  </a:txBody>
                  <a:tcPr marL="63500" marR="63500" marT="25400" marB="25400">
                    <a:solidFill>
                      <a:srgbClr val="F3F6FB"/>
                    </a:solidFill>
                  </a:tcPr>
                </a:tc>
              </a:tr>
              <a:tr h="266700">
                <a:tc>
                  <a:txBody>
                    <a:bodyPr/>
                    <a:lstStyle/>
                    <a:p>
                      <a:r>
                        <a:rPr sz="1300" b="0">
                          <a:solidFill>
                            <a:srgbClr val="13294B"/>
                          </a:solidFill>
                          <a:latin typeface="Calibri"/>
                        </a:rPr>
                        <a:t>Matrix size, COV ≤5%</a:t>
                      </a:r>
                    </a:p>
                  </a:txBody>
                  <a:tcPr marL="63500" marR="63500" marT="25400" marB="25400">
                    <a:solidFill>
                      <a:srgbClr val="FFFFFF"/>
                    </a:solidFill>
                  </a:tcPr>
                </a:tc>
                <a:tc>
                  <a:txBody>
                    <a:bodyPr/>
                    <a:lstStyle/>
                    <a:p>
                      <a:pPr algn="ctr"/>
                      <a:r>
                        <a:rPr sz="1300" b="0">
                          <a:solidFill>
                            <a:srgbClr val="13294B"/>
                          </a:solidFill>
                          <a:latin typeface="Calibri"/>
                        </a:rPr>
                        <a:t>6%</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654 phantom + 60 patient reconstructions</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Standardize reconstruction before using radiomics</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RADIOMICS-GUIDED RADIATION THERAPY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Radiomics across the radiotherapy timeline</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Phys Med Biol 2022;67:12TR02</a:t>
            </a:r>
          </a:p>
        </p:txBody>
      </p:sp>
      <p:sp>
        <p:nvSpPr>
          <p:cNvPr id="7" name="Rounded Rectangle 6"/>
          <p:cNvSpPr/>
          <p:nvPr/>
        </p:nvSpPr>
        <p:spPr>
          <a:xfrm>
            <a:off x="8128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3-before.jpg"/>
          <p:cNvPicPr>
            <a:picLocks noChangeAspect="1"/>
          </p:cNvPicPr>
          <p:nvPr/>
        </p:nvPicPr>
        <p:blipFill>
          <a:blip r:embed="rId3"/>
          <a:stretch>
            <a:fillRect/>
          </a:stretch>
        </p:blipFill>
        <p:spPr>
          <a:xfrm>
            <a:off x="1307720" y="1403350"/>
            <a:ext cx="2362958" cy="3441700"/>
          </a:xfrm>
          <a:prstGeom prst="rect">
            <a:avLst/>
          </a:prstGeom>
        </p:spPr>
      </p:pic>
      <p:sp>
        <p:nvSpPr>
          <p:cNvPr id="9" name="TextBox 8"/>
          <p:cNvSpPr txBox="1"/>
          <p:nvPr/>
        </p:nvSpPr>
        <p:spPr>
          <a:xfrm>
            <a:off x="939800" y="4959350"/>
            <a:ext cx="3098800" cy="254000"/>
          </a:xfrm>
          <a:prstGeom prst="rect">
            <a:avLst/>
          </a:prstGeom>
          <a:noFill/>
        </p:spPr>
        <p:txBody>
          <a:bodyPr wrap="square" lIns="0" rIns="0" tIns="0" bIns="0">
            <a:spAutoFit/>
          </a:bodyPr>
          <a:lstStyle/>
          <a:p>
            <a:pPr algn="ctr"/>
            <a:r>
              <a:rPr sz="1600" b="1">
                <a:solidFill>
                  <a:srgbClr val="13294B"/>
                </a:solidFill>
                <a:latin typeface="Calibri"/>
              </a:rPr>
              <a:t>Before: characterize and plan</a:t>
            </a:r>
          </a:p>
        </p:txBody>
      </p:sp>
      <p:sp>
        <p:nvSpPr>
          <p:cNvPr id="10" name="Right Arrow 9"/>
          <p:cNvSpPr/>
          <p:nvPr/>
        </p:nvSpPr>
        <p:spPr>
          <a:xfrm>
            <a:off x="41973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96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3-during.jpg"/>
          <p:cNvPicPr>
            <a:picLocks noChangeAspect="1"/>
          </p:cNvPicPr>
          <p:nvPr/>
        </p:nvPicPr>
        <p:blipFill>
          <a:blip r:embed="rId4"/>
          <a:stretch>
            <a:fillRect/>
          </a:stretch>
        </p:blipFill>
        <p:spPr>
          <a:xfrm>
            <a:off x="4521200" y="1433308"/>
            <a:ext cx="3149599" cy="3381782"/>
          </a:xfrm>
          <a:prstGeom prst="rect">
            <a:avLst/>
          </a:prstGeom>
        </p:spPr>
      </p:pic>
      <p:sp>
        <p:nvSpPr>
          <p:cNvPr id="13" name="TextBox 12"/>
          <p:cNvSpPr txBox="1"/>
          <p:nvPr/>
        </p:nvSpPr>
        <p:spPr>
          <a:xfrm>
            <a:off x="4546600" y="4959350"/>
            <a:ext cx="3098800" cy="254000"/>
          </a:xfrm>
          <a:prstGeom prst="rect">
            <a:avLst/>
          </a:prstGeom>
          <a:noFill/>
        </p:spPr>
        <p:txBody>
          <a:bodyPr wrap="square" lIns="0" rIns="0" tIns="0" bIns="0">
            <a:spAutoFit/>
          </a:bodyPr>
          <a:lstStyle/>
          <a:p>
            <a:pPr algn="ctr"/>
            <a:r>
              <a:rPr sz="1600" b="1">
                <a:solidFill>
                  <a:srgbClr val="13294B"/>
                </a:solidFill>
                <a:latin typeface="Calibri"/>
              </a:rPr>
              <a:t>During: monitor and adapt</a:t>
            </a:r>
          </a:p>
        </p:txBody>
      </p:sp>
      <p:sp>
        <p:nvSpPr>
          <p:cNvPr id="14" name="Right Arrow 13"/>
          <p:cNvSpPr/>
          <p:nvPr/>
        </p:nvSpPr>
        <p:spPr>
          <a:xfrm>
            <a:off x="7804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264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3-after.jpg"/>
          <p:cNvPicPr>
            <a:picLocks noChangeAspect="1"/>
          </p:cNvPicPr>
          <p:nvPr/>
        </p:nvPicPr>
        <p:blipFill>
          <a:blip r:embed="rId5"/>
          <a:stretch>
            <a:fillRect/>
          </a:stretch>
        </p:blipFill>
        <p:spPr>
          <a:xfrm>
            <a:off x="8856480" y="1403350"/>
            <a:ext cx="1692639" cy="3441700"/>
          </a:xfrm>
          <a:prstGeom prst="rect">
            <a:avLst/>
          </a:prstGeom>
        </p:spPr>
      </p:pic>
      <p:sp>
        <p:nvSpPr>
          <p:cNvPr id="17" name="TextBox 16"/>
          <p:cNvSpPr txBox="1"/>
          <p:nvPr/>
        </p:nvSpPr>
        <p:spPr>
          <a:xfrm>
            <a:off x="8153400" y="4959350"/>
            <a:ext cx="3098800" cy="254000"/>
          </a:xfrm>
          <a:prstGeom prst="rect">
            <a:avLst/>
          </a:prstGeom>
          <a:noFill/>
        </p:spPr>
        <p:txBody>
          <a:bodyPr wrap="square" lIns="0" rIns="0" tIns="0" bIns="0">
            <a:spAutoFit/>
          </a:bodyPr>
          <a:lstStyle/>
          <a:p>
            <a:pPr algn="ctr"/>
            <a:r>
              <a:rPr sz="1600" b="1">
                <a:solidFill>
                  <a:srgbClr val="13294B"/>
                </a:solidFill>
                <a:latin typeface="Calibri"/>
              </a:rPr>
              <a:t>After: assess response</a:t>
            </a:r>
          </a:p>
        </p:txBody>
      </p:sp>
      <p:sp>
        <p:nvSpPr>
          <p:cNvPr id="18" name="Rounded Rectangle 17"/>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From feature maps to dose painting and adaptive replanning</a:t>
            </a:r>
          </a:p>
        </p:txBody>
      </p:sp>
      <p:sp>
        <p:nvSpPr>
          <p:cNvPr id="20" name="TextBox 19"/>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RADIOGENOMICS · MULTICENTRE HARMONIZATION</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ComBat harmonization for EGFR and KRAS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Shiri et al., Comput Biol Med 142 (2022) 105230</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4-img.jpg"/>
          <p:cNvPicPr>
            <a:picLocks noChangeAspect="1"/>
          </p:cNvPicPr>
          <p:nvPr/>
        </p:nvPicPr>
        <p:blipFill>
          <a:blip r:embed="rId3"/>
          <a:stretch>
            <a:fillRect/>
          </a:stretch>
        </p:blipFill>
        <p:spPr>
          <a:xfrm>
            <a:off x="1380066" y="1403350"/>
            <a:ext cx="2294466" cy="3441700"/>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136 NSCLC, two centres</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4-mod.jpg"/>
          <p:cNvPicPr>
            <a:picLocks noChangeAspect="1"/>
          </p:cNvPicPr>
          <p:nvPr/>
        </p:nvPicPr>
        <p:blipFill>
          <a:blip r:embed="rId4"/>
          <a:stretch>
            <a:fillRect/>
          </a:stretch>
        </p:blipFill>
        <p:spPr>
          <a:xfrm>
            <a:off x="5030963" y="1403350"/>
            <a:ext cx="2485672"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Models with and without ComBat</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Mean model AUC</a:t>
            </a:r>
          </a:p>
        </p:txBody>
      </p:sp>
      <p:graphicFrame>
        <p:nvGraphicFramePr>
          <p:cNvPr id="17" name="Table 16"/>
          <p:cNvGraphicFramePr>
            <a:graphicFrameLocks noGrp="1"/>
          </p:cNvGraphicFramePr>
          <p:nvPr/>
        </p:nvGraphicFramePr>
        <p:xfrm>
          <a:off x="8331200" y="1936750"/>
          <a:ext cx="2921000" cy="1460500"/>
        </p:xfrm>
        <a:graphic>
          <a:graphicData uri="http://schemas.openxmlformats.org/drawingml/2006/table">
            <a:tbl>
              <a:tblPr firstRow="1" bandRow="1">
                <a:tableStyleId>{5C22544A-7EE6-4342-B048-85BDC9FD1C3A}</a:tableStyleId>
              </a:tblPr>
              <a:tblGrid>
                <a:gridCol w="1343660"/>
                <a:gridCol w="788670"/>
                <a:gridCol w="788670"/>
              </a:tblGrid>
              <a:tr h="292100">
                <a:tc>
                  <a:txBody>
                    <a:bodyPr/>
                    <a:lstStyle/>
                    <a:p>
                      <a:r>
                        <a:rPr sz="1300" b="1">
                          <a:solidFill>
                            <a:srgbClr val="FFFFFF"/>
                          </a:solidFill>
                          <a:latin typeface="Calibri"/>
                        </a:rPr>
                        <a:t>Gene</a:t>
                      </a:r>
                    </a:p>
                  </a:txBody>
                  <a:tcPr marL="63500" marR="63500" marT="25400" marB="25400">
                    <a:solidFill>
                      <a:srgbClr val="1F5FA8"/>
                    </a:solidFill>
                  </a:tcPr>
                </a:tc>
                <a:tc>
                  <a:txBody>
                    <a:bodyPr/>
                    <a:lstStyle/>
                    <a:p>
                      <a:pPr algn="ctr"/>
                      <a:r>
                        <a:rPr sz="1300" b="1">
                          <a:solidFill>
                            <a:srgbClr val="FFFFFF"/>
                          </a:solidFill>
                          <a:latin typeface="Calibri"/>
                        </a:rPr>
                        <a:t>Before</a:t>
                      </a:r>
                    </a:p>
                  </a:txBody>
                  <a:tcPr marL="63500" marR="63500" marT="25400" marB="25400">
                    <a:solidFill>
                      <a:srgbClr val="1F5FA8"/>
                    </a:solidFill>
                  </a:tcPr>
                </a:tc>
                <a:tc>
                  <a:txBody>
                    <a:bodyPr/>
                    <a:lstStyle/>
                    <a:p>
                      <a:pPr algn="ctr"/>
                      <a:r>
                        <a:rPr sz="1300" b="1">
                          <a:solidFill>
                            <a:srgbClr val="FFFFFF"/>
                          </a:solidFill>
                          <a:latin typeface="Calibri"/>
                        </a:rPr>
                        <a:t>After</a:t>
                      </a:r>
                    </a:p>
                  </a:txBody>
                  <a:tcPr marL="63500" marR="63500" marT="25400" marB="25400">
                    <a:solidFill>
                      <a:srgbClr val="1F5FA8"/>
                    </a:solidFill>
                  </a:tcPr>
                </a:tc>
              </a:tr>
              <a:tr h="292100">
                <a:tc>
                  <a:txBody>
                    <a:bodyPr/>
                    <a:lstStyle/>
                    <a:p>
                      <a:r>
                        <a:rPr sz="1300" b="0">
                          <a:solidFill>
                            <a:srgbClr val="13294B"/>
                          </a:solidFill>
                          <a:latin typeface="Calibri"/>
                        </a:rPr>
                        <a:t>EGFR</a:t>
                      </a:r>
                    </a:p>
                  </a:txBody>
                  <a:tcPr marL="63500" marR="63500" marT="25400" marB="25400">
                    <a:solidFill>
                      <a:srgbClr val="FFFFFF"/>
                    </a:solidFill>
                  </a:tcPr>
                </a:tc>
                <a:tc>
                  <a:txBody>
                    <a:bodyPr/>
                    <a:lstStyle/>
                    <a:p>
                      <a:pPr algn="ctr"/>
                      <a:r>
                        <a:rPr sz="1300" b="0">
                          <a:solidFill>
                            <a:srgbClr val="13294B"/>
                          </a:solidFill>
                          <a:latin typeface="Calibri"/>
                        </a:rPr>
                        <a:t>0.87–0.90</a:t>
                      </a:r>
                    </a:p>
                  </a:txBody>
                  <a:tcPr marL="63500" marR="63500" marT="25400" marB="25400">
                    <a:solidFill>
                      <a:srgbClr val="FFFFFF"/>
                    </a:solidFill>
                  </a:tcPr>
                </a:tc>
                <a:tc>
                  <a:txBody>
                    <a:bodyPr/>
                    <a:lstStyle/>
                    <a:p>
                      <a:pPr algn="ctr"/>
                      <a:r>
                        <a:rPr sz="1300" b="0">
                          <a:solidFill>
                            <a:srgbClr val="13294B"/>
                          </a:solidFill>
                          <a:latin typeface="Calibri"/>
                        </a:rPr>
                        <a:t>0.92–0.94</a:t>
                      </a:r>
                    </a:p>
                  </a:txBody>
                  <a:tcPr marL="63500" marR="63500" marT="25400" marB="25400">
                    <a:solidFill>
                      <a:srgbClr val="FFFFFF"/>
                    </a:solidFill>
                  </a:tcPr>
                </a:tc>
              </a:tr>
              <a:tr h="292100">
                <a:tc>
                  <a:txBody>
                    <a:bodyPr/>
                    <a:lstStyle/>
                    <a:p>
                      <a:r>
                        <a:rPr sz="1300" b="0">
                          <a:solidFill>
                            <a:srgbClr val="13294B"/>
                          </a:solidFill>
                          <a:latin typeface="Calibri"/>
                        </a:rPr>
                        <a:t>KRAS</a:t>
                      </a:r>
                    </a:p>
                  </a:txBody>
                  <a:tcPr marL="63500" marR="63500" marT="25400" marB="25400">
                    <a:solidFill>
                      <a:srgbClr val="F3F6FB"/>
                    </a:solidFill>
                  </a:tcPr>
                </a:tc>
                <a:tc>
                  <a:txBody>
                    <a:bodyPr/>
                    <a:lstStyle/>
                    <a:p>
                      <a:pPr algn="ctr"/>
                      <a:r>
                        <a:rPr sz="1300" b="0">
                          <a:solidFill>
                            <a:srgbClr val="13294B"/>
                          </a:solidFill>
                          <a:latin typeface="Calibri"/>
                        </a:rPr>
                        <a:t>0.85–0.90</a:t>
                      </a:r>
                    </a:p>
                  </a:txBody>
                  <a:tcPr marL="63500" marR="63500" marT="25400" marB="25400">
                    <a:solidFill>
                      <a:srgbClr val="F3F6FB"/>
                    </a:solidFill>
                  </a:tcPr>
                </a:tc>
                <a:tc>
                  <a:txBody>
                    <a:bodyPr/>
                    <a:lstStyle/>
                    <a:p>
                      <a:pPr algn="ctr"/>
                      <a:r>
                        <a:rPr sz="1300" b="0">
                          <a:solidFill>
                            <a:srgbClr val="13294B"/>
                          </a:solidFill>
                          <a:latin typeface="Calibri"/>
                        </a:rPr>
                        <a:t>0.91–0.94</a:t>
                      </a:r>
                    </a:p>
                  </a:txBody>
                  <a:tcPr marL="63500" marR="63500" marT="25400" marB="25400">
                    <a:solidFill>
                      <a:srgbClr val="F3F6FB"/>
                    </a:solidFill>
                  </a:tcPr>
                </a:tc>
              </a:tr>
              <a:tr h="292100">
                <a:tc>
                  <a:txBody>
                    <a:bodyPr/>
                    <a:lstStyle/>
                    <a:p>
                      <a:r>
                        <a:rPr sz="1300" b="0">
                          <a:solidFill>
                            <a:srgbClr val="13294B"/>
                          </a:solidFill>
                          <a:latin typeface="Calibri"/>
                        </a:rPr>
                        <a:t>EGFR, best</a:t>
                      </a:r>
                    </a:p>
                  </a:txBody>
                  <a:tcPr marL="63500" marR="63500" marT="25400" marB="25400">
                    <a:solidFill>
                      <a:srgbClr val="FFFFFF"/>
                    </a:solidFill>
                  </a:tcPr>
                </a:tc>
                <a:tc>
                  <a:txBody>
                    <a:bodyPr/>
                    <a:lstStyle/>
                    <a:p>
                      <a:pPr algn="ctr"/>
                      <a:r>
                        <a:rPr sz="1300" b="0">
                          <a:solidFill>
                            <a:srgbClr val="13294B"/>
                          </a:solidFill>
                          <a:latin typeface="Calibri"/>
                        </a:rPr>
                        <a:t>—</a:t>
                      </a:r>
                    </a:p>
                  </a:txBody>
                  <a:tcPr marL="63500" marR="63500" marT="25400" marB="25400">
                    <a:solidFill>
                      <a:srgbClr val="FFFFFF"/>
                    </a:solidFill>
                  </a:tcPr>
                </a:tc>
                <a:tc>
                  <a:txBody>
                    <a:bodyPr/>
                    <a:lstStyle/>
                    <a:p>
                      <a:pPr algn="ctr"/>
                      <a:r>
                        <a:rPr sz="1300" b="0">
                          <a:solidFill>
                            <a:srgbClr val="13294B"/>
                          </a:solidFill>
                          <a:latin typeface="Calibri"/>
                        </a:rPr>
                        <a:t>0.94</a:t>
                      </a:r>
                    </a:p>
                  </a:txBody>
                  <a:tcPr marL="63500" marR="63500" marT="25400" marB="25400">
                    <a:solidFill>
                      <a:srgbClr val="FFFFFF"/>
                    </a:solidFill>
                  </a:tcPr>
                </a:tc>
              </a:tr>
              <a:tr h="292100">
                <a:tc>
                  <a:txBody>
                    <a:bodyPr/>
                    <a:lstStyle/>
                    <a:p>
                      <a:r>
                        <a:rPr sz="1300" b="0">
                          <a:solidFill>
                            <a:srgbClr val="13294B"/>
                          </a:solidFill>
                          <a:latin typeface="Calibri"/>
                        </a:rPr>
                        <a:t>KRAS, best</a:t>
                      </a:r>
                    </a:p>
                  </a:txBody>
                  <a:tcPr marL="63500" marR="63500" marT="25400" marB="25400">
                    <a:solidFill>
                      <a:srgbClr val="F3F6FB"/>
                    </a:solidFill>
                  </a:tcPr>
                </a:tc>
                <a:tc>
                  <a:txBody>
                    <a:bodyPr/>
                    <a:lstStyle/>
                    <a:p>
                      <a:pPr algn="ctr"/>
                      <a:r>
                        <a:rPr sz="1300" b="0">
                          <a:solidFill>
                            <a:srgbClr val="13294B"/>
                          </a:solidFill>
                          <a:latin typeface="Calibri"/>
                        </a:rPr>
                        <a:t>—</a:t>
                      </a:r>
                    </a:p>
                  </a:txBody>
                  <a:tcPr marL="63500" marR="63500" marT="25400" marB="25400">
                    <a:solidFill>
                      <a:srgbClr val="F3F6FB"/>
                    </a:solidFill>
                  </a:tcPr>
                </a:tc>
                <a:tc>
                  <a:txBody>
                    <a:bodyPr/>
                    <a:lstStyle/>
                    <a:p>
                      <a:pPr algn="ctr"/>
                      <a:r>
                        <a:rPr sz="1300" b="0">
                          <a:solidFill>
                            <a:srgbClr val="13294B"/>
                          </a:solidFill>
                          <a:latin typeface="Calibri"/>
                        </a:rPr>
                        <a:t>0.93</a:t>
                      </a:r>
                    </a:p>
                  </a:txBody>
                  <a:tcPr marL="63500" marR="63500" marT="25400" marB="25400">
                    <a:solidFill>
                      <a:srgbClr val="F3F6FB"/>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Multivariate improvement q &lt; 0.05</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Harmonization makes multicentre radiomics more reliable</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TUMOUR GRADING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CT radiomics for Fuhrman grade in ccRCC</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Nazari et al., La Radiologia Medica 2020</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5-img.jpg"/>
          <p:cNvPicPr>
            <a:picLocks noChangeAspect="1"/>
          </p:cNvPicPr>
          <p:nvPr/>
        </p:nvPicPr>
        <p:blipFill>
          <a:blip r:embed="rId3"/>
          <a:stretch>
            <a:fillRect/>
          </a:stretch>
        </p:blipFill>
        <p:spPr>
          <a:xfrm>
            <a:off x="914400" y="1578504"/>
            <a:ext cx="3225800" cy="3091391"/>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71 ccRCC CT scans, filtered images</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5-mod.jpg"/>
          <p:cNvPicPr>
            <a:picLocks noChangeAspect="1"/>
          </p:cNvPicPr>
          <p:nvPr/>
        </p:nvPicPr>
        <p:blipFill>
          <a:blip r:embed="rId4"/>
          <a:stretch>
            <a:fillRect/>
          </a:stretch>
        </p:blipFill>
        <p:spPr>
          <a:xfrm>
            <a:off x="5126566" y="1403350"/>
            <a:ext cx="2294466"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2,530 features → machine learning</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AUC by preprocessing</a:t>
            </a:r>
          </a:p>
        </p:txBody>
      </p:sp>
      <p:graphicFrame>
        <p:nvGraphicFramePr>
          <p:cNvPr id="17" name="Table 16"/>
          <p:cNvGraphicFramePr>
            <a:graphicFrameLocks noGrp="1"/>
          </p:cNvGraphicFramePr>
          <p:nvPr/>
        </p:nvGraphicFramePr>
        <p:xfrm>
          <a:off x="8331200" y="1936750"/>
          <a:ext cx="2921000" cy="1752600"/>
        </p:xfrm>
        <a:graphic>
          <a:graphicData uri="http://schemas.openxmlformats.org/drawingml/2006/table">
            <a:tbl>
              <a:tblPr firstRow="1" bandRow="1">
                <a:tableStyleId>{5C22544A-7EE6-4342-B048-85BDC9FD1C3A}</a:tableStyleId>
              </a:tblPr>
              <a:tblGrid>
                <a:gridCol w="1168400"/>
                <a:gridCol w="584200"/>
                <a:gridCol w="584200"/>
                <a:gridCol w="584200"/>
              </a:tblGrid>
              <a:tr h="292100">
                <a:tc>
                  <a:txBody>
                    <a:bodyPr/>
                    <a:lstStyle/>
                    <a:p>
                      <a:r>
                        <a:rPr sz="1300" b="1">
                          <a:solidFill>
                            <a:srgbClr val="FFFFFF"/>
                          </a:solidFill>
                          <a:latin typeface="Calibri"/>
                        </a:rPr>
                        <a:t>Images</a:t>
                      </a:r>
                    </a:p>
                  </a:txBody>
                  <a:tcPr marL="63500" marR="63500" marT="25400" marB="25400">
                    <a:solidFill>
                      <a:srgbClr val="1F5FA8"/>
                    </a:solidFill>
                  </a:tcPr>
                </a:tc>
                <a:tc>
                  <a:txBody>
                    <a:bodyPr/>
                    <a:lstStyle/>
                    <a:p>
                      <a:pPr algn="ctr"/>
                      <a:r>
                        <a:rPr sz="1300" b="1">
                          <a:solidFill>
                            <a:srgbClr val="FFFFFF"/>
                          </a:solidFill>
                          <a:latin typeface="Calibri"/>
                        </a:rPr>
                        <a:t>LR</a:t>
                      </a:r>
                    </a:p>
                  </a:txBody>
                  <a:tcPr marL="63500" marR="63500" marT="25400" marB="25400">
                    <a:solidFill>
                      <a:srgbClr val="1F5FA8"/>
                    </a:solidFill>
                  </a:tcPr>
                </a:tc>
                <a:tc>
                  <a:txBody>
                    <a:bodyPr/>
                    <a:lstStyle/>
                    <a:p>
                      <a:pPr algn="ctr"/>
                      <a:r>
                        <a:rPr sz="1300" b="1">
                          <a:solidFill>
                            <a:srgbClr val="FFFFFF"/>
                          </a:solidFill>
                          <a:latin typeface="Calibri"/>
                        </a:rPr>
                        <a:t>RF</a:t>
                      </a:r>
                    </a:p>
                  </a:txBody>
                  <a:tcPr marL="63500" marR="63500" marT="25400" marB="25400">
                    <a:solidFill>
                      <a:srgbClr val="1F5FA8"/>
                    </a:solidFill>
                  </a:tcPr>
                </a:tc>
                <a:tc>
                  <a:txBody>
                    <a:bodyPr/>
                    <a:lstStyle/>
                    <a:p>
                      <a:pPr algn="ctr"/>
                      <a:r>
                        <a:rPr sz="1300" b="1">
                          <a:solidFill>
                            <a:srgbClr val="FFFFFF"/>
                          </a:solidFill>
                          <a:latin typeface="Calibri"/>
                        </a:rPr>
                        <a:t>SVM</a:t>
                      </a:r>
                    </a:p>
                  </a:txBody>
                  <a:tcPr marL="63500" marR="63500" marT="25400" marB="25400">
                    <a:solidFill>
                      <a:srgbClr val="1F5FA8"/>
                    </a:solidFill>
                  </a:tcPr>
                </a:tc>
              </a:tr>
              <a:tr h="292100">
                <a:tc>
                  <a:txBody>
                    <a:bodyPr/>
                    <a:lstStyle/>
                    <a:p>
                      <a:r>
                        <a:rPr sz="1300" b="0">
                          <a:solidFill>
                            <a:srgbClr val="13294B"/>
                          </a:solidFill>
                          <a:latin typeface="Calibri"/>
                        </a:rPr>
                        <a:t>Original</a:t>
                      </a:r>
                    </a:p>
                  </a:txBody>
                  <a:tcPr marL="63500" marR="63500" marT="25400" marB="25400">
                    <a:solidFill>
                      <a:srgbClr val="FFFFFF"/>
                    </a:solidFill>
                  </a:tcPr>
                </a:tc>
                <a:tc>
                  <a:txBody>
                    <a:bodyPr/>
                    <a:lstStyle/>
                    <a:p>
                      <a:pPr algn="ctr"/>
                      <a:r>
                        <a:rPr sz="1300" b="0">
                          <a:solidFill>
                            <a:srgbClr val="13294B"/>
                          </a:solidFill>
                          <a:latin typeface="Calibri"/>
                        </a:rPr>
                        <a:t>0.68</a:t>
                      </a:r>
                    </a:p>
                  </a:txBody>
                  <a:tcPr marL="63500" marR="63500" marT="25400" marB="25400">
                    <a:solidFill>
                      <a:srgbClr val="FFFFFF"/>
                    </a:solidFill>
                  </a:tcPr>
                </a:tc>
                <a:tc>
                  <a:txBody>
                    <a:bodyPr/>
                    <a:lstStyle/>
                    <a:p>
                      <a:pPr algn="ctr"/>
                      <a:r>
                        <a:rPr sz="1300" b="0">
                          <a:solidFill>
                            <a:srgbClr val="13294B"/>
                          </a:solidFill>
                          <a:latin typeface="Calibri"/>
                        </a:rPr>
                        <a:t>0.62</a:t>
                      </a:r>
                    </a:p>
                  </a:txBody>
                  <a:tcPr marL="63500" marR="63500" marT="25400" marB="25400">
                    <a:solidFill>
                      <a:srgbClr val="FFFFFF"/>
                    </a:solidFill>
                  </a:tcPr>
                </a:tc>
                <a:tc>
                  <a:txBody>
                    <a:bodyPr/>
                    <a:lstStyle/>
                    <a:p>
                      <a:pPr algn="ctr"/>
                      <a:r>
                        <a:rPr sz="1300" b="0">
                          <a:solidFill>
                            <a:srgbClr val="13294B"/>
                          </a:solidFill>
                          <a:latin typeface="Calibri"/>
                        </a:rPr>
                        <a:t>0.76</a:t>
                      </a:r>
                    </a:p>
                  </a:txBody>
                  <a:tcPr marL="63500" marR="63500" marT="25400" marB="25400">
                    <a:solidFill>
                      <a:srgbClr val="FFFFFF"/>
                    </a:solidFill>
                  </a:tcPr>
                </a:tc>
              </a:tr>
              <a:tr h="292100">
                <a:tc>
                  <a:txBody>
                    <a:bodyPr/>
                    <a:lstStyle/>
                    <a:p>
                      <a:r>
                        <a:rPr sz="1300" b="0">
                          <a:solidFill>
                            <a:srgbClr val="13294B"/>
                          </a:solidFill>
                          <a:latin typeface="Calibri"/>
                        </a:rPr>
                        <a:t>32 bins</a:t>
                      </a:r>
                    </a:p>
                  </a:txBody>
                  <a:tcPr marL="63500" marR="63500" marT="25400" marB="25400">
                    <a:solidFill>
                      <a:srgbClr val="F3F6FB"/>
                    </a:solidFill>
                  </a:tcPr>
                </a:tc>
                <a:tc>
                  <a:txBody>
                    <a:bodyPr/>
                    <a:lstStyle/>
                    <a:p>
                      <a:pPr algn="ctr"/>
                      <a:r>
                        <a:rPr sz="1300" b="0">
                          <a:solidFill>
                            <a:srgbClr val="13294B"/>
                          </a:solidFill>
                          <a:latin typeface="Calibri"/>
                        </a:rPr>
                        <a:t>0.73</a:t>
                      </a:r>
                    </a:p>
                  </a:txBody>
                  <a:tcPr marL="63500" marR="63500" marT="25400" marB="25400">
                    <a:solidFill>
                      <a:srgbClr val="F3F6FB"/>
                    </a:solidFill>
                  </a:tcPr>
                </a:tc>
                <a:tc>
                  <a:txBody>
                    <a:bodyPr/>
                    <a:lstStyle/>
                    <a:p>
                      <a:pPr algn="ctr"/>
                      <a:r>
                        <a:rPr sz="1300" b="0">
                          <a:solidFill>
                            <a:srgbClr val="13294B"/>
                          </a:solidFill>
                          <a:latin typeface="Calibri"/>
                        </a:rPr>
                        <a:t>0.56</a:t>
                      </a:r>
                    </a:p>
                  </a:txBody>
                  <a:tcPr marL="63500" marR="63500" marT="25400" marB="25400">
                    <a:solidFill>
                      <a:srgbClr val="F3F6FB"/>
                    </a:solidFill>
                  </a:tcPr>
                </a:tc>
                <a:tc>
                  <a:txBody>
                    <a:bodyPr/>
                    <a:lstStyle/>
                    <a:p>
                      <a:pPr algn="ctr"/>
                      <a:r>
                        <a:rPr sz="1300" b="0">
                          <a:solidFill>
                            <a:srgbClr val="13294B"/>
                          </a:solidFill>
                          <a:latin typeface="Calibri"/>
                        </a:rPr>
                        <a:t>0.70</a:t>
                      </a:r>
                    </a:p>
                  </a:txBody>
                  <a:tcPr marL="63500" marR="63500" marT="25400" marB="25400">
                    <a:solidFill>
                      <a:srgbClr val="F3F6FB"/>
                    </a:solidFill>
                  </a:tcPr>
                </a:tc>
              </a:tr>
              <a:tr h="292100">
                <a:tc>
                  <a:txBody>
                    <a:bodyPr/>
                    <a:lstStyle/>
                    <a:p>
                      <a:r>
                        <a:rPr sz="1300" b="0">
                          <a:solidFill>
                            <a:srgbClr val="13294B"/>
                          </a:solidFill>
                          <a:latin typeface="Calibri"/>
                        </a:rPr>
                        <a:t>64 bins</a:t>
                      </a:r>
                    </a:p>
                  </a:txBody>
                  <a:tcPr marL="63500" marR="63500" marT="25400" marB="25400">
                    <a:solidFill>
                      <a:srgbClr val="FFFFFF"/>
                    </a:solidFill>
                  </a:tcPr>
                </a:tc>
                <a:tc>
                  <a:txBody>
                    <a:bodyPr/>
                    <a:lstStyle/>
                    <a:p>
                      <a:pPr algn="ctr"/>
                      <a:r>
                        <a:rPr sz="1300" b="0">
                          <a:solidFill>
                            <a:srgbClr val="13294B"/>
                          </a:solidFill>
                          <a:latin typeface="Calibri"/>
                        </a:rPr>
                        <a:t>0.70</a:t>
                      </a:r>
                    </a:p>
                  </a:txBody>
                  <a:tcPr marL="63500" marR="63500" marT="25400" marB="25400">
                    <a:solidFill>
                      <a:srgbClr val="FFFFFF"/>
                    </a:solidFill>
                  </a:tcPr>
                </a:tc>
                <a:tc>
                  <a:txBody>
                    <a:bodyPr/>
                    <a:lstStyle/>
                    <a:p>
                      <a:pPr algn="ctr"/>
                      <a:r>
                        <a:rPr sz="1300" b="0">
                          <a:solidFill>
                            <a:srgbClr val="13294B"/>
                          </a:solidFill>
                          <a:latin typeface="Calibri"/>
                        </a:rPr>
                        <a:t>0.55</a:t>
                      </a:r>
                    </a:p>
                  </a:txBody>
                  <a:tcPr marL="63500" marR="63500" marT="25400" marB="25400">
                    <a:solidFill>
                      <a:srgbClr val="FFFFFF"/>
                    </a:solidFill>
                  </a:tcPr>
                </a:tc>
                <a:tc>
                  <a:txBody>
                    <a:bodyPr/>
                    <a:lstStyle/>
                    <a:p>
                      <a:pPr algn="ctr"/>
                      <a:r>
                        <a:rPr sz="1300" b="0">
                          <a:solidFill>
                            <a:srgbClr val="13294B"/>
                          </a:solidFill>
                          <a:latin typeface="Calibri"/>
                        </a:rPr>
                        <a:t>0.65</a:t>
                      </a:r>
                    </a:p>
                  </a:txBody>
                  <a:tcPr marL="63500" marR="63500" marT="25400" marB="25400">
                    <a:solidFill>
                      <a:srgbClr val="FFFFFF"/>
                    </a:solidFill>
                  </a:tcPr>
                </a:tc>
              </a:tr>
              <a:tr h="292100">
                <a:tc>
                  <a:txBody>
                    <a:bodyPr/>
                    <a:lstStyle/>
                    <a:p>
                      <a:r>
                        <a:rPr sz="1300" b="0">
                          <a:solidFill>
                            <a:srgbClr val="13294B"/>
                          </a:solidFill>
                          <a:latin typeface="Calibri"/>
                        </a:rPr>
                        <a:t>128 bins</a:t>
                      </a:r>
                    </a:p>
                  </a:txBody>
                  <a:tcPr marL="63500" marR="63500" marT="25400" marB="25400">
                    <a:solidFill>
                      <a:srgbClr val="F3F6FB"/>
                    </a:solidFill>
                  </a:tcPr>
                </a:tc>
                <a:tc>
                  <a:txBody>
                    <a:bodyPr/>
                    <a:lstStyle/>
                    <a:p>
                      <a:pPr algn="ctr"/>
                      <a:r>
                        <a:rPr sz="1300" b="0">
                          <a:solidFill>
                            <a:srgbClr val="13294B"/>
                          </a:solidFill>
                          <a:latin typeface="Calibri"/>
                        </a:rPr>
                        <a:t>0.75</a:t>
                      </a:r>
                    </a:p>
                  </a:txBody>
                  <a:tcPr marL="63500" marR="63500" marT="25400" marB="25400">
                    <a:solidFill>
                      <a:srgbClr val="F3F6FB"/>
                    </a:solidFill>
                  </a:tcPr>
                </a:tc>
                <a:tc>
                  <a:txBody>
                    <a:bodyPr/>
                    <a:lstStyle/>
                    <a:p>
                      <a:pPr algn="ctr"/>
                      <a:r>
                        <a:rPr sz="1300" b="0">
                          <a:solidFill>
                            <a:srgbClr val="13294B"/>
                          </a:solidFill>
                          <a:latin typeface="Calibri"/>
                        </a:rPr>
                        <a:t>0.60</a:t>
                      </a:r>
                    </a:p>
                  </a:txBody>
                  <a:tcPr marL="63500" marR="63500" marT="25400" marB="25400">
                    <a:solidFill>
                      <a:srgbClr val="F3F6FB"/>
                    </a:solidFill>
                  </a:tcPr>
                </a:tc>
                <a:tc>
                  <a:txBody>
                    <a:bodyPr/>
                    <a:lstStyle/>
                    <a:p>
                      <a:pPr algn="ctr"/>
                      <a:r>
                        <a:rPr sz="1300" b="0">
                          <a:solidFill>
                            <a:srgbClr val="13294B"/>
                          </a:solidFill>
                          <a:latin typeface="Calibri"/>
                        </a:rPr>
                        <a:t>0.77</a:t>
                      </a:r>
                    </a:p>
                  </a:txBody>
                  <a:tcPr marL="63500" marR="63500" marT="25400" marB="25400">
                    <a:solidFill>
                      <a:srgbClr val="F3F6FB"/>
                    </a:solidFill>
                  </a:tcPr>
                </a:tc>
              </a:tr>
              <a:tr h="292100">
                <a:tc>
                  <a:txBody>
                    <a:bodyPr/>
                    <a:lstStyle/>
                    <a:p>
                      <a:r>
                        <a:rPr sz="1300" b="0">
                          <a:solidFill>
                            <a:srgbClr val="13294B"/>
                          </a:solidFill>
                          <a:latin typeface="Calibri"/>
                        </a:rPr>
                        <a:t>LoG σ 4.5</a:t>
                      </a:r>
                    </a:p>
                  </a:txBody>
                  <a:tcPr marL="63500" marR="63500" marT="25400" marB="25400">
                    <a:solidFill>
                      <a:srgbClr val="FFFFFF"/>
                    </a:solidFill>
                  </a:tcPr>
                </a:tc>
                <a:tc>
                  <a:txBody>
                    <a:bodyPr/>
                    <a:lstStyle/>
                    <a:p>
                      <a:pPr algn="ctr"/>
                      <a:r>
                        <a:rPr sz="1300" b="0">
                          <a:solidFill>
                            <a:srgbClr val="13294B"/>
                          </a:solidFill>
                          <a:latin typeface="Calibri"/>
                        </a:rPr>
                        <a:t>0.62</a:t>
                      </a:r>
                    </a:p>
                  </a:txBody>
                  <a:tcPr marL="63500" marR="63500" marT="25400" marB="25400">
                    <a:solidFill>
                      <a:srgbClr val="FFFFFF"/>
                    </a:solidFill>
                  </a:tcPr>
                </a:tc>
                <a:tc>
                  <a:txBody>
                    <a:bodyPr/>
                    <a:lstStyle/>
                    <a:p>
                      <a:pPr algn="ctr"/>
                      <a:r>
                        <a:rPr sz="1300" b="0">
                          <a:solidFill>
                            <a:srgbClr val="13294B"/>
                          </a:solidFill>
                          <a:latin typeface="Calibri"/>
                        </a:rPr>
                        <a:t>0.62</a:t>
                      </a:r>
                    </a:p>
                  </a:txBody>
                  <a:tcPr marL="63500" marR="63500" marT="25400" marB="25400">
                    <a:solidFill>
                      <a:srgbClr val="FFFFFF"/>
                    </a:solidFill>
                  </a:tcPr>
                </a:tc>
                <a:tc>
                  <a:txBody>
                    <a:bodyPr/>
                    <a:lstStyle/>
                    <a:p>
                      <a:pPr algn="ctr"/>
                      <a:r>
                        <a:rPr sz="1300" b="0">
                          <a:solidFill>
                            <a:srgbClr val="13294B"/>
                          </a:solidFill>
                          <a:latin typeface="Calibri"/>
                        </a:rPr>
                        <a:t>0.83</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4 texture features significant (FDR q &lt; 0.05)</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Potential non-invasive preoperative grading</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VIRTUAL BIOPSY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CT-based virtual biopsy of thoracic lesions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Cheraghi et al., J Med Biol Eng 2026</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6-img.jpg"/>
          <p:cNvPicPr>
            <a:picLocks noChangeAspect="1"/>
          </p:cNvPicPr>
          <p:nvPr/>
        </p:nvPicPr>
        <p:blipFill>
          <a:blip r:embed="rId3"/>
          <a:stretch>
            <a:fillRect/>
          </a:stretch>
        </p:blipFill>
        <p:spPr>
          <a:xfrm>
            <a:off x="914400" y="1675881"/>
            <a:ext cx="3225800" cy="2896636"/>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Pre-biopsy CT, 300 patients</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6-mod.jpg"/>
          <p:cNvPicPr>
            <a:picLocks noChangeAspect="1"/>
          </p:cNvPicPr>
          <p:nvPr/>
        </p:nvPicPr>
        <p:blipFill>
          <a:blip r:embed="rId4"/>
          <a:stretch>
            <a:fillRect/>
          </a:stretch>
        </p:blipFill>
        <p:spPr>
          <a:xfrm>
            <a:off x="5096376" y="1403350"/>
            <a:ext cx="2354847"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Feature selection + three classifiers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Test AUC vs normal</a:t>
            </a:r>
          </a:p>
        </p:txBody>
      </p:sp>
      <p:graphicFrame>
        <p:nvGraphicFramePr>
          <p:cNvPr id="17" name="Table 16"/>
          <p:cNvGraphicFramePr>
            <a:graphicFrameLocks noGrp="1"/>
          </p:cNvGraphicFramePr>
          <p:nvPr/>
        </p:nvGraphicFramePr>
        <p:xfrm>
          <a:off x="8331200" y="1936750"/>
          <a:ext cx="2921000" cy="1866900"/>
        </p:xfrm>
        <a:graphic>
          <a:graphicData uri="http://schemas.openxmlformats.org/drawingml/2006/table">
            <a:tbl>
              <a:tblPr firstRow="1" bandRow="1">
                <a:tableStyleId>{5C22544A-7EE6-4342-B048-85BDC9FD1C3A}</a:tableStyleId>
              </a:tblPr>
              <a:tblGrid>
                <a:gridCol w="1343660"/>
                <a:gridCol w="788670"/>
                <a:gridCol w="788670"/>
              </a:tblGrid>
              <a:tr h="266700">
                <a:tc>
                  <a:txBody>
                    <a:bodyPr/>
                    <a:lstStyle/>
                    <a:p>
                      <a:r>
                        <a:rPr sz="1300" b="1">
                          <a:solidFill>
                            <a:srgbClr val="FFFFFF"/>
                          </a:solidFill>
                          <a:latin typeface="Calibri"/>
                        </a:rPr>
                        <a:t>Lesion</a:t>
                      </a:r>
                    </a:p>
                  </a:txBody>
                  <a:tcPr marL="63500" marR="63500" marT="25400" marB="25400">
                    <a:solidFill>
                      <a:srgbClr val="1F5FA8"/>
                    </a:solidFill>
                  </a:tcPr>
                </a:tc>
                <a:tc>
                  <a:txBody>
                    <a:bodyPr/>
                    <a:lstStyle/>
                    <a:p>
                      <a:pPr algn="ctr"/>
                      <a:r>
                        <a:rPr sz="1300" b="1">
                          <a:solidFill>
                            <a:srgbClr val="FFFFFF"/>
                          </a:solidFill>
                          <a:latin typeface="Calibri"/>
                        </a:rPr>
                        <a:t>Radiom.</a:t>
                      </a:r>
                    </a:p>
                  </a:txBody>
                  <a:tcPr marL="63500" marR="63500" marT="25400" marB="25400">
                    <a:solidFill>
                      <a:srgbClr val="1F5FA8"/>
                    </a:solidFill>
                  </a:tcPr>
                </a:tc>
                <a:tc>
                  <a:txBody>
                    <a:bodyPr/>
                    <a:lstStyle/>
                    <a:p>
                      <a:pPr algn="ctr"/>
                      <a:r>
                        <a:rPr sz="1300" b="1">
                          <a:solidFill>
                            <a:srgbClr val="FFFFFF"/>
                          </a:solidFill>
                          <a:latin typeface="Calibri"/>
                        </a:rPr>
                        <a:t>+ Clin.</a:t>
                      </a:r>
                    </a:p>
                  </a:txBody>
                  <a:tcPr marL="63500" marR="63500" marT="25400" marB="25400">
                    <a:solidFill>
                      <a:srgbClr val="1F5FA8"/>
                    </a:solidFill>
                  </a:tcPr>
                </a:tc>
              </a:tr>
              <a:tr h="266700">
                <a:tc>
                  <a:txBody>
                    <a:bodyPr/>
                    <a:lstStyle/>
                    <a:p>
                      <a:r>
                        <a:rPr sz="1300" b="0">
                          <a:solidFill>
                            <a:srgbClr val="13294B"/>
                          </a:solidFill>
                          <a:latin typeface="Calibri"/>
                        </a:rPr>
                        <a:t>Tumoral</a:t>
                      </a:r>
                    </a:p>
                  </a:txBody>
                  <a:tcPr marL="63500" marR="63500" marT="25400" marB="25400">
                    <a:solidFill>
                      <a:srgbClr val="FFFFFF"/>
                    </a:solidFill>
                  </a:tcPr>
                </a:tc>
                <a:tc>
                  <a:txBody>
                    <a:bodyPr/>
                    <a:lstStyle/>
                    <a:p>
                      <a:pPr algn="ctr"/>
                      <a:r>
                        <a:rPr sz="1300" b="0">
                          <a:solidFill>
                            <a:srgbClr val="13294B"/>
                          </a:solidFill>
                          <a:latin typeface="Calibri"/>
                        </a:rPr>
                        <a:t>0.682</a:t>
                      </a:r>
                    </a:p>
                  </a:txBody>
                  <a:tcPr marL="63500" marR="63500" marT="25400" marB="25400">
                    <a:solidFill>
                      <a:srgbClr val="FFFFFF"/>
                    </a:solidFill>
                  </a:tcPr>
                </a:tc>
                <a:tc>
                  <a:txBody>
                    <a:bodyPr/>
                    <a:lstStyle/>
                    <a:p>
                      <a:pPr algn="ctr"/>
                      <a:r>
                        <a:rPr sz="1300" b="0">
                          <a:solidFill>
                            <a:srgbClr val="13294B"/>
                          </a:solidFill>
                          <a:latin typeface="Calibri"/>
                        </a:rPr>
                        <a:t>0.721</a:t>
                      </a:r>
                    </a:p>
                  </a:txBody>
                  <a:tcPr marL="63500" marR="63500" marT="25400" marB="25400">
                    <a:solidFill>
                      <a:srgbClr val="FFFFFF"/>
                    </a:solidFill>
                  </a:tcPr>
                </a:tc>
              </a:tr>
              <a:tr h="266700">
                <a:tc>
                  <a:txBody>
                    <a:bodyPr/>
                    <a:lstStyle/>
                    <a:p>
                      <a:r>
                        <a:rPr sz="1300" b="0">
                          <a:solidFill>
                            <a:srgbClr val="13294B"/>
                          </a:solidFill>
                          <a:latin typeface="Calibri"/>
                        </a:rPr>
                        <a:t>Adenocarcinoma</a:t>
                      </a:r>
                    </a:p>
                  </a:txBody>
                  <a:tcPr marL="63500" marR="63500" marT="25400" marB="25400">
                    <a:solidFill>
                      <a:srgbClr val="F3F6FB"/>
                    </a:solidFill>
                  </a:tcPr>
                </a:tc>
                <a:tc>
                  <a:txBody>
                    <a:bodyPr/>
                    <a:lstStyle/>
                    <a:p>
                      <a:pPr algn="ctr"/>
                      <a:r>
                        <a:rPr sz="1300" b="0">
                          <a:solidFill>
                            <a:srgbClr val="13294B"/>
                          </a:solidFill>
                          <a:latin typeface="Calibri"/>
                        </a:rPr>
                        <a:t>0.690</a:t>
                      </a:r>
                    </a:p>
                  </a:txBody>
                  <a:tcPr marL="63500" marR="63500" marT="25400" marB="25400">
                    <a:solidFill>
                      <a:srgbClr val="F3F6FB"/>
                    </a:solidFill>
                  </a:tcPr>
                </a:tc>
                <a:tc>
                  <a:txBody>
                    <a:bodyPr/>
                    <a:lstStyle/>
                    <a:p>
                      <a:pPr algn="ctr"/>
                      <a:r>
                        <a:rPr sz="1300" b="0">
                          <a:solidFill>
                            <a:srgbClr val="13294B"/>
                          </a:solidFill>
                          <a:latin typeface="Calibri"/>
                        </a:rPr>
                        <a:t>0.741</a:t>
                      </a:r>
                    </a:p>
                  </a:txBody>
                  <a:tcPr marL="63500" marR="63500" marT="25400" marB="25400">
                    <a:solidFill>
                      <a:srgbClr val="F3F6FB"/>
                    </a:solidFill>
                  </a:tcPr>
                </a:tc>
              </a:tr>
              <a:tr h="266700">
                <a:tc>
                  <a:txBody>
                    <a:bodyPr/>
                    <a:lstStyle/>
                    <a:p>
                      <a:r>
                        <a:rPr sz="1300" b="0">
                          <a:solidFill>
                            <a:srgbClr val="13294B"/>
                          </a:solidFill>
                          <a:latin typeface="Calibri"/>
                        </a:rPr>
                        <a:t>SCC</a:t>
                      </a:r>
                    </a:p>
                  </a:txBody>
                  <a:tcPr marL="63500" marR="63500" marT="25400" marB="25400">
                    <a:solidFill>
                      <a:srgbClr val="FFFFFF"/>
                    </a:solidFill>
                  </a:tcPr>
                </a:tc>
                <a:tc>
                  <a:txBody>
                    <a:bodyPr/>
                    <a:lstStyle/>
                    <a:p>
                      <a:pPr algn="ctr"/>
                      <a:r>
                        <a:rPr sz="1300" b="0">
                          <a:solidFill>
                            <a:srgbClr val="13294B"/>
                          </a:solidFill>
                          <a:latin typeface="Calibri"/>
                        </a:rPr>
                        <a:t>0.820</a:t>
                      </a:r>
                    </a:p>
                  </a:txBody>
                  <a:tcPr marL="63500" marR="63500" marT="25400" marB="25400">
                    <a:solidFill>
                      <a:srgbClr val="FFFFFF"/>
                    </a:solidFill>
                  </a:tcPr>
                </a:tc>
                <a:tc>
                  <a:txBody>
                    <a:bodyPr/>
                    <a:lstStyle/>
                    <a:p>
                      <a:pPr algn="ctr"/>
                      <a:r>
                        <a:rPr sz="1300" b="0">
                          <a:solidFill>
                            <a:srgbClr val="13294B"/>
                          </a:solidFill>
                          <a:latin typeface="Calibri"/>
                        </a:rPr>
                        <a:t>0.769</a:t>
                      </a:r>
                    </a:p>
                  </a:txBody>
                  <a:tcPr marL="63500" marR="63500" marT="25400" marB="25400">
                    <a:solidFill>
                      <a:srgbClr val="FFFFFF"/>
                    </a:solidFill>
                  </a:tcPr>
                </a:tc>
              </a:tr>
              <a:tr h="266700">
                <a:tc>
                  <a:txBody>
                    <a:bodyPr/>
                    <a:lstStyle/>
                    <a:p>
                      <a:r>
                        <a:rPr sz="1300" b="0">
                          <a:solidFill>
                            <a:srgbClr val="13294B"/>
                          </a:solidFill>
                          <a:latin typeface="Calibri"/>
                        </a:rPr>
                        <a:t>SCLC</a:t>
                      </a:r>
                    </a:p>
                  </a:txBody>
                  <a:tcPr marL="63500" marR="63500" marT="25400" marB="25400">
                    <a:solidFill>
                      <a:srgbClr val="F3F6FB"/>
                    </a:solidFill>
                  </a:tcPr>
                </a:tc>
                <a:tc>
                  <a:txBody>
                    <a:bodyPr/>
                    <a:lstStyle/>
                    <a:p>
                      <a:pPr algn="ctr"/>
                      <a:r>
                        <a:rPr sz="1300" b="0">
                          <a:solidFill>
                            <a:srgbClr val="13294B"/>
                          </a:solidFill>
                          <a:latin typeface="Calibri"/>
                        </a:rPr>
                        <a:t>0.869</a:t>
                      </a:r>
                    </a:p>
                  </a:txBody>
                  <a:tcPr marL="63500" marR="63500" marT="25400" marB="25400">
                    <a:solidFill>
                      <a:srgbClr val="F3F6FB"/>
                    </a:solidFill>
                  </a:tcPr>
                </a:tc>
                <a:tc>
                  <a:txBody>
                    <a:bodyPr/>
                    <a:lstStyle/>
                    <a:p>
                      <a:pPr algn="ctr"/>
                      <a:r>
                        <a:rPr sz="1300" b="0">
                          <a:solidFill>
                            <a:srgbClr val="13294B"/>
                          </a:solidFill>
                          <a:latin typeface="Calibri"/>
                        </a:rPr>
                        <a:t>0.875</a:t>
                      </a:r>
                    </a:p>
                  </a:txBody>
                  <a:tcPr marL="63500" marR="63500" marT="25400" marB="25400">
                    <a:solidFill>
                      <a:srgbClr val="F3F6FB"/>
                    </a:solidFill>
                  </a:tcPr>
                </a:tc>
              </a:tr>
              <a:tr h="266700">
                <a:tc>
                  <a:txBody>
                    <a:bodyPr/>
                    <a:lstStyle/>
                    <a:p>
                      <a:r>
                        <a:rPr sz="1300" b="0">
                          <a:solidFill>
                            <a:srgbClr val="13294B"/>
                          </a:solidFill>
                          <a:latin typeface="Calibri"/>
                        </a:rPr>
                        <a:t>Lymphoma</a:t>
                      </a:r>
                    </a:p>
                  </a:txBody>
                  <a:tcPr marL="63500" marR="63500" marT="25400" marB="25400">
                    <a:solidFill>
                      <a:srgbClr val="FFFFFF"/>
                    </a:solidFill>
                  </a:tcPr>
                </a:tc>
                <a:tc>
                  <a:txBody>
                    <a:bodyPr/>
                    <a:lstStyle/>
                    <a:p>
                      <a:pPr algn="ctr"/>
                      <a:r>
                        <a:rPr sz="1300" b="0">
                          <a:solidFill>
                            <a:srgbClr val="13294B"/>
                          </a:solidFill>
                          <a:latin typeface="Calibri"/>
                        </a:rPr>
                        <a:t>0.875</a:t>
                      </a:r>
                    </a:p>
                  </a:txBody>
                  <a:tcPr marL="63500" marR="63500" marT="25400" marB="25400">
                    <a:solidFill>
                      <a:srgbClr val="FFFFFF"/>
                    </a:solidFill>
                  </a:tcPr>
                </a:tc>
                <a:tc>
                  <a:txBody>
                    <a:bodyPr/>
                    <a:lstStyle/>
                    <a:p>
                      <a:pPr algn="ctr"/>
                      <a:r>
                        <a:rPr sz="1300" b="0">
                          <a:solidFill>
                            <a:srgbClr val="13294B"/>
                          </a:solidFill>
                          <a:latin typeface="Calibri"/>
                        </a:rPr>
                        <a:t>0.920</a:t>
                      </a:r>
                    </a:p>
                  </a:txBody>
                  <a:tcPr marL="63500" marR="63500" marT="25400" marB="25400">
                    <a:solidFill>
                      <a:srgbClr val="FFFFFF"/>
                    </a:solidFill>
                  </a:tcPr>
                </a:tc>
              </a:tr>
              <a:tr h="266700">
                <a:tc>
                  <a:txBody>
                    <a:bodyPr/>
                    <a:lstStyle/>
                    <a:p>
                      <a:r>
                        <a:rPr sz="1300" b="0">
                          <a:solidFill>
                            <a:srgbClr val="13294B"/>
                          </a:solidFill>
                          <a:latin typeface="Calibri"/>
                        </a:rPr>
                        <a:t>Mesenchymal</a:t>
                      </a:r>
                    </a:p>
                  </a:txBody>
                  <a:tcPr marL="63500" marR="63500" marT="25400" marB="25400">
                    <a:solidFill>
                      <a:srgbClr val="F3F6FB"/>
                    </a:solidFill>
                  </a:tcPr>
                </a:tc>
                <a:tc>
                  <a:txBody>
                    <a:bodyPr/>
                    <a:lstStyle/>
                    <a:p>
                      <a:pPr algn="ctr"/>
                      <a:r>
                        <a:rPr sz="1300" b="0">
                          <a:solidFill>
                            <a:srgbClr val="13294B"/>
                          </a:solidFill>
                          <a:latin typeface="Calibri"/>
                        </a:rPr>
                        <a:t>0.861</a:t>
                      </a:r>
                    </a:p>
                  </a:txBody>
                  <a:tcPr marL="63500" marR="63500" marT="25400" marB="25400">
                    <a:solidFill>
                      <a:srgbClr val="F3F6FB"/>
                    </a:solidFill>
                  </a:tcPr>
                </a:tc>
                <a:tc>
                  <a:txBody>
                    <a:bodyPr/>
                    <a:lstStyle/>
                    <a:p>
                      <a:pPr algn="ctr"/>
                      <a:r>
                        <a:rPr sz="1300" b="0">
                          <a:solidFill>
                            <a:srgbClr val="13294B"/>
                          </a:solidFill>
                          <a:latin typeface="Calibri"/>
                        </a:rPr>
                        <a:t>0.852</a:t>
                      </a:r>
                    </a:p>
                  </a:txBody>
                  <a:tcPr marL="63500" marR="63500" marT="25400" marB="25400">
                    <a:solidFill>
                      <a:srgbClr val="F3F6FB"/>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SMOTE before splitting may inflate results</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A virtual biopsy alongside tissue diagnosis</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TOXICITY PREDICTION</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Delta radiomics and dose for late xerostomia</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Int J Radiat Biol 2022</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7-img.jpg"/>
          <p:cNvPicPr>
            <a:picLocks noChangeAspect="1"/>
          </p:cNvPicPr>
          <p:nvPr/>
        </p:nvPicPr>
        <p:blipFill>
          <a:blip r:embed="rId3"/>
          <a:stretch>
            <a:fillRect/>
          </a:stretch>
        </p:blipFill>
        <p:spPr>
          <a:xfrm>
            <a:off x="914400" y="1523159"/>
            <a:ext cx="3225800" cy="3202080"/>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Parotid CT before, during, after RT</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7-mod.jpg"/>
          <p:cNvPicPr>
            <a:picLocks noChangeAspect="1"/>
          </p:cNvPicPr>
          <p:nvPr/>
        </p:nvPicPr>
        <p:blipFill>
          <a:blip r:embed="rId4"/>
          <a:stretch>
            <a:fillRect/>
          </a:stretch>
        </p:blipFill>
        <p:spPr>
          <a:xfrm>
            <a:off x="5180827" y="1403350"/>
            <a:ext cx="2185944"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CT, delta, dose and clinical features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AUC, nested CV</a:t>
            </a:r>
          </a:p>
        </p:txBody>
      </p:sp>
      <p:graphicFrame>
        <p:nvGraphicFramePr>
          <p:cNvPr id="17" name="Table 16"/>
          <p:cNvGraphicFramePr>
            <a:graphicFrameLocks noGrp="1"/>
          </p:cNvGraphicFramePr>
          <p:nvPr/>
        </p:nvGraphicFramePr>
        <p:xfrm>
          <a:off x="8331200" y="1936750"/>
          <a:ext cx="2920999" cy="2133600"/>
        </p:xfrm>
        <a:graphic>
          <a:graphicData uri="http://schemas.openxmlformats.org/drawingml/2006/table">
            <a:tbl>
              <a:tblPr firstRow="1" bandRow="1">
                <a:tableStyleId>{5C22544A-7EE6-4342-B048-85BDC9FD1C3A}</a:tableStyleId>
              </a:tblPr>
              <a:tblGrid>
                <a:gridCol w="1927860"/>
                <a:gridCol w="993139"/>
              </a:tblGrid>
              <a:tr h="266700">
                <a:tc>
                  <a:txBody>
                    <a:bodyPr/>
                    <a:lstStyle/>
                    <a:p>
                      <a:r>
                        <a:rPr sz="1300" b="1">
                          <a:solidFill>
                            <a:srgbClr val="FFFFFF"/>
                          </a:solidFill>
                          <a:latin typeface="Calibri"/>
                        </a:rPr>
                        <a:t>Model</a:t>
                      </a:r>
                    </a:p>
                  </a:txBody>
                  <a:tcPr marL="63500" marR="63500" marT="25400" marB="25400">
                    <a:solidFill>
                      <a:srgbClr val="1F5FA8"/>
                    </a:solidFill>
                  </a:tcPr>
                </a:tc>
                <a:tc>
                  <a:txBody>
                    <a:bodyPr/>
                    <a:lstStyle/>
                    <a:p>
                      <a:pPr algn="ctr"/>
                      <a:r>
                        <a:rPr sz="1300" b="1">
                          <a:solidFill>
                            <a:srgbClr val="FFFFFF"/>
                          </a:solidFill>
                          <a:latin typeface="Calibri"/>
                        </a:rPr>
                        <a:t>AUC</a:t>
                      </a:r>
                    </a:p>
                  </a:txBody>
                  <a:tcPr marL="63500" marR="63500" marT="25400" marB="25400">
                    <a:solidFill>
                      <a:srgbClr val="1F5FA8"/>
                    </a:solidFill>
                  </a:tcPr>
                </a:tc>
              </a:tr>
              <a:tr h="266700">
                <a:tc>
                  <a:txBody>
                    <a:bodyPr/>
                    <a:lstStyle/>
                    <a:p>
                      <a:r>
                        <a:rPr sz="1300" b="0">
                          <a:solidFill>
                            <a:srgbClr val="13294B"/>
                          </a:solidFill>
                          <a:latin typeface="Calibri"/>
                        </a:rPr>
                        <a:t>CT1 (pre-RT)</a:t>
                      </a:r>
                    </a:p>
                  </a:txBody>
                  <a:tcPr marL="63500" marR="63500" marT="25400" marB="25400">
                    <a:solidFill>
                      <a:srgbClr val="FFFFFF"/>
                    </a:solidFill>
                  </a:tcPr>
                </a:tc>
                <a:tc>
                  <a:txBody>
                    <a:bodyPr/>
                    <a:lstStyle/>
                    <a:p>
                      <a:pPr algn="ctr"/>
                      <a:r>
                        <a:rPr sz="1300" b="0">
                          <a:solidFill>
                            <a:srgbClr val="13294B"/>
                          </a:solidFill>
                          <a:latin typeface="Calibri"/>
                        </a:rPr>
                        <a:t>0.68</a:t>
                      </a:r>
                    </a:p>
                  </a:txBody>
                  <a:tcPr marL="63500" marR="63500" marT="25400" marB="25400">
                    <a:solidFill>
                      <a:srgbClr val="FFFFFF"/>
                    </a:solidFill>
                  </a:tcPr>
                </a:tc>
              </a:tr>
              <a:tr h="266700">
                <a:tc>
                  <a:txBody>
                    <a:bodyPr/>
                    <a:lstStyle/>
                    <a:p>
                      <a:r>
                        <a:rPr sz="1300" b="0">
                          <a:solidFill>
                            <a:srgbClr val="13294B"/>
                          </a:solidFill>
                          <a:latin typeface="Calibri"/>
                        </a:rPr>
                        <a:t>CT2 (mid-RT)</a:t>
                      </a:r>
                    </a:p>
                  </a:txBody>
                  <a:tcPr marL="63500" marR="63500" marT="25400" marB="25400">
                    <a:solidFill>
                      <a:srgbClr val="F3F6FB"/>
                    </a:solidFill>
                  </a:tcPr>
                </a:tc>
                <a:tc>
                  <a:txBody>
                    <a:bodyPr/>
                    <a:lstStyle/>
                    <a:p>
                      <a:pPr algn="ctr"/>
                      <a:r>
                        <a:rPr sz="1300" b="0">
                          <a:solidFill>
                            <a:srgbClr val="13294B"/>
                          </a:solidFill>
                          <a:latin typeface="Calibri"/>
                        </a:rPr>
                        <a:t>0.84</a:t>
                      </a:r>
                    </a:p>
                  </a:txBody>
                  <a:tcPr marL="63500" marR="63500" marT="25400" marB="25400">
                    <a:solidFill>
                      <a:srgbClr val="F3F6FB"/>
                    </a:solidFill>
                  </a:tcPr>
                </a:tc>
              </a:tr>
              <a:tr h="266700">
                <a:tc>
                  <a:txBody>
                    <a:bodyPr/>
                    <a:lstStyle/>
                    <a:p>
                      <a:r>
                        <a:rPr sz="1300" b="0">
                          <a:solidFill>
                            <a:srgbClr val="13294B"/>
                          </a:solidFill>
                          <a:latin typeface="Calibri"/>
                        </a:rPr>
                        <a:t>CT3 (post-RT)</a:t>
                      </a:r>
                    </a:p>
                  </a:txBody>
                  <a:tcPr marL="63500" marR="63500" marT="25400" marB="25400">
                    <a:solidFill>
                      <a:srgbClr val="FFFFFF"/>
                    </a:solidFill>
                  </a:tcPr>
                </a:tc>
                <a:tc>
                  <a:txBody>
                    <a:bodyPr/>
                    <a:lstStyle/>
                    <a:p>
                      <a:pPr algn="ctr"/>
                      <a:r>
                        <a:rPr sz="1300" b="0">
                          <a:solidFill>
                            <a:srgbClr val="13294B"/>
                          </a:solidFill>
                          <a:latin typeface="Calibri"/>
                        </a:rPr>
                        <a:t>0.89</a:t>
                      </a:r>
                    </a:p>
                  </a:txBody>
                  <a:tcPr marL="63500" marR="63500" marT="25400" marB="25400">
                    <a:solidFill>
                      <a:srgbClr val="FFFFFF"/>
                    </a:solidFill>
                  </a:tcPr>
                </a:tc>
              </a:tr>
              <a:tr h="266700">
                <a:tc>
                  <a:txBody>
                    <a:bodyPr/>
                    <a:lstStyle/>
                    <a:p>
                      <a:r>
                        <a:rPr sz="1300" b="0">
                          <a:solidFill>
                            <a:srgbClr val="13294B"/>
                          </a:solidFill>
                          <a:latin typeface="Calibri"/>
                        </a:rPr>
                        <a:t>ΔCT2−1 + dose</a:t>
                      </a:r>
                    </a:p>
                  </a:txBody>
                  <a:tcPr marL="63500" marR="63500" marT="25400" marB="25400">
                    <a:solidFill>
                      <a:srgbClr val="F3F6FB"/>
                    </a:solidFill>
                  </a:tcPr>
                </a:tc>
                <a:tc>
                  <a:txBody>
                    <a:bodyPr/>
                    <a:lstStyle/>
                    <a:p>
                      <a:pPr algn="ctr"/>
                      <a:r>
                        <a:rPr sz="1300" b="0">
                          <a:solidFill>
                            <a:srgbClr val="13294B"/>
                          </a:solidFill>
                          <a:latin typeface="Calibri"/>
                        </a:rPr>
                        <a:t>0.89</a:t>
                      </a:r>
                    </a:p>
                  </a:txBody>
                  <a:tcPr marL="63500" marR="63500" marT="25400" marB="25400">
                    <a:solidFill>
                      <a:srgbClr val="F3F6FB"/>
                    </a:solidFill>
                  </a:tcPr>
                </a:tc>
              </a:tr>
              <a:tr h="266700">
                <a:tc>
                  <a:txBody>
                    <a:bodyPr/>
                    <a:lstStyle/>
                    <a:p>
                      <a:r>
                        <a:rPr sz="1300" b="0">
                          <a:solidFill>
                            <a:srgbClr val="13294B"/>
                          </a:solidFill>
                          <a:latin typeface="Calibri"/>
                        </a:rPr>
                        <a:t>DVH</a:t>
                      </a:r>
                    </a:p>
                  </a:txBody>
                  <a:tcPr marL="63500" marR="63500" marT="25400" marB="25400">
                    <a:solidFill>
                      <a:srgbClr val="FFFFFF"/>
                    </a:solidFill>
                  </a:tcPr>
                </a:tc>
                <a:tc>
                  <a:txBody>
                    <a:bodyPr/>
                    <a:lstStyle/>
                    <a:p>
                      <a:pPr algn="ctr"/>
                      <a:r>
                        <a:rPr sz="1300" b="0">
                          <a:solidFill>
                            <a:srgbClr val="13294B"/>
                          </a:solidFill>
                          <a:latin typeface="Calibri"/>
                        </a:rPr>
                        <a:t>0.89</a:t>
                      </a:r>
                    </a:p>
                  </a:txBody>
                  <a:tcPr marL="63500" marR="63500" marT="25400" marB="25400">
                    <a:solidFill>
                      <a:srgbClr val="FFFFFF"/>
                    </a:solidFill>
                  </a:tcPr>
                </a:tc>
              </a:tr>
              <a:tr h="266700">
                <a:tc>
                  <a:txBody>
                    <a:bodyPr/>
                    <a:lstStyle/>
                    <a:p>
                      <a:r>
                        <a:rPr sz="1300" b="0">
                          <a:solidFill>
                            <a:srgbClr val="13294B"/>
                          </a:solidFill>
                          <a:latin typeface="Calibri"/>
                        </a:rPr>
                        <a:t>Dose</a:t>
                      </a:r>
                    </a:p>
                  </a:txBody>
                  <a:tcPr marL="63500" marR="63500" marT="25400" marB="25400">
                    <a:solidFill>
                      <a:srgbClr val="F3F6FB"/>
                    </a:solidFill>
                  </a:tcPr>
                </a:tc>
                <a:tc>
                  <a:txBody>
                    <a:bodyPr/>
                    <a:lstStyle/>
                    <a:p>
                      <a:pPr algn="ctr"/>
                      <a:r>
                        <a:rPr sz="1300" b="0">
                          <a:solidFill>
                            <a:srgbClr val="13294B"/>
                          </a:solidFill>
                          <a:latin typeface="Calibri"/>
                        </a:rPr>
                        <a:t>0.72</a:t>
                      </a:r>
                    </a:p>
                  </a:txBody>
                  <a:tcPr marL="63500" marR="63500" marT="25400" marB="25400">
                    <a:solidFill>
                      <a:srgbClr val="F3F6FB"/>
                    </a:solidFill>
                  </a:tcPr>
                </a:tc>
              </a:tr>
              <a:tr h="266700">
                <a:tc>
                  <a:txBody>
                    <a:bodyPr/>
                    <a:lstStyle/>
                    <a:p>
                      <a:r>
                        <a:rPr sz="1300" b="0">
                          <a:solidFill>
                            <a:srgbClr val="13294B"/>
                          </a:solidFill>
                          <a:latin typeface="Calibri"/>
                        </a:rPr>
                        <a:t>Clinical</a:t>
                      </a:r>
                    </a:p>
                  </a:txBody>
                  <a:tcPr marL="63500" marR="63500" marT="25400" marB="25400">
                    <a:solidFill>
                      <a:srgbClr val="FFFFFF"/>
                    </a:solidFill>
                  </a:tcPr>
                </a:tc>
                <a:tc>
                  <a:txBody>
                    <a:bodyPr/>
                    <a:lstStyle/>
                    <a:p>
                      <a:pPr algn="ctr"/>
                      <a:r>
                        <a:rPr sz="1300" b="0">
                          <a:solidFill>
                            <a:srgbClr val="13294B"/>
                          </a:solidFill>
                          <a:latin typeface="Calibri"/>
                        </a:rPr>
                        <a:t>0.88</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31 patients, 59 parotids</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Longitudinal imaging and dose predict dry mouth</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PSMA PET/CT</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Multicentre PSMA PET/CT radiomics for risk</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Jafari et al., BMC Medical Imaging (2025) 25:375</a:t>
            </a:r>
          </a:p>
        </p:txBody>
      </p:sp>
      <p:sp>
        <p:nvSpPr>
          <p:cNvPr id="7" name="Rounded Rectangle 6"/>
          <p:cNvSpPr/>
          <p:nvPr/>
        </p:nvSpPr>
        <p:spPr>
          <a:xfrm>
            <a:off x="812800" y="1301750"/>
            <a:ext cx="36576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8-img.jpg"/>
          <p:cNvPicPr>
            <a:picLocks noChangeAspect="1"/>
          </p:cNvPicPr>
          <p:nvPr/>
        </p:nvPicPr>
        <p:blipFill>
          <a:blip r:embed="rId3"/>
          <a:stretch>
            <a:fillRect/>
          </a:stretch>
        </p:blipFill>
        <p:spPr>
          <a:xfrm>
            <a:off x="914400" y="2444964"/>
            <a:ext cx="3454400" cy="1358471"/>
          </a:xfrm>
          <a:prstGeom prst="rect">
            <a:avLst/>
          </a:prstGeom>
        </p:spPr>
      </p:pic>
      <p:sp>
        <p:nvSpPr>
          <p:cNvPr id="9" name="TextBox 8"/>
          <p:cNvSpPr txBox="1"/>
          <p:nvPr/>
        </p:nvSpPr>
        <p:spPr>
          <a:xfrm>
            <a:off x="939800" y="4959350"/>
            <a:ext cx="3403600" cy="254000"/>
          </a:xfrm>
          <a:prstGeom prst="rect">
            <a:avLst/>
          </a:prstGeom>
          <a:noFill/>
        </p:spPr>
        <p:txBody>
          <a:bodyPr wrap="square" lIns="0" rIns="0" tIns="0" bIns="0">
            <a:spAutoFit/>
          </a:bodyPr>
          <a:lstStyle/>
          <a:p>
            <a:pPr algn="ctr"/>
            <a:r>
              <a:rPr sz="1600" b="1">
                <a:solidFill>
                  <a:srgbClr val="13294B"/>
                </a:solidFill>
                <a:latin typeface="Calibri"/>
              </a:rPr>
              <a:t>PSMA PET/CT, 243 patients, 4 centres</a:t>
            </a:r>
          </a:p>
        </p:txBody>
      </p:sp>
      <p:sp>
        <p:nvSpPr>
          <p:cNvPr id="10" name="Right Arrow 9"/>
          <p:cNvSpPr/>
          <p:nvPr/>
        </p:nvSpPr>
        <p:spPr>
          <a:xfrm>
            <a:off x="4502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24400" y="1301750"/>
            <a:ext cx="33274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8-mod.jpg"/>
          <p:cNvPicPr>
            <a:picLocks noChangeAspect="1"/>
          </p:cNvPicPr>
          <p:nvPr/>
        </p:nvPicPr>
        <p:blipFill>
          <a:blip r:embed="rId4"/>
          <a:stretch>
            <a:fillRect/>
          </a:stretch>
        </p:blipFill>
        <p:spPr>
          <a:xfrm>
            <a:off x="5269547" y="1403350"/>
            <a:ext cx="2237105" cy="3441700"/>
          </a:xfrm>
          <a:prstGeom prst="rect">
            <a:avLst/>
          </a:prstGeom>
        </p:spPr>
      </p:pic>
      <p:sp>
        <p:nvSpPr>
          <p:cNvPr id="13" name="TextBox 12"/>
          <p:cNvSpPr txBox="1"/>
          <p:nvPr/>
        </p:nvSpPr>
        <p:spPr>
          <a:xfrm>
            <a:off x="4851400" y="4959350"/>
            <a:ext cx="3073400" cy="254000"/>
          </a:xfrm>
          <a:prstGeom prst="rect">
            <a:avLst/>
          </a:prstGeom>
          <a:noFill/>
        </p:spPr>
        <p:txBody>
          <a:bodyPr wrap="square" lIns="0" rIns="0" tIns="0" bIns="0">
            <a:spAutoFit/>
          </a:bodyPr>
          <a:lstStyle/>
          <a:p>
            <a:pPr algn="ctr"/>
            <a:r>
              <a:rPr sz="1600" b="1">
                <a:solidFill>
                  <a:srgbClr val="13294B"/>
                </a:solidFill>
                <a:latin typeface="Calibri"/>
              </a:rPr>
              <a:t>Harmonized features, five classifiers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Mean accuracy</a:t>
            </a:r>
          </a:p>
        </p:txBody>
      </p:sp>
      <p:graphicFrame>
        <p:nvGraphicFramePr>
          <p:cNvPr id="17" name="Table 16"/>
          <p:cNvGraphicFramePr>
            <a:graphicFrameLocks noGrp="1"/>
          </p:cNvGraphicFramePr>
          <p:nvPr/>
        </p:nvGraphicFramePr>
        <p:xfrm>
          <a:off x="8331200" y="1936750"/>
          <a:ext cx="2921000" cy="876300"/>
        </p:xfrm>
        <a:graphic>
          <a:graphicData uri="http://schemas.openxmlformats.org/drawingml/2006/table">
            <a:tbl>
              <a:tblPr firstRow="1" bandRow="1">
                <a:tableStyleId>{5C22544A-7EE6-4342-B048-85BDC9FD1C3A}</a:tableStyleId>
              </a:tblPr>
              <a:tblGrid>
                <a:gridCol w="1343660"/>
                <a:gridCol w="788670"/>
                <a:gridCol w="788670"/>
              </a:tblGrid>
              <a:tr h="292100">
                <a:tc>
                  <a:txBody>
                    <a:bodyPr/>
                    <a:lstStyle/>
                    <a:p>
                      <a:r>
                        <a:rPr sz="1300" b="1">
                          <a:solidFill>
                            <a:srgbClr val="FFFFFF"/>
                          </a:solidFill>
                          <a:latin typeface="Calibri"/>
                        </a:rPr>
                        <a:t>Task</a:t>
                      </a:r>
                    </a:p>
                  </a:txBody>
                  <a:tcPr marL="63500" marR="63500" marT="25400" marB="25400">
                    <a:solidFill>
                      <a:srgbClr val="1F5FA8"/>
                    </a:solidFill>
                  </a:tcPr>
                </a:tc>
                <a:tc>
                  <a:txBody>
                    <a:bodyPr/>
                    <a:lstStyle/>
                    <a:p>
                      <a:pPr algn="ctr"/>
                      <a:r>
                        <a:rPr sz="1300" b="1">
                          <a:solidFill>
                            <a:srgbClr val="FFFFFF"/>
                          </a:solidFill>
                          <a:latin typeface="Calibri"/>
                        </a:rPr>
                        <a:t>Internal</a:t>
                      </a:r>
                    </a:p>
                  </a:txBody>
                  <a:tcPr marL="63500" marR="63500" marT="25400" marB="25400">
                    <a:solidFill>
                      <a:srgbClr val="1F5FA8"/>
                    </a:solidFill>
                  </a:tcPr>
                </a:tc>
                <a:tc>
                  <a:txBody>
                    <a:bodyPr/>
                    <a:lstStyle/>
                    <a:p>
                      <a:pPr algn="ctr"/>
                      <a:r>
                        <a:rPr sz="1300" b="1">
                          <a:solidFill>
                            <a:srgbClr val="FFFFFF"/>
                          </a:solidFill>
                          <a:latin typeface="Calibri"/>
                        </a:rPr>
                        <a:t>External</a:t>
                      </a:r>
                    </a:p>
                  </a:txBody>
                  <a:tcPr marL="63500" marR="63500" marT="25400" marB="25400">
                    <a:solidFill>
                      <a:srgbClr val="1F5FA8"/>
                    </a:solidFill>
                  </a:tcPr>
                </a:tc>
              </a:tr>
              <a:tr h="292100">
                <a:tc>
                  <a:txBody>
                    <a:bodyPr/>
                    <a:lstStyle/>
                    <a:p>
                      <a:r>
                        <a:rPr sz="1300" b="0">
                          <a:solidFill>
                            <a:srgbClr val="13294B"/>
                          </a:solidFill>
                          <a:latin typeface="Calibri"/>
                        </a:rPr>
                        <a:t>GGG 1–3 vs 4–5</a:t>
                      </a:r>
                    </a:p>
                  </a:txBody>
                  <a:tcPr marL="63500" marR="63500" marT="25400" marB="25400">
                    <a:solidFill>
                      <a:srgbClr val="FFFFFF"/>
                    </a:solidFill>
                  </a:tcPr>
                </a:tc>
                <a:tc>
                  <a:txBody>
                    <a:bodyPr/>
                    <a:lstStyle/>
                    <a:p>
                      <a:pPr algn="ctr"/>
                      <a:r>
                        <a:rPr sz="1300" b="0">
                          <a:solidFill>
                            <a:srgbClr val="13294B"/>
                          </a:solidFill>
                          <a:latin typeface="Calibri"/>
                        </a:rPr>
                        <a:t>78.0%</a:t>
                      </a:r>
                    </a:p>
                  </a:txBody>
                  <a:tcPr marL="63500" marR="63500" marT="25400" marB="25400">
                    <a:solidFill>
                      <a:srgbClr val="FFFFFF"/>
                    </a:solidFill>
                  </a:tcPr>
                </a:tc>
                <a:tc>
                  <a:txBody>
                    <a:bodyPr/>
                    <a:lstStyle/>
                    <a:p>
                      <a:pPr algn="ctr"/>
                      <a:r>
                        <a:rPr sz="1300" b="0">
                          <a:solidFill>
                            <a:srgbClr val="13294B"/>
                          </a:solidFill>
                          <a:latin typeface="Calibri"/>
                        </a:rPr>
                        <a:t>73.8%</a:t>
                      </a:r>
                    </a:p>
                  </a:txBody>
                  <a:tcPr marL="63500" marR="63500" marT="25400" marB="25400">
                    <a:solidFill>
                      <a:srgbClr val="FFFFFF"/>
                    </a:solidFill>
                  </a:tcPr>
                </a:tc>
              </a:tr>
              <a:tr h="292100">
                <a:tc>
                  <a:txBody>
                    <a:bodyPr/>
                    <a:lstStyle/>
                    <a:p>
                      <a:r>
                        <a:rPr sz="1300" b="0">
                          <a:solidFill>
                            <a:srgbClr val="13294B"/>
                          </a:solidFill>
                          <a:latin typeface="Calibri"/>
                        </a:rPr>
                        <a:t>PSA &lt;20 vs ≥20</a:t>
                      </a:r>
                    </a:p>
                  </a:txBody>
                  <a:tcPr marL="63500" marR="63500" marT="25400" marB="25400">
                    <a:solidFill>
                      <a:srgbClr val="F3F6FB"/>
                    </a:solidFill>
                  </a:tcPr>
                </a:tc>
                <a:tc>
                  <a:txBody>
                    <a:bodyPr/>
                    <a:lstStyle/>
                    <a:p>
                      <a:pPr algn="ctr"/>
                      <a:r>
                        <a:rPr sz="1300" b="0">
                          <a:solidFill>
                            <a:srgbClr val="13294B"/>
                          </a:solidFill>
                          <a:latin typeface="Calibri"/>
                        </a:rPr>
                        <a:t>75.4%</a:t>
                      </a:r>
                    </a:p>
                  </a:txBody>
                  <a:tcPr marL="63500" marR="63500" marT="25400" marB="25400">
                    <a:solidFill>
                      <a:srgbClr val="F3F6FB"/>
                    </a:solidFill>
                  </a:tcPr>
                </a:tc>
                <a:tc>
                  <a:txBody>
                    <a:bodyPr/>
                    <a:lstStyle/>
                    <a:p>
                      <a:pPr algn="ctr"/>
                      <a:r>
                        <a:rPr sz="1300" b="0">
                          <a:solidFill>
                            <a:srgbClr val="13294B"/>
                          </a:solidFill>
                          <a:latin typeface="Calibri"/>
                        </a:rPr>
                        <a:t>76.4%</a:t>
                      </a:r>
                    </a:p>
                  </a:txBody>
                  <a:tcPr marL="63500" marR="63500" marT="25400" marB="25400">
                    <a:solidFill>
                      <a:srgbClr val="F3F6FB"/>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186 development, 57 external test; classifier differences p &gt; 0.05</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Non-invasive risk stratification from PSMA PET/CT</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TREATMENT RESPONSE</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MRI radiomics for IMRT response in prostate</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La Radiologia Medica 2019</a:t>
            </a:r>
          </a:p>
        </p:txBody>
      </p:sp>
      <p:sp>
        <p:nvSpPr>
          <p:cNvPr id="7" name="Rounded Rectangle 6"/>
          <p:cNvSpPr/>
          <p:nvPr/>
        </p:nvSpPr>
        <p:spPr>
          <a:xfrm>
            <a:off x="812800" y="1301750"/>
            <a:ext cx="36576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9-img.jpg"/>
          <p:cNvPicPr>
            <a:picLocks noChangeAspect="1"/>
          </p:cNvPicPr>
          <p:nvPr/>
        </p:nvPicPr>
        <p:blipFill>
          <a:blip r:embed="rId3"/>
          <a:stretch>
            <a:fillRect/>
          </a:stretch>
        </p:blipFill>
        <p:spPr>
          <a:xfrm>
            <a:off x="914400" y="2018791"/>
            <a:ext cx="3454400" cy="2210816"/>
          </a:xfrm>
          <a:prstGeom prst="rect">
            <a:avLst/>
          </a:prstGeom>
        </p:spPr>
      </p:pic>
      <p:sp>
        <p:nvSpPr>
          <p:cNvPr id="9" name="TextBox 8"/>
          <p:cNvSpPr txBox="1"/>
          <p:nvPr/>
        </p:nvSpPr>
        <p:spPr>
          <a:xfrm>
            <a:off x="939800" y="4959350"/>
            <a:ext cx="3403600" cy="254000"/>
          </a:xfrm>
          <a:prstGeom prst="rect">
            <a:avLst/>
          </a:prstGeom>
          <a:noFill/>
        </p:spPr>
        <p:txBody>
          <a:bodyPr wrap="square" lIns="0" rIns="0" tIns="0" bIns="0">
            <a:spAutoFit/>
          </a:bodyPr>
          <a:lstStyle/>
          <a:p>
            <a:pPr algn="ctr"/>
            <a:r>
              <a:rPr sz="1600" b="1">
                <a:solidFill>
                  <a:srgbClr val="13294B"/>
                </a:solidFill>
                <a:latin typeface="Calibri"/>
              </a:rPr>
              <a:t>T2 MRI and ADC before and after IMRT</a:t>
            </a:r>
          </a:p>
        </p:txBody>
      </p:sp>
      <p:sp>
        <p:nvSpPr>
          <p:cNvPr id="10" name="Right Arrow 9"/>
          <p:cNvSpPr/>
          <p:nvPr/>
        </p:nvSpPr>
        <p:spPr>
          <a:xfrm>
            <a:off x="4502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24400" y="1301750"/>
            <a:ext cx="33274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9-mod.jpg"/>
          <p:cNvPicPr>
            <a:picLocks noChangeAspect="1"/>
          </p:cNvPicPr>
          <p:nvPr/>
        </p:nvPicPr>
        <p:blipFill>
          <a:blip r:embed="rId4"/>
          <a:stretch>
            <a:fillRect/>
          </a:stretch>
        </p:blipFill>
        <p:spPr>
          <a:xfrm>
            <a:off x="5271872" y="1403350"/>
            <a:ext cx="2232454" cy="3441700"/>
          </a:xfrm>
          <a:prstGeom prst="rect">
            <a:avLst/>
          </a:prstGeom>
        </p:spPr>
      </p:pic>
      <p:sp>
        <p:nvSpPr>
          <p:cNvPr id="13" name="TextBox 12"/>
          <p:cNvSpPr txBox="1"/>
          <p:nvPr/>
        </p:nvSpPr>
        <p:spPr>
          <a:xfrm>
            <a:off x="4851400" y="4959350"/>
            <a:ext cx="3073400" cy="254000"/>
          </a:xfrm>
          <a:prstGeom prst="rect">
            <a:avLst/>
          </a:prstGeom>
          <a:noFill/>
        </p:spPr>
        <p:txBody>
          <a:bodyPr wrap="square" lIns="0" rIns="0" tIns="0" bIns="0">
            <a:spAutoFit/>
          </a:bodyPr>
          <a:lstStyle/>
          <a:p>
            <a:pPr algn="ctr"/>
            <a:r>
              <a:rPr sz="1600" b="1">
                <a:solidFill>
                  <a:srgbClr val="13294B"/>
                </a:solidFill>
                <a:latin typeface="Calibri"/>
              </a:rPr>
              <a:t>1,135 features, seven classifiers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AUC</a:t>
            </a:r>
          </a:p>
        </p:txBody>
      </p:sp>
      <p:graphicFrame>
        <p:nvGraphicFramePr>
          <p:cNvPr id="17" name="Table 16"/>
          <p:cNvGraphicFramePr>
            <a:graphicFrameLocks noGrp="1"/>
          </p:cNvGraphicFramePr>
          <p:nvPr/>
        </p:nvGraphicFramePr>
        <p:xfrm>
          <a:off x="8331200" y="1936750"/>
          <a:ext cx="2921000" cy="1168400"/>
        </p:xfrm>
        <a:graphic>
          <a:graphicData uri="http://schemas.openxmlformats.org/drawingml/2006/table">
            <a:tbl>
              <a:tblPr firstRow="1" bandRow="1">
                <a:tableStyleId>{5C22544A-7EE6-4342-B048-85BDC9FD1C3A}</a:tableStyleId>
              </a:tblPr>
              <a:tblGrid>
                <a:gridCol w="1343660"/>
                <a:gridCol w="788670"/>
                <a:gridCol w="788670"/>
              </a:tblGrid>
              <a:tr h="292100">
                <a:tc>
                  <a:txBody>
                    <a:bodyPr/>
                    <a:lstStyle/>
                    <a:p>
                      <a:r>
                        <a:rPr sz="1300" b="1">
                          <a:solidFill>
                            <a:srgbClr val="FFFFFF"/>
                          </a:solidFill>
                          <a:latin typeface="Calibri"/>
                        </a:rPr>
                        <a:t>Task</a:t>
                      </a:r>
                    </a:p>
                  </a:txBody>
                  <a:tcPr marL="63500" marR="63500" marT="25400" marB="25400">
                    <a:solidFill>
                      <a:srgbClr val="1F5FA8"/>
                    </a:solidFill>
                  </a:tcPr>
                </a:tc>
                <a:tc>
                  <a:txBody>
                    <a:bodyPr/>
                    <a:lstStyle/>
                    <a:p>
                      <a:pPr algn="ctr"/>
                      <a:r>
                        <a:rPr sz="1300" b="1">
                          <a:solidFill>
                            <a:srgbClr val="FFFFFF"/>
                          </a:solidFill>
                          <a:latin typeface="Calibri"/>
                        </a:rPr>
                        <a:t>T2w</a:t>
                      </a:r>
                    </a:p>
                  </a:txBody>
                  <a:tcPr marL="63500" marR="63500" marT="25400" marB="25400">
                    <a:solidFill>
                      <a:srgbClr val="1F5FA8"/>
                    </a:solidFill>
                  </a:tcPr>
                </a:tc>
                <a:tc>
                  <a:txBody>
                    <a:bodyPr/>
                    <a:lstStyle/>
                    <a:p>
                      <a:pPr algn="ctr"/>
                      <a:r>
                        <a:rPr sz="1300" b="1">
                          <a:solidFill>
                            <a:srgbClr val="FFFFFF"/>
                          </a:solidFill>
                          <a:latin typeface="Calibri"/>
                        </a:rPr>
                        <a:t>ADC</a:t>
                      </a:r>
                    </a:p>
                  </a:txBody>
                  <a:tcPr marL="63500" marR="63500" marT="25400" marB="25400">
                    <a:solidFill>
                      <a:srgbClr val="1F5FA8"/>
                    </a:solidFill>
                  </a:tcPr>
                </a:tc>
              </a:tr>
              <a:tr h="292100">
                <a:tc>
                  <a:txBody>
                    <a:bodyPr/>
                    <a:lstStyle/>
                    <a:p>
                      <a:r>
                        <a:rPr sz="1300" b="0">
                          <a:solidFill>
                            <a:srgbClr val="13294B"/>
                          </a:solidFill>
                          <a:latin typeface="Calibri"/>
                        </a:rPr>
                        <a:t>IMRT response</a:t>
                      </a:r>
                    </a:p>
                  </a:txBody>
                  <a:tcPr marL="63500" marR="63500" marT="25400" marB="25400">
                    <a:solidFill>
                      <a:srgbClr val="FFFFFF"/>
                    </a:solidFill>
                  </a:tcPr>
                </a:tc>
                <a:tc>
                  <a:txBody>
                    <a:bodyPr/>
                    <a:lstStyle/>
                    <a:p>
                      <a:pPr algn="ctr"/>
                      <a:r>
                        <a:rPr sz="1300" b="0">
                          <a:solidFill>
                            <a:srgbClr val="13294B"/>
                          </a:solidFill>
                          <a:latin typeface="Calibri"/>
                        </a:rPr>
                        <a:t>0.78</a:t>
                      </a:r>
                    </a:p>
                  </a:txBody>
                  <a:tcPr marL="63500" marR="63500" marT="25400" marB="25400">
                    <a:solidFill>
                      <a:srgbClr val="FFFFFF"/>
                    </a:solidFill>
                  </a:tcPr>
                </a:tc>
                <a:tc>
                  <a:txBody>
                    <a:bodyPr/>
                    <a:lstStyle/>
                    <a:p>
                      <a:pPr algn="ctr"/>
                      <a:r>
                        <a:rPr sz="1300" b="0">
                          <a:solidFill>
                            <a:srgbClr val="13294B"/>
                          </a:solidFill>
                          <a:latin typeface="Calibri"/>
                        </a:rPr>
                        <a:t>0.77</a:t>
                      </a:r>
                    </a:p>
                  </a:txBody>
                  <a:tcPr marL="63500" marR="63500" marT="25400" marB="25400">
                    <a:solidFill>
                      <a:srgbClr val="FFFFFF"/>
                    </a:solidFill>
                  </a:tcPr>
                </a:tc>
              </a:tr>
              <a:tr h="292100">
                <a:tc>
                  <a:txBody>
                    <a:bodyPr/>
                    <a:lstStyle/>
                    <a:p>
                      <a:r>
                        <a:rPr sz="1300" b="0">
                          <a:solidFill>
                            <a:srgbClr val="13294B"/>
                          </a:solidFill>
                          <a:latin typeface="Calibri"/>
                        </a:rPr>
                        <a:t>Gleason</a:t>
                      </a:r>
                    </a:p>
                  </a:txBody>
                  <a:tcPr marL="63500" marR="63500" marT="25400" marB="25400">
                    <a:solidFill>
                      <a:srgbClr val="F3F6FB"/>
                    </a:solidFill>
                  </a:tcPr>
                </a:tc>
                <a:tc>
                  <a:txBody>
                    <a:bodyPr/>
                    <a:lstStyle/>
                    <a:p>
                      <a:pPr algn="ctr"/>
                      <a:r>
                        <a:rPr sz="1300" b="0">
                          <a:solidFill>
                            <a:srgbClr val="13294B"/>
                          </a:solidFill>
                          <a:latin typeface="Calibri"/>
                        </a:rPr>
                        <a:t>0.739</a:t>
                      </a:r>
                    </a:p>
                  </a:txBody>
                  <a:tcPr marL="63500" marR="63500" marT="25400" marB="25400">
                    <a:solidFill>
                      <a:srgbClr val="F3F6FB"/>
                    </a:solidFill>
                  </a:tcPr>
                </a:tc>
                <a:tc>
                  <a:txBody>
                    <a:bodyPr/>
                    <a:lstStyle/>
                    <a:p>
                      <a:pPr algn="ctr"/>
                      <a:r>
                        <a:rPr sz="1300" b="0">
                          <a:solidFill>
                            <a:srgbClr val="13294B"/>
                          </a:solidFill>
                          <a:latin typeface="Calibri"/>
                        </a:rPr>
                        <a:t>0.700</a:t>
                      </a:r>
                    </a:p>
                  </a:txBody>
                  <a:tcPr marL="63500" marR="63500" marT="25400" marB="25400">
                    <a:solidFill>
                      <a:srgbClr val="F3F6FB"/>
                    </a:solidFill>
                  </a:tcPr>
                </a:tc>
              </a:tr>
              <a:tr h="292100">
                <a:tc>
                  <a:txBody>
                    <a:bodyPr/>
                    <a:lstStyle/>
                    <a:p>
                      <a:r>
                        <a:rPr sz="1300" b="0">
                          <a:solidFill>
                            <a:srgbClr val="13294B"/>
                          </a:solidFill>
                          <a:latin typeface="Calibri"/>
                        </a:rPr>
                        <a:t>Stage</a:t>
                      </a:r>
                    </a:p>
                  </a:txBody>
                  <a:tcPr marL="63500" marR="63500" marT="25400" marB="25400">
                    <a:solidFill>
                      <a:srgbClr val="FFFFFF"/>
                    </a:solidFill>
                  </a:tcPr>
                </a:tc>
                <a:tc>
                  <a:txBody>
                    <a:bodyPr/>
                    <a:lstStyle/>
                    <a:p>
                      <a:pPr algn="ctr"/>
                      <a:r>
                        <a:rPr sz="1300" b="0">
                          <a:solidFill>
                            <a:srgbClr val="13294B"/>
                          </a:solidFill>
                          <a:latin typeface="Calibri"/>
                        </a:rPr>
                        <a:t>0.625</a:t>
                      </a:r>
                    </a:p>
                  </a:txBody>
                  <a:tcPr marL="63500" marR="63500" marT="25400" marB="25400">
                    <a:solidFill>
                      <a:srgbClr val="FFFFFF"/>
                    </a:solidFill>
                  </a:tcPr>
                </a:tc>
                <a:tc>
                  <a:txBody>
                    <a:bodyPr/>
                    <a:lstStyle/>
                    <a:p>
                      <a:pPr algn="ctr"/>
                      <a:r>
                        <a:rPr sz="1300" b="0">
                          <a:solidFill>
                            <a:srgbClr val="13294B"/>
                          </a:solidFill>
                          <a:latin typeface="Calibri"/>
                        </a:rPr>
                        <a:t>0.675</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Response: best model; Gleason, stage: mean AUC. Responder = ADC rise &gt;20%</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MRI radiomics for response and tumour characterization</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COCHLEAR CT RADIOMICS · TOXICITY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Predicting radiation-induced hearing loss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Physica Medica · doi:10.1016/j.ejmp.2017.10.008</a:t>
            </a:r>
          </a:p>
        </p:txBody>
      </p:sp>
      <p:sp>
        <p:nvSpPr>
          <p:cNvPr id="7" name="Rounded Rectangle 6"/>
          <p:cNvSpPr/>
          <p:nvPr/>
        </p:nvSpPr>
        <p:spPr>
          <a:xfrm>
            <a:off x="812800" y="1301750"/>
            <a:ext cx="36576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0-img.jpg"/>
          <p:cNvPicPr>
            <a:picLocks noChangeAspect="1"/>
          </p:cNvPicPr>
          <p:nvPr/>
        </p:nvPicPr>
        <p:blipFill>
          <a:blip r:embed="rId3"/>
          <a:stretch>
            <a:fillRect/>
          </a:stretch>
        </p:blipFill>
        <p:spPr>
          <a:xfrm>
            <a:off x="914400" y="2360246"/>
            <a:ext cx="3454400" cy="1527907"/>
          </a:xfrm>
          <a:prstGeom prst="rect">
            <a:avLst/>
          </a:prstGeom>
        </p:spPr>
      </p:pic>
      <p:sp>
        <p:nvSpPr>
          <p:cNvPr id="9" name="TextBox 8"/>
          <p:cNvSpPr txBox="1"/>
          <p:nvPr/>
        </p:nvSpPr>
        <p:spPr>
          <a:xfrm>
            <a:off x="939800" y="4959350"/>
            <a:ext cx="3403600" cy="254000"/>
          </a:xfrm>
          <a:prstGeom prst="rect">
            <a:avLst/>
          </a:prstGeom>
          <a:noFill/>
        </p:spPr>
        <p:txBody>
          <a:bodyPr wrap="square" lIns="0" rIns="0" tIns="0" bIns="0">
            <a:spAutoFit/>
          </a:bodyPr>
          <a:lstStyle/>
          <a:p>
            <a:pPr algn="ctr"/>
            <a:r>
              <a:rPr sz="1600" b="1">
                <a:solidFill>
                  <a:srgbClr val="13294B"/>
                </a:solidFill>
                <a:latin typeface="Calibri"/>
              </a:rPr>
              <a:t>Cochlear CT, 47 patients</a:t>
            </a:r>
          </a:p>
        </p:txBody>
      </p:sp>
      <p:sp>
        <p:nvSpPr>
          <p:cNvPr id="10" name="Right Arrow 9"/>
          <p:cNvSpPr/>
          <p:nvPr/>
        </p:nvSpPr>
        <p:spPr>
          <a:xfrm>
            <a:off x="4502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24400" y="1301750"/>
            <a:ext cx="33274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0-mod.jpg"/>
          <p:cNvPicPr>
            <a:picLocks noChangeAspect="1"/>
          </p:cNvPicPr>
          <p:nvPr/>
        </p:nvPicPr>
        <p:blipFill>
          <a:blip r:embed="rId4"/>
          <a:stretch>
            <a:fillRect/>
          </a:stretch>
        </p:blipFill>
        <p:spPr>
          <a:xfrm>
            <a:off x="5307667" y="1403350"/>
            <a:ext cx="2160864" cy="3441700"/>
          </a:xfrm>
          <a:prstGeom prst="rect">
            <a:avLst/>
          </a:prstGeom>
        </p:spPr>
      </p:pic>
      <p:sp>
        <p:nvSpPr>
          <p:cNvPr id="13" name="TextBox 12"/>
          <p:cNvSpPr txBox="1"/>
          <p:nvPr/>
        </p:nvSpPr>
        <p:spPr>
          <a:xfrm>
            <a:off x="4851400" y="4959350"/>
            <a:ext cx="3073400" cy="254000"/>
          </a:xfrm>
          <a:prstGeom prst="rect">
            <a:avLst/>
          </a:prstGeom>
          <a:noFill/>
        </p:spPr>
        <p:txBody>
          <a:bodyPr wrap="square" lIns="0" rIns="0" tIns="0" bIns="0">
            <a:spAutoFit/>
          </a:bodyPr>
          <a:lstStyle/>
          <a:p>
            <a:pPr algn="ctr"/>
            <a:r>
              <a:rPr sz="1600" b="1">
                <a:solidFill>
                  <a:srgbClr val="13294B"/>
                </a:solidFill>
                <a:latin typeface="Calibri"/>
              </a:rPr>
              <a:t>490 features, ML and LASSO</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Hearing-loss prediction</a:t>
            </a:r>
          </a:p>
        </p:txBody>
      </p:sp>
      <p:graphicFrame>
        <p:nvGraphicFramePr>
          <p:cNvPr id="17" name="Table 16"/>
          <p:cNvGraphicFramePr>
            <a:graphicFrameLocks noGrp="1"/>
          </p:cNvGraphicFramePr>
          <p:nvPr/>
        </p:nvGraphicFramePr>
        <p:xfrm>
          <a:off x="8331200" y="1936750"/>
          <a:ext cx="2920999" cy="1752600"/>
        </p:xfrm>
        <a:graphic>
          <a:graphicData uri="http://schemas.openxmlformats.org/drawingml/2006/table">
            <a:tbl>
              <a:tblPr firstRow="1" bandRow="1">
                <a:tableStyleId>{5C22544A-7EE6-4342-B048-85BDC9FD1C3A}</a:tableStyleId>
              </a:tblPr>
              <a:tblGrid>
                <a:gridCol w="1927860"/>
                <a:gridCol w="993139"/>
              </a:tblGrid>
              <a:tr h="292100">
                <a:tc>
                  <a:txBody>
                    <a:bodyPr/>
                    <a:lstStyle/>
                    <a:p>
                      <a:r>
                        <a:rPr sz="1300" b="1">
                          <a:solidFill>
                            <a:srgbClr val="FFFFFF"/>
                          </a:solidFill>
                          <a:latin typeface="Calibri"/>
                        </a:rPr>
                        <a:t>Model</a:t>
                      </a:r>
                    </a:p>
                  </a:txBody>
                  <a:tcPr marL="63500" marR="63500" marT="25400" marB="25400">
                    <a:solidFill>
                      <a:srgbClr val="1F5FA8"/>
                    </a:solidFill>
                  </a:tcPr>
                </a:tc>
                <a:tc>
                  <a:txBody>
                    <a:bodyPr/>
                    <a:lstStyle/>
                    <a:p>
                      <a:pPr algn="ctr"/>
                      <a:r>
                        <a:rPr sz="1300" b="1">
                          <a:solidFill>
                            <a:srgbClr val="FFFFFF"/>
                          </a:solidFill>
                          <a:latin typeface="Calibri"/>
                        </a:rPr>
                        <a:t>Result</a:t>
                      </a:r>
                    </a:p>
                  </a:txBody>
                  <a:tcPr marL="63500" marR="63500" marT="25400" marB="25400">
                    <a:solidFill>
                      <a:srgbClr val="1F5FA8"/>
                    </a:solidFill>
                  </a:tcPr>
                </a:tc>
              </a:tr>
              <a:tr h="292100">
                <a:tc>
                  <a:txBody>
                    <a:bodyPr/>
                    <a:lstStyle/>
                    <a:p>
                      <a:r>
                        <a:rPr sz="1300" b="0">
                          <a:solidFill>
                            <a:srgbClr val="13294B"/>
                          </a:solidFill>
                          <a:latin typeface="Calibri"/>
                        </a:rPr>
                        <a:t>LASSO radiomics, AUC</a:t>
                      </a:r>
                    </a:p>
                  </a:txBody>
                  <a:tcPr marL="63500" marR="63500" marT="25400" marB="25400">
                    <a:solidFill>
                      <a:srgbClr val="FFFFFF"/>
                    </a:solidFill>
                  </a:tcPr>
                </a:tc>
                <a:tc>
                  <a:txBody>
                    <a:bodyPr/>
                    <a:lstStyle/>
                    <a:p>
                      <a:pPr algn="ctr"/>
                      <a:r>
                        <a:rPr sz="1300" b="0">
                          <a:solidFill>
                            <a:srgbClr val="13294B"/>
                          </a:solidFill>
                          <a:latin typeface="Calibri"/>
                        </a:rPr>
                        <a:t>0.885</a:t>
                      </a:r>
                    </a:p>
                  </a:txBody>
                  <a:tcPr marL="63500" marR="63500" marT="25400" marB="25400">
                    <a:solidFill>
                      <a:srgbClr val="FFFFFF"/>
                    </a:solidFill>
                  </a:tcPr>
                </a:tc>
              </a:tr>
              <a:tr h="292100">
                <a:tc>
                  <a:txBody>
                    <a:bodyPr/>
                    <a:lstStyle/>
                    <a:p>
                      <a:r>
                        <a:rPr sz="1300" b="0">
                          <a:solidFill>
                            <a:srgbClr val="13294B"/>
                          </a:solidFill>
                          <a:latin typeface="Calibri"/>
                        </a:rPr>
                        <a:t>ML accuracy</a:t>
                      </a:r>
                    </a:p>
                  </a:txBody>
                  <a:tcPr marL="63500" marR="63500" marT="25400" marB="25400">
                    <a:solidFill>
                      <a:srgbClr val="F3F6FB"/>
                    </a:solidFill>
                  </a:tcPr>
                </a:tc>
                <a:tc>
                  <a:txBody>
                    <a:bodyPr/>
                    <a:lstStyle/>
                    <a:p>
                      <a:pPr algn="ctr"/>
                      <a:r>
                        <a:rPr sz="1300" b="0">
                          <a:solidFill>
                            <a:srgbClr val="13294B"/>
                          </a:solidFill>
                          <a:latin typeface="Calibri"/>
                        </a:rPr>
                        <a:t>76.1%</a:t>
                      </a:r>
                    </a:p>
                  </a:txBody>
                  <a:tcPr marL="63500" marR="63500" marT="25400" marB="25400">
                    <a:solidFill>
                      <a:srgbClr val="F3F6FB"/>
                    </a:solidFill>
                  </a:tcPr>
                </a:tc>
              </a:tr>
              <a:tr h="292100">
                <a:tc>
                  <a:txBody>
                    <a:bodyPr/>
                    <a:lstStyle/>
                    <a:p>
                      <a:r>
                        <a:rPr sz="1300" b="0">
                          <a:solidFill>
                            <a:srgbClr val="13294B"/>
                          </a:solidFill>
                          <a:latin typeface="Calibri"/>
                        </a:rPr>
                        <a:t>ML precision</a:t>
                      </a:r>
                    </a:p>
                  </a:txBody>
                  <a:tcPr marL="63500" marR="63500" marT="25400" marB="25400">
                    <a:solidFill>
                      <a:srgbClr val="FFFFFF"/>
                    </a:solidFill>
                  </a:tcPr>
                </a:tc>
                <a:tc>
                  <a:txBody>
                    <a:bodyPr/>
                    <a:lstStyle/>
                    <a:p>
                      <a:pPr algn="ctr"/>
                      <a:r>
                        <a:rPr sz="1300" b="0">
                          <a:solidFill>
                            <a:srgbClr val="13294B"/>
                          </a:solidFill>
                          <a:latin typeface="Calibri"/>
                        </a:rPr>
                        <a:t>75.9%</a:t>
                      </a:r>
                    </a:p>
                  </a:txBody>
                  <a:tcPr marL="63500" marR="63500" marT="25400" marB="25400">
                    <a:solidFill>
                      <a:srgbClr val="FFFFFF"/>
                    </a:solidFill>
                  </a:tcPr>
                </a:tc>
              </a:tr>
              <a:tr h="292100">
                <a:tc>
                  <a:txBody>
                    <a:bodyPr/>
                    <a:lstStyle/>
                    <a:p>
                      <a:r>
                        <a:rPr sz="1300" b="0">
                          <a:solidFill>
                            <a:srgbClr val="13294B"/>
                          </a:solidFill>
                          <a:latin typeface="Calibri"/>
                        </a:rPr>
                        <a:t>gEUD only, AUC</a:t>
                      </a:r>
                    </a:p>
                  </a:txBody>
                  <a:tcPr marL="63500" marR="63500" marT="25400" marB="25400">
                    <a:solidFill>
                      <a:srgbClr val="F3F6FB"/>
                    </a:solidFill>
                  </a:tcPr>
                </a:tc>
                <a:tc>
                  <a:txBody>
                    <a:bodyPr/>
                    <a:lstStyle/>
                    <a:p>
                      <a:pPr algn="ctr"/>
                      <a:r>
                        <a:rPr sz="1300" b="0">
                          <a:solidFill>
                            <a:srgbClr val="13294B"/>
                          </a:solidFill>
                          <a:latin typeface="Calibri"/>
                        </a:rPr>
                        <a:t>0.79</a:t>
                      </a:r>
                    </a:p>
                  </a:txBody>
                  <a:tcPr marL="63500" marR="63500" marT="25400" marB="25400">
                    <a:solidFill>
                      <a:srgbClr val="F3F6FB"/>
                    </a:solidFill>
                  </a:tcPr>
                </a:tc>
              </a:tr>
              <a:tr h="292100">
                <a:tc>
                  <a:txBody>
                    <a:bodyPr/>
                    <a:lstStyle/>
                    <a:p>
                      <a:r>
                        <a:rPr sz="1300" b="0">
                          <a:solidFill>
                            <a:srgbClr val="13294B"/>
                          </a:solidFill>
                          <a:latin typeface="Calibri"/>
                        </a:rPr>
                        <a:t>gEUD only, accuracy</a:t>
                      </a:r>
                    </a:p>
                  </a:txBody>
                  <a:tcPr marL="63500" marR="63500" marT="25400" marB="25400">
                    <a:solidFill>
                      <a:srgbClr val="FFFFFF"/>
                    </a:solidFill>
                  </a:tcPr>
                </a:tc>
                <a:tc>
                  <a:txBody>
                    <a:bodyPr/>
                    <a:lstStyle/>
                    <a:p>
                      <a:pPr algn="ctr"/>
                      <a:r>
                        <a:rPr sz="1300" b="0">
                          <a:solidFill>
                            <a:srgbClr val="13294B"/>
                          </a:solidFill>
                          <a:latin typeface="Calibri"/>
                        </a:rPr>
                        <a:t>72%</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37 of 94 ears with SNHL</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Imaging the cochlea to predict hearing loss</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RADIOGENOMICS · GLIOBLASTOMA</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MRI radiomics for MGMT promoter methylation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Hajianfar et al., World Neurosurgery 2019</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1-img.jpg"/>
          <p:cNvPicPr>
            <a:picLocks noChangeAspect="1"/>
          </p:cNvPicPr>
          <p:nvPr/>
        </p:nvPicPr>
        <p:blipFill>
          <a:blip r:embed="rId3"/>
          <a:stretch>
            <a:fillRect/>
          </a:stretch>
        </p:blipFill>
        <p:spPr>
          <a:xfrm>
            <a:off x="1052285" y="1403350"/>
            <a:ext cx="2950028" cy="3441700"/>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MRI tumour sub-regions, 82 patients</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1-mod.jpg"/>
          <p:cNvPicPr>
            <a:picLocks noChangeAspect="1"/>
          </p:cNvPicPr>
          <p:nvPr/>
        </p:nvPicPr>
        <p:blipFill>
          <a:blip r:embed="rId4"/>
          <a:stretch>
            <a:fillRect/>
          </a:stretch>
        </p:blipFill>
        <p:spPr>
          <a:xfrm>
            <a:off x="5125016" y="1403350"/>
            <a:ext cx="2297567"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41 image sets, 12 classifiers</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AUC, 10-fold CV</a:t>
            </a:r>
          </a:p>
        </p:txBody>
      </p:sp>
      <p:graphicFrame>
        <p:nvGraphicFramePr>
          <p:cNvPr id="17" name="Table 16"/>
          <p:cNvGraphicFramePr>
            <a:graphicFrameLocks noGrp="1"/>
          </p:cNvGraphicFramePr>
          <p:nvPr/>
        </p:nvGraphicFramePr>
        <p:xfrm>
          <a:off x="8331200" y="1936750"/>
          <a:ext cx="2920999" cy="1168400"/>
        </p:xfrm>
        <a:graphic>
          <a:graphicData uri="http://schemas.openxmlformats.org/drawingml/2006/table">
            <a:tbl>
              <a:tblPr firstRow="1" bandRow="1">
                <a:tableStyleId>{5C22544A-7EE6-4342-B048-85BDC9FD1C3A}</a:tableStyleId>
              </a:tblPr>
              <a:tblGrid>
                <a:gridCol w="1927860"/>
                <a:gridCol w="993139"/>
              </a:tblGrid>
              <a:tr h="292100">
                <a:tc>
                  <a:txBody>
                    <a:bodyPr/>
                    <a:lstStyle/>
                    <a:p>
                      <a:r>
                        <a:rPr sz="1300" b="1">
                          <a:solidFill>
                            <a:srgbClr val="FFFFFF"/>
                          </a:solidFill>
                          <a:latin typeface="Calibri"/>
                        </a:rPr>
                        <a:t>Model</a:t>
                      </a:r>
                    </a:p>
                  </a:txBody>
                  <a:tcPr marL="63500" marR="63500" marT="25400" marB="25400">
                    <a:solidFill>
                      <a:srgbClr val="1F5FA8"/>
                    </a:solidFill>
                  </a:tcPr>
                </a:tc>
                <a:tc>
                  <a:txBody>
                    <a:bodyPr/>
                    <a:lstStyle/>
                    <a:p>
                      <a:pPr algn="ctr"/>
                      <a:r>
                        <a:rPr sz="1300" b="1">
                          <a:solidFill>
                            <a:srgbClr val="FFFFFF"/>
                          </a:solidFill>
                          <a:latin typeface="Calibri"/>
                        </a:rPr>
                        <a:t>AUC</a:t>
                      </a:r>
                    </a:p>
                  </a:txBody>
                  <a:tcPr marL="63500" marR="63500" marT="25400" marB="25400">
                    <a:solidFill>
                      <a:srgbClr val="1F5FA8"/>
                    </a:solidFill>
                  </a:tcPr>
                </a:tc>
              </a:tr>
              <a:tr h="292100">
                <a:tc>
                  <a:txBody>
                    <a:bodyPr/>
                    <a:lstStyle/>
                    <a:p>
                      <a:r>
                        <a:rPr sz="1300" b="0">
                          <a:solidFill>
                            <a:srgbClr val="13294B"/>
                          </a:solidFill>
                          <a:latin typeface="Calibri"/>
                        </a:rPr>
                        <a:t>Decision tree, edema</a:t>
                      </a:r>
                    </a:p>
                  </a:txBody>
                  <a:tcPr marL="63500" marR="63500" marT="25400" marB="25400">
                    <a:solidFill>
                      <a:srgbClr val="FFFFFF"/>
                    </a:solidFill>
                  </a:tcPr>
                </a:tc>
                <a:tc>
                  <a:txBody>
                    <a:bodyPr/>
                    <a:lstStyle/>
                    <a:p>
                      <a:pPr algn="ctr"/>
                      <a:r>
                        <a:rPr sz="1300" b="0">
                          <a:solidFill>
                            <a:srgbClr val="13294B"/>
                          </a:solidFill>
                          <a:latin typeface="Calibri"/>
                        </a:rPr>
                        <a:t>0.78</a:t>
                      </a:r>
                    </a:p>
                  </a:txBody>
                  <a:tcPr marL="63500" marR="63500" marT="25400" marB="25400">
                    <a:solidFill>
                      <a:srgbClr val="FFFFFF"/>
                    </a:solidFill>
                  </a:tcPr>
                </a:tc>
              </a:tr>
              <a:tr h="292100">
                <a:tc>
                  <a:txBody>
                    <a:bodyPr/>
                    <a:lstStyle/>
                    <a:p>
                      <a:r>
                        <a:rPr sz="1300" b="0">
                          <a:solidFill>
                            <a:srgbClr val="13294B"/>
                          </a:solidFill>
                          <a:latin typeface="Calibri"/>
                        </a:rPr>
                        <a:t>AdaBoost, edema</a:t>
                      </a:r>
                    </a:p>
                  </a:txBody>
                  <a:tcPr marL="63500" marR="63500" marT="25400" marB="25400">
                    <a:solidFill>
                      <a:srgbClr val="F3F6FB"/>
                    </a:solidFill>
                  </a:tcPr>
                </a:tc>
                <a:tc>
                  <a:txBody>
                    <a:bodyPr/>
                    <a:lstStyle/>
                    <a:p>
                      <a:pPr algn="ctr"/>
                      <a:r>
                        <a:rPr sz="1300" b="0">
                          <a:solidFill>
                            <a:srgbClr val="13294B"/>
                          </a:solidFill>
                          <a:latin typeface="Calibri"/>
                        </a:rPr>
                        <a:t>0.74</a:t>
                      </a:r>
                    </a:p>
                  </a:txBody>
                  <a:tcPr marL="63500" marR="63500" marT="25400" marB="25400">
                    <a:solidFill>
                      <a:srgbClr val="F3F6FB"/>
                    </a:solidFill>
                  </a:tcPr>
                </a:tc>
              </a:tr>
              <a:tr h="292100">
                <a:tc>
                  <a:txBody>
                    <a:bodyPr/>
                    <a:lstStyle/>
                    <a:p>
                      <a:r>
                        <a:rPr sz="1300" b="0">
                          <a:solidFill>
                            <a:srgbClr val="13294B"/>
                          </a:solidFill>
                          <a:latin typeface="Calibri"/>
                        </a:rPr>
                        <a:t>Best single feature (GLCM)</a:t>
                      </a:r>
                    </a:p>
                  </a:txBody>
                  <a:tcPr marL="63500" marR="63500" marT="25400" marB="25400">
                    <a:solidFill>
                      <a:srgbClr val="FFFFFF"/>
                    </a:solidFill>
                  </a:tcPr>
                </a:tc>
                <a:tc>
                  <a:txBody>
                    <a:bodyPr/>
                    <a:lstStyle/>
                    <a:p>
                      <a:pPr algn="ctr"/>
                      <a:r>
                        <a:rPr sz="1300" b="0">
                          <a:solidFill>
                            <a:srgbClr val="13294B"/>
                          </a:solidFill>
                          <a:latin typeface="Calibri"/>
                        </a:rPr>
                        <a:t>0.71</a:t>
                      </a:r>
                    </a:p>
                  </a:txBody>
                  <a:tcPr marL="63500" marR="63500" marT="25400" marB="25400">
                    <a:solidFill>
                      <a:srgbClr val="FFFFFF"/>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45 methylated, 37 unmethylated</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Non-invasive MGMT status from MRI</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DEEP LEARNING · IMAGE QUALITY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Deep learning for ultra-low-dose chest CT</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Shiri et al., Eur Radiol (2021) 31:1420–1431</a:t>
            </a:r>
          </a:p>
        </p:txBody>
      </p:sp>
      <p:sp>
        <p:nvSpPr>
          <p:cNvPr id="7" name="Rounded Rectangle 6"/>
          <p:cNvSpPr/>
          <p:nvPr/>
        </p:nvSpPr>
        <p:spPr>
          <a:xfrm>
            <a:off x="812800" y="1301750"/>
            <a:ext cx="3429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2-img.jpg"/>
          <p:cNvPicPr>
            <a:picLocks noChangeAspect="1"/>
          </p:cNvPicPr>
          <p:nvPr/>
        </p:nvPicPr>
        <p:blipFill>
          <a:blip r:embed="rId3"/>
          <a:stretch>
            <a:fillRect/>
          </a:stretch>
        </p:blipFill>
        <p:spPr>
          <a:xfrm>
            <a:off x="914400" y="2484160"/>
            <a:ext cx="3225800" cy="1280079"/>
          </a:xfrm>
          <a:prstGeom prst="rect">
            <a:avLst/>
          </a:prstGeom>
        </p:spPr>
      </p:pic>
      <p:sp>
        <p:nvSpPr>
          <p:cNvPr id="9" name="TextBox 8"/>
          <p:cNvSpPr txBox="1"/>
          <p:nvPr/>
        </p:nvSpPr>
        <p:spPr>
          <a:xfrm>
            <a:off x="939800" y="4959350"/>
            <a:ext cx="3175000" cy="254000"/>
          </a:xfrm>
          <a:prstGeom prst="rect">
            <a:avLst/>
          </a:prstGeom>
          <a:noFill/>
        </p:spPr>
        <p:txBody>
          <a:bodyPr wrap="square" lIns="0" rIns="0" tIns="0" bIns="0">
            <a:spAutoFit/>
          </a:bodyPr>
          <a:lstStyle/>
          <a:p>
            <a:pPr algn="ctr"/>
            <a:r>
              <a:rPr sz="1600" b="1">
                <a:solidFill>
                  <a:srgbClr val="13294B"/>
                </a:solidFill>
                <a:latin typeface="Calibri"/>
              </a:rPr>
              <a:t>1,141 chest CTs, 9 centres</a:t>
            </a:r>
          </a:p>
        </p:txBody>
      </p:sp>
      <p:sp>
        <p:nvSpPr>
          <p:cNvPr id="10" name="Right Arrow 9"/>
          <p:cNvSpPr/>
          <p:nvPr/>
        </p:nvSpPr>
        <p:spPr>
          <a:xfrm>
            <a:off x="4273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95800" y="1301750"/>
            <a:ext cx="3556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2-mod.jpg"/>
          <p:cNvPicPr>
            <a:picLocks noChangeAspect="1"/>
          </p:cNvPicPr>
          <p:nvPr/>
        </p:nvPicPr>
        <p:blipFill>
          <a:blip r:embed="rId4"/>
          <a:stretch>
            <a:fillRect/>
          </a:stretch>
        </p:blipFill>
        <p:spPr>
          <a:xfrm>
            <a:off x="4897120" y="1403350"/>
            <a:ext cx="2753360" cy="3441700"/>
          </a:xfrm>
          <a:prstGeom prst="rect">
            <a:avLst/>
          </a:prstGeom>
        </p:spPr>
      </p:pic>
      <p:sp>
        <p:nvSpPr>
          <p:cNvPr id="13" name="TextBox 12"/>
          <p:cNvSpPr txBox="1"/>
          <p:nvPr/>
        </p:nvSpPr>
        <p:spPr>
          <a:xfrm>
            <a:off x="4622800" y="4959350"/>
            <a:ext cx="3302000" cy="254000"/>
          </a:xfrm>
          <a:prstGeom prst="rect">
            <a:avLst/>
          </a:prstGeom>
          <a:noFill/>
        </p:spPr>
        <p:txBody>
          <a:bodyPr wrap="square" lIns="0" rIns="0" tIns="0" bIns="0">
            <a:spAutoFit/>
          </a:bodyPr>
          <a:lstStyle/>
          <a:p>
            <a:pPr algn="ctr"/>
            <a:r>
              <a:rPr sz="1600" b="1">
                <a:solidFill>
                  <a:srgbClr val="13294B"/>
                </a:solidFill>
                <a:latin typeface="Calibri"/>
              </a:rPr>
              <a:t>Residual network: low → full dose</a:t>
            </a:r>
          </a:p>
        </p:txBody>
      </p:sp>
      <p:sp>
        <p:nvSpPr>
          <p:cNvPr id="14" name="Rounded Rectangle 13"/>
          <p:cNvSpPr/>
          <p:nvPr/>
        </p:nvSpPr>
        <p:spPr>
          <a:xfrm>
            <a:off x="8204200" y="1301750"/>
            <a:ext cx="3175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600" y="1441450"/>
            <a:ext cx="2870200" cy="228600"/>
          </a:xfrm>
          <a:prstGeom prst="rect">
            <a:avLst/>
          </a:prstGeom>
          <a:noFill/>
        </p:spPr>
        <p:txBody>
          <a:bodyPr wrap="square" lIns="0" rIns="0" tIns="0" bIns="0">
            <a:spAutoFit/>
          </a:bodyPr>
          <a:lstStyle/>
          <a:p>
            <a:r>
              <a:rPr sz="1800" b="1">
                <a:solidFill>
                  <a:srgbClr val="1F5FA8"/>
                </a:solidFill>
                <a:latin typeface="Calibri"/>
              </a:rPr>
              <a:t>Results</a:t>
            </a:r>
          </a:p>
        </p:txBody>
      </p:sp>
      <p:sp>
        <p:nvSpPr>
          <p:cNvPr id="16" name="TextBox 15"/>
          <p:cNvSpPr txBox="1"/>
          <p:nvPr/>
        </p:nvSpPr>
        <p:spPr>
          <a:xfrm>
            <a:off x="8356600" y="1682750"/>
            <a:ext cx="2870200" cy="190500"/>
          </a:xfrm>
          <a:prstGeom prst="rect">
            <a:avLst/>
          </a:prstGeom>
          <a:noFill/>
        </p:spPr>
        <p:txBody>
          <a:bodyPr wrap="square" lIns="0" rIns="0" tIns="0" bIns="0">
            <a:spAutoFit/>
          </a:bodyPr>
          <a:lstStyle/>
          <a:p>
            <a:r>
              <a:rPr sz="1300" b="0">
                <a:solidFill>
                  <a:srgbClr val="4A5568"/>
                </a:solidFill>
                <a:latin typeface="Calibri"/>
              </a:rPr>
              <a:t>External validation</a:t>
            </a:r>
          </a:p>
        </p:txBody>
      </p:sp>
      <p:graphicFrame>
        <p:nvGraphicFramePr>
          <p:cNvPr id="17" name="Table 16"/>
          <p:cNvGraphicFramePr>
            <a:graphicFrameLocks noGrp="1"/>
          </p:cNvGraphicFramePr>
          <p:nvPr/>
        </p:nvGraphicFramePr>
        <p:xfrm>
          <a:off x="8331200" y="1936750"/>
          <a:ext cx="2921000" cy="1460500"/>
        </p:xfrm>
        <a:graphic>
          <a:graphicData uri="http://schemas.openxmlformats.org/drawingml/2006/table">
            <a:tbl>
              <a:tblPr firstRow="1" bandRow="1">
                <a:tableStyleId>{5C22544A-7EE6-4342-B048-85BDC9FD1C3A}</a:tableStyleId>
              </a:tblPr>
              <a:tblGrid>
                <a:gridCol w="1343660"/>
                <a:gridCol w="788670"/>
                <a:gridCol w="788670"/>
              </a:tblGrid>
              <a:tr h="292100">
                <a:tc>
                  <a:txBody>
                    <a:bodyPr/>
                    <a:lstStyle/>
                    <a:p>
                      <a:r>
                        <a:rPr sz="1300" b="1">
                          <a:solidFill>
                            <a:srgbClr val="FFFFFF"/>
                          </a:solidFill>
                          <a:latin typeface="Calibri"/>
                        </a:rPr>
                        <a:t>Metric</a:t>
                      </a:r>
                    </a:p>
                  </a:txBody>
                  <a:tcPr marL="63500" marR="63500" marT="25400" marB="25400">
                    <a:solidFill>
                      <a:srgbClr val="1F5FA8"/>
                    </a:solidFill>
                  </a:tcPr>
                </a:tc>
                <a:tc>
                  <a:txBody>
                    <a:bodyPr/>
                    <a:lstStyle/>
                    <a:p>
                      <a:pPr algn="ctr"/>
                      <a:r>
                        <a:rPr sz="1300" b="1">
                          <a:solidFill>
                            <a:srgbClr val="FFFFFF"/>
                          </a:solidFill>
                          <a:latin typeface="Calibri"/>
                        </a:rPr>
                        <a:t>ULD CT</a:t>
                      </a:r>
                    </a:p>
                  </a:txBody>
                  <a:tcPr marL="63500" marR="63500" marT="25400" marB="25400">
                    <a:solidFill>
                      <a:srgbClr val="1F5FA8"/>
                    </a:solidFill>
                  </a:tcPr>
                </a:tc>
                <a:tc>
                  <a:txBody>
                    <a:bodyPr/>
                    <a:lstStyle/>
                    <a:p>
                      <a:pPr algn="ctr"/>
                      <a:r>
                        <a:rPr sz="1300" b="1">
                          <a:solidFill>
                            <a:srgbClr val="FFFFFF"/>
                          </a:solidFill>
                          <a:latin typeface="Calibri"/>
                        </a:rPr>
                        <a:t>DL CT</a:t>
                      </a:r>
                    </a:p>
                  </a:txBody>
                  <a:tcPr marL="63500" marR="63500" marT="25400" marB="25400">
                    <a:solidFill>
                      <a:srgbClr val="1F5FA8"/>
                    </a:solidFill>
                  </a:tcPr>
                </a:tc>
              </a:tr>
              <a:tr h="292100">
                <a:tc>
                  <a:txBody>
                    <a:bodyPr/>
                    <a:lstStyle/>
                    <a:p>
                      <a:r>
                        <a:rPr sz="1300" b="0">
                          <a:solidFill>
                            <a:srgbClr val="13294B"/>
                          </a:solidFill>
                          <a:latin typeface="Calibri"/>
                        </a:rPr>
                        <a:t>RMSE</a:t>
                      </a:r>
                    </a:p>
                  </a:txBody>
                  <a:tcPr marL="63500" marR="63500" marT="25400" marB="25400">
                    <a:solidFill>
                      <a:srgbClr val="FFFFFF"/>
                    </a:solidFill>
                  </a:tcPr>
                </a:tc>
                <a:tc>
                  <a:txBody>
                    <a:bodyPr/>
                    <a:lstStyle/>
                    <a:p>
                      <a:pPr algn="ctr"/>
                      <a:r>
                        <a:rPr sz="1300" b="0">
                          <a:solidFill>
                            <a:srgbClr val="13294B"/>
                          </a:solidFill>
                          <a:latin typeface="Calibri"/>
                        </a:rPr>
                        <a:t>0.16</a:t>
                      </a:r>
                    </a:p>
                  </a:txBody>
                  <a:tcPr marL="63500" marR="63500" marT="25400" marB="25400">
                    <a:solidFill>
                      <a:srgbClr val="FFFFFF"/>
                    </a:solidFill>
                  </a:tcPr>
                </a:tc>
                <a:tc>
                  <a:txBody>
                    <a:bodyPr/>
                    <a:lstStyle/>
                    <a:p>
                      <a:pPr algn="ctr"/>
                      <a:r>
                        <a:rPr sz="1300" b="0">
                          <a:solidFill>
                            <a:srgbClr val="13294B"/>
                          </a:solidFill>
                          <a:latin typeface="Calibri"/>
                        </a:rPr>
                        <a:t>0.08</a:t>
                      </a:r>
                    </a:p>
                  </a:txBody>
                  <a:tcPr marL="63500" marR="63500" marT="25400" marB="25400">
                    <a:solidFill>
                      <a:srgbClr val="FFFFFF"/>
                    </a:solidFill>
                  </a:tcPr>
                </a:tc>
              </a:tr>
              <a:tr h="292100">
                <a:tc>
                  <a:txBody>
                    <a:bodyPr/>
                    <a:lstStyle/>
                    <a:p>
                      <a:r>
                        <a:rPr sz="1300" b="0">
                          <a:solidFill>
                            <a:srgbClr val="13294B"/>
                          </a:solidFill>
                          <a:latin typeface="Calibri"/>
                        </a:rPr>
                        <a:t>SSIM</a:t>
                      </a:r>
                    </a:p>
                  </a:txBody>
                  <a:tcPr marL="63500" marR="63500" marT="25400" marB="25400">
                    <a:solidFill>
                      <a:srgbClr val="F3F6FB"/>
                    </a:solidFill>
                  </a:tcPr>
                </a:tc>
                <a:tc>
                  <a:txBody>
                    <a:bodyPr/>
                    <a:lstStyle/>
                    <a:p>
                      <a:pPr algn="ctr"/>
                      <a:r>
                        <a:rPr sz="1300" b="0">
                          <a:solidFill>
                            <a:srgbClr val="13294B"/>
                          </a:solidFill>
                          <a:latin typeface="Calibri"/>
                        </a:rPr>
                        <a:t>0.89</a:t>
                      </a:r>
                    </a:p>
                  </a:txBody>
                  <a:tcPr marL="63500" marR="63500" marT="25400" marB="25400">
                    <a:solidFill>
                      <a:srgbClr val="F3F6FB"/>
                    </a:solidFill>
                  </a:tcPr>
                </a:tc>
                <a:tc>
                  <a:txBody>
                    <a:bodyPr/>
                    <a:lstStyle/>
                    <a:p>
                      <a:pPr algn="ctr"/>
                      <a:r>
                        <a:rPr sz="1300" b="0">
                          <a:solidFill>
                            <a:srgbClr val="13294B"/>
                          </a:solidFill>
                          <a:latin typeface="Calibri"/>
                        </a:rPr>
                        <a:t>0.97</a:t>
                      </a:r>
                    </a:p>
                  </a:txBody>
                  <a:tcPr marL="63500" marR="63500" marT="25400" marB="25400">
                    <a:solidFill>
                      <a:srgbClr val="F3F6FB"/>
                    </a:solidFill>
                  </a:tcPr>
                </a:tc>
              </a:tr>
              <a:tr h="292100">
                <a:tc>
                  <a:txBody>
                    <a:bodyPr/>
                    <a:lstStyle/>
                    <a:p>
                      <a:r>
                        <a:rPr sz="1300" b="0">
                          <a:solidFill>
                            <a:srgbClr val="13294B"/>
                          </a:solidFill>
                          <a:latin typeface="Calibri"/>
                        </a:rPr>
                        <a:t>PSNR (dB)</a:t>
                      </a:r>
                    </a:p>
                  </a:txBody>
                  <a:tcPr marL="63500" marR="63500" marT="25400" marB="25400">
                    <a:solidFill>
                      <a:srgbClr val="FFFFFF"/>
                    </a:solidFill>
                  </a:tcPr>
                </a:tc>
                <a:tc>
                  <a:txBody>
                    <a:bodyPr/>
                    <a:lstStyle/>
                    <a:p>
                      <a:pPr algn="ctr"/>
                      <a:r>
                        <a:rPr sz="1300" b="0">
                          <a:solidFill>
                            <a:srgbClr val="13294B"/>
                          </a:solidFill>
                          <a:latin typeface="Calibri"/>
                        </a:rPr>
                        <a:t>29.40</a:t>
                      </a:r>
                    </a:p>
                  </a:txBody>
                  <a:tcPr marL="63500" marR="63500" marT="25400" marB="25400">
                    <a:solidFill>
                      <a:srgbClr val="FFFFFF"/>
                    </a:solidFill>
                  </a:tcPr>
                </a:tc>
                <a:tc>
                  <a:txBody>
                    <a:bodyPr/>
                    <a:lstStyle/>
                    <a:p>
                      <a:pPr algn="ctr"/>
                      <a:r>
                        <a:rPr sz="1300" b="0">
                          <a:solidFill>
                            <a:srgbClr val="13294B"/>
                          </a:solidFill>
                          <a:latin typeface="Calibri"/>
                        </a:rPr>
                        <a:t>33.60</a:t>
                      </a:r>
                    </a:p>
                  </a:txBody>
                  <a:tcPr marL="63500" marR="63500" marT="25400" marB="25400">
                    <a:solidFill>
                      <a:srgbClr val="FFFFFF"/>
                    </a:solidFill>
                  </a:tcPr>
                </a:tc>
              </a:tr>
              <a:tr h="292100">
                <a:tc>
                  <a:txBody>
                    <a:bodyPr/>
                    <a:lstStyle/>
                    <a:p>
                      <a:r>
                        <a:rPr sz="1300" b="0">
                          <a:solidFill>
                            <a:srgbClr val="13294B"/>
                          </a:solidFill>
                          <a:latin typeface="Calibri"/>
                        </a:rPr>
                        <a:t>Reader score /5</a:t>
                      </a:r>
                    </a:p>
                  </a:txBody>
                  <a:tcPr marL="63500" marR="63500" marT="25400" marB="25400">
                    <a:solidFill>
                      <a:srgbClr val="F3F6FB"/>
                    </a:solidFill>
                  </a:tcPr>
                </a:tc>
                <a:tc>
                  <a:txBody>
                    <a:bodyPr/>
                    <a:lstStyle/>
                    <a:p>
                      <a:pPr algn="ctr"/>
                      <a:r>
                        <a:rPr sz="1300" b="0">
                          <a:solidFill>
                            <a:srgbClr val="13294B"/>
                          </a:solidFill>
                          <a:latin typeface="Calibri"/>
                        </a:rPr>
                        <a:t>2.78</a:t>
                      </a:r>
                    </a:p>
                  </a:txBody>
                  <a:tcPr marL="63500" marR="63500" marT="25400" marB="25400">
                    <a:solidFill>
                      <a:srgbClr val="F3F6FB"/>
                    </a:solidFill>
                  </a:tcPr>
                </a:tc>
                <a:tc>
                  <a:txBody>
                    <a:bodyPr/>
                    <a:lstStyle/>
                    <a:p>
                      <a:pPr algn="ctr"/>
                      <a:r>
                        <a:rPr sz="1300" b="0">
                          <a:solidFill>
                            <a:srgbClr val="13294B"/>
                          </a:solidFill>
                          <a:latin typeface="Calibri"/>
                        </a:rPr>
                        <a:t>4.42</a:t>
                      </a:r>
                    </a:p>
                  </a:txBody>
                  <a:tcPr marL="63500" marR="63500" marT="25400" marB="25400">
                    <a:solidFill>
                      <a:srgbClr val="F3F6FB"/>
                    </a:solidFill>
                  </a:tcPr>
                </a:tc>
              </a:tr>
            </a:tbl>
          </a:graphicData>
        </a:graphic>
      </p:graphicFrame>
      <p:sp>
        <p:nvSpPr>
          <p:cNvPr id="18" name="TextBox 17"/>
          <p:cNvSpPr txBox="1"/>
          <p:nvPr/>
        </p:nvSpPr>
        <p:spPr>
          <a:xfrm>
            <a:off x="8356600" y="4857750"/>
            <a:ext cx="2870200" cy="381000"/>
          </a:xfrm>
          <a:prstGeom prst="rect">
            <a:avLst/>
          </a:prstGeom>
          <a:noFill/>
        </p:spPr>
        <p:txBody>
          <a:bodyPr wrap="square" lIns="0" rIns="0" tIns="0" bIns="0">
            <a:spAutoFit/>
          </a:bodyPr>
          <a:lstStyle/>
          <a:p>
            <a:r>
              <a:rPr sz="1200" b="0">
                <a:solidFill>
                  <a:srgbClr val="4A5568"/>
                </a:solidFill>
                <a:latin typeface="Calibri"/>
              </a:rPr>
              <a:t>Full-dose reader score 4.72; all p &lt; 0.0001</a:t>
            </a:r>
          </a:p>
        </p:txBody>
      </p:sp>
      <p:sp>
        <p:nvSpPr>
          <p:cNvPr id="19" name="Rounded Rectangle 1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Lower dose with preserved image quality</a:t>
            </a:r>
          </a:p>
        </p:txBody>
      </p:sp>
      <p:sp>
        <p:nvSpPr>
          <p:cNvPr id="21" name="TextBox 2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FEATURE RELIABILITY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Repeatability, reproducibility and robustness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Phys Med Biol 2022</a:t>
            </a:r>
          </a:p>
        </p:txBody>
      </p:sp>
      <p:sp>
        <p:nvSpPr>
          <p:cNvPr id="7" name="Rounded Rectangle 6"/>
          <p:cNvSpPr/>
          <p:nvPr/>
        </p:nvSpPr>
        <p:spPr>
          <a:xfrm>
            <a:off x="812800"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3-1.jpg"/>
          <p:cNvPicPr>
            <a:picLocks noChangeAspect="1"/>
          </p:cNvPicPr>
          <p:nvPr/>
        </p:nvPicPr>
        <p:blipFill>
          <a:blip r:embed="rId3"/>
          <a:stretch>
            <a:fillRect/>
          </a:stretch>
        </p:blipFill>
        <p:spPr>
          <a:xfrm>
            <a:off x="1181387" y="1403350"/>
            <a:ext cx="2683359" cy="3441700"/>
          </a:xfrm>
          <a:prstGeom prst="rect">
            <a:avLst/>
          </a:prstGeom>
        </p:spPr>
      </p:pic>
      <p:sp>
        <p:nvSpPr>
          <p:cNvPr id="9" name="TextBox 8"/>
          <p:cNvSpPr txBox="1"/>
          <p:nvPr/>
        </p:nvSpPr>
        <p:spPr>
          <a:xfrm>
            <a:off x="939800" y="4959350"/>
            <a:ext cx="3166533" cy="254000"/>
          </a:xfrm>
          <a:prstGeom prst="rect">
            <a:avLst/>
          </a:prstGeom>
          <a:noFill/>
        </p:spPr>
        <p:txBody>
          <a:bodyPr wrap="square" lIns="0" rIns="0" tIns="0" bIns="0">
            <a:spAutoFit/>
          </a:bodyPr>
          <a:lstStyle/>
          <a:p>
            <a:pPr algn="ctr"/>
            <a:r>
              <a:rPr sz="1600" b="1">
                <a:solidFill>
                  <a:srgbClr val="13294B"/>
                </a:solidFill>
                <a:latin typeface="Calibri"/>
              </a:rPr>
              <a:t>Repeatability: same conditions</a:t>
            </a:r>
          </a:p>
        </p:txBody>
      </p:sp>
      <p:sp>
        <p:nvSpPr>
          <p:cNvPr id="10" name="Rounded Rectangle 9"/>
          <p:cNvSpPr/>
          <p:nvPr/>
        </p:nvSpPr>
        <p:spPr>
          <a:xfrm>
            <a:off x="4385733"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13-2.jpg"/>
          <p:cNvPicPr>
            <a:picLocks noChangeAspect="1"/>
          </p:cNvPicPr>
          <p:nvPr/>
        </p:nvPicPr>
        <p:blipFill>
          <a:blip r:embed="rId4"/>
          <a:stretch>
            <a:fillRect/>
          </a:stretch>
        </p:blipFill>
        <p:spPr>
          <a:xfrm>
            <a:off x="4783487" y="1403350"/>
            <a:ext cx="2625025" cy="3441700"/>
          </a:xfrm>
          <a:prstGeom prst="rect">
            <a:avLst/>
          </a:prstGeom>
        </p:spPr>
      </p:pic>
      <p:sp>
        <p:nvSpPr>
          <p:cNvPr id="12" name="TextBox 11"/>
          <p:cNvSpPr txBox="1"/>
          <p:nvPr/>
        </p:nvSpPr>
        <p:spPr>
          <a:xfrm>
            <a:off x="4512733" y="4959350"/>
            <a:ext cx="3166533" cy="254000"/>
          </a:xfrm>
          <a:prstGeom prst="rect">
            <a:avLst/>
          </a:prstGeom>
          <a:noFill/>
        </p:spPr>
        <p:txBody>
          <a:bodyPr wrap="square" lIns="0" rIns="0" tIns="0" bIns="0">
            <a:spAutoFit/>
          </a:bodyPr>
          <a:lstStyle/>
          <a:p>
            <a:pPr algn="ctr"/>
            <a:r>
              <a:rPr sz="1600" b="1">
                <a:solidFill>
                  <a:srgbClr val="13294B"/>
                </a:solidFill>
                <a:latin typeface="Calibri"/>
              </a:rPr>
              <a:t>Reproducibility: across scanners</a:t>
            </a:r>
          </a:p>
        </p:txBody>
      </p:sp>
      <p:sp>
        <p:nvSpPr>
          <p:cNvPr id="13" name="Rounded Rectangle 12"/>
          <p:cNvSpPr/>
          <p:nvPr/>
        </p:nvSpPr>
        <p:spPr>
          <a:xfrm>
            <a:off x="7958666"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13-3.jpg"/>
          <p:cNvPicPr>
            <a:picLocks noChangeAspect="1"/>
          </p:cNvPicPr>
          <p:nvPr/>
        </p:nvPicPr>
        <p:blipFill>
          <a:blip r:embed="rId5"/>
          <a:stretch>
            <a:fillRect/>
          </a:stretch>
        </p:blipFill>
        <p:spPr>
          <a:xfrm>
            <a:off x="8327253" y="1403350"/>
            <a:ext cx="2683359" cy="3441700"/>
          </a:xfrm>
          <a:prstGeom prst="rect">
            <a:avLst/>
          </a:prstGeom>
        </p:spPr>
      </p:pic>
      <p:sp>
        <p:nvSpPr>
          <p:cNvPr id="15" name="TextBox 14"/>
          <p:cNvSpPr txBox="1"/>
          <p:nvPr/>
        </p:nvSpPr>
        <p:spPr>
          <a:xfrm>
            <a:off x="8085666" y="4959350"/>
            <a:ext cx="3166533" cy="254000"/>
          </a:xfrm>
          <a:prstGeom prst="rect">
            <a:avLst/>
          </a:prstGeom>
          <a:noFill/>
        </p:spPr>
        <p:txBody>
          <a:bodyPr wrap="square" lIns="0" rIns="0" tIns="0" bIns="0">
            <a:spAutoFit/>
          </a:bodyPr>
          <a:lstStyle/>
          <a:p>
            <a:pPr algn="ctr"/>
            <a:r>
              <a:rPr sz="1600" b="1">
                <a:solidFill>
                  <a:srgbClr val="13294B"/>
                </a:solidFill>
                <a:latin typeface="Calibri"/>
              </a:rPr>
              <a:t>Robustness: workflow changes</a:t>
            </a:r>
          </a:p>
        </p:txBody>
      </p:sp>
      <p:sp>
        <p:nvSpPr>
          <p:cNvPr id="16" name="Rounded Rectangle 15"/>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Goal: find stable features and the sources of variability</a:t>
            </a:r>
          </a:p>
        </p:txBody>
      </p:sp>
      <p:sp>
        <p:nvSpPr>
          <p:cNvPr id="18" name="TextBox 17"/>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CHALLENGE</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Treatment is designed for the average patient</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DREAM team vision, Radiother Oncol 2024</a:t>
            </a:r>
          </a:p>
        </p:txBody>
      </p:sp>
      <p:sp>
        <p:nvSpPr>
          <p:cNvPr id="7" name="Rounded Rectangle 6"/>
          <p:cNvSpPr/>
          <p:nvPr/>
        </p:nvSpPr>
        <p:spPr>
          <a:xfrm>
            <a:off x="812800" y="1301750"/>
            <a:ext cx="105664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4.jpg"/>
          <p:cNvPicPr>
            <a:picLocks noChangeAspect="1"/>
          </p:cNvPicPr>
          <p:nvPr/>
        </p:nvPicPr>
        <p:blipFill>
          <a:blip r:embed="rId3"/>
          <a:stretch>
            <a:fillRect/>
          </a:stretch>
        </p:blipFill>
        <p:spPr>
          <a:xfrm>
            <a:off x="914400" y="1678848"/>
            <a:ext cx="10363200" cy="3246303"/>
          </a:xfrm>
          <a:prstGeom prst="rect">
            <a:avLst/>
          </a:prstGeom>
        </p:spPr>
      </p:pic>
      <p:sp>
        <p:nvSpPr>
          <p:cNvPr id="9" name="Rounded Rectangle 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Averaging hides the individual patient</a:t>
            </a:r>
          </a:p>
        </p:txBody>
      </p:sp>
      <p:sp>
        <p:nvSpPr>
          <p:cNvPr id="11" name="TextBox 10"/>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SOLUTION ·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Trials for patients who are not average</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Yankeelov et al., iScience 2023</a:t>
            </a:r>
          </a:p>
        </p:txBody>
      </p:sp>
      <p:sp>
        <p:nvSpPr>
          <p:cNvPr id="7" name="Rounded Rectangle 6"/>
          <p:cNvSpPr/>
          <p:nvPr/>
        </p:nvSpPr>
        <p:spPr>
          <a:xfrm>
            <a:off x="812800" y="1301750"/>
            <a:ext cx="7874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5.jpg"/>
          <p:cNvPicPr>
            <a:picLocks noChangeAspect="1"/>
          </p:cNvPicPr>
          <p:nvPr/>
        </p:nvPicPr>
        <p:blipFill>
          <a:blip r:embed="rId3"/>
          <a:stretch>
            <a:fillRect/>
          </a:stretch>
        </p:blipFill>
        <p:spPr>
          <a:xfrm>
            <a:off x="914400" y="2118234"/>
            <a:ext cx="7670800" cy="2367530"/>
          </a:xfrm>
          <a:prstGeom prst="rect">
            <a:avLst/>
          </a:prstGeom>
        </p:spPr>
      </p:pic>
      <p:sp>
        <p:nvSpPr>
          <p:cNvPr id="9" name="Rounded Rectangle 8"/>
          <p:cNvSpPr/>
          <p:nvPr/>
        </p:nvSpPr>
        <p:spPr>
          <a:xfrm>
            <a:off x="8839200" y="1301750"/>
            <a:ext cx="2540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7000" y="1479550"/>
            <a:ext cx="2184400" cy="254000"/>
          </a:xfrm>
          <a:prstGeom prst="rect">
            <a:avLst/>
          </a:prstGeom>
          <a:noFill/>
        </p:spPr>
        <p:txBody>
          <a:bodyPr wrap="square" lIns="0" rIns="0" tIns="0" bIns="0">
            <a:spAutoFit/>
          </a:bodyPr>
          <a:lstStyle/>
          <a:p>
            <a:r>
              <a:rPr sz="1700" b="1">
                <a:solidFill>
                  <a:srgbClr val="1F5FA8"/>
                </a:solidFill>
                <a:latin typeface="Calibri"/>
              </a:rPr>
              <a:t>The idea</a:t>
            </a:r>
          </a:p>
        </p:txBody>
      </p:sp>
      <p:sp>
        <p:nvSpPr>
          <p:cNvPr id="11" name="TextBox 10"/>
          <p:cNvSpPr txBox="1"/>
          <p:nvPr/>
        </p:nvSpPr>
        <p:spPr>
          <a:xfrm>
            <a:off x="9017000" y="1809750"/>
            <a:ext cx="2184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Model each patient, not the average</a:t>
            </a:r>
          </a:p>
          <a:p>
            <a:pPr>
              <a:spcAft>
                <a:spcPts val="1000"/>
              </a:spcAft>
            </a:pPr>
            <a:r>
              <a:rPr sz="1700" b="0">
                <a:solidFill>
                  <a:srgbClr val="13294B"/>
                </a:solidFill>
                <a:latin typeface="Calibri"/>
              </a:rPr>
              <a:t>•  Calibrate with their own data</a:t>
            </a:r>
          </a:p>
          <a:p>
            <a:pPr>
              <a:spcAft>
                <a:spcPts val="1000"/>
              </a:spcAft>
            </a:pPr>
            <a:r>
              <a:rPr sz="1700" b="0">
                <a:solidFill>
                  <a:srgbClr val="13294B"/>
                </a:solidFill>
                <a:latin typeface="Calibri"/>
              </a:rPr>
              <a:t>•  Update as treatment proceeds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From averaged evidence to personalized, adaptive decisions</a:t>
            </a:r>
          </a:p>
        </p:txBody>
      </p:sp>
      <p:sp>
        <p:nvSpPr>
          <p:cNvPr id="14" name="TextBox 13"/>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SOLUTION ·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Four building blocks for personalized trials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Yankeelov et al., iScience 27:108589 (2024)</a:t>
            </a:r>
          </a:p>
        </p:txBody>
      </p:sp>
      <p:sp>
        <p:nvSpPr>
          <p:cNvPr id="7" name="Rounded Rectangle 6"/>
          <p:cNvSpPr/>
          <p:nvPr/>
        </p:nvSpPr>
        <p:spPr>
          <a:xfrm>
            <a:off x="812800" y="1301750"/>
            <a:ext cx="749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6.jpg"/>
          <p:cNvPicPr>
            <a:picLocks noChangeAspect="1"/>
          </p:cNvPicPr>
          <p:nvPr/>
        </p:nvPicPr>
        <p:blipFill>
          <a:blip r:embed="rId3"/>
          <a:stretch>
            <a:fillRect/>
          </a:stretch>
        </p:blipFill>
        <p:spPr>
          <a:xfrm>
            <a:off x="1181469" y="1403350"/>
            <a:ext cx="6755661" cy="3797300"/>
          </a:xfrm>
          <a:prstGeom prst="rect">
            <a:avLst/>
          </a:prstGeom>
        </p:spPr>
      </p:pic>
      <p:sp>
        <p:nvSpPr>
          <p:cNvPr id="9" name="Rounded Rectangle 8"/>
          <p:cNvSpPr/>
          <p:nvPr/>
        </p:nvSpPr>
        <p:spPr>
          <a:xfrm>
            <a:off x="8458200" y="1301750"/>
            <a:ext cx="2921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0" y="1479550"/>
            <a:ext cx="2565400" cy="254000"/>
          </a:xfrm>
          <a:prstGeom prst="rect">
            <a:avLst/>
          </a:prstGeom>
          <a:noFill/>
        </p:spPr>
        <p:txBody>
          <a:bodyPr wrap="square" lIns="0" rIns="0" tIns="0" bIns="0">
            <a:spAutoFit/>
          </a:bodyPr>
          <a:lstStyle/>
          <a:p>
            <a:r>
              <a:rPr sz="1700" b="1">
                <a:solidFill>
                  <a:srgbClr val="1F5FA8"/>
                </a:solidFill>
                <a:latin typeface="Calibri"/>
              </a:rPr>
              <a:t>Building blocks</a:t>
            </a:r>
          </a:p>
        </p:txBody>
      </p:sp>
      <p:sp>
        <p:nvSpPr>
          <p:cNvPr id="11" name="TextBox 10"/>
          <p:cNvSpPr txBox="1"/>
          <p:nvPr/>
        </p:nvSpPr>
        <p:spPr>
          <a:xfrm>
            <a:off x="8636000" y="1809750"/>
            <a:ext cx="2565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Biology-based models</a:t>
            </a:r>
          </a:p>
          <a:p>
            <a:pPr>
              <a:spcAft>
                <a:spcPts val="1000"/>
              </a:spcAft>
            </a:pPr>
            <a:r>
              <a:rPr sz="1700" b="0">
                <a:solidFill>
                  <a:srgbClr val="13294B"/>
                </a:solidFill>
                <a:latin typeface="Calibri"/>
              </a:rPr>
              <a:t>•  Data assimilation</a:t>
            </a:r>
          </a:p>
          <a:p>
            <a:pPr>
              <a:spcAft>
                <a:spcPts val="1000"/>
              </a:spcAft>
            </a:pPr>
            <a:r>
              <a:rPr sz="1700" b="0">
                <a:solidFill>
                  <a:srgbClr val="13294B"/>
                </a:solidFill>
                <a:latin typeface="Calibri"/>
              </a:rPr>
              <a:t>•  Optimal control</a:t>
            </a:r>
          </a:p>
          <a:p>
            <a:pPr>
              <a:spcAft>
                <a:spcPts val="1000"/>
              </a:spcAft>
            </a:pPr>
            <a:r>
              <a:rPr sz="1700" b="0">
                <a:solidFill>
                  <a:srgbClr val="13294B"/>
                </a:solidFill>
                <a:latin typeface="Calibri"/>
              </a:rPr>
              <a:t>•  Digital twins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Measure → predict → optimize → update</a:t>
            </a:r>
          </a:p>
        </p:txBody>
      </p:sp>
      <p:sp>
        <p:nvSpPr>
          <p:cNvPr id="14" name="TextBox 13"/>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SOLUTION ·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What is a digital twin?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Laubenbacher et al., Personalized Medicine 2021 · NASEM 2024</a:t>
            </a:r>
          </a:p>
        </p:txBody>
      </p:sp>
      <p:sp>
        <p:nvSpPr>
          <p:cNvPr id="7" name="Rounded Rectangle 6"/>
          <p:cNvSpPr/>
          <p:nvPr/>
        </p:nvSpPr>
        <p:spPr>
          <a:xfrm>
            <a:off x="812800" y="1301750"/>
            <a:ext cx="749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7.jpg"/>
          <p:cNvPicPr>
            <a:picLocks noChangeAspect="1"/>
          </p:cNvPicPr>
          <p:nvPr/>
        </p:nvPicPr>
        <p:blipFill>
          <a:blip r:embed="rId3"/>
          <a:stretch>
            <a:fillRect/>
          </a:stretch>
        </p:blipFill>
        <p:spPr>
          <a:xfrm>
            <a:off x="1136381" y="1403350"/>
            <a:ext cx="6845836" cy="3797300"/>
          </a:xfrm>
          <a:prstGeom prst="rect">
            <a:avLst/>
          </a:prstGeom>
        </p:spPr>
      </p:pic>
      <p:sp>
        <p:nvSpPr>
          <p:cNvPr id="9" name="Rounded Rectangle 8"/>
          <p:cNvSpPr/>
          <p:nvPr/>
        </p:nvSpPr>
        <p:spPr>
          <a:xfrm>
            <a:off x="8458200" y="1301750"/>
            <a:ext cx="2921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0" y="1479550"/>
            <a:ext cx="2565400" cy="254000"/>
          </a:xfrm>
          <a:prstGeom prst="rect">
            <a:avLst/>
          </a:prstGeom>
          <a:noFill/>
        </p:spPr>
        <p:txBody>
          <a:bodyPr wrap="square" lIns="0" rIns="0" tIns="0" bIns="0">
            <a:spAutoFit/>
          </a:bodyPr>
          <a:lstStyle/>
          <a:p>
            <a:r>
              <a:rPr sz="1700" b="1">
                <a:solidFill>
                  <a:srgbClr val="1F5FA8"/>
                </a:solidFill>
                <a:latin typeface="Calibri"/>
              </a:rPr>
              <a:t>Definition</a:t>
            </a:r>
          </a:p>
        </p:txBody>
      </p:sp>
      <p:sp>
        <p:nvSpPr>
          <p:cNvPr id="11" name="TextBox 10"/>
          <p:cNvSpPr txBox="1"/>
          <p:nvPr/>
        </p:nvSpPr>
        <p:spPr>
          <a:xfrm>
            <a:off x="8636000" y="1809750"/>
            <a:ext cx="2565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A virtual copy of one patient</a:t>
            </a:r>
          </a:p>
          <a:p>
            <a:pPr>
              <a:spcAft>
                <a:spcPts val="1000"/>
              </a:spcAft>
            </a:pPr>
            <a:r>
              <a:rPr sz="1700" b="0">
                <a:solidFill>
                  <a:srgbClr val="13294B"/>
                </a:solidFill>
                <a:latin typeface="Calibri"/>
              </a:rPr>
              <a:t>•  Updated with that patient’s data</a:t>
            </a:r>
          </a:p>
          <a:p>
            <a:pPr>
              <a:spcAft>
                <a:spcPts val="1000"/>
              </a:spcAft>
            </a:pPr>
            <a:r>
              <a:rPr sz="1700" b="0">
                <a:solidFill>
                  <a:srgbClr val="13294B"/>
                </a:solidFill>
                <a:latin typeface="Calibri"/>
              </a:rPr>
              <a:t>•  Predicts and guides decisions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A two-way link between patient and model</a:t>
            </a:r>
          </a:p>
        </p:txBody>
      </p:sp>
      <p:sp>
        <p:nvSpPr>
          <p:cNvPr id="14" name="TextBox 13"/>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THERANOSTIC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From the patient to a theranostic digital twin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Theranostics 2024</a:t>
            </a:r>
          </a:p>
        </p:txBody>
      </p:sp>
      <p:sp>
        <p:nvSpPr>
          <p:cNvPr id="7" name="Rounded Rectangle 6"/>
          <p:cNvSpPr/>
          <p:nvPr/>
        </p:nvSpPr>
        <p:spPr>
          <a:xfrm>
            <a:off x="812800" y="1301750"/>
            <a:ext cx="749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8.jpg"/>
          <p:cNvPicPr>
            <a:picLocks noChangeAspect="1"/>
          </p:cNvPicPr>
          <p:nvPr/>
        </p:nvPicPr>
        <p:blipFill>
          <a:blip r:embed="rId3"/>
          <a:stretch>
            <a:fillRect/>
          </a:stretch>
        </p:blipFill>
        <p:spPr>
          <a:xfrm>
            <a:off x="1046797" y="1403350"/>
            <a:ext cx="7025005" cy="3797300"/>
          </a:xfrm>
          <a:prstGeom prst="rect">
            <a:avLst/>
          </a:prstGeom>
        </p:spPr>
      </p:pic>
      <p:sp>
        <p:nvSpPr>
          <p:cNvPr id="9" name="Rounded Rectangle 8"/>
          <p:cNvSpPr/>
          <p:nvPr/>
        </p:nvSpPr>
        <p:spPr>
          <a:xfrm>
            <a:off x="8458200" y="1301750"/>
            <a:ext cx="2921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0" y="1479550"/>
            <a:ext cx="2565400" cy="254000"/>
          </a:xfrm>
          <a:prstGeom prst="rect">
            <a:avLst/>
          </a:prstGeom>
          <a:noFill/>
        </p:spPr>
        <p:txBody>
          <a:bodyPr wrap="square" lIns="0" rIns="0" tIns="0" bIns="0">
            <a:spAutoFit/>
          </a:bodyPr>
          <a:lstStyle/>
          <a:p>
            <a:r>
              <a:rPr sz="1700" b="1">
                <a:solidFill>
                  <a:srgbClr val="1F5FA8"/>
                </a:solidFill>
                <a:latin typeface="Calibri"/>
              </a:rPr>
              <a:t>Steps</a:t>
            </a:r>
          </a:p>
        </p:txBody>
      </p:sp>
      <p:sp>
        <p:nvSpPr>
          <p:cNvPr id="11" name="TextBox 10"/>
          <p:cNvSpPr txBox="1"/>
          <p:nvPr/>
        </p:nvSpPr>
        <p:spPr>
          <a:xfrm>
            <a:off x="8636000" y="1809750"/>
            <a:ext cx="2565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Imaging, biological, clinical data</a:t>
            </a:r>
          </a:p>
          <a:p>
            <a:pPr>
              <a:spcAft>
                <a:spcPts val="1000"/>
              </a:spcAft>
            </a:pPr>
            <a:r>
              <a:rPr sz="1700" b="0">
                <a:solidFill>
                  <a:srgbClr val="13294B"/>
                </a:solidFill>
                <a:latin typeface="Calibri"/>
              </a:rPr>
              <a:t>•  PBPK, dosimetry, radiobiology</a:t>
            </a:r>
          </a:p>
          <a:p>
            <a:pPr>
              <a:spcAft>
                <a:spcPts val="1000"/>
              </a:spcAft>
            </a:pPr>
            <a:r>
              <a:rPr sz="1700" b="0">
                <a:solidFill>
                  <a:srgbClr val="13294B"/>
                </a:solidFill>
                <a:latin typeface="Calibri"/>
              </a:rPr>
              <a:t>•  Planning and virtual trials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Longitudinal data keep updating the twin</a:t>
            </a:r>
          </a:p>
        </p:txBody>
      </p:sp>
      <p:sp>
        <p:nvSpPr>
          <p:cNvPr id="14" name="TextBox 13"/>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THERANOSTIC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Building the twin: PBPK model for ¹⁷⁷Lu-PSMA</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Theranostics 2024</a:t>
            </a:r>
          </a:p>
        </p:txBody>
      </p:sp>
      <p:sp>
        <p:nvSpPr>
          <p:cNvPr id="7" name="Rounded Rectangle 6"/>
          <p:cNvSpPr/>
          <p:nvPr/>
        </p:nvSpPr>
        <p:spPr>
          <a:xfrm>
            <a:off x="8128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9-1.jpg"/>
          <p:cNvPicPr>
            <a:picLocks noChangeAspect="1"/>
          </p:cNvPicPr>
          <p:nvPr/>
        </p:nvPicPr>
        <p:blipFill>
          <a:blip r:embed="rId3"/>
          <a:stretch>
            <a:fillRect/>
          </a:stretch>
        </p:blipFill>
        <p:spPr>
          <a:xfrm>
            <a:off x="1209792" y="1403350"/>
            <a:ext cx="1657114" cy="3441700"/>
          </a:xfrm>
          <a:prstGeom prst="rect">
            <a:avLst/>
          </a:prstGeom>
        </p:spPr>
      </p:pic>
      <p:sp>
        <p:nvSpPr>
          <p:cNvPr id="9" name="TextBox 8"/>
          <p:cNvSpPr txBox="1"/>
          <p:nvPr/>
        </p:nvSpPr>
        <p:spPr>
          <a:xfrm>
            <a:off x="939800" y="4959350"/>
            <a:ext cx="2197100" cy="254000"/>
          </a:xfrm>
          <a:prstGeom prst="rect">
            <a:avLst/>
          </a:prstGeom>
          <a:noFill/>
        </p:spPr>
        <p:txBody>
          <a:bodyPr wrap="square" lIns="0" rIns="0" tIns="0" bIns="0">
            <a:spAutoFit/>
          </a:bodyPr>
          <a:lstStyle/>
          <a:p>
            <a:pPr algn="ctr"/>
            <a:r>
              <a:rPr sz="1600" b="1">
                <a:solidFill>
                  <a:srgbClr val="13294B"/>
                </a:solidFill>
                <a:latin typeface="Calibri"/>
              </a:rPr>
              <a:t>Patient data</a:t>
            </a:r>
          </a:p>
        </p:txBody>
      </p:sp>
      <p:sp>
        <p:nvSpPr>
          <p:cNvPr id="10" name="Right Arrow 9"/>
          <p:cNvSpPr/>
          <p:nvPr/>
        </p:nvSpPr>
        <p:spPr>
          <a:xfrm>
            <a:off x="32956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179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9-2.jpg"/>
          <p:cNvPicPr>
            <a:picLocks noChangeAspect="1"/>
          </p:cNvPicPr>
          <p:nvPr/>
        </p:nvPicPr>
        <p:blipFill>
          <a:blip r:embed="rId4"/>
          <a:stretch>
            <a:fillRect/>
          </a:stretch>
        </p:blipFill>
        <p:spPr>
          <a:xfrm>
            <a:off x="4021117" y="1403350"/>
            <a:ext cx="1444664" cy="3441700"/>
          </a:xfrm>
          <a:prstGeom prst="rect">
            <a:avLst/>
          </a:prstGeom>
        </p:spPr>
      </p:pic>
      <p:sp>
        <p:nvSpPr>
          <p:cNvPr id="13" name="TextBox 12"/>
          <p:cNvSpPr txBox="1"/>
          <p:nvPr/>
        </p:nvSpPr>
        <p:spPr>
          <a:xfrm>
            <a:off x="3644900" y="4959350"/>
            <a:ext cx="2197100" cy="254000"/>
          </a:xfrm>
          <a:prstGeom prst="rect">
            <a:avLst/>
          </a:prstGeom>
          <a:noFill/>
        </p:spPr>
        <p:txBody>
          <a:bodyPr wrap="square" lIns="0" rIns="0" tIns="0" bIns="0">
            <a:spAutoFit/>
          </a:bodyPr>
          <a:lstStyle/>
          <a:p>
            <a:pPr algn="ctr"/>
            <a:r>
              <a:rPr sz="1600" b="1">
                <a:solidFill>
                  <a:srgbClr val="13294B"/>
                </a:solidFill>
                <a:latin typeface="Calibri"/>
              </a:rPr>
              <a:t>PBPK model</a:t>
            </a:r>
          </a:p>
        </p:txBody>
      </p:sp>
      <p:sp>
        <p:nvSpPr>
          <p:cNvPr id="14" name="Right Arrow 13"/>
          <p:cNvSpPr/>
          <p:nvPr/>
        </p:nvSpPr>
        <p:spPr>
          <a:xfrm>
            <a:off x="60007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230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19-3.jpg"/>
          <p:cNvPicPr>
            <a:picLocks noChangeAspect="1"/>
          </p:cNvPicPr>
          <p:nvPr/>
        </p:nvPicPr>
        <p:blipFill>
          <a:blip r:embed="rId5"/>
          <a:stretch>
            <a:fillRect/>
          </a:stretch>
        </p:blipFill>
        <p:spPr>
          <a:xfrm>
            <a:off x="6577502" y="1403350"/>
            <a:ext cx="1742095" cy="3441700"/>
          </a:xfrm>
          <a:prstGeom prst="rect">
            <a:avLst/>
          </a:prstGeom>
        </p:spPr>
      </p:pic>
      <p:sp>
        <p:nvSpPr>
          <p:cNvPr id="17" name="TextBox 16"/>
          <p:cNvSpPr txBox="1"/>
          <p:nvPr/>
        </p:nvSpPr>
        <p:spPr>
          <a:xfrm>
            <a:off x="6350000" y="4959350"/>
            <a:ext cx="2197100" cy="254000"/>
          </a:xfrm>
          <a:prstGeom prst="rect">
            <a:avLst/>
          </a:prstGeom>
          <a:noFill/>
        </p:spPr>
        <p:txBody>
          <a:bodyPr wrap="square" lIns="0" rIns="0" tIns="0" bIns="0">
            <a:spAutoFit/>
          </a:bodyPr>
          <a:lstStyle/>
          <a:p>
            <a:pPr algn="ctr"/>
            <a:r>
              <a:rPr sz="1600" b="1">
                <a:solidFill>
                  <a:srgbClr val="13294B"/>
                </a:solidFill>
                <a:latin typeface="Calibri"/>
              </a:rPr>
              <a:t>Personalization</a:t>
            </a:r>
          </a:p>
        </p:txBody>
      </p:sp>
      <p:sp>
        <p:nvSpPr>
          <p:cNvPr id="18" name="Right Arrow 17"/>
          <p:cNvSpPr/>
          <p:nvPr/>
        </p:nvSpPr>
        <p:spPr>
          <a:xfrm>
            <a:off x="87058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9281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19-4.jpg"/>
          <p:cNvPicPr>
            <a:picLocks noChangeAspect="1"/>
          </p:cNvPicPr>
          <p:nvPr/>
        </p:nvPicPr>
        <p:blipFill>
          <a:blip r:embed="rId6"/>
          <a:stretch>
            <a:fillRect/>
          </a:stretch>
        </p:blipFill>
        <p:spPr>
          <a:xfrm>
            <a:off x="9431317" y="1403350"/>
            <a:ext cx="1444664" cy="3441700"/>
          </a:xfrm>
          <a:prstGeom prst="rect">
            <a:avLst/>
          </a:prstGeom>
        </p:spPr>
      </p:pic>
      <p:sp>
        <p:nvSpPr>
          <p:cNvPr id="21" name="TextBox 20"/>
          <p:cNvSpPr txBox="1"/>
          <p:nvPr/>
        </p:nvSpPr>
        <p:spPr>
          <a:xfrm>
            <a:off x="9055100" y="4959350"/>
            <a:ext cx="2197100" cy="254000"/>
          </a:xfrm>
          <a:prstGeom prst="rect">
            <a:avLst/>
          </a:prstGeom>
          <a:noFill/>
        </p:spPr>
        <p:txBody>
          <a:bodyPr wrap="square" lIns="0" rIns="0" tIns="0" bIns="0">
            <a:spAutoFit/>
          </a:bodyPr>
          <a:lstStyle/>
          <a:p>
            <a:pPr algn="ctr"/>
            <a:r>
              <a:rPr sz="1600" b="1">
                <a:solidFill>
                  <a:srgbClr val="13294B"/>
                </a:solidFill>
                <a:latin typeface="Calibri"/>
              </a:rPr>
              <a:t>Validation &amp; use</a:t>
            </a:r>
          </a:p>
        </p:txBody>
      </p:sp>
      <p:sp>
        <p:nvSpPr>
          <p:cNvPr id="22" name="Rounded Rectangle 2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Model refinement with longitudinal data closes the loop</a:t>
            </a:r>
          </a:p>
        </p:txBody>
      </p:sp>
      <p:sp>
        <p:nvSpPr>
          <p:cNvPr id="24" name="TextBox 23"/>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THERANOSTIC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Model-informed ¹⁷⁷Lu-PSMA optimization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Fele-Paranj &amp; Rahmim, Cancers 2024;16:3120</a:t>
            </a:r>
          </a:p>
        </p:txBody>
      </p:sp>
      <p:sp>
        <p:nvSpPr>
          <p:cNvPr id="7" name="Rounded Rectangle 6"/>
          <p:cNvSpPr/>
          <p:nvPr/>
        </p:nvSpPr>
        <p:spPr>
          <a:xfrm>
            <a:off x="812800" y="1301750"/>
            <a:ext cx="10566400" cy="27940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0-top.jpg"/>
          <p:cNvPicPr>
            <a:picLocks noChangeAspect="1"/>
          </p:cNvPicPr>
          <p:nvPr/>
        </p:nvPicPr>
        <p:blipFill>
          <a:blip r:embed="rId3"/>
          <a:stretch>
            <a:fillRect/>
          </a:stretch>
        </p:blipFill>
        <p:spPr>
          <a:xfrm>
            <a:off x="2421774" y="1403350"/>
            <a:ext cx="7348450" cy="2590800"/>
          </a:xfrm>
          <a:prstGeom prst="rect">
            <a:avLst/>
          </a:prstGeom>
        </p:spPr>
      </p:pic>
      <p:sp>
        <p:nvSpPr>
          <p:cNvPr id="9" name="Rounded Rectangle 8"/>
          <p:cNvSpPr/>
          <p:nvPr/>
        </p:nvSpPr>
        <p:spPr>
          <a:xfrm>
            <a:off x="812800" y="4197350"/>
            <a:ext cx="10566400" cy="11049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20-find.jpg"/>
          <p:cNvPicPr>
            <a:picLocks noChangeAspect="1"/>
          </p:cNvPicPr>
          <p:nvPr/>
        </p:nvPicPr>
        <p:blipFill>
          <a:blip r:embed="rId4"/>
          <a:stretch>
            <a:fillRect/>
          </a:stretch>
        </p:blipFill>
        <p:spPr>
          <a:xfrm>
            <a:off x="3282696" y="4298950"/>
            <a:ext cx="5626608" cy="901700"/>
          </a:xfrm>
          <a:prstGeom prst="rect">
            <a:avLst/>
          </a:prstGeom>
        </p:spPr>
      </p:pic>
      <p:sp>
        <p:nvSpPr>
          <p:cNvPr id="11" name="Rounded Rectangle 10"/>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Patient-specific kinetics guide the tumour–organ trade-off</a:t>
            </a:r>
          </a:p>
        </p:txBody>
      </p:sp>
      <p:sp>
        <p:nvSpPr>
          <p:cNvPr id="13" name="TextBox 12"/>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APPLICATION · PREDICTIVE DOSIMETRY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Predicting ¹⁷⁷Lu dosimetry from PET kinetics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IEEE Trans Radiat Plasma Med Sci 2026</a:t>
            </a:r>
          </a:p>
        </p:txBody>
      </p:sp>
      <p:sp>
        <p:nvSpPr>
          <p:cNvPr id="7" name="Rounded Rectangle 6"/>
          <p:cNvSpPr/>
          <p:nvPr/>
        </p:nvSpPr>
        <p:spPr>
          <a:xfrm>
            <a:off x="8128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1-1.jpg"/>
          <p:cNvPicPr>
            <a:picLocks noChangeAspect="1"/>
          </p:cNvPicPr>
          <p:nvPr/>
        </p:nvPicPr>
        <p:blipFill>
          <a:blip r:embed="rId3"/>
          <a:stretch>
            <a:fillRect/>
          </a:stretch>
        </p:blipFill>
        <p:spPr>
          <a:xfrm>
            <a:off x="1365026" y="1403350"/>
            <a:ext cx="2248346" cy="3441700"/>
          </a:xfrm>
          <a:prstGeom prst="rect">
            <a:avLst/>
          </a:prstGeom>
        </p:spPr>
      </p:pic>
      <p:sp>
        <p:nvSpPr>
          <p:cNvPr id="9" name="TextBox 8"/>
          <p:cNvSpPr txBox="1"/>
          <p:nvPr/>
        </p:nvSpPr>
        <p:spPr>
          <a:xfrm>
            <a:off x="939800" y="4959350"/>
            <a:ext cx="3098800" cy="254000"/>
          </a:xfrm>
          <a:prstGeom prst="rect">
            <a:avLst/>
          </a:prstGeom>
          <a:noFill/>
        </p:spPr>
        <p:txBody>
          <a:bodyPr wrap="square" lIns="0" rIns="0" tIns="0" bIns="0">
            <a:spAutoFit/>
          </a:bodyPr>
          <a:lstStyle/>
          <a:p>
            <a:pPr algn="ctr"/>
            <a:r>
              <a:rPr sz="1600" b="1">
                <a:solidFill>
                  <a:srgbClr val="13294B"/>
                </a:solidFill>
                <a:latin typeface="Calibri"/>
              </a:rPr>
              <a:t>Layer 1: physiological modelling</a:t>
            </a:r>
          </a:p>
        </p:txBody>
      </p:sp>
      <p:sp>
        <p:nvSpPr>
          <p:cNvPr id="10" name="Right Arrow 9"/>
          <p:cNvSpPr/>
          <p:nvPr/>
        </p:nvSpPr>
        <p:spPr>
          <a:xfrm>
            <a:off x="41973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96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21-2.jpg"/>
          <p:cNvPicPr>
            <a:picLocks noChangeAspect="1"/>
          </p:cNvPicPr>
          <p:nvPr/>
        </p:nvPicPr>
        <p:blipFill>
          <a:blip r:embed="rId4"/>
          <a:stretch>
            <a:fillRect/>
          </a:stretch>
        </p:blipFill>
        <p:spPr>
          <a:xfrm>
            <a:off x="4872380" y="1403350"/>
            <a:ext cx="2447238" cy="3441700"/>
          </a:xfrm>
          <a:prstGeom prst="rect">
            <a:avLst/>
          </a:prstGeom>
        </p:spPr>
      </p:pic>
      <p:sp>
        <p:nvSpPr>
          <p:cNvPr id="13" name="TextBox 12"/>
          <p:cNvSpPr txBox="1"/>
          <p:nvPr/>
        </p:nvSpPr>
        <p:spPr>
          <a:xfrm>
            <a:off x="4546600" y="4959350"/>
            <a:ext cx="3098800" cy="254000"/>
          </a:xfrm>
          <a:prstGeom prst="rect">
            <a:avLst/>
          </a:prstGeom>
          <a:noFill/>
        </p:spPr>
        <p:txBody>
          <a:bodyPr wrap="square" lIns="0" rIns="0" tIns="0" bIns="0">
            <a:spAutoFit/>
          </a:bodyPr>
          <a:lstStyle/>
          <a:p>
            <a:pPr algn="ctr"/>
            <a:r>
              <a:rPr sz="1600" b="1">
                <a:solidFill>
                  <a:srgbClr val="13294B"/>
                </a:solidFill>
                <a:latin typeface="Calibri"/>
              </a:rPr>
              <a:t>Layer 2: kinetics → dosimetry</a:t>
            </a:r>
          </a:p>
        </p:txBody>
      </p:sp>
      <p:sp>
        <p:nvSpPr>
          <p:cNvPr id="14" name="Right Arrow 13"/>
          <p:cNvSpPr/>
          <p:nvPr/>
        </p:nvSpPr>
        <p:spPr>
          <a:xfrm>
            <a:off x="7804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264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21-3.jpg"/>
          <p:cNvPicPr>
            <a:picLocks noChangeAspect="1"/>
          </p:cNvPicPr>
          <p:nvPr/>
        </p:nvPicPr>
        <p:blipFill>
          <a:blip r:embed="rId5"/>
          <a:stretch>
            <a:fillRect/>
          </a:stretch>
        </p:blipFill>
        <p:spPr>
          <a:xfrm>
            <a:off x="8950468" y="1403350"/>
            <a:ext cx="1504662" cy="3441700"/>
          </a:xfrm>
          <a:prstGeom prst="rect">
            <a:avLst/>
          </a:prstGeom>
        </p:spPr>
      </p:pic>
      <p:sp>
        <p:nvSpPr>
          <p:cNvPr id="17" name="TextBox 16"/>
          <p:cNvSpPr txBox="1"/>
          <p:nvPr/>
        </p:nvSpPr>
        <p:spPr>
          <a:xfrm>
            <a:off x="8153400" y="4959350"/>
            <a:ext cx="3098800" cy="254000"/>
          </a:xfrm>
          <a:prstGeom prst="rect">
            <a:avLst/>
          </a:prstGeom>
          <a:noFill/>
        </p:spPr>
        <p:txBody>
          <a:bodyPr wrap="square" lIns="0" rIns="0" tIns="0" bIns="0">
            <a:spAutoFit/>
          </a:bodyPr>
          <a:lstStyle/>
          <a:p>
            <a:pPr algn="ctr"/>
            <a:r>
              <a:rPr sz="1600" b="1">
                <a:solidFill>
                  <a:srgbClr val="13294B"/>
                </a:solidFill>
                <a:latin typeface="Calibri"/>
              </a:rPr>
              <a:t>Layer 3: machine learning</a:t>
            </a:r>
          </a:p>
        </p:txBody>
      </p:sp>
      <p:sp>
        <p:nvSpPr>
          <p:cNvPr id="18" name="Rounded Rectangle 17"/>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Pre-therapy PET kinetics → predicted therapy dose</a:t>
            </a:r>
          </a:p>
        </p:txBody>
      </p:sp>
      <p:sp>
        <p:nvSpPr>
          <p:cNvPr id="20" name="TextBox 19"/>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APPLICATION · PREDICTIVE DOSIMETRY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Predictive dosimetry: key findings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IEEE Trans Radiat Plasma Med Sci 2026</a:t>
            </a:r>
          </a:p>
        </p:txBody>
      </p:sp>
      <p:sp>
        <p:nvSpPr>
          <p:cNvPr id="7" name="Rounded Rectangle 6"/>
          <p:cNvSpPr/>
          <p:nvPr/>
        </p:nvSpPr>
        <p:spPr>
          <a:xfrm>
            <a:off x="812800"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2-1.jpg"/>
          <p:cNvPicPr>
            <a:picLocks noChangeAspect="1"/>
          </p:cNvPicPr>
          <p:nvPr/>
        </p:nvPicPr>
        <p:blipFill>
          <a:blip r:embed="rId3"/>
          <a:stretch>
            <a:fillRect/>
          </a:stretch>
        </p:blipFill>
        <p:spPr>
          <a:xfrm>
            <a:off x="1283042" y="1403350"/>
            <a:ext cx="2480048" cy="3441700"/>
          </a:xfrm>
          <a:prstGeom prst="rect">
            <a:avLst/>
          </a:prstGeom>
        </p:spPr>
      </p:pic>
      <p:sp>
        <p:nvSpPr>
          <p:cNvPr id="9" name="TextBox 8"/>
          <p:cNvSpPr txBox="1"/>
          <p:nvPr/>
        </p:nvSpPr>
        <p:spPr>
          <a:xfrm>
            <a:off x="939800" y="4959350"/>
            <a:ext cx="3166533" cy="254000"/>
          </a:xfrm>
          <a:prstGeom prst="rect">
            <a:avLst/>
          </a:prstGeom>
          <a:noFill/>
        </p:spPr>
        <p:txBody>
          <a:bodyPr wrap="square" lIns="0" rIns="0" tIns="0" bIns="0">
            <a:spAutoFit/>
          </a:bodyPr>
          <a:lstStyle/>
          <a:p>
            <a:pPr algn="ctr"/>
            <a:r>
              <a:rPr sz="1600" b="1">
                <a:solidFill>
                  <a:srgbClr val="13294B"/>
                </a:solidFill>
                <a:latin typeface="Calibri"/>
              </a:rPr>
              <a:t>Peak uptake (AMax) leads</a:t>
            </a:r>
          </a:p>
        </p:txBody>
      </p:sp>
      <p:sp>
        <p:nvSpPr>
          <p:cNvPr id="10" name="Rounded Rectangle 9"/>
          <p:cNvSpPr/>
          <p:nvPr/>
        </p:nvSpPr>
        <p:spPr>
          <a:xfrm>
            <a:off x="4385733"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22-2.jpg"/>
          <p:cNvPicPr>
            <a:picLocks noChangeAspect="1"/>
          </p:cNvPicPr>
          <p:nvPr/>
        </p:nvPicPr>
        <p:blipFill>
          <a:blip r:embed="rId4"/>
          <a:stretch>
            <a:fillRect/>
          </a:stretch>
        </p:blipFill>
        <p:spPr>
          <a:xfrm>
            <a:off x="4871159" y="1403350"/>
            <a:ext cx="2449680" cy="3441700"/>
          </a:xfrm>
          <a:prstGeom prst="rect">
            <a:avLst/>
          </a:prstGeom>
        </p:spPr>
      </p:pic>
      <p:sp>
        <p:nvSpPr>
          <p:cNvPr id="12" name="TextBox 11"/>
          <p:cNvSpPr txBox="1"/>
          <p:nvPr/>
        </p:nvSpPr>
        <p:spPr>
          <a:xfrm>
            <a:off x="4512733" y="4959350"/>
            <a:ext cx="3166533" cy="254000"/>
          </a:xfrm>
          <a:prstGeom prst="rect">
            <a:avLst/>
          </a:prstGeom>
          <a:noFill/>
        </p:spPr>
        <p:txBody>
          <a:bodyPr wrap="square" lIns="0" rIns="0" tIns="0" bIns="0">
            <a:spAutoFit/>
          </a:bodyPr>
          <a:lstStyle/>
          <a:p>
            <a:pPr algn="ctr"/>
            <a:r>
              <a:rPr sz="1600" b="1">
                <a:solidFill>
                  <a:srgbClr val="13294B"/>
                </a:solidFill>
                <a:latin typeface="Calibri"/>
              </a:rPr>
              <a:t>Noise matters most in small tumours</a:t>
            </a:r>
          </a:p>
        </p:txBody>
      </p:sp>
      <p:sp>
        <p:nvSpPr>
          <p:cNvPr id="13" name="Rounded Rectangle 12"/>
          <p:cNvSpPr/>
          <p:nvPr/>
        </p:nvSpPr>
        <p:spPr>
          <a:xfrm>
            <a:off x="7958666"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22-3.jpg"/>
          <p:cNvPicPr>
            <a:picLocks noChangeAspect="1"/>
          </p:cNvPicPr>
          <p:nvPr/>
        </p:nvPicPr>
        <p:blipFill>
          <a:blip r:embed="rId5"/>
          <a:stretch>
            <a:fillRect/>
          </a:stretch>
        </p:blipFill>
        <p:spPr>
          <a:xfrm>
            <a:off x="8525074" y="1403350"/>
            <a:ext cx="2287718" cy="3441700"/>
          </a:xfrm>
          <a:prstGeom prst="rect">
            <a:avLst/>
          </a:prstGeom>
        </p:spPr>
      </p:pic>
      <p:sp>
        <p:nvSpPr>
          <p:cNvPr id="15" name="TextBox 14"/>
          <p:cNvSpPr txBox="1"/>
          <p:nvPr/>
        </p:nvSpPr>
        <p:spPr>
          <a:xfrm>
            <a:off x="8085666" y="4959350"/>
            <a:ext cx="3166533" cy="254000"/>
          </a:xfrm>
          <a:prstGeom prst="rect">
            <a:avLst/>
          </a:prstGeom>
          <a:noFill/>
        </p:spPr>
        <p:txBody>
          <a:bodyPr wrap="square" lIns="0" rIns="0" tIns="0" bIns="0">
            <a:spAutoFit/>
          </a:bodyPr>
          <a:lstStyle/>
          <a:p>
            <a:pPr algn="ctr"/>
            <a:r>
              <a:rPr sz="1600" b="1">
                <a:solidFill>
                  <a:srgbClr val="13294B"/>
                </a:solidFill>
                <a:latin typeface="Calibri"/>
              </a:rPr>
              <a:t>Model interpretation (SHAP)</a:t>
            </a:r>
          </a:p>
        </p:txBody>
      </p:sp>
      <p:sp>
        <p:nvSpPr>
          <p:cNvPr id="16" name="Rounded Rectangle 15"/>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Uptake magnitude and kinetics support dosimetry prediction</a:t>
            </a:r>
          </a:p>
        </p:txBody>
      </p:sp>
      <p:sp>
        <p:nvSpPr>
          <p:cNvPr id="18" name="TextBox 17"/>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2286000"/>
            <a:ext cx="10160000" cy="254000"/>
          </a:xfrm>
          <a:prstGeom prst="rect">
            <a:avLst/>
          </a:prstGeom>
          <a:noFill/>
        </p:spPr>
        <p:txBody>
          <a:bodyPr wrap="square" lIns="0" rIns="0" tIns="0" bIns="0">
            <a:spAutoFit/>
          </a:bodyPr>
          <a:lstStyle/>
          <a:p>
            <a:r>
              <a:rPr sz="1800" b="1" i="0">
                <a:solidFill>
                  <a:srgbClr val="BFD8D5"/>
                </a:solidFill>
                <a:latin typeface="Calibri"/>
              </a:rPr>
              <a:t>PART II · 10 MINUTES</a:t>
            </a:r>
          </a:p>
        </p:txBody>
      </p:sp>
      <p:sp>
        <p:nvSpPr>
          <p:cNvPr id="4" name="TextBox 3"/>
          <p:cNvSpPr txBox="1"/>
          <p:nvPr/>
        </p:nvSpPr>
        <p:spPr>
          <a:xfrm>
            <a:off x="812800" y="2540000"/>
            <a:ext cx="10160000" cy="1270000"/>
          </a:xfrm>
          <a:prstGeom prst="rect">
            <a:avLst/>
          </a:prstGeom>
          <a:noFill/>
        </p:spPr>
        <p:txBody>
          <a:bodyPr wrap="square" lIns="0" rIns="0" tIns="0" bIns="0">
            <a:spAutoFit/>
          </a:bodyPr>
          <a:lstStyle/>
          <a:p>
            <a:r>
              <a:rPr sz="5000" b="1" i="0">
                <a:solidFill>
                  <a:srgbClr val="F7F7F3"/>
                </a:solidFill>
                <a:latin typeface="Garamond"/>
              </a:rPr>
              <a:t>Research vision</a:t>
            </a:r>
          </a:p>
        </p:txBody>
      </p:sp>
      <p:sp>
        <p:nvSpPr>
          <p:cNvPr id="5" name="Rectangle 4"/>
          <p:cNvSpPr/>
          <p:nvPr/>
        </p:nvSpPr>
        <p:spPr>
          <a:xfrm>
            <a:off x="812800" y="4127500"/>
            <a:ext cx="3302000" cy="254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4318000"/>
            <a:ext cx="9525000" cy="381000"/>
          </a:xfrm>
          <a:prstGeom prst="rect">
            <a:avLst/>
          </a:prstGeom>
          <a:noFill/>
        </p:spPr>
        <p:txBody>
          <a:bodyPr wrap="square" lIns="0" rIns="0" tIns="0" bIns="0">
            <a:spAutoFit/>
          </a:bodyPr>
          <a:lstStyle/>
          <a:p>
            <a:r>
              <a:rPr sz="2200" b="0" i="0">
                <a:solidFill>
                  <a:srgbClr val="BFD8D5"/>
                </a:solidFill>
                <a:latin typeface="Calibri"/>
              </a:rPr>
              <a:t>Five aims: imaging biomarkers → AI imaging → digital twins → advanced therapy → virtual trials</a:t>
            </a:r>
          </a:p>
        </p:txBody>
      </p:sp>
      <p:sp>
        <p:nvSpPr>
          <p:cNvPr id="7" name="TextBox 6"/>
          <p:cNvSpPr txBox="1"/>
          <p:nvPr/>
        </p:nvSpPr>
        <p:spPr>
          <a:xfrm>
            <a:off x="10795000" y="6375400"/>
            <a:ext cx="584200" cy="190500"/>
          </a:xfrm>
          <a:prstGeom prst="rect">
            <a:avLst/>
          </a:prstGeom>
          <a:noFill/>
        </p:spPr>
        <p:txBody>
          <a:bodyPr wrap="square" lIns="0" rIns="0" tIns="0" bIns="0">
            <a:spAutoFit/>
          </a:bodyPr>
          <a:lstStyle/>
          <a:p>
            <a:r>
              <a:rPr sz="1100" b="0" i="0">
                <a:solidFill>
                  <a:srgbClr val="BFD8D5"/>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C0452D"/>
                </a:solidFill>
                <a:latin typeface="Calibri"/>
              </a:rPr>
              <a:t>AIM I</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Quantitative molecular imaging biomarkers</a:t>
            </a:r>
          </a:p>
        </p:txBody>
      </p:sp>
      <p:sp>
        <p:nvSpPr>
          <p:cNvPr id="5" name="TextBox 4"/>
          <p:cNvSpPr txBox="1"/>
          <p:nvPr/>
        </p:nvSpPr>
        <p:spPr>
          <a:xfrm>
            <a:off x="812800" y="6286500"/>
            <a:ext cx="9525000" cy="190500"/>
          </a:xfrm>
          <a:prstGeom prst="rect">
            <a:avLst/>
          </a:prstGeom>
          <a:noFill/>
        </p:spPr>
        <p:txBody>
          <a:bodyPr wrap="square" lIns="0" rIns="0" tIns="0" bIns="0">
            <a:spAutoFit/>
          </a:bodyPr>
          <a:lstStyle/>
          <a:p>
            <a:r>
              <a:rPr sz="1100" b="0">
                <a:solidFill>
                  <a:srgbClr val="4A5568"/>
                </a:solidFill>
                <a:latin typeface="Calibri"/>
              </a:rPr>
              <a:t>Concept adapted from Tharmaseelan et al., Cancers 2022;14:3349 (CC BY 4.0), extended to the proposed research vision</a:t>
            </a:r>
          </a:p>
        </p:txBody>
      </p:sp>
      <p:sp>
        <p:nvSpPr>
          <p:cNvPr id="6" name="Rounded Rectangle 5"/>
          <p:cNvSpPr/>
          <p:nvPr/>
        </p:nvSpPr>
        <p:spPr>
          <a:xfrm>
            <a:off x="812800" y="1397000"/>
            <a:ext cx="29845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1-measure.jpg"/>
          <p:cNvPicPr>
            <a:picLocks noChangeAspect="1"/>
          </p:cNvPicPr>
          <p:nvPr/>
        </p:nvPicPr>
        <p:blipFill>
          <a:blip r:embed="rId3"/>
          <a:stretch>
            <a:fillRect/>
          </a:stretch>
        </p:blipFill>
        <p:spPr>
          <a:xfrm>
            <a:off x="939800" y="1954998"/>
            <a:ext cx="2730500" cy="928703"/>
          </a:xfrm>
          <a:prstGeom prst="rect">
            <a:avLst/>
          </a:prstGeom>
        </p:spPr>
      </p:pic>
      <p:sp>
        <p:nvSpPr>
          <p:cNvPr id="8" name="TextBox 7"/>
          <p:cNvSpPr txBox="1"/>
          <p:nvPr/>
        </p:nvSpPr>
        <p:spPr>
          <a:xfrm>
            <a:off x="939800" y="3429000"/>
            <a:ext cx="2730500" cy="254000"/>
          </a:xfrm>
          <a:prstGeom prst="rect">
            <a:avLst/>
          </a:prstGeom>
          <a:noFill/>
        </p:spPr>
        <p:txBody>
          <a:bodyPr wrap="square" lIns="0" rIns="0" tIns="0" bIns="0">
            <a:spAutoFit/>
          </a:bodyPr>
          <a:lstStyle/>
          <a:p>
            <a:r>
              <a:rPr sz="1700" b="1">
                <a:solidFill>
                  <a:srgbClr val="13294B"/>
                </a:solidFill>
                <a:latin typeface="Calibri"/>
              </a:rPr>
              <a:t>1  Measure disease</a:t>
            </a:r>
          </a:p>
        </p:txBody>
      </p:sp>
      <p:sp>
        <p:nvSpPr>
          <p:cNvPr id="9" name="TextBox 8"/>
          <p:cNvSpPr txBox="1"/>
          <p:nvPr/>
        </p:nvSpPr>
        <p:spPr>
          <a:xfrm>
            <a:off x="939800" y="3708400"/>
            <a:ext cx="27305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Combine PET/CT, SPECT and MRI</a:t>
            </a:r>
          </a:p>
          <a:p>
            <a:pPr>
              <a:spcAft>
                <a:spcPts val="400"/>
              </a:spcAft>
            </a:pPr>
            <a:r>
              <a:rPr sz="1500" b="0">
                <a:solidFill>
                  <a:srgbClr val="4A5568"/>
                </a:solidFill>
                <a:latin typeface="Calibri"/>
              </a:rPr>
              <a:t>• Burden, target expression, tracer kinetics</a:t>
            </a:r>
          </a:p>
          <a:p>
            <a:pPr>
              <a:spcAft>
                <a:spcPts val="400"/>
              </a:spcAft>
            </a:pPr>
            <a:r>
              <a:rPr sz="1500" b="0">
                <a:solidFill>
                  <a:srgbClr val="4A5568"/>
                </a:solidFill>
                <a:latin typeface="Calibri"/>
              </a:rPr>
              <a:t>• Change over time; PSMA and SSTR theranostics</a:t>
            </a:r>
          </a:p>
        </p:txBody>
      </p:sp>
      <p:sp>
        <p:nvSpPr>
          <p:cNvPr id="10" name="Right Arrow 9"/>
          <p:cNvSpPr/>
          <p:nvPr/>
        </p:nvSpPr>
        <p:spPr>
          <a:xfrm>
            <a:off x="38481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089400" y="1397000"/>
            <a:ext cx="3822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1-tumour.jpg"/>
          <p:cNvPicPr>
            <a:picLocks noChangeAspect="1"/>
          </p:cNvPicPr>
          <p:nvPr/>
        </p:nvPicPr>
        <p:blipFill>
          <a:blip r:embed="rId4"/>
          <a:stretch>
            <a:fillRect/>
          </a:stretch>
        </p:blipFill>
        <p:spPr>
          <a:xfrm>
            <a:off x="4354334" y="1498600"/>
            <a:ext cx="1470381" cy="1841500"/>
          </a:xfrm>
          <a:prstGeom prst="rect">
            <a:avLst/>
          </a:prstGeom>
        </p:spPr>
      </p:pic>
      <p:pic>
        <p:nvPicPr>
          <p:cNvPr id="13" name="Picture 12" descr="a1-normal.jpg"/>
          <p:cNvPicPr>
            <a:picLocks noChangeAspect="1"/>
          </p:cNvPicPr>
          <p:nvPr/>
        </p:nvPicPr>
        <p:blipFill>
          <a:blip r:embed="rId5"/>
          <a:stretch>
            <a:fillRect/>
          </a:stretch>
        </p:blipFill>
        <p:spPr>
          <a:xfrm>
            <a:off x="6198821" y="1498600"/>
            <a:ext cx="1426307" cy="1841500"/>
          </a:xfrm>
          <a:prstGeom prst="rect">
            <a:avLst/>
          </a:prstGeom>
        </p:spPr>
      </p:pic>
      <p:sp>
        <p:nvSpPr>
          <p:cNvPr id="14" name="TextBox 13"/>
          <p:cNvSpPr txBox="1"/>
          <p:nvPr/>
        </p:nvSpPr>
        <p:spPr>
          <a:xfrm>
            <a:off x="4216400" y="3429000"/>
            <a:ext cx="3568700" cy="254000"/>
          </a:xfrm>
          <a:prstGeom prst="rect">
            <a:avLst/>
          </a:prstGeom>
          <a:noFill/>
        </p:spPr>
        <p:txBody>
          <a:bodyPr wrap="square" lIns="0" rIns="0" tIns="0" bIns="0">
            <a:spAutoFit/>
          </a:bodyPr>
          <a:lstStyle/>
          <a:p>
            <a:r>
              <a:rPr sz="1700" b="1">
                <a:solidFill>
                  <a:srgbClr val="13294B"/>
                </a:solidFill>
                <a:latin typeface="Calibri"/>
              </a:rPr>
              <a:t>2  Characterize biology</a:t>
            </a:r>
          </a:p>
        </p:txBody>
      </p:sp>
      <p:sp>
        <p:nvSpPr>
          <p:cNvPr id="15" name="TextBox 14"/>
          <p:cNvSpPr txBox="1"/>
          <p:nvPr/>
        </p:nvSpPr>
        <p:spPr>
          <a:xfrm>
            <a:off x="4216400" y="3708400"/>
            <a:ext cx="35687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Heterogeneity within and between lesions</a:t>
            </a:r>
          </a:p>
          <a:p>
            <a:pPr>
              <a:spcAft>
                <a:spcPts val="400"/>
              </a:spcAft>
            </a:pPr>
            <a:r>
              <a:rPr sz="1500" b="0">
                <a:solidFill>
                  <a:srgbClr val="4A5568"/>
                </a:solidFill>
                <a:latin typeface="Calibri"/>
              </a:rPr>
              <a:t>• Receptors, perfusion, hypoxia; normal-organ uptake and clearance</a:t>
            </a:r>
          </a:p>
          <a:p>
            <a:pPr>
              <a:spcAft>
                <a:spcPts val="400"/>
              </a:spcAft>
            </a:pPr>
            <a:r>
              <a:rPr sz="1500" b="0">
                <a:solidFill>
                  <a:srgbClr val="4A5568"/>
                </a:solidFill>
                <a:latin typeface="Calibri"/>
              </a:rPr>
              <a:t>• Radiomics/AI + molecular and clinical data → stratification and targeting</a:t>
            </a:r>
          </a:p>
        </p:txBody>
      </p:sp>
      <p:sp>
        <p:nvSpPr>
          <p:cNvPr id="16" name="Right Arrow 15"/>
          <p:cNvSpPr/>
          <p:nvPr/>
        </p:nvSpPr>
        <p:spPr>
          <a:xfrm>
            <a:off x="79629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04200" y="1397000"/>
            <a:ext cx="29845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1-twin.jpg"/>
          <p:cNvPicPr>
            <a:picLocks noChangeAspect="1"/>
          </p:cNvPicPr>
          <p:nvPr/>
        </p:nvPicPr>
        <p:blipFill>
          <a:blip r:embed="rId6"/>
          <a:stretch>
            <a:fillRect/>
          </a:stretch>
        </p:blipFill>
        <p:spPr>
          <a:xfrm>
            <a:off x="8331200" y="1570839"/>
            <a:ext cx="2730500" cy="1697020"/>
          </a:xfrm>
          <a:prstGeom prst="rect">
            <a:avLst/>
          </a:prstGeom>
        </p:spPr>
      </p:pic>
      <p:sp>
        <p:nvSpPr>
          <p:cNvPr id="19" name="TextBox 18"/>
          <p:cNvSpPr txBox="1"/>
          <p:nvPr/>
        </p:nvSpPr>
        <p:spPr>
          <a:xfrm>
            <a:off x="8331200" y="3429000"/>
            <a:ext cx="2730500" cy="254000"/>
          </a:xfrm>
          <a:prstGeom prst="rect">
            <a:avLst/>
          </a:prstGeom>
          <a:noFill/>
        </p:spPr>
        <p:txBody>
          <a:bodyPr wrap="square" lIns="0" rIns="0" tIns="0" bIns="0">
            <a:spAutoFit/>
          </a:bodyPr>
          <a:lstStyle/>
          <a:p>
            <a:r>
              <a:rPr sz="1700" b="1">
                <a:solidFill>
                  <a:srgbClr val="13294B"/>
                </a:solidFill>
                <a:latin typeface="Calibri"/>
              </a:rPr>
              <a:t>3  Predict and personalize</a:t>
            </a:r>
          </a:p>
        </p:txBody>
      </p:sp>
      <p:sp>
        <p:nvSpPr>
          <p:cNvPr id="20" name="TextBox 19"/>
          <p:cNvSpPr txBox="1"/>
          <p:nvPr/>
        </p:nvSpPr>
        <p:spPr>
          <a:xfrm>
            <a:off x="8331200" y="3708400"/>
            <a:ext cx="27305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Digital twin of tumour + normal organs</a:t>
            </a:r>
          </a:p>
          <a:p>
            <a:pPr>
              <a:spcAft>
                <a:spcPts val="400"/>
              </a:spcAft>
            </a:pPr>
            <a:r>
              <a:rPr sz="1500" b="0">
                <a:solidFill>
                  <a:srgbClr val="4A5568"/>
                </a:solidFill>
                <a:latin typeface="Calibri"/>
              </a:rPr>
              <a:t>• Predictive dosimetry: tumour control vs toxicity</a:t>
            </a:r>
          </a:p>
          <a:p>
            <a:pPr>
              <a:spcAft>
                <a:spcPts val="400"/>
              </a:spcAft>
            </a:pPr>
            <a:r>
              <a:rPr sz="1500" b="0">
                <a:solidFill>
                  <a:srgbClr val="4A5568"/>
                </a:solidFill>
                <a:latin typeface="Calibri"/>
              </a:rPr>
              <a:t>• Virtual trials; models updated with new imaging</a:t>
            </a:r>
          </a:p>
        </p:txBody>
      </p:sp>
      <p:sp>
        <p:nvSpPr>
          <p:cNvPr id="21" name="Rounded Rectangle 20"/>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6000" y="5511800"/>
            <a:ext cx="10160000" cy="254000"/>
          </a:xfrm>
          <a:prstGeom prst="rect">
            <a:avLst/>
          </a:prstGeom>
          <a:noFill/>
        </p:spPr>
        <p:txBody>
          <a:bodyPr wrap="square" lIns="0" rIns="0" tIns="0" bIns="0">
            <a:spAutoFit/>
          </a:bodyPr>
          <a:lstStyle/>
          <a:p>
            <a:r>
              <a:rPr sz="1600" b="0">
                <a:solidFill>
                  <a:srgbClr val="13294B"/>
                </a:solidFill>
                <a:latin typeface="Calibri"/>
              </a:rPr>
              <a:t>Goal: a predictive, therapy-guiding imaging platform — reproducible and clinically validated.</a:t>
            </a:r>
          </a:p>
        </p:txBody>
      </p:sp>
      <p:sp>
        <p:nvSpPr>
          <p:cNvPr id="23" name="TextBox 22"/>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C0452D"/>
                </a:solidFill>
                <a:latin typeface="Calibri"/>
              </a:rPr>
              <a:t>AIM II</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AI-enhanced molecular imaging</a:t>
            </a:r>
          </a:p>
        </p:txBody>
      </p:sp>
      <p:sp>
        <p:nvSpPr>
          <p:cNvPr id="5" name="TextBox 4"/>
          <p:cNvSpPr txBox="1"/>
          <p:nvPr/>
        </p:nvSpPr>
        <p:spPr>
          <a:xfrm>
            <a:off x="812800" y="6286500"/>
            <a:ext cx="9525000" cy="190500"/>
          </a:xfrm>
          <a:prstGeom prst="rect">
            <a:avLst/>
          </a:prstGeom>
          <a:noFill/>
        </p:spPr>
        <p:txBody>
          <a:bodyPr wrap="square" lIns="0" rIns="0" tIns="0" bIns="0">
            <a:spAutoFit/>
          </a:bodyPr>
          <a:lstStyle/>
          <a:p>
            <a:r>
              <a:rPr sz="1100" b="0">
                <a:solidFill>
                  <a:srgbClr val="4A5568"/>
                </a:solidFill>
                <a:latin typeface="Calibri"/>
              </a:rPr>
              <a:t>Proposed research framework · informed by Herskovits (2021) and Mansouri et al. (2026)</a:t>
            </a:r>
          </a:p>
        </p:txBody>
      </p:sp>
      <p:sp>
        <p:nvSpPr>
          <p:cNvPr id="6" name="Rounded Rectangle 5"/>
          <p:cNvSpPr/>
          <p:nvPr/>
        </p:nvSpPr>
        <p:spPr>
          <a:xfrm>
            <a:off x="812800" y="1397000"/>
            <a:ext cx="2425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2-acquire.jpg"/>
          <p:cNvPicPr>
            <a:picLocks noChangeAspect="1"/>
          </p:cNvPicPr>
          <p:nvPr/>
        </p:nvPicPr>
        <p:blipFill>
          <a:blip r:embed="rId3"/>
          <a:stretch>
            <a:fillRect/>
          </a:stretch>
        </p:blipFill>
        <p:spPr>
          <a:xfrm>
            <a:off x="939800" y="1599639"/>
            <a:ext cx="2171700" cy="1639420"/>
          </a:xfrm>
          <a:prstGeom prst="rect">
            <a:avLst/>
          </a:prstGeom>
        </p:spPr>
      </p:pic>
      <p:sp>
        <p:nvSpPr>
          <p:cNvPr id="8" name="TextBox 7"/>
          <p:cNvSpPr txBox="1"/>
          <p:nvPr/>
        </p:nvSpPr>
        <p:spPr>
          <a:xfrm>
            <a:off x="939800" y="3429000"/>
            <a:ext cx="2171700" cy="254000"/>
          </a:xfrm>
          <a:prstGeom prst="rect">
            <a:avLst/>
          </a:prstGeom>
          <a:noFill/>
        </p:spPr>
        <p:txBody>
          <a:bodyPr wrap="square" lIns="0" rIns="0" tIns="0" bIns="0">
            <a:spAutoFit/>
          </a:bodyPr>
          <a:lstStyle/>
          <a:p>
            <a:r>
              <a:rPr sz="1700" b="1">
                <a:solidFill>
                  <a:srgbClr val="13294B"/>
                </a:solidFill>
                <a:latin typeface="Calibri"/>
              </a:rPr>
              <a:t>1  Acquire</a:t>
            </a:r>
          </a:p>
        </p:txBody>
      </p:sp>
      <p:sp>
        <p:nvSpPr>
          <p:cNvPr id="9" name="TextBox 8"/>
          <p:cNvSpPr txBox="1"/>
          <p:nvPr/>
        </p:nvSpPr>
        <p:spPr>
          <a:xfrm>
            <a:off x="939800" y="3708400"/>
            <a:ext cx="21717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Physics-informed reconstruction</a:t>
            </a:r>
          </a:p>
          <a:p>
            <a:pPr>
              <a:spcAft>
                <a:spcPts val="400"/>
              </a:spcAft>
            </a:pPr>
            <a:r>
              <a:rPr sz="1500" b="0">
                <a:solidFill>
                  <a:srgbClr val="4A5568"/>
                </a:solidFill>
                <a:latin typeface="Calibri"/>
              </a:rPr>
              <a:t>• Lower-dose, faster PET/SPECT</a:t>
            </a:r>
          </a:p>
          <a:p>
            <a:pPr>
              <a:spcAft>
                <a:spcPts val="400"/>
              </a:spcAft>
            </a:pPr>
            <a:r>
              <a:rPr sz="1500" b="0">
                <a:solidFill>
                  <a:srgbClr val="4A5568"/>
                </a:solidFill>
                <a:latin typeface="Calibri"/>
              </a:rPr>
              <a:t>• Quantitative accuracy kept</a:t>
            </a:r>
          </a:p>
        </p:txBody>
      </p:sp>
      <p:sp>
        <p:nvSpPr>
          <p:cNvPr id="10" name="Right Arrow 9"/>
          <p:cNvSpPr/>
          <p:nvPr/>
        </p:nvSpPr>
        <p:spPr>
          <a:xfrm>
            <a:off x="32893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30600" y="1397000"/>
            <a:ext cx="2425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2-enhance.jpg"/>
          <p:cNvPicPr>
            <a:picLocks noChangeAspect="1"/>
          </p:cNvPicPr>
          <p:nvPr/>
        </p:nvPicPr>
        <p:blipFill>
          <a:blip r:embed="rId4"/>
          <a:stretch>
            <a:fillRect/>
          </a:stretch>
        </p:blipFill>
        <p:spPr>
          <a:xfrm>
            <a:off x="3657600" y="1811046"/>
            <a:ext cx="2171700" cy="1216606"/>
          </a:xfrm>
          <a:prstGeom prst="rect">
            <a:avLst/>
          </a:prstGeom>
        </p:spPr>
      </p:pic>
      <p:sp>
        <p:nvSpPr>
          <p:cNvPr id="13" name="TextBox 12"/>
          <p:cNvSpPr txBox="1"/>
          <p:nvPr/>
        </p:nvSpPr>
        <p:spPr>
          <a:xfrm>
            <a:off x="3657600" y="3429000"/>
            <a:ext cx="2171700" cy="254000"/>
          </a:xfrm>
          <a:prstGeom prst="rect">
            <a:avLst/>
          </a:prstGeom>
          <a:noFill/>
        </p:spPr>
        <p:txBody>
          <a:bodyPr wrap="square" lIns="0" rIns="0" tIns="0" bIns="0">
            <a:spAutoFit/>
          </a:bodyPr>
          <a:lstStyle/>
          <a:p>
            <a:r>
              <a:rPr sz="1700" b="1">
                <a:solidFill>
                  <a:srgbClr val="13294B"/>
                </a:solidFill>
                <a:latin typeface="Calibri"/>
              </a:rPr>
              <a:t>2  Enhance</a:t>
            </a:r>
          </a:p>
        </p:txBody>
      </p:sp>
      <p:sp>
        <p:nvSpPr>
          <p:cNvPr id="14" name="TextBox 13"/>
          <p:cNvSpPr txBox="1"/>
          <p:nvPr/>
        </p:nvSpPr>
        <p:spPr>
          <a:xfrm>
            <a:off x="3657600" y="3708400"/>
            <a:ext cx="21717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AI denoising</a:t>
            </a:r>
          </a:p>
          <a:p>
            <a:pPr>
              <a:spcAft>
                <a:spcPts val="400"/>
              </a:spcAft>
            </a:pPr>
            <a:r>
              <a:rPr sz="1500" b="0">
                <a:solidFill>
                  <a:srgbClr val="4A5568"/>
                </a:solidFill>
                <a:latin typeface="Calibri"/>
              </a:rPr>
              <a:t>• Lesion detection and segmentation</a:t>
            </a:r>
          </a:p>
          <a:p>
            <a:pPr>
              <a:spcAft>
                <a:spcPts val="400"/>
              </a:spcAft>
            </a:pPr>
            <a:r>
              <a:rPr sz="1500" b="0">
                <a:solidFill>
                  <a:srgbClr val="4A5568"/>
                </a:solidFill>
                <a:latin typeface="Calibri"/>
              </a:rPr>
              <a:t>• Registration over time</a:t>
            </a:r>
          </a:p>
        </p:txBody>
      </p:sp>
      <p:sp>
        <p:nvSpPr>
          <p:cNvPr id="15" name="Right Arrow 14"/>
          <p:cNvSpPr/>
          <p:nvPr/>
        </p:nvSpPr>
        <p:spPr>
          <a:xfrm>
            <a:off x="60071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48400" y="1397000"/>
            <a:ext cx="2425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2-quantify.jpg"/>
          <p:cNvPicPr>
            <a:picLocks noChangeAspect="1"/>
          </p:cNvPicPr>
          <p:nvPr/>
        </p:nvPicPr>
        <p:blipFill>
          <a:blip r:embed="rId5"/>
          <a:stretch>
            <a:fillRect/>
          </a:stretch>
        </p:blipFill>
        <p:spPr>
          <a:xfrm>
            <a:off x="6375400" y="1832934"/>
            <a:ext cx="2171700" cy="1172830"/>
          </a:xfrm>
          <a:prstGeom prst="rect">
            <a:avLst/>
          </a:prstGeom>
        </p:spPr>
      </p:pic>
      <p:sp>
        <p:nvSpPr>
          <p:cNvPr id="18" name="TextBox 17"/>
          <p:cNvSpPr txBox="1"/>
          <p:nvPr/>
        </p:nvSpPr>
        <p:spPr>
          <a:xfrm>
            <a:off x="6375400" y="3429000"/>
            <a:ext cx="2171700" cy="254000"/>
          </a:xfrm>
          <a:prstGeom prst="rect">
            <a:avLst/>
          </a:prstGeom>
          <a:noFill/>
        </p:spPr>
        <p:txBody>
          <a:bodyPr wrap="square" lIns="0" rIns="0" tIns="0" bIns="0">
            <a:spAutoFit/>
          </a:bodyPr>
          <a:lstStyle/>
          <a:p>
            <a:r>
              <a:rPr sz="1700" b="1">
                <a:solidFill>
                  <a:srgbClr val="13294B"/>
                </a:solidFill>
                <a:latin typeface="Calibri"/>
              </a:rPr>
              <a:t>3  Quantify</a:t>
            </a:r>
          </a:p>
        </p:txBody>
      </p:sp>
      <p:sp>
        <p:nvSpPr>
          <p:cNvPr id="19" name="TextBox 18"/>
          <p:cNvSpPr txBox="1"/>
          <p:nvPr/>
        </p:nvSpPr>
        <p:spPr>
          <a:xfrm>
            <a:off x="6375400" y="3708400"/>
            <a:ext cx="21717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Disease burden and heterogeneity</a:t>
            </a:r>
          </a:p>
          <a:p>
            <a:pPr>
              <a:spcAft>
                <a:spcPts val="400"/>
              </a:spcAft>
            </a:pPr>
            <a:r>
              <a:rPr sz="1500" b="0">
                <a:solidFill>
                  <a:srgbClr val="4A5568"/>
                </a:solidFill>
                <a:latin typeface="Calibri"/>
              </a:rPr>
              <a:t>• Radiomics + clinical + biology</a:t>
            </a:r>
          </a:p>
          <a:p>
            <a:pPr>
              <a:spcAft>
                <a:spcPts val="400"/>
              </a:spcAft>
            </a:pPr>
            <a:r>
              <a:rPr sz="1500" b="0">
                <a:solidFill>
                  <a:srgbClr val="4A5568"/>
                </a:solidFill>
                <a:latin typeface="Calibri"/>
              </a:rPr>
              <a:t>• Personalized dosimetry</a:t>
            </a:r>
          </a:p>
        </p:txBody>
      </p:sp>
      <p:sp>
        <p:nvSpPr>
          <p:cNvPr id="20" name="Right Arrow 19"/>
          <p:cNvSpPr/>
          <p:nvPr/>
        </p:nvSpPr>
        <p:spPr>
          <a:xfrm>
            <a:off x="87249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66200" y="1397000"/>
            <a:ext cx="24257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2-support.jpg"/>
          <p:cNvPicPr>
            <a:picLocks noChangeAspect="1"/>
          </p:cNvPicPr>
          <p:nvPr/>
        </p:nvPicPr>
        <p:blipFill>
          <a:blip r:embed="rId6"/>
          <a:stretch>
            <a:fillRect/>
          </a:stretch>
        </p:blipFill>
        <p:spPr>
          <a:xfrm>
            <a:off x="9093200" y="1657914"/>
            <a:ext cx="2171700" cy="1522871"/>
          </a:xfrm>
          <a:prstGeom prst="rect">
            <a:avLst/>
          </a:prstGeom>
        </p:spPr>
      </p:pic>
      <p:sp>
        <p:nvSpPr>
          <p:cNvPr id="23" name="TextBox 22"/>
          <p:cNvSpPr txBox="1"/>
          <p:nvPr/>
        </p:nvSpPr>
        <p:spPr>
          <a:xfrm>
            <a:off x="9093200" y="3429000"/>
            <a:ext cx="2171700" cy="254000"/>
          </a:xfrm>
          <a:prstGeom prst="rect">
            <a:avLst/>
          </a:prstGeom>
          <a:noFill/>
        </p:spPr>
        <p:txBody>
          <a:bodyPr wrap="square" lIns="0" rIns="0" tIns="0" bIns="0">
            <a:spAutoFit/>
          </a:bodyPr>
          <a:lstStyle/>
          <a:p>
            <a:r>
              <a:rPr sz="1700" b="1">
                <a:solidFill>
                  <a:srgbClr val="13294B"/>
                </a:solidFill>
                <a:latin typeface="Calibri"/>
              </a:rPr>
              <a:t>4  Support</a:t>
            </a:r>
          </a:p>
        </p:txBody>
      </p:sp>
      <p:sp>
        <p:nvSpPr>
          <p:cNvPr id="24" name="TextBox 23"/>
          <p:cNvSpPr txBox="1"/>
          <p:nvPr/>
        </p:nvSpPr>
        <p:spPr>
          <a:xfrm>
            <a:off x="9093200" y="3708400"/>
            <a:ext cx="2171700" cy="1435100"/>
          </a:xfrm>
          <a:prstGeom prst="rect">
            <a:avLst/>
          </a:prstGeom>
          <a:noFill/>
        </p:spPr>
        <p:txBody>
          <a:bodyPr wrap="square" lIns="0" rIns="0" tIns="0" bIns="0">
            <a:spAutoFit/>
          </a:bodyPr>
          <a:lstStyle/>
          <a:p>
            <a:pPr>
              <a:spcAft>
                <a:spcPts val="400"/>
              </a:spcAft>
            </a:pPr>
            <a:r>
              <a:rPr sz="1500" b="0">
                <a:solidFill>
                  <a:srgbClr val="4A5568"/>
                </a:solidFill>
                <a:latin typeface="Calibri"/>
              </a:rPr>
              <a:t>• Therapy-response prediction</a:t>
            </a:r>
          </a:p>
          <a:p>
            <a:pPr>
              <a:spcAft>
                <a:spcPts val="400"/>
              </a:spcAft>
            </a:pPr>
            <a:r>
              <a:rPr sz="1500" b="0">
                <a:solidFill>
                  <a:srgbClr val="4A5568"/>
                </a:solidFill>
                <a:latin typeface="Calibri"/>
              </a:rPr>
              <a:t>• Patient stratification</a:t>
            </a:r>
          </a:p>
          <a:p>
            <a:pPr>
              <a:spcAft>
                <a:spcPts val="400"/>
              </a:spcAft>
            </a:pPr>
            <a:r>
              <a:rPr sz="1500" b="0">
                <a:solidFill>
                  <a:srgbClr val="4A5568"/>
                </a:solidFill>
                <a:latin typeface="Calibri"/>
              </a:rPr>
              <a:t>• Interpretable decision support</a:t>
            </a:r>
          </a:p>
        </p:txBody>
      </p:sp>
      <p:sp>
        <p:nvSpPr>
          <p:cNvPr id="25" name="Rounded Rectangle 24"/>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6000" y="5511800"/>
            <a:ext cx="10160000" cy="254000"/>
          </a:xfrm>
          <a:prstGeom prst="rect">
            <a:avLst/>
          </a:prstGeom>
          <a:noFill/>
        </p:spPr>
        <p:txBody>
          <a:bodyPr wrap="square" lIns="0" rIns="0" tIns="0" bIns="0">
            <a:spAutoFit/>
          </a:bodyPr>
          <a:lstStyle/>
          <a:p>
            <a:r>
              <a:rPr sz="1600" b="0">
                <a:solidFill>
                  <a:srgbClr val="13294B"/>
                </a:solidFill>
                <a:latin typeface="Calibri"/>
              </a:rPr>
              <a:t>Priorities: physical consistency · biological interpretability · robust validation — less repetitive work for clinicians.</a:t>
            </a:r>
          </a:p>
        </p:txBody>
      </p:sp>
      <p:sp>
        <p:nvSpPr>
          <p:cNvPr id="27" name="TextBox 26"/>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C0452D"/>
                </a:solidFill>
                <a:latin typeface="Calibri"/>
              </a:rPr>
              <a:t>AIM III</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Digital twins for radiopharmaceutical therapy</a:t>
            </a:r>
          </a:p>
        </p:txBody>
      </p:sp>
      <p:sp>
        <p:nvSpPr>
          <p:cNvPr id="5" name="TextBox 4"/>
          <p:cNvSpPr txBox="1"/>
          <p:nvPr/>
        </p:nvSpPr>
        <p:spPr>
          <a:xfrm>
            <a:off x="812800" y="6286500"/>
            <a:ext cx="9525000" cy="190500"/>
          </a:xfrm>
          <a:prstGeom prst="rect">
            <a:avLst/>
          </a:prstGeom>
          <a:noFill/>
        </p:spPr>
        <p:txBody>
          <a:bodyPr wrap="square" lIns="0" rIns="0" tIns="0" bIns="0">
            <a:spAutoFit/>
          </a:bodyPr>
          <a:lstStyle/>
          <a:p>
            <a:r>
              <a:rPr sz="1100" b="0">
                <a:solidFill>
                  <a:srgbClr val="4A5568"/>
                </a:solidFill>
                <a:latin typeface="Calibri"/>
              </a:rPr>
              <a:t>Proposed RPT adaptation of Lorenzo et al., Annu Rev Biomed Eng 2024;26:529–560 (Figs. 4–6)</a:t>
            </a:r>
          </a:p>
        </p:txBody>
      </p:sp>
      <p:sp>
        <p:nvSpPr>
          <p:cNvPr id="6" name="Rounded Rectangle 5"/>
          <p:cNvSpPr/>
          <p:nvPr/>
        </p:nvSpPr>
        <p:spPr>
          <a:xfrm>
            <a:off x="812800" y="1397000"/>
            <a:ext cx="6858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3-loop.jpg"/>
          <p:cNvPicPr>
            <a:picLocks noChangeAspect="1"/>
          </p:cNvPicPr>
          <p:nvPr/>
        </p:nvPicPr>
        <p:blipFill>
          <a:blip r:embed="rId3"/>
          <a:stretch>
            <a:fillRect/>
          </a:stretch>
        </p:blipFill>
        <p:spPr>
          <a:xfrm>
            <a:off x="939800" y="1883520"/>
            <a:ext cx="6604000" cy="2214658"/>
          </a:xfrm>
          <a:prstGeom prst="rect">
            <a:avLst/>
          </a:prstGeom>
        </p:spPr>
      </p:pic>
      <p:sp>
        <p:nvSpPr>
          <p:cNvPr id="8" name="TextBox 7"/>
          <p:cNvSpPr txBox="1"/>
          <p:nvPr/>
        </p:nvSpPr>
        <p:spPr>
          <a:xfrm>
            <a:off x="939800" y="4597400"/>
            <a:ext cx="6604000" cy="508000"/>
          </a:xfrm>
          <a:prstGeom prst="rect">
            <a:avLst/>
          </a:prstGeom>
          <a:noFill/>
        </p:spPr>
        <p:txBody>
          <a:bodyPr wrap="square" lIns="0" rIns="0" tIns="0" bIns="0">
            <a:spAutoFit/>
          </a:bodyPr>
          <a:lstStyle/>
          <a:p>
            <a:r>
              <a:rPr sz="1400" b="0">
                <a:solidFill>
                  <a:srgbClr val="4A5568"/>
                </a:solidFill>
                <a:latin typeface="Calibri"/>
              </a:rPr>
              <a:t>Imaging and biomarkers calibrate the twin at baseline and update it after every cycle; the twin forecasts and sends back personalized control.</a:t>
            </a:r>
          </a:p>
        </p:txBody>
      </p:sp>
      <p:sp>
        <p:nvSpPr>
          <p:cNvPr id="9" name="Rounded Rectangle 8"/>
          <p:cNvSpPr/>
          <p:nvPr/>
        </p:nvSpPr>
        <p:spPr>
          <a:xfrm>
            <a:off x="7823200" y="1397000"/>
            <a:ext cx="3556000" cy="11938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75600" y="1511300"/>
            <a:ext cx="3302000" cy="254000"/>
          </a:xfrm>
          <a:prstGeom prst="rect">
            <a:avLst/>
          </a:prstGeom>
          <a:noFill/>
        </p:spPr>
        <p:txBody>
          <a:bodyPr wrap="square" lIns="0" rIns="0" tIns="0" bIns="0">
            <a:spAutoFit/>
          </a:bodyPr>
          <a:lstStyle/>
          <a:p>
            <a:r>
              <a:rPr sz="1700" b="1">
                <a:solidFill>
                  <a:srgbClr val="13294B"/>
                </a:solidFill>
                <a:latin typeface="Calibri"/>
              </a:rPr>
              <a:t>1  Mechanistic core</a:t>
            </a:r>
          </a:p>
        </p:txBody>
      </p:sp>
      <p:sp>
        <p:nvSpPr>
          <p:cNvPr id="11" name="TextBox 10"/>
          <p:cNvSpPr txBox="1"/>
          <p:nvPr/>
        </p:nvSpPr>
        <p:spPr>
          <a:xfrm>
            <a:off x="7975600" y="1790700"/>
            <a:ext cx="3302000" cy="698500"/>
          </a:xfrm>
          <a:prstGeom prst="rect">
            <a:avLst/>
          </a:prstGeom>
          <a:noFill/>
        </p:spPr>
        <p:txBody>
          <a:bodyPr wrap="square" lIns="0" rIns="0" tIns="0" bIns="0">
            <a:spAutoFit/>
          </a:bodyPr>
          <a:lstStyle/>
          <a:p>
            <a:r>
              <a:rPr sz="1400" b="0">
                <a:solidFill>
                  <a:srgbClr val="4A5568"/>
                </a:solidFill>
                <a:latin typeface="Calibri"/>
              </a:rPr>
              <a:t>Pharmacokinetics → dose and dose rate → tumour growth, damage, repair, resistance</a:t>
            </a:r>
          </a:p>
        </p:txBody>
      </p:sp>
      <p:sp>
        <p:nvSpPr>
          <p:cNvPr id="12" name="Rounded Rectangle 11"/>
          <p:cNvSpPr/>
          <p:nvPr/>
        </p:nvSpPr>
        <p:spPr>
          <a:xfrm>
            <a:off x="7823200" y="2705100"/>
            <a:ext cx="3556000" cy="11938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75600" y="2819400"/>
            <a:ext cx="3302000" cy="254000"/>
          </a:xfrm>
          <a:prstGeom prst="rect">
            <a:avLst/>
          </a:prstGeom>
          <a:noFill/>
        </p:spPr>
        <p:txBody>
          <a:bodyPr wrap="square" lIns="0" rIns="0" tIns="0" bIns="0">
            <a:spAutoFit/>
          </a:bodyPr>
          <a:lstStyle/>
          <a:p>
            <a:r>
              <a:rPr sz="1700" b="1">
                <a:solidFill>
                  <a:srgbClr val="13294B"/>
                </a:solidFill>
                <a:latin typeface="Calibri"/>
              </a:rPr>
              <a:t>2  AI supports the model</a:t>
            </a:r>
          </a:p>
        </p:txBody>
      </p:sp>
      <p:sp>
        <p:nvSpPr>
          <p:cNvPr id="14" name="TextBox 13"/>
          <p:cNvSpPr txBox="1"/>
          <p:nvPr/>
        </p:nvSpPr>
        <p:spPr>
          <a:xfrm>
            <a:off x="7975600" y="3098800"/>
            <a:ext cx="3302000" cy="698500"/>
          </a:xfrm>
          <a:prstGeom prst="rect">
            <a:avLst/>
          </a:prstGeom>
          <a:noFill/>
        </p:spPr>
        <p:txBody>
          <a:bodyPr wrap="square" lIns="0" rIns="0" tIns="0" bIns="0">
            <a:spAutoFit/>
          </a:bodyPr>
          <a:lstStyle/>
          <a:p>
            <a:r>
              <a:rPr sz="1400" b="0">
                <a:solidFill>
                  <a:srgbClr val="4A5568"/>
                </a:solidFill>
                <a:latin typeface="Calibri"/>
              </a:rPr>
              <a:t>Patient-specific parameters from imaging; fast surrogate simulations</a:t>
            </a:r>
          </a:p>
        </p:txBody>
      </p:sp>
      <p:sp>
        <p:nvSpPr>
          <p:cNvPr id="15" name="Rounded Rectangle 14"/>
          <p:cNvSpPr/>
          <p:nvPr/>
        </p:nvSpPr>
        <p:spPr>
          <a:xfrm>
            <a:off x="7823200" y="4013200"/>
            <a:ext cx="3556000" cy="1193800"/>
          </a:xfrm>
          <a:prstGeom prst="roundRect">
            <a:avLst>
              <a:gd name="adj" fmla="val 4000"/>
            </a:avLst>
          </a:prstGeom>
          <a:solidFill>
            <a:srgbClr val="FBE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75600" y="4127500"/>
            <a:ext cx="3302000" cy="254000"/>
          </a:xfrm>
          <a:prstGeom prst="rect">
            <a:avLst/>
          </a:prstGeom>
          <a:noFill/>
        </p:spPr>
        <p:txBody>
          <a:bodyPr wrap="square" lIns="0" rIns="0" tIns="0" bIns="0">
            <a:spAutoFit/>
          </a:bodyPr>
          <a:lstStyle/>
          <a:p>
            <a:r>
              <a:rPr sz="1700" b="1">
                <a:solidFill>
                  <a:srgbClr val="13294B"/>
                </a:solidFill>
                <a:latin typeface="Calibri"/>
              </a:rPr>
              <a:t>3  Predict → optimize → treat</a:t>
            </a:r>
          </a:p>
        </p:txBody>
      </p:sp>
      <p:sp>
        <p:nvSpPr>
          <p:cNvPr id="17" name="TextBox 16"/>
          <p:cNvSpPr txBox="1"/>
          <p:nvPr/>
        </p:nvSpPr>
        <p:spPr>
          <a:xfrm>
            <a:off x="7975600" y="4406900"/>
            <a:ext cx="3302000" cy="698500"/>
          </a:xfrm>
          <a:prstGeom prst="rect">
            <a:avLst/>
          </a:prstGeom>
          <a:noFill/>
        </p:spPr>
        <p:txBody>
          <a:bodyPr wrap="square" lIns="0" rIns="0" tIns="0" bIns="0">
            <a:spAutoFit/>
          </a:bodyPr>
          <a:lstStyle/>
          <a:p>
            <a:r>
              <a:rPr sz="1400" b="0">
                <a:solidFill>
                  <a:srgbClr val="4A5568"/>
                </a:solidFill>
                <a:latin typeface="Calibri"/>
              </a:rPr>
              <a:t>Predict response and toxicity → best activity, timing and number of cycles</a:t>
            </a:r>
          </a:p>
        </p:txBody>
      </p:sp>
      <p:sp>
        <p:nvSpPr>
          <p:cNvPr id="18" name="Rounded Rectangle 17"/>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6000" y="5511800"/>
            <a:ext cx="10160000" cy="254000"/>
          </a:xfrm>
          <a:prstGeom prst="rect">
            <a:avLst/>
          </a:prstGeom>
          <a:noFill/>
        </p:spPr>
        <p:txBody>
          <a:bodyPr wrap="square" lIns="0" rIns="0" tIns="0" bIns="0">
            <a:spAutoFit/>
          </a:bodyPr>
          <a:lstStyle/>
          <a:p>
            <a:r>
              <a:rPr sz="1600" b="0">
                <a:solidFill>
                  <a:srgbClr val="13294B"/>
                </a:solidFill>
                <a:latin typeface="Calibri"/>
              </a:rPr>
              <a:t>Feedback loop: measure → predict → optimize → update — then validate prospectively.</a:t>
            </a:r>
          </a:p>
        </p:txBody>
      </p:sp>
      <p:sp>
        <p:nvSpPr>
          <p:cNvPr id="20" name="TextBox 19"/>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C0452D"/>
                </a:solidFill>
                <a:latin typeface="Calibri"/>
              </a:rPr>
              <a:t>AIM IV</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Advanced therapeutic technologies</a:t>
            </a:r>
          </a:p>
        </p:txBody>
      </p:sp>
      <p:sp>
        <p:nvSpPr>
          <p:cNvPr id="5" name="TextBox 4"/>
          <p:cNvSpPr txBox="1"/>
          <p:nvPr/>
        </p:nvSpPr>
        <p:spPr>
          <a:xfrm>
            <a:off x="812800" y="6286500"/>
            <a:ext cx="9525000" cy="190500"/>
          </a:xfrm>
          <a:prstGeom prst="rect">
            <a:avLst/>
          </a:prstGeom>
          <a:noFill/>
        </p:spPr>
        <p:txBody>
          <a:bodyPr wrap="square" lIns="0" rIns="0" tIns="0" bIns="0">
            <a:spAutoFit/>
          </a:bodyPr>
          <a:lstStyle/>
          <a:p>
            <a:r>
              <a:rPr sz="1100" b="0">
                <a:solidFill>
                  <a:srgbClr val="4A5568"/>
                </a:solidFill>
                <a:latin typeface="Calibri"/>
              </a:rPr>
              <a:t>Oderinde et al. (2021) · Lazzeroni et al. (2026) · Abdel-Wahab &amp; Giammarile (2026)</a:t>
            </a:r>
          </a:p>
        </p:txBody>
      </p:sp>
      <p:sp>
        <p:nvSpPr>
          <p:cNvPr id="6" name="Rounded Rectangle 5"/>
          <p:cNvSpPr/>
          <p:nvPr/>
        </p:nvSpPr>
        <p:spPr>
          <a:xfrm>
            <a:off x="812800" y="1397000"/>
            <a:ext cx="2540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4-rpt.jpg"/>
          <p:cNvPicPr>
            <a:picLocks noChangeAspect="1"/>
          </p:cNvPicPr>
          <p:nvPr/>
        </p:nvPicPr>
        <p:blipFill>
          <a:blip r:embed="rId3"/>
          <a:stretch>
            <a:fillRect/>
          </a:stretch>
        </p:blipFill>
        <p:spPr>
          <a:xfrm>
            <a:off x="1458042" y="1498600"/>
            <a:ext cx="1249514" cy="1809750"/>
          </a:xfrm>
          <a:prstGeom prst="rect">
            <a:avLst/>
          </a:prstGeom>
        </p:spPr>
      </p:pic>
      <p:sp>
        <p:nvSpPr>
          <p:cNvPr id="8" name="TextBox 7"/>
          <p:cNvSpPr txBox="1"/>
          <p:nvPr/>
        </p:nvSpPr>
        <p:spPr>
          <a:xfrm>
            <a:off x="939800" y="3397250"/>
            <a:ext cx="2286000" cy="254000"/>
          </a:xfrm>
          <a:prstGeom prst="rect">
            <a:avLst/>
          </a:prstGeom>
          <a:noFill/>
        </p:spPr>
        <p:txBody>
          <a:bodyPr wrap="square" lIns="0" rIns="0" tIns="0" bIns="0">
            <a:spAutoFit/>
          </a:bodyPr>
          <a:lstStyle/>
          <a:p>
            <a:r>
              <a:rPr sz="1700" b="1">
                <a:solidFill>
                  <a:srgbClr val="13294B"/>
                </a:solidFill>
                <a:latin typeface="Calibri"/>
              </a:rPr>
              <a:t>RPT planning</a:t>
            </a:r>
          </a:p>
        </p:txBody>
      </p:sp>
      <p:sp>
        <p:nvSpPr>
          <p:cNvPr id="9" name="TextBox 8"/>
          <p:cNvSpPr txBox="1"/>
          <p:nvPr/>
        </p:nvSpPr>
        <p:spPr>
          <a:xfrm>
            <a:off x="939800" y="3676650"/>
            <a:ext cx="2286000" cy="1466850"/>
          </a:xfrm>
          <a:prstGeom prst="rect">
            <a:avLst/>
          </a:prstGeom>
          <a:noFill/>
        </p:spPr>
        <p:txBody>
          <a:bodyPr wrap="square" lIns="0" rIns="0" tIns="0" bIns="0">
            <a:spAutoFit/>
          </a:bodyPr>
          <a:lstStyle/>
          <a:p>
            <a:pPr>
              <a:spcAft>
                <a:spcPts val="400"/>
              </a:spcAft>
            </a:pPr>
            <a:r>
              <a:rPr sz="1500" b="0">
                <a:solidFill>
                  <a:srgbClr val="4A5568"/>
                </a:solidFill>
                <a:latin typeface="Calibri"/>
              </a:rPr>
              <a:t>• PET target expression and kinetics</a:t>
            </a:r>
          </a:p>
          <a:p>
            <a:pPr>
              <a:spcAft>
                <a:spcPts val="400"/>
              </a:spcAft>
            </a:pPr>
            <a:r>
              <a:rPr sz="1500" b="0">
                <a:solidFill>
                  <a:srgbClr val="4A5568"/>
                </a:solidFill>
                <a:latin typeface="Calibri"/>
              </a:rPr>
              <a:t>• Personalized activity and cycles</a:t>
            </a:r>
          </a:p>
          <a:p>
            <a:pPr>
              <a:spcAft>
                <a:spcPts val="400"/>
              </a:spcAft>
            </a:pPr>
            <a:r>
              <a:rPr sz="1500" b="0">
                <a:solidFill>
                  <a:srgbClr val="4A5568"/>
                </a:solidFill>
                <a:latin typeface="Calibri"/>
              </a:rPr>
              <a:t>• Checked by post-therapy dosimetry</a:t>
            </a:r>
          </a:p>
        </p:txBody>
      </p:sp>
      <p:sp>
        <p:nvSpPr>
          <p:cNvPr id="10" name="Rounded Rectangle 9"/>
          <p:cNvSpPr/>
          <p:nvPr/>
        </p:nvSpPr>
        <p:spPr>
          <a:xfrm>
            <a:off x="3492500" y="1397000"/>
            <a:ext cx="2540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4-hypoxia.jpg"/>
          <p:cNvPicPr>
            <a:picLocks noChangeAspect="1"/>
          </p:cNvPicPr>
          <p:nvPr/>
        </p:nvPicPr>
        <p:blipFill>
          <a:blip r:embed="rId4"/>
          <a:stretch>
            <a:fillRect/>
          </a:stretch>
        </p:blipFill>
        <p:spPr>
          <a:xfrm>
            <a:off x="4136169" y="1498600"/>
            <a:ext cx="1252661" cy="1809750"/>
          </a:xfrm>
          <a:prstGeom prst="rect">
            <a:avLst/>
          </a:prstGeom>
        </p:spPr>
      </p:pic>
      <p:sp>
        <p:nvSpPr>
          <p:cNvPr id="12" name="TextBox 11"/>
          <p:cNvSpPr txBox="1"/>
          <p:nvPr/>
        </p:nvSpPr>
        <p:spPr>
          <a:xfrm>
            <a:off x="3619500" y="3397250"/>
            <a:ext cx="2286000" cy="254000"/>
          </a:xfrm>
          <a:prstGeom prst="rect">
            <a:avLst/>
          </a:prstGeom>
          <a:noFill/>
        </p:spPr>
        <p:txBody>
          <a:bodyPr wrap="square" lIns="0" rIns="0" tIns="0" bIns="0">
            <a:spAutoFit/>
          </a:bodyPr>
          <a:lstStyle/>
          <a:p>
            <a:r>
              <a:rPr sz="1700" b="1">
                <a:solidFill>
                  <a:srgbClr val="13294B"/>
                </a:solidFill>
                <a:latin typeface="Calibri"/>
              </a:rPr>
              <a:t>Dose painting</a:t>
            </a:r>
          </a:p>
        </p:txBody>
      </p:sp>
      <p:sp>
        <p:nvSpPr>
          <p:cNvPr id="13" name="TextBox 12"/>
          <p:cNvSpPr txBox="1"/>
          <p:nvPr/>
        </p:nvSpPr>
        <p:spPr>
          <a:xfrm>
            <a:off x="3619500" y="3676650"/>
            <a:ext cx="2286000" cy="1466850"/>
          </a:xfrm>
          <a:prstGeom prst="rect">
            <a:avLst/>
          </a:prstGeom>
          <a:noFill/>
        </p:spPr>
        <p:txBody>
          <a:bodyPr wrap="square" lIns="0" rIns="0" tIns="0" bIns="0">
            <a:spAutoFit/>
          </a:bodyPr>
          <a:lstStyle/>
          <a:p>
            <a:pPr>
              <a:spcAft>
                <a:spcPts val="400"/>
              </a:spcAft>
            </a:pPr>
            <a:r>
              <a:rPr sz="1500" b="0">
                <a:solidFill>
                  <a:srgbClr val="4A5568"/>
                </a:solidFill>
                <a:latin typeface="Calibri"/>
              </a:rPr>
              <a:t>• FDG metabolism + FMISO hypoxia</a:t>
            </a:r>
          </a:p>
          <a:p>
            <a:pPr>
              <a:spcAft>
                <a:spcPts val="400"/>
              </a:spcAft>
            </a:pPr>
            <a:r>
              <a:rPr sz="1500" b="0">
                <a:solidFill>
                  <a:srgbClr val="4A5568"/>
                </a:solidFill>
                <a:latin typeface="Calibri"/>
              </a:rPr>
              <a:t>• Map cellularity and radiosensitivity</a:t>
            </a:r>
          </a:p>
          <a:p>
            <a:pPr>
              <a:spcAft>
                <a:spcPts val="400"/>
              </a:spcAft>
            </a:pPr>
            <a:r>
              <a:rPr sz="1500" b="0">
                <a:solidFill>
                  <a:srgbClr val="4A5568"/>
                </a:solidFill>
                <a:latin typeface="Calibri"/>
              </a:rPr>
              <a:t>• Respect normal-tissue limits</a:t>
            </a:r>
          </a:p>
        </p:txBody>
      </p:sp>
      <p:sp>
        <p:nvSpPr>
          <p:cNvPr id="14" name="Rounded Rectangle 13"/>
          <p:cNvSpPr/>
          <p:nvPr/>
        </p:nvSpPr>
        <p:spPr>
          <a:xfrm>
            <a:off x="6172200" y="1397000"/>
            <a:ext cx="2540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4-proton.jpg"/>
          <p:cNvPicPr>
            <a:picLocks noChangeAspect="1"/>
          </p:cNvPicPr>
          <p:nvPr/>
        </p:nvPicPr>
        <p:blipFill>
          <a:blip r:embed="rId5"/>
          <a:stretch>
            <a:fillRect/>
          </a:stretch>
        </p:blipFill>
        <p:spPr>
          <a:xfrm>
            <a:off x="6808000" y="1498600"/>
            <a:ext cx="1268398" cy="1809750"/>
          </a:xfrm>
          <a:prstGeom prst="rect">
            <a:avLst/>
          </a:prstGeom>
        </p:spPr>
      </p:pic>
      <p:sp>
        <p:nvSpPr>
          <p:cNvPr id="16" name="TextBox 15"/>
          <p:cNvSpPr txBox="1"/>
          <p:nvPr/>
        </p:nvSpPr>
        <p:spPr>
          <a:xfrm>
            <a:off x="6299200" y="3397250"/>
            <a:ext cx="2286000" cy="254000"/>
          </a:xfrm>
          <a:prstGeom prst="rect">
            <a:avLst/>
          </a:prstGeom>
          <a:noFill/>
        </p:spPr>
        <p:txBody>
          <a:bodyPr wrap="square" lIns="0" rIns="0" tIns="0" bIns="0">
            <a:spAutoFit/>
          </a:bodyPr>
          <a:lstStyle/>
          <a:p>
            <a:r>
              <a:rPr sz="1700" b="1">
                <a:solidFill>
                  <a:srgbClr val="13294B"/>
                </a:solidFill>
                <a:latin typeface="Calibri"/>
              </a:rPr>
              <a:t>Proton therapy</a:t>
            </a:r>
          </a:p>
        </p:txBody>
      </p:sp>
      <p:sp>
        <p:nvSpPr>
          <p:cNvPr id="17" name="TextBox 16"/>
          <p:cNvSpPr txBox="1"/>
          <p:nvPr/>
        </p:nvSpPr>
        <p:spPr>
          <a:xfrm>
            <a:off x="6299200" y="3676650"/>
            <a:ext cx="2286000" cy="1466850"/>
          </a:xfrm>
          <a:prstGeom prst="rect">
            <a:avLst/>
          </a:prstGeom>
          <a:noFill/>
        </p:spPr>
        <p:txBody>
          <a:bodyPr wrap="square" lIns="0" rIns="0" tIns="0" bIns="0">
            <a:spAutoFit/>
          </a:bodyPr>
          <a:lstStyle/>
          <a:p>
            <a:pPr>
              <a:spcAft>
                <a:spcPts val="400"/>
              </a:spcAft>
            </a:pPr>
            <a:r>
              <a:rPr sz="1500" b="0">
                <a:solidFill>
                  <a:srgbClr val="4A5568"/>
                </a:solidFill>
                <a:latin typeface="Calibri"/>
              </a:rPr>
              <a:t>• Beam-induced PET for range checks</a:t>
            </a:r>
          </a:p>
          <a:p>
            <a:pPr>
              <a:spcAft>
                <a:spcPts val="400"/>
              </a:spcAft>
            </a:pPr>
            <a:r>
              <a:rPr sz="1500" b="0">
                <a:solidFill>
                  <a:srgbClr val="4A5568"/>
                </a:solidFill>
                <a:latin typeface="Calibri"/>
              </a:rPr>
              <a:t>• Model-assisted dosimetry</a:t>
            </a:r>
          </a:p>
          <a:p>
            <a:pPr>
              <a:spcAft>
                <a:spcPts val="400"/>
              </a:spcAft>
            </a:pPr>
            <a:r>
              <a:rPr sz="1500" b="0">
                <a:solidFill>
                  <a:srgbClr val="4A5568"/>
                </a:solidFill>
                <a:latin typeface="Calibri"/>
              </a:rPr>
              <a:t>• PET activity ≠ absorbed dose</a:t>
            </a:r>
          </a:p>
        </p:txBody>
      </p:sp>
      <p:sp>
        <p:nvSpPr>
          <p:cNvPr id="18" name="Rounded Rectangle 17"/>
          <p:cNvSpPr/>
          <p:nvPr/>
        </p:nvSpPr>
        <p:spPr>
          <a:xfrm>
            <a:off x="8851900" y="1397000"/>
            <a:ext cx="2540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4-bgrt.jpg"/>
          <p:cNvPicPr>
            <a:picLocks noChangeAspect="1"/>
          </p:cNvPicPr>
          <p:nvPr/>
        </p:nvPicPr>
        <p:blipFill>
          <a:blip r:embed="rId6"/>
          <a:stretch>
            <a:fillRect/>
          </a:stretch>
        </p:blipFill>
        <p:spPr>
          <a:xfrm>
            <a:off x="9479832" y="1498600"/>
            <a:ext cx="1284135" cy="1809750"/>
          </a:xfrm>
          <a:prstGeom prst="rect">
            <a:avLst/>
          </a:prstGeom>
        </p:spPr>
      </p:pic>
      <p:sp>
        <p:nvSpPr>
          <p:cNvPr id="20" name="TextBox 19"/>
          <p:cNvSpPr txBox="1"/>
          <p:nvPr/>
        </p:nvSpPr>
        <p:spPr>
          <a:xfrm>
            <a:off x="8978900" y="3397250"/>
            <a:ext cx="2286000" cy="254000"/>
          </a:xfrm>
          <a:prstGeom prst="rect">
            <a:avLst/>
          </a:prstGeom>
          <a:noFill/>
        </p:spPr>
        <p:txBody>
          <a:bodyPr wrap="square" lIns="0" rIns="0" tIns="0" bIns="0">
            <a:spAutoFit/>
          </a:bodyPr>
          <a:lstStyle/>
          <a:p>
            <a:r>
              <a:rPr sz="1700" b="1">
                <a:solidFill>
                  <a:srgbClr val="13294B"/>
                </a:solidFill>
                <a:latin typeface="Calibri"/>
              </a:rPr>
              <a:t>Biology-guided RT</a:t>
            </a:r>
          </a:p>
        </p:txBody>
      </p:sp>
      <p:sp>
        <p:nvSpPr>
          <p:cNvPr id="21" name="TextBox 20"/>
          <p:cNvSpPr txBox="1"/>
          <p:nvPr/>
        </p:nvSpPr>
        <p:spPr>
          <a:xfrm>
            <a:off x="8978900" y="3676650"/>
            <a:ext cx="2286000" cy="1466850"/>
          </a:xfrm>
          <a:prstGeom prst="rect">
            <a:avLst/>
          </a:prstGeom>
          <a:noFill/>
        </p:spPr>
        <p:txBody>
          <a:bodyPr wrap="square" lIns="0" rIns="0" tIns="0" bIns="0">
            <a:spAutoFit/>
          </a:bodyPr>
          <a:lstStyle/>
          <a:p>
            <a:pPr>
              <a:spcAft>
                <a:spcPts val="400"/>
              </a:spcAft>
            </a:pPr>
            <a:r>
              <a:rPr sz="1500" b="0">
                <a:solidFill>
                  <a:srgbClr val="4A5568"/>
                </a:solidFill>
                <a:latin typeface="Calibri"/>
              </a:rPr>
              <a:t>• Fast PET signals guide the beam</a:t>
            </a:r>
          </a:p>
          <a:p>
            <a:pPr>
              <a:spcAft>
                <a:spcPts val="400"/>
              </a:spcAft>
            </a:pPr>
            <a:r>
              <a:rPr sz="1500" b="0">
                <a:solidFill>
                  <a:srgbClr val="4A5568"/>
                </a:solidFill>
                <a:latin typeface="Calibri"/>
              </a:rPr>
              <a:t>• Follows moving targets</a:t>
            </a:r>
          </a:p>
          <a:p>
            <a:pPr>
              <a:spcAft>
                <a:spcPts val="400"/>
              </a:spcAft>
            </a:pPr>
            <a:r>
              <a:rPr sz="1500" b="0">
                <a:solidFill>
                  <a:srgbClr val="4A5568"/>
                </a:solidFill>
                <a:latin typeface="Calibri"/>
              </a:rPr>
              <a:t>• Within a planned dose envelope</a:t>
            </a:r>
          </a:p>
        </p:txBody>
      </p:sp>
      <p:sp>
        <p:nvSpPr>
          <p:cNvPr id="22" name="Rounded Rectangle 21"/>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6000" y="5511800"/>
            <a:ext cx="10160000" cy="254000"/>
          </a:xfrm>
          <a:prstGeom prst="rect">
            <a:avLst/>
          </a:prstGeom>
          <a:noFill/>
        </p:spPr>
        <p:txBody>
          <a:bodyPr wrap="square" lIns="0" rIns="0" tIns="0" bIns="0">
            <a:spAutoFit/>
          </a:bodyPr>
          <a:lstStyle/>
          <a:p>
            <a:r>
              <a:rPr sz="1600" b="0">
                <a:solidFill>
                  <a:srgbClr val="13294B"/>
                </a:solidFill>
                <a:latin typeface="Calibri"/>
              </a:rPr>
              <a:t>Shared goal: plan, verify, measure response and adapt — including RPT + external-beam combinations.</a:t>
            </a:r>
          </a:p>
        </p:txBody>
      </p:sp>
      <p:sp>
        <p:nvSpPr>
          <p:cNvPr id="24" name="TextBox 23"/>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71500"/>
            <a:ext cx="10160000" cy="228600"/>
          </a:xfrm>
          <a:prstGeom prst="rect">
            <a:avLst/>
          </a:prstGeom>
          <a:noFill/>
        </p:spPr>
        <p:txBody>
          <a:bodyPr wrap="square" lIns="0" rIns="0" tIns="0" bIns="0">
            <a:spAutoFit/>
          </a:bodyPr>
          <a:lstStyle/>
          <a:p>
            <a:r>
              <a:rPr sz="1400" b="1">
                <a:solidFill>
                  <a:srgbClr val="C0452D"/>
                </a:solidFill>
                <a:latin typeface="Calibri"/>
              </a:rPr>
              <a:t>AIM V</a:t>
            </a:r>
          </a:p>
        </p:txBody>
      </p:sp>
      <p:sp>
        <p:nvSpPr>
          <p:cNvPr id="4" name="TextBox 3"/>
          <p:cNvSpPr txBox="1"/>
          <p:nvPr/>
        </p:nvSpPr>
        <p:spPr>
          <a:xfrm>
            <a:off x="812800" y="787400"/>
            <a:ext cx="10566400" cy="381000"/>
          </a:xfrm>
          <a:prstGeom prst="rect">
            <a:avLst/>
          </a:prstGeom>
          <a:noFill/>
        </p:spPr>
        <p:txBody>
          <a:bodyPr wrap="square" lIns="0" rIns="0" tIns="0" bIns="0">
            <a:spAutoFit/>
          </a:bodyPr>
          <a:lstStyle/>
          <a:p>
            <a:r>
              <a:rPr sz="3000" b="1">
                <a:solidFill>
                  <a:srgbClr val="13294B"/>
                </a:solidFill>
                <a:latin typeface="Garamond"/>
              </a:rPr>
              <a:t>Virtual trials and drug development</a:t>
            </a:r>
          </a:p>
        </p:txBody>
      </p:sp>
      <p:sp>
        <p:nvSpPr>
          <p:cNvPr id="5" name="TextBox 4"/>
          <p:cNvSpPr txBox="1"/>
          <p:nvPr/>
        </p:nvSpPr>
        <p:spPr>
          <a:xfrm>
            <a:off x="812800" y="6286500"/>
            <a:ext cx="9525000" cy="190500"/>
          </a:xfrm>
          <a:prstGeom prst="rect">
            <a:avLst/>
          </a:prstGeom>
          <a:noFill/>
        </p:spPr>
        <p:txBody>
          <a:bodyPr wrap="square" lIns="0" rIns="0" tIns="0" bIns="0">
            <a:spAutoFit/>
          </a:bodyPr>
          <a:lstStyle/>
          <a:p>
            <a:r>
              <a:rPr sz="1100" b="0">
                <a:solidFill>
                  <a:srgbClr val="4A5568"/>
                </a:solidFill>
                <a:latin typeface="Calibri"/>
              </a:rPr>
              <a:t>Lindner &amp; Link (2018) · Wangerin et al. (2017) · Kleeberger (2025) · Samei et al. (2025)</a:t>
            </a:r>
          </a:p>
        </p:txBody>
      </p:sp>
      <p:sp>
        <p:nvSpPr>
          <p:cNvPr id="6" name="Rounded Rectangle 5"/>
          <p:cNvSpPr/>
          <p:nvPr/>
        </p:nvSpPr>
        <p:spPr>
          <a:xfrm>
            <a:off x="812800" y="1397000"/>
            <a:ext cx="2667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5-cohort.jpg"/>
          <p:cNvPicPr>
            <a:picLocks noChangeAspect="1"/>
          </p:cNvPicPr>
          <p:nvPr/>
        </p:nvPicPr>
        <p:blipFill>
          <a:blip r:embed="rId3"/>
          <a:stretch>
            <a:fillRect/>
          </a:stretch>
        </p:blipFill>
        <p:spPr>
          <a:xfrm>
            <a:off x="939800" y="1648957"/>
            <a:ext cx="2413000" cy="1413784"/>
          </a:xfrm>
          <a:prstGeom prst="rect">
            <a:avLst/>
          </a:prstGeom>
        </p:spPr>
      </p:pic>
      <p:sp>
        <p:nvSpPr>
          <p:cNvPr id="8" name="TextBox 7"/>
          <p:cNvSpPr txBox="1"/>
          <p:nvPr/>
        </p:nvSpPr>
        <p:spPr>
          <a:xfrm>
            <a:off x="939800" y="3302000"/>
            <a:ext cx="2413000" cy="254000"/>
          </a:xfrm>
          <a:prstGeom prst="rect">
            <a:avLst/>
          </a:prstGeom>
          <a:noFill/>
        </p:spPr>
        <p:txBody>
          <a:bodyPr wrap="square" lIns="0" rIns="0" tIns="0" bIns="0">
            <a:spAutoFit/>
          </a:bodyPr>
          <a:lstStyle/>
          <a:p>
            <a:r>
              <a:rPr sz="1700" b="1">
                <a:solidFill>
                  <a:srgbClr val="13294B"/>
                </a:solidFill>
                <a:latin typeface="Calibri"/>
              </a:rPr>
              <a:t>1  Virtual cohorts</a:t>
            </a:r>
          </a:p>
        </p:txBody>
      </p:sp>
      <p:sp>
        <p:nvSpPr>
          <p:cNvPr id="9" name="TextBox 8"/>
          <p:cNvSpPr txBox="1"/>
          <p:nvPr/>
        </p:nvSpPr>
        <p:spPr>
          <a:xfrm>
            <a:off x="939800" y="3581400"/>
            <a:ext cx="2413000" cy="1562100"/>
          </a:xfrm>
          <a:prstGeom prst="rect">
            <a:avLst/>
          </a:prstGeom>
          <a:noFill/>
        </p:spPr>
        <p:txBody>
          <a:bodyPr wrap="square" lIns="0" rIns="0" tIns="0" bIns="0">
            <a:spAutoFit/>
          </a:bodyPr>
          <a:lstStyle/>
          <a:p>
            <a:pPr>
              <a:spcAft>
                <a:spcPts val="400"/>
              </a:spcAft>
            </a:pPr>
            <a:r>
              <a:rPr sz="1500" b="0">
                <a:solidFill>
                  <a:srgbClr val="4A5568"/>
                </a:solidFill>
                <a:latin typeface="Calibri"/>
              </a:rPr>
              <a:t>• Imaging, biology and clinical data</a:t>
            </a:r>
          </a:p>
          <a:p>
            <a:pPr>
              <a:spcAft>
                <a:spcPts val="400"/>
              </a:spcAft>
            </a:pPr>
            <a:r>
              <a:rPr sz="1500" b="0">
                <a:solidFill>
                  <a:srgbClr val="4A5568"/>
                </a:solidFill>
                <a:latin typeface="Calibri"/>
              </a:rPr>
              <a:t>• Anatomy, burden, kinetics, treatment sensitivity</a:t>
            </a:r>
          </a:p>
        </p:txBody>
      </p:sp>
      <p:sp>
        <p:nvSpPr>
          <p:cNvPr id="10" name="Right Arrow 9"/>
          <p:cNvSpPr/>
          <p:nvPr/>
        </p:nvSpPr>
        <p:spPr>
          <a:xfrm>
            <a:off x="35306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71900" y="1397000"/>
            <a:ext cx="45720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5-imaging.jpg"/>
          <p:cNvPicPr>
            <a:picLocks noChangeAspect="1"/>
          </p:cNvPicPr>
          <p:nvPr/>
        </p:nvPicPr>
        <p:blipFill>
          <a:blip r:embed="rId4"/>
          <a:stretch>
            <a:fillRect/>
          </a:stretch>
        </p:blipFill>
        <p:spPr>
          <a:xfrm>
            <a:off x="3898900" y="1521972"/>
            <a:ext cx="4318000" cy="905754"/>
          </a:xfrm>
          <a:prstGeom prst="rect">
            <a:avLst/>
          </a:prstGeom>
        </p:spPr>
      </p:pic>
      <p:sp>
        <p:nvSpPr>
          <p:cNvPr id="13" name="TextBox 12"/>
          <p:cNvSpPr txBox="1"/>
          <p:nvPr/>
        </p:nvSpPr>
        <p:spPr>
          <a:xfrm>
            <a:off x="3898900" y="2501900"/>
            <a:ext cx="4318000" cy="444500"/>
          </a:xfrm>
          <a:prstGeom prst="rect">
            <a:avLst/>
          </a:prstGeom>
          <a:noFill/>
        </p:spPr>
        <p:txBody>
          <a:bodyPr wrap="square" lIns="0" rIns="0" tIns="0" bIns="0">
            <a:spAutoFit/>
          </a:bodyPr>
          <a:lstStyle/>
          <a:p>
            <a:r>
              <a:rPr sz="1400" b="0">
                <a:solidFill>
                  <a:srgbClr val="4A5568"/>
                </a:solidFill>
                <a:latin typeface="Calibri"/>
              </a:rPr>
              <a:t>2  Imaging trials: scanners, protocols, reconstruction; when is dynamic Ki better than static SUV?</a:t>
            </a:r>
          </a:p>
        </p:txBody>
      </p:sp>
      <p:pic>
        <p:nvPicPr>
          <p:cNvPr id="14" name="Picture 13" descr="a5-therapy.jpg"/>
          <p:cNvPicPr>
            <a:picLocks noChangeAspect="1"/>
          </p:cNvPicPr>
          <p:nvPr/>
        </p:nvPicPr>
        <p:blipFill>
          <a:blip r:embed="rId5"/>
          <a:stretch>
            <a:fillRect/>
          </a:stretch>
        </p:blipFill>
        <p:spPr>
          <a:xfrm>
            <a:off x="3898900" y="3083503"/>
            <a:ext cx="4318000" cy="1338693"/>
          </a:xfrm>
          <a:prstGeom prst="rect">
            <a:avLst/>
          </a:prstGeom>
        </p:spPr>
      </p:pic>
      <p:sp>
        <p:nvSpPr>
          <p:cNvPr id="15" name="TextBox 14"/>
          <p:cNvSpPr txBox="1"/>
          <p:nvPr/>
        </p:nvSpPr>
        <p:spPr>
          <a:xfrm>
            <a:off x="3898900" y="4572000"/>
            <a:ext cx="4318000" cy="444500"/>
          </a:xfrm>
          <a:prstGeom prst="rect">
            <a:avLst/>
          </a:prstGeom>
          <a:noFill/>
        </p:spPr>
        <p:txBody>
          <a:bodyPr wrap="square" lIns="0" rIns="0" tIns="0" bIns="0">
            <a:spAutoFit/>
          </a:bodyPr>
          <a:lstStyle/>
          <a:p>
            <a:r>
              <a:rPr sz="1400" b="0">
                <a:solidFill>
                  <a:srgbClr val="4A5568"/>
                </a:solidFill>
                <a:latin typeface="Calibri"/>
              </a:rPr>
              <a:t>3  Therapy trials: PBPK + dosimetry + response for agents, activities and schedules</a:t>
            </a:r>
          </a:p>
        </p:txBody>
      </p:sp>
      <p:sp>
        <p:nvSpPr>
          <p:cNvPr id="16" name="Right Arrow 15"/>
          <p:cNvSpPr/>
          <p:nvPr/>
        </p:nvSpPr>
        <p:spPr>
          <a:xfrm>
            <a:off x="8394700" y="3238500"/>
            <a:ext cx="190500" cy="127000"/>
          </a:xfrm>
          <a:prstGeom prst="rightArrow">
            <a:avLst/>
          </a:prstGeom>
          <a:solidFill>
            <a:srgbClr val="9CC9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36000" y="1397000"/>
            <a:ext cx="2743200" cy="3810000"/>
          </a:xfrm>
          <a:prstGeom prst="roundRect">
            <a:avLst>
              <a:gd name="adj" fmla="val 4000"/>
            </a:avLst>
          </a:prstGeom>
          <a:solidFill>
            <a:srgbClr val="FEFEFC"/>
          </a:solidFill>
          <a:ln w="12700">
            <a:solidFill>
              <a:srgbClr val="D9E2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5-clinic.jpg"/>
          <p:cNvPicPr>
            <a:picLocks noChangeAspect="1"/>
          </p:cNvPicPr>
          <p:nvPr/>
        </p:nvPicPr>
        <p:blipFill>
          <a:blip r:embed="rId6"/>
          <a:stretch>
            <a:fillRect/>
          </a:stretch>
        </p:blipFill>
        <p:spPr>
          <a:xfrm>
            <a:off x="8763000" y="1675740"/>
            <a:ext cx="2489200" cy="1360218"/>
          </a:xfrm>
          <a:prstGeom prst="rect">
            <a:avLst/>
          </a:prstGeom>
        </p:spPr>
      </p:pic>
      <p:sp>
        <p:nvSpPr>
          <p:cNvPr id="19" name="TextBox 18"/>
          <p:cNvSpPr txBox="1"/>
          <p:nvPr/>
        </p:nvSpPr>
        <p:spPr>
          <a:xfrm>
            <a:off x="8763000" y="3302000"/>
            <a:ext cx="2489200" cy="254000"/>
          </a:xfrm>
          <a:prstGeom prst="rect">
            <a:avLst/>
          </a:prstGeom>
          <a:noFill/>
        </p:spPr>
        <p:txBody>
          <a:bodyPr wrap="square" lIns="0" rIns="0" tIns="0" bIns="0">
            <a:spAutoFit/>
          </a:bodyPr>
          <a:lstStyle/>
          <a:p>
            <a:r>
              <a:rPr sz="1700" b="1">
                <a:solidFill>
                  <a:srgbClr val="13294B"/>
                </a:solidFill>
                <a:latin typeface="Calibri"/>
              </a:rPr>
              <a:t>4  Real-world studies</a:t>
            </a:r>
          </a:p>
        </p:txBody>
      </p:sp>
      <p:sp>
        <p:nvSpPr>
          <p:cNvPr id="20" name="TextBox 19"/>
          <p:cNvSpPr txBox="1"/>
          <p:nvPr/>
        </p:nvSpPr>
        <p:spPr>
          <a:xfrm>
            <a:off x="8763000" y="3581400"/>
            <a:ext cx="2489200" cy="1562100"/>
          </a:xfrm>
          <a:prstGeom prst="rect">
            <a:avLst/>
          </a:prstGeom>
          <a:noFill/>
        </p:spPr>
        <p:txBody>
          <a:bodyPr wrap="square" lIns="0" rIns="0" tIns="0" bIns="0">
            <a:spAutoFit/>
          </a:bodyPr>
          <a:lstStyle/>
          <a:p>
            <a:pPr>
              <a:spcAft>
                <a:spcPts val="400"/>
              </a:spcAft>
            </a:pPr>
            <a:r>
              <a:rPr sz="1500" b="0">
                <a:solidFill>
                  <a:srgbClr val="4A5568"/>
                </a:solidFill>
                <a:latin typeface="Calibri"/>
              </a:rPr>
              <a:t>• Prioritize promising strategies</a:t>
            </a:r>
          </a:p>
          <a:p>
            <a:pPr>
              <a:spcAft>
                <a:spcPts val="400"/>
              </a:spcAft>
            </a:pPr>
            <a:r>
              <a:rPr sz="1500" b="0">
                <a:solidFill>
                  <a:srgbClr val="4A5568"/>
                </a:solidFill>
                <a:latin typeface="Calibri"/>
              </a:rPr>
              <a:t>• Design more informative prospective trials</a:t>
            </a:r>
          </a:p>
        </p:txBody>
      </p:sp>
      <p:sp>
        <p:nvSpPr>
          <p:cNvPr id="21" name="Rounded Rectangle 20"/>
          <p:cNvSpPr/>
          <p:nvPr/>
        </p:nvSpPr>
        <p:spPr>
          <a:xfrm>
            <a:off x="812800" y="5397500"/>
            <a:ext cx="10566400" cy="406400"/>
          </a:xfrm>
          <a:prstGeom prst="roundRect">
            <a:avLst>
              <a:gd name="adj" fmla="val 4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6000" y="5511800"/>
            <a:ext cx="10160000" cy="254000"/>
          </a:xfrm>
          <a:prstGeom prst="rect">
            <a:avLst/>
          </a:prstGeom>
          <a:noFill/>
        </p:spPr>
        <p:txBody>
          <a:bodyPr wrap="square" lIns="0" rIns="0" tIns="0" bIns="0">
            <a:spAutoFit/>
          </a:bodyPr>
          <a:lstStyle/>
          <a:p>
            <a:r>
              <a:rPr sz="1600" b="0">
                <a:solidFill>
                  <a:srgbClr val="13294B"/>
                </a:solidFill>
                <a:latin typeface="Calibri"/>
              </a:rPr>
              <a:t>Credible simulation: physiological plausibility · uncertainty analysis · independent validation</a:t>
            </a:r>
          </a:p>
        </p:txBody>
      </p:sp>
      <p:sp>
        <p:nvSpPr>
          <p:cNvPr id="23" name="TextBox 22"/>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32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i="0">
                <a:solidFill>
                  <a:srgbClr val="13294B"/>
                </a:solidFill>
                <a:latin typeface="Calibri"/>
              </a:rPr>
              <a:t>COLLABORATION</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i="0">
                <a:solidFill>
                  <a:srgbClr val="13294B"/>
                </a:solidFill>
                <a:latin typeface="Garamond"/>
              </a:rPr>
              <a:t>Working across centres</a:t>
            </a:r>
          </a:p>
        </p:txBody>
      </p:sp>
      <p:sp>
        <p:nvSpPr>
          <p:cNvPr id="5" name="Rounded Rectangle 4"/>
          <p:cNvSpPr/>
          <p:nvPr/>
        </p:nvSpPr>
        <p:spPr>
          <a:xfrm>
            <a:off x="812800" y="1397000"/>
            <a:ext cx="2540000" cy="1905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800" y="1397000"/>
            <a:ext cx="2540000" cy="762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0600" y="1625600"/>
            <a:ext cx="2184400" cy="508000"/>
          </a:xfrm>
          <a:prstGeom prst="rect">
            <a:avLst/>
          </a:prstGeom>
          <a:noFill/>
        </p:spPr>
        <p:txBody>
          <a:bodyPr wrap="square" lIns="0" rIns="0" tIns="0" bIns="0">
            <a:spAutoFit/>
          </a:bodyPr>
          <a:lstStyle/>
          <a:p>
            <a:r>
              <a:rPr sz="1800" b="1" i="0">
                <a:solidFill>
                  <a:srgbClr val="13294B"/>
                </a:solidFill>
                <a:latin typeface="Calibri"/>
              </a:rPr>
              <a:t>QURIT lab</a:t>
            </a:r>
          </a:p>
        </p:txBody>
      </p:sp>
      <p:sp>
        <p:nvSpPr>
          <p:cNvPr id="8" name="TextBox 7"/>
          <p:cNvSpPr txBox="1"/>
          <p:nvPr/>
        </p:nvSpPr>
        <p:spPr>
          <a:xfrm>
            <a:off x="990600" y="2171700"/>
            <a:ext cx="2184400" cy="381000"/>
          </a:xfrm>
          <a:prstGeom prst="rect">
            <a:avLst/>
          </a:prstGeom>
          <a:noFill/>
        </p:spPr>
        <p:txBody>
          <a:bodyPr wrap="square" lIns="0" rIns="0" tIns="0" bIns="0">
            <a:spAutoFit/>
          </a:bodyPr>
          <a:lstStyle/>
          <a:p>
            <a:r>
              <a:rPr sz="1400" b="1" i="0">
                <a:solidFill>
                  <a:srgbClr val="0E7C7B"/>
                </a:solidFill>
                <a:latin typeface="Calibri"/>
              </a:rPr>
              <a:t>BC Cancer &amp; UBC, Vancouver</a:t>
            </a:r>
          </a:p>
        </p:txBody>
      </p:sp>
      <p:sp>
        <p:nvSpPr>
          <p:cNvPr id="9" name="TextBox 8"/>
          <p:cNvSpPr txBox="1"/>
          <p:nvPr/>
        </p:nvSpPr>
        <p:spPr>
          <a:xfrm>
            <a:off x="990600" y="2578100"/>
            <a:ext cx="2184400" cy="635000"/>
          </a:xfrm>
          <a:prstGeom prst="rect">
            <a:avLst/>
          </a:prstGeom>
          <a:noFill/>
        </p:spPr>
        <p:txBody>
          <a:bodyPr wrap="square" lIns="0" rIns="0" tIns="0" bIns="0">
            <a:spAutoFit/>
          </a:bodyPr>
          <a:lstStyle/>
          <a:p>
            <a:r>
              <a:rPr sz="1500" b="0" i="0">
                <a:solidFill>
                  <a:srgbClr val="4A5568"/>
                </a:solidFill>
                <a:latin typeface="Calibri"/>
              </a:rPr>
              <a:t>Theranostic digital twins, PBPK, AI quantification</a:t>
            </a:r>
          </a:p>
        </p:txBody>
      </p:sp>
      <p:sp>
        <p:nvSpPr>
          <p:cNvPr id="10" name="Rounded Rectangle 9"/>
          <p:cNvSpPr/>
          <p:nvPr/>
        </p:nvSpPr>
        <p:spPr>
          <a:xfrm>
            <a:off x="3492500" y="1397000"/>
            <a:ext cx="2540000" cy="1905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92500" y="1397000"/>
            <a:ext cx="2540000" cy="762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0300" y="1625600"/>
            <a:ext cx="2184400" cy="508000"/>
          </a:xfrm>
          <a:prstGeom prst="rect">
            <a:avLst/>
          </a:prstGeom>
          <a:noFill/>
        </p:spPr>
        <p:txBody>
          <a:bodyPr wrap="square" lIns="0" rIns="0" tIns="0" bIns="0">
            <a:spAutoFit/>
          </a:bodyPr>
          <a:lstStyle/>
          <a:p>
            <a:r>
              <a:rPr sz="1800" b="1" i="0">
                <a:solidFill>
                  <a:srgbClr val="13294B"/>
                </a:solidFill>
                <a:latin typeface="Calibri"/>
              </a:rPr>
              <a:t>PIN lab</a:t>
            </a:r>
          </a:p>
        </p:txBody>
      </p:sp>
      <p:sp>
        <p:nvSpPr>
          <p:cNvPr id="13" name="TextBox 12"/>
          <p:cNvSpPr txBox="1"/>
          <p:nvPr/>
        </p:nvSpPr>
        <p:spPr>
          <a:xfrm>
            <a:off x="3670300" y="2171700"/>
            <a:ext cx="2184400" cy="381000"/>
          </a:xfrm>
          <a:prstGeom prst="rect">
            <a:avLst/>
          </a:prstGeom>
          <a:noFill/>
        </p:spPr>
        <p:txBody>
          <a:bodyPr wrap="square" lIns="0" rIns="0" tIns="0" bIns="0">
            <a:spAutoFit/>
          </a:bodyPr>
          <a:lstStyle/>
          <a:p>
            <a:r>
              <a:rPr sz="1400" b="1" i="0">
                <a:solidFill>
                  <a:srgbClr val="1F5FA8"/>
                </a:solidFill>
                <a:latin typeface="Calibri"/>
              </a:rPr>
              <a:t>Geneva University Hospital</a:t>
            </a:r>
          </a:p>
        </p:txBody>
      </p:sp>
      <p:sp>
        <p:nvSpPr>
          <p:cNvPr id="14" name="TextBox 13"/>
          <p:cNvSpPr txBox="1"/>
          <p:nvPr/>
        </p:nvSpPr>
        <p:spPr>
          <a:xfrm>
            <a:off x="3670300" y="2578100"/>
            <a:ext cx="2184400" cy="635000"/>
          </a:xfrm>
          <a:prstGeom prst="rect">
            <a:avLst/>
          </a:prstGeom>
          <a:noFill/>
        </p:spPr>
        <p:txBody>
          <a:bodyPr wrap="square" lIns="0" rIns="0" tIns="0" bIns="0">
            <a:spAutoFit/>
          </a:bodyPr>
          <a:lstStyle/>
          <a:p>
            <a:r>
              <a:rPr sz="1500" b="0" i="0">
                <a:solidFill>
                  <a:srgbClr val="4A5568"/>
                </a:solidFill>
                <a:latin typeface="Calibri"/>
              </a:rPr>
              <a:t>AI quantitative imaging, Monte Carlo and deep-learning dosimetry</a:t>
            </a:r>
          </a:p>
        </p:txBody>
      </p:sp>
      <p:sp>
        <p:nvSpPr>
          <p:cNvPr id="15" name="Rounded Rectangle 14"/>
          <p:cNvSpPr/>
          <p:nvPr/>
        </p:nvSpPr>
        <p:spPr>
          <a:xfrm>
            <a:off x="6172200" y="1397000"/>
            <a:ext cx="2540000" cy="1905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397000"/>
            <a:ext cx="2540000" cy="76200"/>
          </a:xfrm>
          <a:prstGeom prst="rect">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0000" y="1625600"/>
            <a:ext cx="2184400" cy="508000"/>
          </a:xfrm>
          <a:prstGeom prst="rect">
            <a:avLst/>
          </a:prstGeom>
          <a:noFill/>
        </p:spPr>
        <p:txBody>
          <a:bodyPr wrap="square" lIns="0" rIns="0" tIns="0" bIns="0">
            <a:spAutoFit/>
          </a:bodyPr>
          <a:lstStyle/>
          <a:p>
            <a:r>
              <a:rPr sz="1800" b="1" i="0">
                <a:solidFill>
                  <a:srgbClr val="13294B"/>
                </a:solidFill>
                <a:latin typeface="Calibri"/>
              </a:rPr>
              <a:t>United Theranostics</a:t>
            </a:r>
          </a:p>
        </p:txBody>
      </p:sp>
      <p:sp>
        <p:nvSpPr>
          <p:cNvPr id="18" name="TextBox 17"/>
          <p:cNvSpPr txBox="1"/>
          <p:nvPr/>
        </p:nvSpPr>
        <p:spPr>
          <a:xfrm>
            <a:off x="6350000" y="2171700"/>
            <a:ext cx="2184400" cy="381000"/>
          </a:xfrm>
          <a:prstGeom prst="rect">
            <a:avLst/>
          </a:prstGeom>
          <a:noFill/>
        </p:spPr>
        <p:txBody>
          <a:bodyPr wrap="square" lIns="0" rIns="0" tIns="0" bIns="0">
            <a:spAutoFit/>
          </a:bodyPr>
          <a:lstStyle/>
          <a:p>
            <a:r>
              <a:rPr sz="1400" b="1" i="0">
                <a:solidFill>
                  <a:srgbClr val="6B4FA0"/>
                </a:solidFill>
                <a:latin typeface="Calibri"/>
              </a:rPr>
              <a:t>International network</a:t>
            </a:r>
          </a:p>
        </p:txBody>
      </p:sp>
      <p:sp>
        <p:nvSpPr>
          <p:cNvPr id="19" name="TextBox 18"/>
          <p:cNvSpPr txBox="1"/>
          <p:nvPr/>
        </p:nvSpPr>
        <p:spPr>
          <a:xfrm>
            <a:off x="6350000" y="2578100"/>
            <a:ext cx="2184400" cy="635000"/>
          </a:xfrm>
          <a:prstGeom prst="rect">
            <a:avLst/>
          </a:prstGeom>
          <a:noFill/>
        </p:spPr>
        <p:txBody>
          <a:bodyPr wrap="square" lIns="0" rIns="0" tIns="0" bIns="0">
            <a:spAutoFit/>
          </a:bodyPr>
          <a:lstStyle/>
          <a:p>
            <a:r>
              <a:rPr sz="1500" b="0" i="0">
                <a:solidFill>
                  <a:srgbClr val="4A5568"/>
                </a:solidFill>
                <a:latin typeface="Calibri"/>
              </a:rPr>
              <a:t>Clinical theranostics translation, real-world data</a:t>
            </a:r>
          </a:p>
        </p:txBody>
      </p:sp>
      <p:sp>
        <p:nvSpPr>
          <p:cNvPr id="20" name="Rounded Rectangle 19"/>
          <p:cNvSpPr/>
          <p:nvPr/>
        </p:nvSpPr>
        <p:spPr>
          <a:xfrm>
            <a:off x="8851900" y="1397000"/>
            <a:ext cx="2540000" cy="1905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51900" y="1397000"/>
            <a:ext cx="2540000" cy="762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29700" y="1625600"/>
            <a:ext cx="2184400" cy="508000"/>
          </a:xfrm>
          <a:prstGeom prst="rect">
            <a:avLst/>
          </a:prstGeom>
          <a:noFill/>
        </p:spPr>
        <p:txBody>
          <a:bodyPr wrap="square" lIns="0" rIns="0" tIns="0" bIns="0">
            <a:spAutoFit/>
          </a:bodyPr>
          <a:lstStyle/>
          <a:p>
            <a:r>
              <a:rPr sz="1800" b="1" i="0">
                <a:solidFill>
                  <a:srgbClr val="13294B"/>
                </a:solidFill>
                <a:latin typeface="Calibri"/>
              </a:rPr>
              <a:t>Johns Hopkins University</a:t>
            </a:r>
          </a:p>
        </p:txBody>
      </p:sp>
      <p:sp>
        <p:nvSpPr>
          <p:cNvPr id="23" name="TextBox 22"/>
          <p:cNvSpPr txBox="1"/>
          <p:nvPr/>
        </p:nvSpPr>
        <p:spPr>
          <a:xfrm>
            <a:off x="9029700" y="2171700"/>
            <a:ext cx="2184400" cy="381000"/>
          </a:xfrm>
          <a:prstGeom prst="rect">
            <a:avLst/>
          </a:prstGeom>
          <a:noFill/>
        </p:spPr>
        <p:txBody>
          <a:bodyPr wrap="square" lIns="0" rIns="0" tIns="0" bIns="0">
            <a:spAutoFit/>
          </a:bodyPr>
          <a:lstStyle/>
          <a:p>
            <a:r>
              <a:rPr sz="1400" b="1" i="0">
                <a:solidFill>
                  <a:srgbClr val="C0452D"/>
                </a:solidFill>
                <a:latin typeface="Calibri"/>
              </a:rPr>
              <a:t>Baltimore, USA</a:t>
            </a:r>
          </a:p>
        </p:txBody>
      </p:sp>
      <p:sp>
        <p:nvSpPr>
          <p:cNvPr id="24" name="TextBox 23"/>
          <p:cNvSpPr txBox="1"/>
          <p:nvPr/>
        </p:nvSpPr>
        <p:spPr>
          <a:xfrm>
            <a:off x="9029700" y="2578100"/>
            <a:ext cx="2184400" cy="635000"/>
          </a:xfrm>
          <a:prstGeom prst="rect">
            <a:avLst/>
          </a:prstGeom>
          <a:noFill/>
        </p:spPr>
        <p:txBody>
          <a:bodyPr wrap="square" lIns="0" rIns="0" tIns="0" bIns="0">
            <a:spAutoFit/>
          </a:bodyPr>
          <a:lstStyle/>
          <a:p>
            <a:r>
              <a:rPr sz="1500" b="0" i="0">
                <a:solidFill>
                  <a:srgbClr val="4A5568"/>
                </a:solidFill>
                <a:latin typeface="Calibri"/>
              </a:rPr>
              <a:t>RPT dosimetry, radiobiology, molecular imaging</a:t>
            </a:r>
          </a:p>
        </p:txBody>
      </p:sp>
      <p:sp>
        <p:nvSpPr>
          <p:cNvPr id="25" name="Rounded Rectangle 24"/>
          <p:cNvSpPr/>
          <p:nvPr/>
        </p:nvSpPr>
        <p:spPr>
          <a:xfrm>
            <a:off x="812800" y="3556000"/>
            <a:ext cx="3429000" cy="1905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2800" y="3556000"/>
            <a:ext cx="3429000" cy="762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0600" y="3784600"/>
            <a:ext cx="3073400" cy="508000"/>
          </a:xfrm>
          <a:prstGeom prst="rect">
            <a:avLst/>
          </a:prstGeom>
          <a:noFill/>
        </p:spPr>
        <p:txBody>
          <a:bodyPr wrap="square" lIns="0" rIns="0" tIns="0" bIns="0">
            <a:spAutoFit/>
          </a:bodyPr>
          <a:lstStyle/>
          <a:p>
            <a:r>
              <a:rPr sz="1800" b="1" i="0">
                <a:solidFill>
                  <a:srgbClr val="13294B"/>
                </a:solidFill>
                <a:latin typeface="Calibri"/>
              </a:rPr>
              <a:t>Tehran Univ. of Medical Sciences</a:t>
            </a:r>
          </a:p>
        </p:txBody>
      </p:sp>
      <p:sp>
        <p:nvSpPr>
          <p:cNvPr id="28" name="TextBox 27"/>
          <p:cNvSpPr txBox="1"/>
          <p:nvPr/>
        </p:nvSpPr>
        <p:spPr>
          <a:xfrm>
            <a:off x="990600" y="4330700"/>
            <a:ext cx="3073400" cy="381000"/>
          </a:xfrm>
          <a:prstGeom prst="rect">
            <a:avLst/>
          </a:prstGeom>
          <a:noFill/>
        </p:spPr>
        <p:txBody>
          <a:bodyPr wrap="square" lIns="0" rIns="0" tIns="0" bIns="0">
            <a:spAutoFit/>
          </a:bodyPr>
          <a:lstStyle/>
          <a:p>
            <a:r>
              <a:rPr sz="1400" b="1" i="0">
                <a:solidFill>
                  <a:srgbClr val="0E7C7B"/>
                </a:solidFill>
                <a:latin typeface="Calibri"/>
              </a:rPr>
              <a:t>Nuclear medicine &amp; molecular imaging</a:t>
            </a:r>
          </a:p>
        </p:txBody>
      </p:sp>
      <p:sp>
        <p:nvSpPr>
          <p:cNvPr id="29" name="TextBox 28"/>
          <p:cNvSpPr txBox="1"/>
          <p:nvPr/>
        </p:nvSpPr>
        <p:spPr>
          <a:xfrm>
            <a:off x="990600" y="4737100"/>
            <a:ext cx="3073400" cy="635000"/>
          </a:xfrm>
          <a:prstGeom prst="rect">
            <a:avLst/>
          </a:prstGeom>
          <a:noFill/>
        </p:spPr>
        <p:txBody>
          <a:bodyPr wrap="square" lIns="0" rIns="0" tIns="0" bIns="0">
            <a:spAutoFit/>
          </a:bodyPr>
          <a:lstStyle/>
          <a:p>
            <a:r>
              <a:rPr sz="1500" b="0" i="0">
                <a:solidFill>
                  <a:srgbClr val="4A5568"/>
                </a:solidFill>
                <a:latin typeface="Calibri"/>
              </a:rPr>
              <a:t>Theranostics cohorts, PET/SPECT validation data</a:t>
            </a:r>
          </a:p>
        </p:txBody>
      </p:sp>
      <p:sp>
        <p:nvSpPr>
          <p:cNvPr id="30" name="Rounded Rectangle 29"/>
          <p:cNvSpPr/>
          <p:nvPr/>
        </p:nvSpPr>
        <p:spPr>
          <a:xfrm>
            <a:off x="4381500" y="3556000"/>
            <a:ext cx="3429000" cy="1905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81500" y="3556000"/>
            <a:ext cx="3429000" cy="76200"/>
          </a:xfrm>
          <a:prstGeom prst="rect">
            <a:avLst/>
          </a:prstGeom>
          <a:solidFill>
            <a:srgbClr val="E9B9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59300" y="3784600"/>
            <a:ext cx="3073400" cy="508000"/>
          </a:xfrm>
          <a:prstGeom prst="rect">
            <a:avLst/>
          </a:prstGeom>
          <a:noFill/>
        </p:spPr>
        <p:txBody>
          <a:bodyPr wrap="square" lIns="0" rIns="0" tIns="0" bIns="0">
            <a:spAutoFit/>
          </a:bodyPr>
          <a:lstStyle/>
          <a:p>
            <a:r>
              <a:rPr sz="1800" b="1" i="0">
                <a:solidFill>
                  <a:srgbClr val="13294B"/>
                </a:solidFill>
                <a:latin typeface="Calibri"/>
              </a:rPr>
              <a:t>Iran Univ. of Medical Sciences</a:t>
            </a:r>
          </a:p>
        </p:txBody>
      </p:sp>
      <p:sp>
        <p:nvSpPr>
          <p:cNvPr id="33" name="TextBox 32"/>
          <p:cNvSpPr txBox="1"/>
          <p:nvPr/>
        </p:nvSpPr>
        <p:spPr>
          <a:xfrm>
            <a:off x="4559300" y="4330700"/>
            <a:ext cx="3073400" cy="381000"/>
          </a:xfrm>
          <a:prstGeom prst="rect">
            <a:avLst/>
          </a:prstGeom>
          <a:noFill/>
        </p:spPr>
        <p:txBody>
          <a:bodyPr wrap="square" lIns="0" rIns="0" tIns="0" bIns="0">
            <a:spAutoFit/>
          </a:bodyPr>
          <a:lstStyle/>
          <a:p>
            <a:r>
              <a:rPr sz="1400" b="1" i="0">
                <a:solidFill>
                  <a:srgbClr val="8A5A12"/>
                </a:solidFill>
                <a:latin typeface="Calibri"/>
              </a:rPr>
              <a:t>Medical physics &amp; nuclear medicine</a:t>
            </a:r>
          </a:p>
        </p:txBody>
      </p:sp>
      <p:sp>
        <p:nvSpPr>
          <p:cNvPr id="34" name="TextBox 33"/>
          <p:cNvSpPr txBox="1"/>
          <p:nvPr/>
        </p:nvSpPr>
        <p:spPr>
          <a:xfrm>
            <a:off x="4559300" y="4737100"/>
            <a:ext cx="3073400" cy="635000"/>
          </a:xfrm>
          <a:prstGeom prst="rect">
            <a:avLst/>
          </a:prstGeom>
          <a:noFill/>
        </p:spPr>
        <p:txBody>
          <a:bodyPr wrap="square" lIns="0" rIns="0" tIns="0" bIns="0">
            <a:spAutoFit/>
          </a:bodyPr>
          <a:lstStyle/>
          <a:p>
            <a:r>
              <a:rPr sz="1500" b="0" i="0">
                <a:solidFill>
                  <a:srgbClr val="4A5568"/>
                </a:solidFill>
                <a:latin typeface="Calibri"/>
              </a:rPr>
              <a:t>Patient dosimetry and AI for ¹⁷⁷Lu-PSMA</a:t>
            </a:r>
          </a:p>
        </p:txBody>
      </p:sp>
      <p:sp>
        <p:nvSpPr>
          <p:cNvPr id="35" name="Rounded Rectangle 34"/>
          <p:cNvSpPr/>
          <p:nvPr/>
        </p:nvSpPr>
        <p:spPr>
          <a:xfrm>
            <a:off x="7950200" y="3556000"/>
            <a:ext cx="3429000" cy="1905000"/>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50200" y="3556000"/>
            <a:ext cx="3429000" cy="762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28000" y="3784600"/>
            <a:ext cx="3073400" cy="508000"/>
          </a:xfrm>
          <a:prstGeom prst="rect">
            <a:avLst/>
          </a:prstGeom>
          <a:noFill/>
        </p:spPr>
        <p:txBody>
          <a:bodyPr wrap="square" lIns="0" rIns="0" tIns="0" bIns="0">
            <a:spAutoFit/>
          </a:bodyPr>
          <a:lstStyle/>
          <a:p>
            <a:r>
              <a:rPr sz="1800" b="1" i="0">
                <a:solidFill>
                  <a:srgbClr val="13294B"/>
                </a:solidFill>
                <a:latin typeface="Calibri"/>
              </a:rPr>
              <a:t>Bushehr Univ. of Medical Sciences</a:t>
            </a:r>
          </a:p>
        </p:txBody>
      </p:sp>
      <p:sp>
        <p:nvSpPr>
          <p:cNvPr id="38" name="TextBox 37"/>
          <p:cNvSpPr txBox="1"/>
          <p:nvPr/>
        </p:nvSpPr>
        <p:spPr>
          <a:xfrm>
            <a:off x="8128000" y="4330700"/>
            <a:ext cx="3073400" cy="381000"/>
          </a:xfrm>
          <a:prstGeom prst="rect">
            <a:avLst/>
          </a:prstGeom>
          <a:noFill/>
        </p:spPr>
        <p:txBody>
          <a:bodyPr wrap="square" lIns="0" rIns="0" tIns="0" bIns="0">
            <a:spAutoFit/>
          </a:bodyPr>
          <a:lstStyle/>
          <a:p>
            <a:r>
              <a:rPr sz="1400" b="1" i="0">
                <a:solidFill>
                  <a:srgbClr val="1F5FA8"/>
                </a:solidFill>
                <a:latin typeface="Calibri"/>
              </a:rPr>
              <a:t>Persian Gulf NM Research Center</a:t>
            </a:r>
          </a:p>
        </p:txBody>
      </p:sp>
      <p:sp>
        <p:nvSpPr>
          <p:cNvPr id="39" name="TextBox 38"/>
          <p:cNvSpPr txBox="1"/>
          <p:nvPr/>
        </p:nvSpPr>
        <p:spPr>
          <a:xfrm>
            <a:off x="8128000" y="4737100"/>
            <a:ext cx="3073400" cy="635000"/>
          </a:xfrm>
          <a:prstGeom prst="rect">
            <a:avLst/>
          </a:prstGeom>
          <a:noFill/>
        </p:spPr>
        <p:txBody>
          <a:bodyPr wrap="square" lIns="0" rIns="0" tIns="0" bIns="0">
            <a:spAutoFit/>
          </a:bodyPr>
          <a:lstStyle/>
          <a:p>
            <a:r>
              <a:rPr sz="1500" b="0" i="0">
                <a:solidFill>
                  <a:srgbClr val="4A5568"/>
                </a:solidFill>
                <a:latin typeface="Calibri"/>
              </a:rPr>
              <a:t>Radionuclide therapy clinic, animal imaging</a:t>
            </a:r>
          </a:p>
        </p:txBody>
      </p:sp>
      <p:sp>
        <p:nvSpPr>
          <p:cNvPr id="40" name="TextBox 39"/>
          <p:cNvSpPr txBox="1"/>
          <p:nvPr/>
        </p:nvSpPr>
        <p:spPr>
          <a:xfrm>
            <a:off x="10795000" y="6375400"/>
            <a:ext cx="584200" cy="190500"/>
          </a:xfrm>
          <a:prstGeom prst="rect">
            <a:avLst/>
          </a:prstGeom>
          <a:noFill/>
        </p:spPr>
        <p:txBody>
          <a:bodyPr wrap="square" lIns="0" rIns="0" tIns="0" bIns="0">
            <a:spAutoFit/>
          </a:bodyPr>
          <a:lstStyle/>
          <a:p>
            <a:r>
              <a:rPr sz="1100" b="0" i="0">
                <a:solidFill>
                  <a:srgbClr val="4A5568"/>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Rectangle 1"/>
          <p:cNvSpPr/>
          <p:nvPr/>
        </p:nvSpPr>
        <p:spPr>
          <a:xfrm>
            <a:off x="0" y="0"/>
            <a:ext cx="101600" cy="2286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01600" cy="2286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72000"/>
            <a:ext cx="101600" cy="2286000"/>
          </a:xfrm>
          <a:prstGeom prst="rect">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905000"/>
            <a:ext cx="10160000" cy="889000"/>
          </a:xfrm>
          <a:prstGeom prst="rect">
            <a:avLst/>
          </a:prstGeom>
          <a:noFill/>
        </p:spPr>
        <p:txBody>
          <a:bodyPr wrap="square" lIns="0" rIns="0" tIns="0" bIns="0">
            <a:spAutoFit/>
          </a:bodyPr>
          <a:lstStyle/>
          <a:p>
            <a:r>
              <a:rPr sz="7000" b="1" i="0">
                <a:solidFill>
                  <a:srgbClr val="F7F7F3"/>
                </a:solidFill>
                <a:latin typeface="Garamond"/>
              </a:rPr>
              <a:t>Thank you</a:t>
            </a:r>
          </a:p>
        </p:txBody>
      </p:sp>
      <p:sp>
        <p:nvSpPr>
          <p:cNvPr id="6" name="TextBox 5"/>
          <p:cNvSpPr txBox="1"/>
          <p:nvPr/>
        </p:nvSpPr>
        <p:spPr>
          <a:xfrm>
            <a:off x="812800" y="2984500"/>
            <a:ext cx="10160000" cy="381000"/>
          </a:xfrm>
          <a:prstGeom prst="rect">
            <a:avLst/>
          </a:prstGeom>
          <a:noFill/>
        </p:spPr>
        <p:txBody>
          <a:bodyPr wrap="square" lIns="0" rIns="0" tIns="0" bIns="0">
            <a:spAutoFit/>
          </a:bodyPr>
          <a:lstStyle/>
          <a:p>
            <a:r>
              <a:rPr sz="2800" b="0" i="1">
                <a:solidFill>
                  <a:srgbClr val="E9B949"/>
                </a:solidFill>
                <a:latin typeface="Garamond"/>
              </a:rPr>
              <a:t>The future is bright — and we are building it together.</a:t>
            </a:r>
          </a:p>
        </p:txBody>
      </p:sp>
      <p:sp>
        <p:nvSpPr>
          <p:cNvPr id="7" name="Rounded Rectangle 6"/>
          <p:cNvSpPr/>
          <p:nvPr/>
        </p:nvSpPr>
        <p:spPr>
          <a:xfrm>
            <a:off x="812800" y="3683000"/>
            <a:ext cx="2540000" cy="952500"/>
          </a:xfrm>
          <a:prstGeom prst="roundRect">
            <a:avLst>
              <a:gd name="adj" fmla="val 5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3300" y="4000500"/>
            <a:ext cx="2159000" cy="381000"/>
          </a:xfrm>
          <a:prstGeom prst="rect">
            <a:avLst/>
          </a:prstGeom>
          <a:noFill/>
        </p:spPr>
        <p:txBody>
          <a:bodyPr wrap="square" lIns="0" rIns="0" tIns="0" bIns="0">
            <a:spAutoFit/>
          </a:bodyPr>
          <a:lstStyle/>
          <a:p>
            <a:r>
              <a:rPr sz="2200" b="1" i="0">
                <a:solidFill>
                  <a:srgbClr val="F7F7F3"/>
                </a:solidFill>
                <a:latin typeface="Calibri"/>
              </a:rPr>
              <a:t>Molecular imaging</a:t>
            </a:r>
          </a:p>
        </p:txBody>
      </p:sp>
      <p:sp>
        <p:nvSpPr>
          <p:cNvPr id="9" name="Rounded Rectangle 8"/>
          <p:cNvSpPr/>
          <p:nvPr/>
        </p:nvSpPr>
        <p:spPr>
          <a:xfrm>
            <a:off x="3492500" y="3683000"/>
            <a:ext cx="2540000" cy="952500"/>
          </a:xfrm>
          <a:prstGeom prst="roundRect">
            <a:avLst>
              <a:gd name="adj" fmla="val 5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3000" y="4000500"/>
            <a:ext cx="2159000" cy="381000"/>
          </a:xfrm>
          <a:prstGeom prst="rect">
            <a:avLst/>
          </a:prstGeom>
          <a:noFill/>
        </p:spPr>
        <p:txBody>
          <a:bodyPr wrap="square" lIns="0" rIns="0" tIns="0" bIns="0">
            <a:spAutoFit/>
          </a:bodyPr>
          <a:lstStyle/>
          <a:p>
            <a:r>
              <a:rPr sz="2200" b="1" i="0">
                <a:solidFill>
                  <a:srgbClr val="F7F7F3"/>
                </a:solidFill>
                <a:latin typeface="Calibri"/>
              </a:rPr>
              <a:t>Precision medicine</a:t>
            </a:r>
          </a:p>
        </p:txBody>
      </p:sp>
      <p:sp>
        <p:nvSpPr>
          <p:cNvPr id="11" name="Rounded Rectangle 10"/>
          <p:cNvSpPr/>
          <p:nvPr/>
        </p:nvSpPr>
        <p:spPr>
          <a:xfrm>
            <a:off x="6172200" y="3683000"/>
            <a:ext cx="2540000" cy="952500"/>
          </a:xfrm>
          <a:prstGeom prst="roundRect">
            <a:avLst>
              <a:gd name="adj" fmla="val 5000"/>
            </a:avLst>
          </a:prstGeom>
          <a:solidFill>
            <a:srgbClr val="6B4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2700" y="4000500"/>
            <a:ext cx="2159000" cy="381000"/>
          </a:xfrm>
          <a:prstGeom prst="rect">
            <a:avLst/>
          </a:prstGeom>
          <a:noFill/>
        </p:spPr>
        <p:txBody>
          <a:bodyPr wrap="square" lIns="0" rIns="0" tIns="0" bIns="0">
            <a:spAutoFit/>
          </a:bodyPr>
          <a:lstStyle/>
          <a:p>
            <a:r>
              <a:rPr sz="2200" b="1" i="0">
                <a:solidFill>
                  <a:srgbClr val="F7F7F3"/>
                </a:solidFill>
                <a:latin typeface="Calibri"/>
              </a:rPr>
              <a:t>Digital twins</a:t>
            </a:r>
          </a:p>
        </p:txBody>
      </p:sp>
      <p:sp>
        <p:nvSpPr>
          <p:cNvPr id="13" name="Rounded Rectangle 12"/>
          <p:cNvSpPr/>
          <p:nvPr/>
        </p:nvSpPr>
        <p:spPr>
          <a:xfrm>
            <a:off x="8851900" y="3683000"/>
            <a:ext cx="2540000" cy="952500"/>
          </a:xfrm>
          <a:prstGeom prst="roundRect">
            <a:avLst>
              <a:gd name="adj" fmla="val 5000"/>
            </a:avLst>
          </a:prstGeom>
          <a:solidFill>
            <a:srgbClr val="C04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42400" y="4000500"/>
            <a:ext cx="2159000" cy="381000"/>
          </a:xfrm>
          <a:prstGeom prst="rect">
            <a:avLst/>
          </a:prstGeom>
          <a:noFill/>
        </p:spPr>
        <p:txBody>
          <a:bodyPr wrap="square" lIns="0" rIns="0" tIns="0" bIns="0">
            <a:spAutoFit/>
          </a:bodyPr>
          <a:lstStyle/>
          <a:p>
            <a:r>
              <a:rPr sz="2200" b="1" i="0">
                <a:solidFill>
                  <a:srgbClr val="F7F7F3"/>
                </a:solidFill>
                <a:latin typeface="Calibri"/>
              </a:rPr>
              <a:t>Virtual trials</a:t>
            </a:r>
          </a:p>
        </p:txBody>
      </p:sp>
      <p:sp>
        <p:nvSpPr>
          <p:cNvPr id="15" name="TextBox 14"/>
          <p:cNvSpPr txBox="1"/>
          <p:nvPr/>
        </p:nvSpPr>
        <p:spPr>
          <a:xfrm>
            <a:off x="812800" y="5080000"/>
            <a:ext cx="10160000" cy="317500"/>
          </a:xfrm>
          <a:prstGeom prst="rect">
            <a:avLst/>
          </a:prstGeom>
          <a:noFill/>
        </p:spPr>
        <p:txBody>
          <a:bodyPr wrap="square" lIns="0" rIns="0" tIns="0" bIns="0">
            <a:spAutoFit/>
          </a:bodyPr>
          <a:lstStyle/>
          <a:p>
            <a:r>
              <a:rPr sz="2200" b="0" i="0">
                <a:solidFill>
                  <a:srgbClr val="BFD8D5"/>
                </a:solidFill>
                <a:latin typeface="Calibri"/>
              </a:rPr>
              <a:t>Hamid Abdollahi, PhD · Questions welcome</a:t>
            </a:r>
          </a:p>
        </p:txBody>
      </p:sp>
      <p:sp>
        <p:nvSpPr>
          <p:cNvPr id="16" name="TextBox 15"/>
          <p:cNvSpPr txBox="1"/>
          <p:nvPr/>
        </p:nvSpPr>
        <p:spPr>
          <a:xfrm>
            <a:off x="10795000" y="6375400"/>
            <a:ext cx="584200" cy="190500"/>
          </a:xfrm>
          <a:prstGeom prst="rect">
            <a:avLst/>
          </a:prstGeom>
          <a:noFill/>
        </p:spPr>
        <p:txBody>
          <a:bodyPr wrap="square" lIns="0" rIns="0" tIns="0" bIns="0">
            <a:spAutoFit/>
          </a:bodyPr>
          <a:lstStyle/>
          <a:p>
            <a:r>
              <a:rPr sz="1100" b="0" i="0">
                <a:solidFill>
                  <a:srgbClr val="BFD8D5"/>
                </a:solidFill>
                <a:latin typeface="Calibri"/>
              </a:rPr>
              <a:t>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Quantitative Imaging to Predictive Virtual Trials</dc:title>
  <dc:subject/>
  <dc:creator>Hamid Abdollahi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