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research aim is to transform molecular imaging into a predictive, therapy-guiding platform by integrating imaging, biology, and physics.</a:t>
            </a:r>
          </a:p>
          <a:p>
            <a:r>
              <a:t>I will combine complementary information from PET/CT, SPECT, and MRI to assess disease burden, target expression, tracer kinetics, and changes over time. Radiotheranostic approaches, including PSMA- and somatostatin-receptor-targeted imaging and therapy, provide a direct connection between disease characterization and treatment.</a:t>
            </a:r>
          </a:p>
          <a:p>
            <a:r>
              <a:t>A central focus will be understanding biological heterogeneity within and between lesions, alongside normal-tissue physiology. By integrating radiomics and AI with molecular and clinical data, I will investigate biomarkers of receptor expression, perfusion, hypoxia, and the tumour microenvironment, together with normal-organ uptake and clearance. These biomarkers will support patient stratification, response prediction, and biopsy or therapy targeting.</a:t>
            </a:r>
          </a:p>
          <a:p>
            <a:r>
              <a:t>I will translate this information into patient-specific digital twins that connect tumour and normal-organ models, enabling predictive dosimetry and investigation of the balance between tumour control and toxicity. Virtual trials will support comparison of treatment options, while longitudinal imaging will update the models as disease and response evolve.</a:t>
            </a:r>
          </a:p>
          <a:p>
            <a:r>
              <a:t>Throughout this work, reproducibility, uncertainty quantification, and independent clinical validation will guide the development of reliable tools for personalized treatment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second research direction focuses on AI-enhanced molecular imaging, from image acquisition to clinical decision support.</a:t>
            </a:r>
          </a:p>
          <a:p>
            <a:r>
              <a:t>First, I will develop physics-informed reconstruction and denoising methods for next-generation PET and SPECT systems, aiming to enable lower-dose and faster imaging while preserving quantitative accuracy. Second, automated lesion detection, segmentation, and registration will support consistent tumor delineation and monitoring over time.</a:t>
            </a:r>
          </a:p>
          <a:p>
            <a:r>
              <a:t>Third, I will combine quantitative imaging and radiomic features with clinical and biological data to characterize disease burden and heterogeneity, discover meaningful biomarkers, and support personalized dosimetry. These measurements will inform models for therapy-response prediction and patient stratification.</a:t>
            </a:r>
          </a:p>
          <a:p>
            <a:r>
              <a:t>Across this workflow, my priorities are physical consistency, biological interpretability, and robust validation. The goal is to produce reliable measurements and interpretable predictions that support clinicians, while reducing repetitive work and improving workflow efficiency.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how I plan to connect a patient’s evolving disease with a digital twin that learns from each treatment cycle. Building on Lorenzo and colleagues’ framework, imaging and biomarkers will initialize the model at baseline and update it after treatment.</a:t>
            </a:r>
          </a:p>
          <a:p>
            <a:r>
              <a:t>The model combines radiopharmaceutical pharmacokinetics, absorbed dose and dose rate, and tumor biology—including growth, damage, repair, and resistance. AI will help extract patient-specific parameters and accelerate simulations.</a:t>
            </a:r>
          </a:p>
          <a:p>
            <a:r>
              <a:t>The twin will then test alternative treatment strategies, predicting tumor response and organ toxicity. These predictions will guide optimization of administered activity, treatment timing, and number of cycles within clinically feasible constraints.</a:t>
            </a:r>
          </a:p>
          <a:p>
            <a:r>
              <a:t>The key is the feedback loop: measure, predict, optimize, and update. My goal is to develop and prospectively validate this framework so that each treatment decision can reflect the individual patient’s changing biology and response.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fourth research direction connects molecular imaging with advanced treatment technologies through four complementary approaches.</a:t>
            </a:r>
          </a:p>
          <a:p>
            <a:r>
              <a:t>In radiopharmaceutical therapy, I will investigate how PET-derived target expression and tracer kinetics can inform personalized treatment planning and dose–response models, validated against post-therapy dosimetry.</a:t>
            </a:r>
          </a:p>
          <a:p>
            <a:r>
              <a:t>For biological dose painting, I will explore combining metabolic and hypoxia imaging to estimate spatial differences in tumor cellularity and radiosensitivity, guiding dose distributions while respecting normal-tissue constraints.</a:t>
            </a:r>
          </a:p>
          <a:p>
            <a:r>
              <a:t>In proton therapy, I will investigate beam-induced PET activity for range verification and model-assisted dosimetry. This requires accounting for tissue composition, imaging timing, and biological washout because PET activity does not directly represent absorbed dose.</a:t>
            </a:r>
          </a:p>
          <a:p>
            <a:r>
              <a:t>Finally, in biology-guided radiotherapy, I will explore how rapidly acquired PET signals can guide radiation delivery to moving targets within a planned treatment framework.</a:t>
            </a:r>
          </a:p>
          <a:p>
            <a:r>
              <a:t>These approaches share a common goal: use molecular information to plan treatment, verify delivery, measure response, and guide adaptation, including opportunities to combine systemic radiopharmaceutical therapy with external-beam treatment.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fifth research direction uses molecular imaging to build virtual trials that inform imaging protocols, radiopharmaceutical development, and clinical study design.</a:t>
            </a:r>
          </a:p>
          <a:p>
            <a:r>
              <a:t>I will combine imaging, biological measurements, and clinical data to develop virtual patient cohorts that capture differences in anatomy, disease burden, tracer kinetics, and treatment sensitivity.</a:t>
            </a:r>
          </a:p>
          <a:p>
            <a:r>
              <a:t>These cohorts will support two complementary pathways. Virtual imaging trials will compare scanner configurations, acquisition protocols, reconstruction methods, and response biomarkers—for example, testing when dynamic PET kinetic measures provide more useful information than static SUV measurements.</a:t>
            </a:r>
          </a:p>
          <a:p>
            <a:r>
              <a:t>Virtual therapy trials will combine PBPK, dosimetry, and response models to evaluate candidate radiopharmaceuticals, administered activities, treatment schedules, and combinations across diverse patient groups.</a:t>
            </a:r>
          </a:p>
          <a:p>
            <a:r>
              <a:t>The goal is to prioritize promising strategies and design more informative prospective studies. Throughout this work, I will emphasize physiological plausibility, uncertainty analysis, and independent validation, using virtual trials to complement and strengthen clinical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g"/><Relationship Id="rId6" Type="http://schemas.openxmlformats.org/officeDocument/2006/relationships/image" Target="../media/image17.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I</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Quantitative molecular imaging biomarkers</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Concept adapted from Tharmaseelan et al., Cancers 2022;14:3349 (CC BY 4.0), extended to the proposed research vision</a:t>
            </a:r>
          </a:p>
        </p:txBody>
      </p:sp>
      <p:sp>
        <p:nvSpPr>
          <p:cNvPr id="6" name="Rounded Rectangle 5"/>
          <p:cNvSpPr/>
          <p:nvPr/>
        </p:nvSpPr>
        <p:spPr>
          <a:xfrm>
            <a:off x="812800" y="1397000"/>
            <a:ext cx="29845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1-measure.jpg"/>
          <p:cNvPicPr>
            <a:picLocks noChangeAspect="1"/>
          </p:cNvPicPr>
          <p:nvPr/>
        </p:nvPicPr>
        <p:blipFill>
          <a:blip r:embed="rId3"/>
          <a:stretch>
            <a:fillRect/>
          </a:stretch>
        </p:blipFill>
        <p:spPr>
          <a:xfrm>
            <a:off x="939800" y="1954998"/>
            <a:ext cx="2730500" cy="928703"/>
          </a:xfrm>
          <a:prstGeom prst="rect">
            <a:avLst/>
          </a:prstGeom>
        </p:spPr>
      </p:pic>
      <p:sp>
        <p:nvSpPr>
          <p:cNvPr id="8" name="TextBox 7"/>
          <p:cNvSpPr txBox="1"/>
          <p:nvPr/>
        </p:nvSpPr>
        <p:spPr>
          <a:xfrm>
            <a:off x="939800" y="3429000"/>
            <a:ext cx="2730500" cy="254000"/>
          </a:xfrm>
          <a:prstGeom prst="rect">
            <a:avLst/>
          </a:prstGeom>
          <a:noFill/>
        </p:spPr>
        <p:txBody>
          <a:bodyPr wrap="square" lIns="0" rIns="0" tIns="0" bIns="0">
            <a:spAutoFit/>
          </a:bodyPr>
          <a:lstStyle/>
          <a:p>
            <a:r>
              <a:rPr sz="1700" b="1">
                <a:solidFill>
                  <a:srgbClr val="13294B"/>
                </a:solidFill>
                <a:latin typeface="Calibri"/>
              </a:rPr>
              <a:t>1  Measure disease</a:t>
            </a:r>
          </a:p>
        </p:txBody>
      </p:sp>
      <p:sp>
        <p:nvSpPr>
          <p:cNvPr id="9" name="TextBox 8"/>
          <p:cNvSpPr txBox="1"/>
          <p:nvPr/>
        </p:nvSpPr>
        <p:spPr>
          <a:xfrm>
            <a:off x="939800" y="3708400"/>
            <a:ext cx="27305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Combine PET/CT, SPECT and MRI</a:t>
            </a:r>
          </a:p>
          <a:p>
            <a:pPr>
              <a:spcAft>
                <a:spcPts val="400"/>
              </a:spcAft>
            </a:pPr>
            <a:r>
              <a:rPr sz="1500" b="0">
                <a:solidFill>
                  <a:srgbClr val="4A5568"/>
                </a:solidFill>
                <a:latin typeface="Calibri"/>
              </a:rPr>
              <a:t>• Burden, target expression, tracer kinetics</a:t>
            </a:r>
          </a:p>
          <a:p>
            <a:pPr>
              <a:spcAft>
                <a:spcPts val="400"/>
              </a:spcAft>
            </a:pPr>
            <a:r>
              <a:rPr sz="1500" b="0">
                <a:solidFill>
                  <a:srgbClr val="4A5568"/>
                </a:solidFill>
                <a:latin typeface="Calibri"/>
              </a:rPr>
              <a:t>• Change over time; PSMA and SSTR theranostics</a:t>
            </a:r>
          </a:p>
        </p:txBody>
      </p:sp>
      <p:sp>
        <p:nvSpPr>
          <p:cNvPr id="10" name="Right Arrow 9"/>
          <p:cNvSpPr/>
          <p:nvPr/>
        </p:nvSpPr>
        <p:spPr>
          <a:xfrm>
            <a:off x="38481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089400" y="1397000"/>
            <a:ext cx="3822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1-tumour.jpg"/>
          <p:cNvPicPr>
            <a:picLocks noChangeAspect="1"/>
          </p:cNvPicPr>
          <p:nvPr/>
        </p:nvPicPr>
        <p:blipFill>
          <a:blip r:embed="rId4"/>
          <a:stretch>
            <a:fillRect/>
          </a:stretch>
        </p:blipFill>
        <p:spPr>
          <a:xfrm>
            <a:off x="4354334" y="1498600"/>
            <a:ext cx="1470381" cy="1841500"/>
          </a:xfrm>
          <a:prstGeom prst="rect">
            <a:avLst/>
          </a:prstGeom>
        </p:spPr>
      </p:pic>
      <p:pic>
        <p:nvPicPr>
          <p:cNvPr id="13" name="Picture 12" descr="a1-normal.jpg"/>
          <p:cNvPicPr>
            <a:picLocks noChangeAspect="1"/>
          </p:cNvPicPr>
          <p:nvPr/>
        </p:nvPicPr>
        <p:blipFill>
          <a:blip r:embed="rId5"/>
          <a:stretch>
            <a:fillRect/>
          </a:stretch>
        </p:blipFill>
        <p:spPr>
          <a:xfrm>
            <a:off x="6198821" y="1498600"/>
            <a:ext cx="1426307" cy="1841500"/>
          </a:xfrm>
          <a:prstGeom prst="rect">
            <a:avLst/>
          </a:prstGeom>
        </p:spPr>
      </p:pic>
      <p:sp>
        <p:nvSpPr>
          <p:cNvPr id="14" name="TextBox 13"/>
          <p:cNvSpPr txBox="1"/>
          <p:nvPr/>
        </p:nvSpPr>
        <p:spPr>
          <a:xfrm>
            <a:off x="4216400" y="3429000"/>
            <a:ext cx="3568700" cy="254000"/>
          </a:xfrm>
          <a:prstGeom prst="rect">
            <a:avLst/>
          </a:prstGeom>
          <a:noFill/>
        </p:spPr>
        <p:txBody>
          <a:bodyPr wrap="square" lIns="0" rIns="0" tIns="0" bIns="0">
            <a:spAutoFit/>
          </a:bodyPr>
          <a:lstStyle/>
          <a:p>
            <a:r>
              <a:rPr sz="1700" b="1">
                <a:solidFill>
                  <a:srgbClr val="13294B"/>
                </a:solidFill>
                <a:latin typeface="Calibri"/>
              </a:rPr>
              <a:t>2  Characterize biology</a:t>
            </a:r>
          </a:p>
        </p:txBody>
      </p:sp>
      <p:sp>
        <p:nvSpPr>
          <p:cNvPr id="15" name="TextBox 14"/>
          <p:cNvSpPr txBox="1"/>
          <p:nvPr/>
        </p:nvSpPr>
        <p:spPr>
          <a:xfrm>
            <a:off x="4216400" y="3708400"/>
            <a:ext cx="3568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Heterogeneity within and between lesions</a:t>
            </a:r>
          </a:p>
          <a:p>
            <a:pPr>
              <a:spcAft>
                <a:spcPts val="400"/>
              </a:spcAft>
            </a:pPr>
            <a:r>
              <a:rPr sz="1500" b="0">
                <a:solidFill>
                  <a:srgbClr val="4A5568"/>
                </a:solidFill>
                <a:latin typeface="Calibri"/>
              </a:rPr>
              <a:t>• Receptors, perfusion, hypoxia; normal-organ uptake and clearance</a:t>
            </a:r>
          </a:p>
          <a:p>
            <a:pPr>
              <a:spcAft>
                <a:spcPts val="400"/>
              </a:spcAft>
            </a:pPr>
            <a:r>
              <a:rPr sz="1500" b="0">
                <a:solidFill>
                  <a:srgbClr val="4A5568"/>
                </a:solidFill>
                <a:latin typeface="Calibri"/>
              </a:rPr>
              <a:t>• Radiomics/AI + molecular and clinical data → stratification and targeting</a:t>
            </a:r>
          </a:p>
        </p:txBody>
      </p:sp>
      <p:sp>
        <p:nvSpPr>
          <p:cNvPr id="16" name="Right Arrow 15"/>
          <p:cNvSpPr/>
          <p:nvPr/>
        </p:nvSpPr>
        <p:spPr>
          <a:xfrm>
            <a:off x="79629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04200" y="1397000"/>
            <a:ext cx="29845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1-twin.jpg"/>
          <p:cNvPicPr>
            <a:picLocks noChangeAspect="1"/>
          </p:cNvPicPr>
          <p:nvPr/>
        </p:nvPicPr>
        <p:blipFill>
          <a:blip r:embed="rId6"/>
          <a:stretch>
            <a:fillRect/>
          </a:stretch>
        </p:blipFill>
        <p:spPr>
          <a:xfrm>
            <a:off x="8331200" y="1570839"/>
            <a:ext cx="2730500" cy="1697020"/>
          </a:xfrm>
          <a:prstGeom prst="rect">
            <a:avLst/>
          </a:prstGeom>
        </p:spPr>
      </p:pic>
      <p:sp>
        <p:nvSpPr>
          <p:cNvPr id="19" name="TextBox 18"/>
          <p:cNvSpPr txBox="1"/>
          <p:nvPr/>
        </p:nvSpPr>
        <p:spPr>
          <a:xfrm>
            <a:off x="8331200" y="3429000"/>
            <a:ext cx="2730500" cy="254000"/>
          </a:xfrm>
          <a:prstGeom prst="rect">
            <a:avLst/>
          </a:prstGeom>
          <a:noFill/>
        </p:spPr>
        <p:txBody>
          <a:bodyPr wrap="square" lIns="0" rIns="0" tIns="0" bIns="0">
            <a:spAutoFit/>
          </a:bodyPr>
          <a:lstStyle/>
          <a:p>
            <a:r>
              <a:rPr sz="1700" b="1">
                <a:solidFill>
                  <a:srgbClr val="13294B"/>
                </a:solidFill>
                <a:latin typeface="Calibri"/>
              </a:rPr>
              <a:t>3  Predict and personalize</a:t>
            </a:r>
          </a:p>
        </p:txBody>
      </p:sp>
      <p:sp>
        <p:nvSpPr>
          <p:cNvPr id="20" name="TextBox 19"/>
          <p:cNvSpPr txBox="1"/>
          <p:nvPr/>
        </p:nvSpPr>
        <p:spPr>
          <a:xfrm>
            <a:off x="8331200" y="3708400"/>
            <a:ext cx="27305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Digital twin of tumour + normal organs</a:t>
            </a:r>
          </a:p>
          <a:p>
            <a:pPr>
              <a:spcAft>
                <a:spcPts val="400"/>
              </a:spcAft>
            </a:pPr>
            <a:r>
              <a:rPr sz="1500" b="0">
                <a:solidFill>
                  <a:srgbClr val="4A5568"/>
                </a:solidFill>
                <a:latin typeface="Calibri"/>
              </a:rPr>
              <a:t>• Predictive dosimetry: tumour control vs toxicity</a:t>
            </a:r>
          </a:p>
          <a:p>
            <a:pPr>
              <a:spcAft>
                <a:spcPts val="400"/>
              </a:spcAft>
            </a:pPr>
            <a:r>
              <a:rPr sz="1500" b="0">
                <a:solidFill>
                  <a:srgbClr val="4A5568"/>
                </a:solidFill>
                <a:latin typeface="Calibri"/>
              </a:rPr>
              <a:t>• Virtual trials; models updated with new imaging</a:t>
            </a:r>
          </a:p>
        </p:txBody>
      </p:sp>
      <p:sp>
        <p:nvSpPr>
          <p:cNvPr id="21" name="Rounded Rectangle 20"/>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Goal: a predictive, therapy-guiding imaging platform — reproducible and clinically validated.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II</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AI-enhanced molecular imaging</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Proposed research framework · informed by Herskovits (2021) and Mansouri et al. (2026)</a:t>
            </a:r>
          </a:p>
        </p:txBody>
      </p:sp>
      <p:sp>
        <p:nvSpPr>
          <p:cNvPr id="6" name="Rounded Rectangle 5"/>
          <p:cNvSpPr/>
          <p:nvPr/>
        </p:nvSpPr>
        <p:spPr>
          <a:xfrm>
            <a:off x="812800" y="1397000"/>
            <a:ext cx="2425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2-acquire.jpg"/>
          <p:cNvPicPr>
            <a:picLocks noChangeAspect="1"/>
          </p:cNvPicPr>
          <p:nvPr/>
        </p:nvPicPr>
        <p:blipFill>
          <a:blip r:embed="rId3"/>
          <a:stretch>
            <a:fillRect/>
          </a:stretch>
        </p:blipFill>
        <p:spPr>
          <a:xfrm>
            <a:off x="939800" y="1599639"/>
            <a:ext cx="2171700" cy="1639420"/>
          </a:xfrm>
          <a:prstGeom prst="rect">
            <a:avLst/>
          </a:prstGeom>
        </p:spPr>
      </p:pic>
      <p:sp>
        <p:nvSpPr>
          <p:cNvPr id="8" name="TextBox 7"/>
          <p:cNvSpPr txBox="1"/>
          <p:nvPr/>
        </p:nvSpPr>
        <p:spPr>
          <a:xfrm>
            <a:off x="939800" y="3429000"/>
            <a:ext cx="2171700" cy="254000"/>
          </a:xfrm>
          <a:prstGeom prst="rect">
            <a:avLst/>
          </a:prstGeom>
          <a:noFill/>
        </p:spPr>
        <p:txBody>
          <a:bodyPr wrap="square" lIns="0" rIns="0" tIns="0" bIns="0">
            <a:spAutoFit/>
          </a:bodyPr>
          <a:lstStyle/>
          <a:p>
            <a:r>
              <a:rPr sz="1700" b="1">
                <a:solidFill>
                  <a:srgbClr val="13294B"/>
                </a:solidFill>
                <a:latin typeface="Calibri"/>
              </a:rPr>
              <a:t>1  Acquire</a:t>
            </a:r>
          </a:p>
        </p:txBody>
      </p:sp>
      <p:sp>
        <p:nvSpPr>
          <p:cNvPr id="9" name="TextBox 8"/>
          <p:cNvSpPr txBox="1"/>
          <p:nvPr/>
        </p:nvSpPr>
        <p:spPr>
          <a:xfrm>
            <a:off x="939800" y="3708400"/>
            <a:ext cx="2171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Physics-informed reconstruction</a:t>
            </a:r>
          </a:p>
          <a:p>
            <a:pPr>
              <a:spcAft>
                <a:spcPts val="400"/>
              </a:spcAft>
            </a:pPr>
            <a:r>
              <a:rPr sz="1500" b="0">
                <a:solidFill>
                  <a:srgbClr val="4A5568"/>
                </a:solidFill>
                <a:latin typeface="Calibri"/>
              </a:rPr>
              <a:t>• Lower-dose, faster PET/SPECT</a:t>
            </a:r>
          </a:p>
          <a:p>
            <a:pPr>
              <a:spcAft>
                <a:spcPts val="400"/>
              </a:spcAft>
            </a:pPr>
            <a:r>
              <a:rPr sz="1500" b="0">
                <a:solidFill>
                  <a:srgbClr val="4A5568"/>
                </a:solidFill>
                <a:latin typeface="Calibri"/>
              </a:rPr>
              <a:t>• Quantitative accuracy kept</a:t>
            </a:r>
          </a:p>
        </p:txBody>
      </p:sp>
      <p:sp>
        <p:nvSpPr>
          <p:cNvPr id="10" name="Right Arrow 9"/>
          <p:cNvSpPr/>
          <p:nvPr/>
        </p:nvSpPr>
        <p:spPr>
          <a:xfrm>
            <a:off x="32893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30600" y="1397000"/>
            <a:ext cx="2425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2-enhance.jpg"/>
          <p:cNvPicPr>
            <a:picLocks noChangeAspect="1"/>
          </p:cNvPicPr>
          <p:nvPr/>
        </p:nvPicPr>
        <p:blipFill>
          <a:blip r:embed="rId4"/>
          <a:stretch>
            <a:fillRect/>
          </a:stretch>
        </p:blipFill>
        <p:spPr>
          <a:xfrm>
            <a:off x="3657600" y="1811046"/>
            <a:ext cx="2171700" cy="1216606"/>
          </a:xfrm>
          <a:prstGeom prst="rect">
            <a:avLst/>
          </a:prstGeom>
        </p:spPr>
      </p:pic>
      <p:sp>
        <p:nvSpPr>
          <p:cNvPr id="13" name="TextBox 12"/>
          <p:cNvSpPr txBox="1"/>
          <p:nvPr/>
        </p:nvSpPr>
        <p:spPr>
          <a:xfrm>
            <a:off x="3657600" y="3429000"/>
            <a:ext cx="2171700" cy="254000"/>
          </a:xfrm>
          <a:prstGeom prst="rect">
            <a:avLst/>
          </a:prstGeom>
          <a:noFill/>
        </p:spPr>
        <p:txBody>
          <a:bodyPr wrap="square" lIns="0" rIns="0" tIns="0" bIns="0">
            <a:spAutoFit/>
          </a:bodyPr>
          <a:lstStyle/>
          <a:p>
            <a:r>
              <a:rPr sz="1700" b="1">
                <a:solidFill>
                  <a:srgbClr val="13294B"/>
                </a:solidFill>
                <a:latin typeface="Calibri"/>
              </a:rPr>
              <a:t>2  Enhance</a:t>
            </a:r>
          </a:p>
        </p:txBody>
      </p:sp>
      <p:sp>
        <p:nvSpPr>
          <p:cNvPr id="14" name="TextBox 13"/>
          <p:cNvSpPr txBox="1"/>
          <p:nvPr/>
        </p:nvSpPr>
        <p:spPr>
          <a:xfrm>
            <a:off x="3657600" y="3708400"/>
            <a:ext cx="2171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AI denoising</a:t>
            </a:r>
          </a:p>
          <a:p>
            <a:pPr>
              <a:spcAft>
                <a:spcPts val="400"/>
              </a:spcAft>
            </a:pPr>
            <a:r>
              <a:rPr sz="1500" b="0">
                <a:solidFill>
                  <a:srgbClr val="4A5568"/>
                </a:solidFill>
                <a:latin typeface="Calibri"/>
              </a:rPr>
              <a:t>• Lesion detection and segmentation</a:t>
            </a:r>
          </a:p>
          <a:p>
            <a:pPr>
              <a:spcAft>
                <a:spcPts val="400"/>
              </a:spcAft>
            </a:pPr>
            <a:r>
              <a:rPr sz="1500" b="0">
                <a:solidFill>
                  <a:srgbClr val="4A5568"/>
                </a:solidFill>
                <a:latin typeface="Calibri"/>
              </a:rPr>
              <a:t>• Registration over time</a:t>
            </a:r>
          </a:p>
        </p:txBody>
      </p:sp>
      <p:sp>
        <p:nvSpPr>
          <p:cNvPr id="15" name="Right Arrow 14"/>
          <p:cNvSpPr/>
          <p:nvPr/>
        </p:nvSpPr>
        <p:spPr>
          <a:xfrm>
            <a:off x="60071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48400" y="1397000"/>
            <a:ext cx="2425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2-quantify.jpg"/>
          <p:cNvPicPr>
            <a:picLocks noChangeAspect="1"/>
          </p:cNvPicPr>
          <p:nvPr/>
        </p:nvPicPr>
        <p:blipFill>
          <a:blip r:embed="rId5"/>
          <a:stretch>
            <a:fillRect/>
          </a:stretch>
        </p:blipFill>
        <p:spPr>
          <a:xfrm>
            <a:off x="6375400" y="1832934"/>
            <a:ext cx="2171700" cy="1172830"/>
          </a:xfrm>
          <a:prstGeom prst="rect">
            <a:avLst/>
          </a:prstGeom>
        </p:spPr>
      </p:pic>
      <p:sp>
        <p:nvSpPr>
          <p:cNvPr id="18" name="TextBox 17"/>
          <p:cNvSpPr txBox="1"/>
          <p:nvPr/>
        </p:nvSpPr>
        <p:spPr>
          <a:xfrm>
            <a:off x="6375400" y="3429000"/>
            <a:ext cx="2171700" cy="254000"/>
          </a:xfrm>
          <a:prstGeom prst="rect">
            <a:avLst/>
          </a:prstGeom>
          <a:noFill/>
        </p:spPr>
        <p:txBody>
          <a:bodyPr wrap="square" lIns="0" rIns="0" tIns="0" bIns="0">
            <a:spAutoFit/>
          </a:bodyPr>
          <a:lstStyle/>
          <a:p>
            <a:r>
              <a:rPr sz="1700" b="1">
                <a:solidFill>
                  <a:srgbClr val="13294B"/>
                </a:solidFill>
                <a:latin typeface="Calibri"/>
              </a:rPr>
              <a:t>3  Quantify</a:t>
            </a:r>
          </a:p>
        </p:txBody>
      </p:sp>
      <p:sp>
        <p:nvSpPr>
          <p:cNvPr id="19" name="TextBox 18"/>
          <p:cNvSpPr txBox="1"/>
          <p:nvPr/>
        </p:nvSpPr>
        <p:spPr>
          <a:xfrm>
            <a:off x="6375400" y="3708400"/>
            <a:ext cx="2171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Disease burden and heterogeneity</a:t>
            </a:r>
          </a:p>
          <a:p>
            <a:pPr>
              <a:spcAft>
                <a:spcPts val="400"/>
              </a:spcAft>
            </a:pPr>
            <a:r>
              <a:rPr sz="1500" b="0">
                <a:solidFill>
                  <a:srgbClr val="4A5568"/>
                </a:solidFill>
                <a:latin typeface="Calibri"/>
              </a:rPr>
              <a:t>• Radiomics + clinical + biology</a:t>
            </a:r>
          </a:p>
          <a:p>
            <a:pPr>
              <a:spcAft>
                <a:spcPts val="400"/>
              </a:spcAft>
            </a:pPr>
            <a:r>
              <a:rPr sz="1500" b="0">
                <a:solidFill>
                  <a:srgbClr val="4A5568"/>
                </a:solidFill>
                <a:latin typeface="Calibri"/>
              </a:rPr>
              <a:t>• Personalized dosimetry</a:t>
            </a:r>
          </a:p>
        </p:txBody>
      </p:sp>
      <p:sp>
        <p:nvSpPr>
          <p:cNvPr id="20" name="Right Arrow 19"/>
          <p:cNvSpPr/>
          <p:nvPr/>
        </p:nvSpPr>
        <p:spPr>
          <a:xfrm>
            <a:off x="87249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66200" y="1397000"/>
            <a:ext cx="2425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2-support.jpg"/>
          <p:cNvPicPr>
            <a:picLocks noChangeAspect="1"/>
          </p:cNvPicPr>
          <p:nvPr/>
        </p:nvPicPr>
        <p:blipFill>
          <a:blip r:embed="rId6"/>
          <a:stretch>
            <a:fillRect/>
          </a:stretch>
        </p:blipFill>
        <p:spPr>
          <a:xfrm>
            <a:off x="9093200" y="1657914"/>
            <a:ext cx="2171700" cy="1522871"/>
          </a:xfrm>
          <a:prstGeom prst="rect">
            <a:avLst/>
          </a:prstGeom>
        </p:spPr>
      </p:pic>
      <p:sp>
        <p:nvSpPr>
          <p:cNvPr id="23" name="TextBox 22"/>
          <p:cNvSpPr txBox="1"/>
          <p:nvPr/>
        </p:nvSpPr>
        <p:spPr>
          <a:xfrm>
            <a:off x="9093200" y="3429000"/>
            <a:ext cx="2171700" cy="254000"/>
          </a:xfrm>
          <a:prstGeom prst="rect">
            <a:avLst/>
          </a:prstGeom>
          <a:noFill/>
        </p:spPr>
        <p:txBody>
          <a:bodyPr wrap="square" lIns="0" rIns="0" tIns="0" bIns="0">
            <a:spAutoFit/>
          </a:bodyPr>
          <a:lstStyle/>
          <a:p>
            <a:r>
              <a:rPr sz="1700" b="1">
                <a:solidFill>
                  <a:srgbClr val="13294B"/>
                </a:solidFill>
                <a:latin typeface="Calibri"/>
              </a:rPr>
              <a:t>4  Support</a:t>
            </a:r>
          </a:p>
        </p:txBody>
      </p:sp>
      <p:sp>
        <p:nvSpPr>
          <p:cNvPr id="24" name="TextBox 23"/>
          <p:cNvSpPr txBox="1"/>
          <p:nvPr/>
        </p:nvSpPr>
        <p:spPr>
          <a:xfrm>
            <a:off x="9093200" y="3708400"/>
            <a:ext cx="2171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Therapy-response prediction</a:t>
            </a:r>
          </a:p>
          <a:p>
            <a:pPr>
              <a:spcAft>
                <a:spcPts val="400"/>
              </a:spcAft>
            </a:pPr>
            <a:r>
              <a:rPr sz="1500" b="0">
                <a:solidFill>
                  <a:srgbClr val="4A5568"/>
                </a:solidFill>
                <a:latin typeface="Calibri"/>
              </a:rPr>
              <a:t>• Patient stratification</a:t>
            </a:r>
          </a:p>
          <a:p>
            <a:pPr>
              <a:spcAft>
                <a:spcPts val="400"/>
              </a:spcAft>
            </a:pPr>
            <a:r>
              <a:rPr sz="1500" b="0">
                <a:solidFill>
                  <a:srgbClr val="4A5568"/>
                </a:solidFill>
                <a:latin typeface="Calibri"/>
              </a:rPr>
              <a:t>• Interpretable decision support</a:t>
            </a:r>
          </a:p>
        </p:txBody>
      </p:sp>
      <p:sp>
        <p:nvSpPr>
          <p:cNvPr id="25" name="Rounded Rectangle 24"/>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Priorities: physical consistency · biological interpretability · robust validation — less repetitive work for clinicians.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III</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Digital twins for radiopharmaceutical therapy</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Proposed RPT adaptation of Lorenzo et al., Annu Rev Biomed Eng 2024;26:529–560 (Figs. 4–6)</a:t>
            </a:r>
          </a:p>
        </p:txBody>
      </p:sp>
      <p:sp>
        <p:nvSpPr>
          <p:cNvPr id="6" name="Rounded Rectangle 5"/>
          <p:cNvSpPr/>
          <p:nvPr/>
        </p:nvSpPr>
        <p:spPr>
          <a:xfrm>
            <a:off x="812800" y="1397000"/>
            <a:ext cx="6858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3-loop.jpg"/>
          <p:cNvPicPr>
            <a:picLocks noChangeAspect="1"/>
          </p:cNvPicPr>
          <p:nvPr/>
        </p:nvPicPr>
        <p:blipFill>
          <a:blip r:embed="rId3"/>
          <a:stretch>
            <a:fillRect/>
          </a:stretch>
        </p:blipFill>
        <p:spPr>
          <a:xfrm>
            <a:off x="939800" y="1883520"/>
            <a:ext cx="6604000" cy="2214658"/>
          </a:xfrm>
          <a:prstGeom prst="rect">
            <a:avLst/>
          </a:prstGeom>
        </p:spPr>
      </p:pic>
      <p:sp>
        <p:nvSpPr>
          <p:cNvPr id="8" name="TextBox 7"/>
          <p:cNvSpPr txBox="1"/>
          <p:nvPr/>
        </p:nvSpPr>
        <p:spPr>
          <a:xfrm>
            <a:off x="939800" y="4597400"/>
            <a:ext cx="6604000" cy="508000"/>
          </a:xfrm>
          <a:prstGeom prst="rect">
            <a:avLst/>
          </a:prstGeom>
          <a:noFill/>
        </p:spPr>
        <p:txBody>
          <a:bodyPr wrap="square" lIns="0" rIns="0" tIns="0" bIns="0">
            <a:spAutoFit/>
          </a:bodyPr>
          <a:lstStyle/>
          <a:p>
            <a:r>
              <a:rPr sz="1400" b="0">
                <a:solidFill>
                  <a:srgbClr val="4A5568"/>
                </a:solidFill>
                <a:latin typeface="Calibri"/>
              </a:rPr>
              <a:t>Imaging and biomarkers calibrate the twin at baseline and update it after every cycle; the twin forecasts and sends back personalized control.</a:t>
            </a:r>
          </a:p>
        </p:txBody>
      </p:sp>
      <p:sp>
        <p:nvSpPr>
          <p:cNvPr id="9" name="Rounded Rectangle 8"/>
          <p:cNvSpPr/>
          <p:nvPr/>
        </p:nvSpPr>
        <p:spPr>
          <a:xfrm>
            <a:off x="7823200" y="1397000"/>
            <a:ext cx="3556000" cy="11938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75600" y="1511300"/>
            <a:ext cx="3302000" cy="254000"/>
          </a:xfrm>
          <a:prstGeom prst="rect">
            <a:avLst/>
          </a:prstGeom>
          <a:noFill/>
        </p:spPr>
        <p:txBody>
          <a:bodyPr wrap="square" lIns="0" rIns="0" tIns="0" bIns="0">
            <a:spAutoFit/>
          </a:bodyPr>
          <a:lstStyle/>
          <a:p>
            <a:r>
              <a:rPr sz="1700" b="1">
                <a:solidFill>
                  <a:srgbClr val="13294B"/>
                </a:solidFill>
                <a:latin typeface="Calibri"/>
              </a:rPr>
              <a:t>1  Mechanistic core</a:t>
            </a:r>
          </a:p>
        </p:txBody>
      </p:sp>
      <p:sp>
        <p:nvSpPr>
          <p:cNvPr id="11" name="TextBox 10"/>
          <p:cNvSpPr txBox="1"/>
          <p:nvPr/>
        </p:nvSpPr>
        <p:spPr>
          <a:xfrm>
            <a:off x="7975600" y="1790700"/>
            <a:ext cx="3302000" cy="698500"/>
          </a:xfrm>
          <a:prstGeom prst="rect">
            <a:avLst/>
          </a:prstGeom>
          <a:noFill/>
        </p:spPr>
        <p:txBody>
          <a:bodyPr wrap="square" lIns="0" rIns="0" tIns="0" bIns="0">
            <a:spAutoFit/>
          </a:bodyPr>
          <a:lstStyle/>
          <a:p>
            <a:r>
              <a:rPr sz="1400" b="0">
                <a:solidFill>
                  <a:srgbClr val="4A5568"/>
                </a:solidFill>
                <a:latin typeface="Calibri"/>
              </a:rPr>
              <a:t>Pharmacokinetics → dose and dose rate → tumour growth, damage, repair, resistance</a:t>
            </a:r>
          </a:p>
        </p:txBody>
      </p:sp>
      <p:sp>
        <p:nvSpPr>
          <p:cNvPr id="12" name="Rounded Rectangle 11"/>
          <p:cNvSpPr/>
          <p:nvPr/>
        </p:nvSpPr>
        <p:spPr>
          <a:xfrm>
            <a:off x="7823200" y="2705100"/>
            <a:ext cx="3556000" cy="11938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75600" y="2819400"/>
            <a:ext cx="3302000" cy="254000"/>
          </a:xfrm>
          <a:prstGeom prst="rect">
            <a:avLst/>
          </a:prstGeom>
          <a:noFill/>
        </p:spPr>
        <p:txBody>
          <a:bodyPr wrap="square" lIns="0" rIns="0" tIns="0" bIns="0">
            <a:spAutoFit/>
          </a:bodyPr>
          <a:lstStyle/>
          <a:p>
            <a:r>
              <a:rPr sz="1700" b="1">
                <a:solidFill>
                  <a:srgbClr val="13294B"/>
                </a:solidFill>
                <a:latin typeface="Calibri"/>
              </a:rPr>
              <a:t>2  AI supports the model</a:t>
            </a:r>
          </a:p>
        </p:txBody>
      </p:sp>
      <p:sp>
        <p:nvSpPr>
          <p:cNvPr id="14" name="TextBox 13"/>
          <p:cNvSpPr txBox="1"/>
          <p:nvPr/>
        </p:nvSpPr>
        <p:spPr>
          <a:xfrm>
            <a:off x="7975600" y="3098800"/>
            <a:ext cx="3302000" cy="698500"/>
          </a:xfrm>
          <a:prstGeom prst="rect">
            <a:avLst/>
          </a:prstGeom>
          <a:noFill/>
        </p:spPr>
        <p:txBody>
          <a:bodyPr wrap="square" lIns="0" rIns="0" tIns="0" bIns="0">
            <a:spAutoFit/>
          </a:bodyPr>
          <a:lstStyle/>
          <a:p>
            <a:r>
              <a:rPr sz="1400" b="0">
                <a:solidFill>
                  <a:srgbClr val="4A5568"/>
                </a:solidFill>
                <a:latin typeface="Calibri"/>
              </a:rPr>
              <a:t>Patient-specific parameters from imaging; fast surrogate simulations</a:t>
            </a:r>
          </a:p>
        </p:txBody>
      </p:sp>
      <p:sp>
        <p:nvSpPr>
          <p:cNvPr id="15" name="Rounded Rectangle 14"/>
          <p:cNvSpPr/>
          <p:nvPr/>
        </p:nvSpPr>
        <p:spPr>
          <a:xfrm>
            <a:off x="7823200" y="4013200"/>
            <a:ext cx="3556000" cy="1193800"/>
          </a:xfrm>
          <a:prstGeom prst="roundRect">
            <a:avLst>
              <a:gd name="adj" fmla="val 4000"/>
            </a:avLst>
          </a:prstGeom>
          <a:solidFill>
            <a:srgbClr val="FBE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75600" y="4127500"/>
            <a:ext cx="3302000" cy="254000"/>
          </a:xfrm>
          <a:prstGeom prst="rect">
            <a:avLst/>
          </a:prstGeom>
          <a:noFill/>
        </p:spPr>
        <p:txBody>
          <a:bodyPr wrap="square" lIns="0" rIns="0" tIns="0" bIns="0">
            <a:spAutoFit/>
          </a:bodyPr>
          <a:lstStyle/>
          <a:p>
            <a:r>
              <a:rPr sz="1700" b="1">
                <a:solidFill>
                  <a:srgbClr val="13294B"/>
                </a:solidFill>
                <a:latin typeface="Calibri"/>
              </a:rPr>
              <a:t>3  Predict → optimize → treat</a:t>
            </a:r>
          </a:p>
        </p:txBody>
      </p:sp>
      <p:sp>
        <p:nvSpPr>
          <p:cNvPr id="17" name="TextBox 16"/>
          <p:cNvSpPr txBox="1"/>
          <p:nvPr/>
        </p:nvSpPr>
        <p:spPr>
          <a:xfrm>
            <a:off x="7975600" y="4406900"/>
            <a:ext cx="3302000" cy="698500"/>
          </a:xfrm>
          <a:prstGeom prst="rect">
            <a:avLst/>
          </a:prstGeom>
          <a:noFill/>
        </p:spPr>
        <p:txBody>
          <a:bodyPr wrap="square" lIns="0" rIns="0" tIns="0" bIns="0">
            <a:spAutoFit/>
          </a:bodyPr>
          <a:lstStyle/>
          <a:p>
            <a:r>
              <a:rPr sz="1400" b="0">
                <a:solidFill>
                  <a:srgbClr val="4A5568"/>
                </a:solidFill>
                <a:latin typeface="Calibri"/>
              </a:rPr>
              <a:t>Predict response and toxicity → best activity, timing and number of cycles</a:t>
            </a:r>
          </a:p>
        </p:txBody>
      </p:sp>
      <p:sp>
        <p:nvSpPr>
          <p:cNvPr id="18" name="Rounded Rectangle 17"/>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Feedback loop: measure → predict → optimize → update — then validate prospectively.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IV</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Advanced therapeutic technologies</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Oderinde et al. (2021) · Lazzeroni et al. (2026) · Abdel-Wahab &amp; Giammarile (2026)</a:t>
            </a:r>
          </a:p>
        </p:txBody>
      </p:sp>
      <p:sp>
        <p:nvSpPr>
          <p:cNvPr id="6" name="Rounded Rectangle 5"/>
          <p:cNvSpPr/>
          <p:nvPr/>
        </p:nvSpPr>
        <p:spPr>
          <a:xfrm>
            <a:off x="812800" y="1397000"/>
            <a:ext cx="254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4-rpt.jpg"/>
          <p:cNvPicPr>
            <a:picLocks noChangeAspect="1"/>
          </p:cNvPicPr>
          <p:nvPr/>
        </p:nvPicPr>
        <p:blipFill>
          <a:blip r:embed="rId3"/>
          <a:stretch>
            <a:fillRect/>
          </a:stretch>
        </p:blipFill>
        <p:spPr>
          <a:xfrm>
            <a:off x="1458042" y="1498600"/>
            <a:ext cx="1249514" cy="1809750"/>
          </a:xfrm>
          <a:prstGeom prst="rect">
            <a:avLst/>
          </a:prstGeom>
        </p:spPr>
      </p:pic>
      <p:sp>
        <p:nvSpPr>
          <p:cNvPr id="8" name="TextBox 7"/>
          <p:cNvSpPr txBox="1"/>
          <p:nvPr/>
        </p:nvSpPr>
        <p:spPr>
          <a:xfrm>
            <a:off x="939800" y="3397250"/>
            <a:ext cx="2286000" cy="254000"/>
          </a:xfrm>
          <a:prstGeom prst="rect">
            <a:avLst/>
          </a:prstGeom>
          <a:noFill/>
        </p:spPr>
        <p:txBody>
          <a:bodyPr wrap="square" lIns="0" rIns="0" tIns="0" bIns="0">
            <a:spAutoFit/>
          </a:bodyPr>
          <a:lstStyle/>
          <a:p>
            <a:r>
              <a:rPr sz="1700" b="1">
                <a:solidFill>
                  <a:srgbClr val="13294B"/>
                </a:solidFill>
                <a:latin typeface="Calibri"/>
              </a:rPr>
              <a:t>RPT planning</a:t>
            </a:r>
          </a:p>
        </p:txBody>
      </p:sp>
      <p:sp>
        <p:nvSpPr>
          <p:cNvPr id="9" name="TextBox 8"/>
          <p:cNvSpPr txBox="1"/>
          <p:nvPr/>
        </p:nvSpPr>
        <p:spPr>
          <a:xfrm>
            <a:off x="939800" y="3676650"/>
            <a:ext cx="2286000" cy="1466850"/>
          </a:xfrm>
          <a:prstGeom prst="rect">
            <a:avLst/>
          </a:prstGeom>
          <a:noFill/>
        </p:spPr>
        <p:txBody>
          <a:bodyPr wrap="square" lIns="0" rIns="0" tIns="0" bIns="0">
            <a:spAutoFit/>
          </a:bodyPr>
          <a:lstStyle/>
          <a:p>
            <a:pPr>
              <a:spcAft>
                <a:spcPts val="400"/>
              </a:spcAft>
            </a:pPr>
            <a:r>
              <a:rPr sz="1500" b="0">
                <a:solidFill>
                  <a:srgbClr val="4A5568"/>
                </a:solidFill>
                <a:latin typeface="Calibri"/>
              </a:rPr>
              <a:t>• PET target expression and kinetics</a:t>
            </a:r>
          </a:p>
          <a:p>
            <a:pPr>
              <a:spcAft>
                <a:spcPts val="400"/>
              </a:spcAft>
            </a:pPr>
            <a:r>
              <a:rPr sz="1500" b="0">
                <a:solidFill>
                  <a:srgbClr val="4A5568"/>
                </a:solidFill>
                <a:latin typeface="Calibri"/>
              </a:rPr>
              <a:t>• Personalized activity and cycles</a:t>
            </a:r>
          </a:p>
          <a:p>
            <a:pPr>
              <a:spcAft>
                <a:spcPts val="400"/>
              </a:spcAft>
            </a:pPr>
            <a:r>
              <a:rPr sz="1500" b="0">
                <a:solidFill>
                  <a:srgbClr val="4A5568"/>
                </a:solidFill>
                <a:latin typeface="Calibri"/>
              </a:rPr>
              <a:t>• Checked by post-therapy dosimetry</a:t>
            </a:r>
          </a:p>
        </p:txBody>
      </p:sp>
      <p:sp>
        <p:nvSpPr>
          <p:cNvPr id="10" name="Rounded Rectangle 9"/>
          <p:cNvSpPr/>
          <p:nvPr/>
        </p:nvSpPr>
        <p:spPr>
          <a:xfrm>
            <a:off x="3492500" y="1397000"/>
            <a:ext cx="254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4-hypoxia.jpg"/>
          <p:cNvPicPr>
            <a:picLocks noChangeAspect="1"/>
          </p:cNvPicPr>
          <p:nvPr/>
        </p:nvPicPr>
        <p:blipFill>
          <a:blip r:embed="rId4"/>
          <a:stretch>
            <a:fillRect/>
          </a:stretch>
        </p:blipFill>
        <p:spPr>
          <a:xfrm>
            <a:off x="4136169" y="1498600"/>
            <a:ext cx="1252661" cy="1809750"/>
          </a:xfrm>
          <a:prstGeom prst="rect">
            <a:avLst/>
          </a:prstGeom>
        </p:spPr>
      </p:pic>
      <p:sp>
        <p:nvSpPr>
          <p:cNvPr id="12" name="TextBox 11"/>
          <p:cNvSpPr txBox="1"/>
          <p:nvPr/>
        </p:nvSpPr>
        <p:spPr>
          <a:xfrm>
            <a:off x="3619500" y="3397250"/>
            <a:ext cx="2286000" cy="254000"/>
          </a:xfrm>
          <a:prstGeom prst="rect">
            <a:avLst/>
          </a:prstGeom>
          <a:noFill/>
        </p:spPr>
        <p:txBody>
          <a:bodyPr wrap="square" lIns="0" rIns="0" tIns="0" bIns="0">
            <a:spAutoFit/>
          </a:bodyPr>
          <a:lstStyle/>
          <a:p>
            <a:r>
              <a:rPr sz="1700" b="1">
                <a:solidFill>
                  <a:srgbClr val="13294B"/>
                </a:solidFill>
                <a:latin typeface="Calibri"/>
              </a:rPr>
              <a:t>Dose painting</a:t>
            </a:r>
          </a:p>
        </p:txBody>
      </p:sp>
      <p:sp>
        <p:nvSpPr>
          <p:cNvPr id="13" name="TextBox 12"/>
          <p:cNvSpPr txBox="1"/>
          <p:nvPr/>
        </p:nvSpPr>
        <p:spPr>
          <a:xfrm>
            <a:off x="3619500" y="3676650"/>
            <a:ext cx="2286000" cy="1466850"/>
          </a:xfrm>
          <a:prstGeom prst="rect">
            <a:avLst/>
          </a:prstGeom>
          <a:noFill/>
        </p:spPr>
        <p:txBody>
          <a:bodyPr wrap="square" lIns="0" rIns="0" tIns="0" bIns="0">
            <a:spAutoFit/>
          </a:bodyPr>
          <a:lstStyle/>
          <a:p>
            <a:pPr>
              <a:spcAft>
                <a:spcPts val="400"/>
              </a:spcAft>
            </a:pPr>
            <a:r>
              <a:rPr sz="1500" b="0">
                <a:solidFill>
                  <a:srgbClr val="4A5568"/>
                </a:solidFill>
                <a:latin typeface="Calibri"/>
              </a:rPr>
              <a:t>• FDG metabolism + FMISO hypoxia</a:t>
            </a:r>
          </a:p>
          <a:p>
            <a:pPr>
              <a:spcAft>
                <a:spcPts val="400"/>
              </a:spcAft>
            </a:pPr>
            <a:r>
              <a:rPr sz="1500" b="0">
                <a:solidFill>
                  <a:srgbClr val="4A5568"/>
                </a:solidFill>
                <a:latin typeface="Calibri"/>
              </a:rPr>
              <a:t>• Map cellularity and radiosensitivity</a:t>
            </a:r>
          </a:p>
          <a:p>
            <a:pPr>
              <a:spcAft>
                <a:spcPts val="400"/>
              </a:spcAft>
            </a:pPr>
            <a:r>
              <a:rPr sz="1500" b="0">
                <a:solidFill>
                  <a:srgbClr val="4A5568"/>
                </a:solidFill>
                <a:latin typeface="Calibri"/>
              </a:rPr>
              <a:t>• Respect normal-tissue limits</a:t>
            </a:r>
          </a:p>
        </p:txBody>
      </p:sp>
      <p:sp>
        <p:nvSpPr>
          <p:cNvPr id="14" name="Rounded Rectangle 13"/>
          <p:cNvSpPr/>
          <p:nvPr/>
        </p:nvSpPr>
        <p:spPr>
          <a:xfrm>
            <a:off x="6172200" y="1397000"/>
            <a:ext cx="254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4-proton.jpg"/>
          <p:cNvPicPr>
            <a:picLocks noChangeAspect="1"/>
          </p:cNvPicPr>
          <p:nvPr/>
        </p:nvPicPr>
        <p:blipFill>
          <a:blip r:embed="rId5"/>
          <a:stretch>
            <a:fillRect/>
          </a:stretch>
        </p:blipFill>
        <p:spPr>
          <a:xfrm>
            <a:off x="6808000" y="1498600"/>
            <a:ext cx="1268398" cy="1809750"/>
          </a:xfrm>
          <a:prstGeom prst="rect">
            <a:avLst/>
          </a:prstGeom>
        </p:spPr>
      </p:pic>
      <p:sp>
        <p:nvSpPr>
          <p:cNvPr id="16" name="TextBox 15"/>
          <p:cNvSpPr txBox="1"/>
          <p:nvPr/>
        </p:nvSpPr>
        <p:spPr>
          <a:xfrm>
            <a:off x="6299200" y="3397250"/>
            <a:ext cx="2286000" cy="254000"/>
          </a:xfrm>
          <a:prstGeom prst="rect">
            <a:avLst/>
          </a:prstGeom>
          <a:noFill/>
        </p:spPr>
        <p:txBody>
          <a:bodyPr wrap="square" lIns="0" rIns="0" tIns="0" bIns="0">
            <a:spAutoFit/>
          </a:bodyPr>
          <a:lstStyle/>
          <a:p>
            <a:r>
              <a:rPr sz="1700" b="1">
                <a:solidFill>
                  <a:srgbClr val="13294B"/>
                </a:solidFill>
                <a:latin typeface="Calibri"/>
              </a:rPr>
              <a:t>Proton therapy</a:t>
            </a:r>
          </a:p>
        </p:txBody>
      </p:sp>
      <p:sp>
        <p:nvSpPr>
          <p:cNvPr id="17" name="TextBox 16"/>
          <p:cNvSpPr txBox="1"/>
          <p:nvPr/>
        </p:nvSpPr>
        <p:spPr>
          <a:xfrm>
            <a:off x="6299200" y="3676650"/>
            <a:ext cx="2286000" cy="1466850"/>
          </a:xfrm>
          <a:prstGeom prst="rect">
            <a:avLst/>
          </a:prstGeom>
          <a:noFill/>
        </p:spPr>
        <p:txBody>
          <a:bodyPr wrap="square" lIns="0" rIns="0" tIns="0" bIns="0">
            <a:spAutoFit/>
          </a:bodyPr>
          <a:lstStyle/>
          <a:p>
            <a:pPr>
              <a:spcAft>
                <a:spcPts val="400"/>
              </a:spcAft>
            </a:pPr>
            <a:r>
              <a:rPr sz="1500" b="0">
                <a:solidFill>
                  <a:srgbClr val="4A5568"/>
                </a:solidFill>
                <a:latin typeface="Calibri"/>
              </a:rPr>
              <a:t>• Beam-induced PET for range checks</a:t>
            </a:r>
          </a:p>
          <a:p>
            <a:pPr>
              <a:spcAft>
                <a:spcPts val="400"/>
              </a:spcAft>
            </a:pPr>
            <a:r>
              <a:rPr sz="1500" b="0">
                <a:solidFill>
                  <a:srgbClr val="4A5568"/>
                </a:solidFill>
                <a:latin typeface="Calibri"/>
              </a:rPr>
              <a:t>• Model-assisted dosimetry</a:t>
            </a:r>
          </a:p>
          <a:p>
            <a:pPr>
              <a:spcAft>
                <a:spcPts val="400"/>
              </a:spcAft>
            </a:pPr>
            <a:r>
              <a:rPr sz="1500" b="0">
                <a:solidFill>
                  <a:srgbClr val="4A5568"/>
                </a:solidFill>
                <a:latin typeface="Calibri"/>
              </a:rPr>
              <a:t>• PET activity ≠ absorbed dose</a:t>
            </a:r>
          </a:p>
        </p:txBody>
      </p:sp>
      <p:sp>
        <p:nvSpPr>
          <p:cNvPr id="18" name="Rounded Rectangle 17"/>
          <p:cNvSpPr/>
          <p:nvPr/>
        </p:nvSpPr>
        <p:spPr>
          <a:xfrm>
            <a:off x="8851900" y="1397000"/>
            <a:ext cx="254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4-bgrt.jpg"/>
          <p:cNvPicPr>
            <a:picLocks noChangeAspect="1"/>
          </p:cNvPicPr>
          <p:nvPr/>
        </p:nvPicPr>
        <p:blipFill>
          <a:blip r:embed="rId6"/>
          <a:stretch>
            <a:fillRect/>
          </a:stretch>
        </p:blipFill>
        <p:spPr>
          <a:xfrm>
            <a:off x="9479832" y="1498600"/>
            <a:ext cx="1284135" cy="1809750"/>
          </a:xfrm>
          <a:prstGeom prst="rect">
            <a:avLst/>
          </a:prstGeom>
        </p:spPr>
      </p:pic>
      <p:sp>
        <p:nvSpPr>
          <p:cNvPr id="20" name="TextBox 19"/>
          <p:cNvSpPr txBox="1"/>
          <p:nvPr/>
        </p:nvSpPr>
        <p:spPr>
          <a:xfrm>
            <a:off x="8978900" y="3397250"/>
            <a:ext cx="2286000" cy="254000"/>
          </a:xfrm>
          <a:prstGeom prst="rect">
            <a:avLst/>
          </a:prstGeom>
          <a:noFill/>
        </p:spPr>
        <p:txBody>
          <a:bodyPr wrap="square" lIns="0" rIns="0" tIns="0" bIns="0">
            <a:spAutoFit/>
          </a:bodyPr>
          <a:lstStyle/>
          <a:p>
            <a:r>
              <a:rPr sz="1700" b="1">
                <a:solidFill>
                  <a:srgbClr val="13294B"/>
                </a:solidFill>
                <a:latin typeface="Calibri"/>
              </a:rPr>
              <a:t>Biology-guided RT</a:t>
            </a:r>
          </a:p>
        </p:txBody>
      </p:sp>
      <p:sp>
        <p:nvSpPr>
          <p:cNvPr id="21" name="TextBox 20"/>
          <p:cNvSpPr txBox="1"/>
          <p:nvPr/>
        </p:nvSpPr>
        <p:spPr>
          <a:xfrm>
            <a:off x="8978900" y="3676650"/>
            <a:ext cx="2286000" cy="1466850"/>
          </a:xfrm>
          <a:prstGeom prst="rect">
            <a:avLst/>
          </a:prstGeom>
          <a:noFill/>
        </p:spPr>
        <p:txBody>
          <a:bodyPr wrap="square" lIns="0" rIns="0" tIns="0" bIns="0">
            <a:spAutoFit/>
          </a:bodyPr>
          <a:lstStyle/>
          <a:p>
            <a:pPr>
              <a:spcAft>
                <a:spcPts val="400"/>
              </a:spcAft>
            </a:pPr>
            <a:r>
              <a:rPr sz="1500" b="0">
                <a:solidFill>
                  <a:srgbClr val="4A5568"/>
                </a:solidFill>
                <a:latin typeface="Calibri"/>
              </a:rPr>
              <a:t>• Fast PET signals guide the beam</a:t>
            </a:r>
          </a:p>
          <a:p>
            <a:pPr>
              <a:spcAft>
                <a:spcPts val="400"/>
              </a:spcAft>
            </a:pPr>
            <a:r>
              <a:rPr sz="1500" b="0">
                <a:solidFill>
                  <a:srgbClr val="4A5568"/>
                </a:solidFill>
                <a:latin typeface="Calibri"/>
              </a:rPr>
              <a:t>• Follows moving targets</a:t>
            </a:r>
          </a:p>
          <a:p>
            <a:pPr>
              <a:spcAft>
                <a:spcPts val="400"/>
              </a:spcAft>
            </a:pPr>
            <a:r>
              <a:rPr sz="1500" b="0">
                <a:solidFill>
                  <a:srgbClr val="4A5568"/>
                </a:solidFill>
                <a:latin typeface="Calibri"/>
              </a:rPr>
              <a:t>• Within a planned dose envelope</a:t>
            </a:r>
          </a:p>
        </p:txBody>
      </p:sp>
      <p:sp>
        <p:nvSpPr>
          <p:cNvPr id="22" name="Rounded Rectangle 21"/>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Shared goal: plan, verify, measure response and adapt — including RPT + external-beam combinations.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V</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Virtual trials and drug development</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Lindner &amp; Link (2018) · Wangerin et al. (2017) · Kleeberger (2025) · Samei et al. (2025)</a:t>
            </a:r>
          </a:p>
        </p:txBody>
      </p:sp>
      <p:sp>
        <p:nvSpPr>
          <p:cNvPr id="6" name="Rounded Rectangle 5"/>
          <p:cNvSpPr/>
          <p:nvPr/>
        </p:nvSpPr>
        <p:spPr>
          <a:xfrm>
            <a:off x="812800" y="1397000"/>
            <a:ext cx="2667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5-cohort.jpg"/>
          <p:cNvPicPr>
            <a:picLocks noChangeAspect="1"/>
          </p:cNvPicPr>
          <p:nvPr/>
        </p:nvPicPr>
        <p:blipFill>
          <a:blip r:embed="rId3"/>
          <a:stretch>
            <a:fillRect/>
          </a:stretch>
        </p:blipFill>
        <p:spPr>
          <a:xfrm>
            <a:off x="939800" y="1648957"/>
            <a:ext cx="2413000" cy="1413784"/>
          </a:xfrm>
          <a:prstGeom prst="rect">
            <a:avLst/>
          </a:prstGeom>
        </p:spPr>
      </p:pic>
      <p:sp>
        <p:nvSpPr>
          <p:cNvPr id="8" name="TextBox 7"/>
          <p:cNvSpPr txBox="1"/>
          <p:nvPr/>
        </p:nvSpPr>
        <p:spPr>
          <a:xfrm>
            <a:off x="939800" y="3302000"/>
            <a:ext cx="2413000" cy="254000"/>
          </a:xfrm>
          <a:prstGeom prst="rect">
            <a:avLst/>
          </a:prstGeom>
          <a:noFill/>
        </p:spPr>
        <p:txBody>
          <a:bodyPr wrap="square" lIns="0" rIns="0" tIns="0" bIns="0">
            <a:spAutoFit/>
          </a:bodyPr>
          <a:lstStyle/>
          <a:p>
            <a:r>
              <a:rPr sz="1700" b="1">
                <a:solidFill>
                  <a:srgbClr val="13294B"/>
                </a:solidFill>
                <a:latin typeface="Calibri"/>
              </a:rPr>
              <a:t>1  Virtual cohorts</a:t>
            </a:r>
          </a:p>
        </p:txBody>
      </p:sp>
      <p:sp>
        <p:nvSpPr>
          <p:cNvPr id="9" name="TextBox 8"/>
          <p:cNvSpPr txBox="1"/>
          <p:nvPr/>
        </p:nvSpPr>
        <p:spPr>
          <a:xfrm>
            <a:off x="939800" y="3581400"/>
            <a:ext cx="2413000" cy="1562100"/>
          </a:xfrm>
          <a:prstGeom prst="rect">
            <a:avLst/>
          </a:prstGeom>
          <a:noFill/>
        </p:spPr>
        <p:txBody>
          <a:bodyPr wrap="square" lIns="0" rIns="0" tIns="0" bIns="0">
            <a:spAutoFit/>
          </a:bodyPr>
          <a:lstStyle/>
          <a:p>
            <a:pPr>
              <a:spcAft>
                <a:spcPts val="400"/>
              </a:spcAft>
            </a:pPr>
            <a:r>
              <a:rPr sz="1500" b="0">
                <a:solidFill>
                  <a:srgbClr val="4A5568"/>
                </a:solidFill>
                <a:latin typeface="Calibri"/>
              </a:rPr>
              <a:t>• Imaging, biology and clinical data</a:t>
            </a:r>
          </a:p>
          <a:p>
            <a:pPr>
              <a:spcAft>
                <a:spcPts val="400"/>
              </a:spcAft>
            </a:pPr>
            <a:r>
              <a:rPr sz="1500" b="0">
                <a:solidFill>
                  <a:srgbClr val="4A5568"/>
                </a:solidFill>
                <a:latin typeface="Calibri"/>
              </a:rPr>
              <a:t>• Anatomy, burden, kinetics, treatment sensitivity</a:t>
            </a:r>
          </a:p>
        </p:txBody>
      </p:sp>
      <p:sp>
        <p:nvSpPr>
          <p:cNvPr id="10" name="Right Arrow 9"/>
          <p:cNvSpPr/>
          <p:nvPr/>
        </p:nvSpPr>
        <p:spPr>
          <a:xfrm>
            <a:off x="35306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71900" y="1397000"/>
            <a:ext cx="4572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5-imaging.jpg"/>
          <p:cNvPicPr>
            <a:picLocks noChangeAspect="1"/>
          </p:cNvPicPr>
          <p:nvPr/>
        </p:nvPicPr>
        <p:blipFill>
          <a:blip r:embed="rId4"/>
          <a:stretch>
            <a:fillRect/>
          </a:stretch>
        </p:blipFill>
        <p:spPr>
          <a:xfrm>
            <a:off x="3898900" y="1521972"/>
            <a:ext cx="4318000" cy="905754"/>
          </a:xfrm>
          <a:prstGeom prst="rect">
            <a:avLst/>
          </a:prstGeom>
        </p:spPr>
      </p:pic>
      <p:sp>
        <p:nvSpPr>
          <p:cNvPr id="13" name="TextBox 12"/>
          <p:cNvSpPr txBox="1"/>
          <p:nvPr/>
        </p:nvSpPr>
        <p:spPr>
          <a:xfrm>
            <a:off x="3898900" y="2501900"/>
            <a:ext cx="4318000" cy="444500"/>
          </a:xfrm>
          <a:prstGeom prst="rect">
            <a:avLst/>
          </a:prstGeom>
          <a:noFill/>
        </p:spPr>
        <p:txBody>
          <a:bodyPr wrap="square" lIns="0" rIns="0" tIns="0" bIns="0">
            <a:spAutoFit/>
          </a:bodyPr>
          <a:lstStyle/>
          <a:p>
            <a:r>
              <a:rPr sz="1400" b="0">
                <a:solidFill>
                  <a:srgbClr val="4A5568"/>
                </a:solidFill>
                <a:latin typeface="Calibri"/>
              </a:rPr>
              <a:t>2  Imaging trials: scanners, protocols, reconstruction; when is dynamic Ki better than static SUV?</a:t>
            </a:r>
          </a:p>
        </p:txBody>
      </p:sp>
      <p:pic>
        <p:nvPicPr>
          <p:cNvPr id="14" name="Picture 13" descr="a5-therapy.jpg"/>
          <p:cNvPicPr>
            <a:picLocks noChangeAspect="1"/>
          </p:cNvPicPr>
          <p:nvPr/>
        </p:nvPicPr>
        <p:blipFill>
          <a:blip r:embed="rId5"/>
          <a:stretch>
            <a:fillRect/>
          </a:stretch>
        </p:blipFill>
        <p:spPr>
          <a:xfrm>
            <a:off x="3898900" y="3083503"/>
            <a:ext cx="4318000" cy="1338693"/>
          </a:xfrm>
          <a:prstGeom prst="rect">
            <a:avLst/>
          </a:prstGeom>
        </p:spPr>
      </p:pic>
      <p:sp>
        <p:nvSpPr>
          <p:cNvPr id="15" name="TextBox 14"/>
          <p:cNvSpPr txBox="1"/>
          <p:nvPr/>
        </p:nvSpPr>
        <p:spPr>
          <a:xfrm>
            <a:off x="3898900" y="4572000"/>
            <a:ext cx="4318000" cy="444500"/>
          </a:xfrm>
          <a:prstGeom prst="rect">
            <a:avLst/>
          </a:prstGeom>
          <a:noFill/>
        </p:spPr>
        <p:txBody>
          <a:bodyPr wrap="square" lIns="0" rIns="0" tIns="0" bIns="0">
            <a:spAutoFit/>
          </a:bodyPr>
          <a:lstStyle/>
          <a:p>
            <a:r>
              <a:rPr sz="1400" b="0">
                <a:solidFill>
                  <a:srgbClr val="4A5568"/>
                </a:solidFill>
                <a:latin typeface="Calibri"/>
              </a:rPr>
              <a:t>3  Therapy trials: PBPK + dosimetry + response for agents, activities and schedules</a:t>
            </a:r>
          </a:p>
        </p:txBody>
      </p:sp>
      <p:sp>
        <p:nvSpPr>
          <p:cNvPr id="16" name="Right Arrow 15"/>
          <p:cNvSpPr/>
          <p:nvPr/>
        </p:nvSpPr>
        <p:spPr>
          <a:xfrm>
            <a:off x="83947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36000" y="1397000"/>
            <a:ext cx="27432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5-clinic.jpg"/>
          <p:cNvPicPr>
            <a:picLocks noChangeAspect="1"/>
          </p:cNvPicPr>
          <p:nvPr/>
        </p:nvPicPr>
        <p:blipFill>
          <a:blip r:embed="rId6"/>
          <a:stretch>
            <a:fillRect/>
          </a:stretch>
        </p:blipFill>
        <p:spPr>
          <a:xfrm>
            <a:off x="8763000" y="1675740"/>
            <a:ext cx="2489200" cy="1360218"/>
          </a:xfrm>
          <a:prstGeom prst="rect">
            <a:avLst/>
          </a:prstGeom>
        </p:spPr>
      </p:pic>
      <p:sp>
        <p:nvSpPr>
          <p:cNvPr id="19" name="TextBox 18"/>
          <p:cNvSpPr txBox="1"/>
          <p:nvPr/>
        </p:nvSpPr>
        <p:spPr>
          <a:xfrm>
            <a:off x="8763000" y="3302000"/>
            <a:ext cx="2489200" cy="254000"/>
          </a:xfrm>
          <a:prstGeom prst="rect">
            <a:avLst/>
          </a:prstGeom>
          <a:noFill/>
        </p:spPr>
        <p:txBody>
          <a:bodyPr wrap="square" lIns="0" rIns="0" tIns="0" bIns="0">
            <a:spAutoFit/>
          </a:bodyPr>
          <a:lstStyle/>
          <a:p>
            <a:r>
              <a:rPr sz="1700" b="1">
                <a:solidFill>
                  <a:srgbClr val="13294B"/>
                </a:solidFill>
                <a:latin typeface="Calibri"/>
              </a:rPr>
              <a:t>4  Real-world studies</a:t>
            </a:r>
          </a:p>
        </p:txBody>
      </p:sp>
      <p:sp>
        <p:nvSpPr>
          <p:cNvPr id="20" name="TextBox 19"/>
          <p:cNvSpPr txBox="1"/>
          <p:nvPr/>
        </p:nvSpPr>
        <p:spPr>
          <a:xfrm>
            <a:off x="8763000" y="3581400"/>
            <a:ext cx="2489200" cy="1562100"/>
          </a:xfrm>
          <a:prstGeom prst="rect">
            <a:avLst/>
          </a:prstGeom>
          <a:noFill/>
        </p:spPr>
        <p:txBody>
          <a:bodyPr wrap="square" lIns="0" rIns="0" tIns="0" bIns="0">
            <a:spAutoFit/>
          </a:bodyPr>
          <a:lstStyle/>
          <a:p>
            <a:pPr>
              <a:spcAft>
                <a:spcPts val="400"/>
              </a:spcAft>
            </a:pPr>
            <a:r>
              <a:rPr sz="1500" b="0">
                <a:solidFill>
                  <a:srgbClr val="4A5568"/>
                </a:solidFill>
                <a:latin typeface="Calibri"/>
              </a:rPr>
              <a:t>• Prioritize promising strategies</a:t>
            </a:r>
          </a:p>
          <a:p>
            <a:pPr>
              <a:spcAft>
                <a:spcPts val="400"/>
              </a:spcAft>
            </a:pPr>
            <a:r>
              <a:rPr sz="1500" b="0">
                <a:solidFill>
                  <a:srgbClr val="4A5568"/>
                </a:solidFill>
                <a:latin typeface="Calibri"/>
              </a:rPr>
              <a:t>• Design more informative prospective trials</a:t>
            </a:r>
          </a:p>
        </p:txBody>
      </p:sp>
      <p:sp>
        <p:nvSpPr>
          <p:cNvPr id="21" name="Rounded Rectangle 20"/>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Credible simulation: physiological plausibility · uncertainty analysis · independent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