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8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¹⁸F-DCFPyL</c:v>
                </c:pt>
              </c:strCache>
            </c:strRef>
          </c:tx>
          <c:spPr>
            <a:solidFill>
              <a:srgbClr val="A9B8CF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Kidney</c:v>
                </c:pt>
                <c:pt idx="1">
                  <c:v>Salivary</c:v>
                </c:pt>
                <c:pt idx="2">
                  <c:v>Liver</c:v>
                </c:pt>
                <c:pt idx="3">
                  <c:v>Spleen</c:v>
                </c:pt>
                <c:pt idx="4">
                  <c:v>Marrow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16.3</c:v>
                </c:pt>
                <c:pt idx="1">
                  <c:v>27.2</c:v>
                </c:pt>
                <c:pt idx="2">
                  <c:v>28.0</c:v>
                </c:pt>
                <c:pt idx="3">
                  <c:v>28.6</c:v>
                </c:pt>
                <c:pt idx="4">
                  <c:v>19.2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⁶⁸Ga-PSMA-11</c:v>
                </c:pt>
              </c:strCache>
            </c:strRef>
          </c:tx>
          <c:spPr>
            <a:solidFill>
              <a:srgbClr val="6E86AD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Kidney</c:v>
                </c:pt>
                <c:pt idx="1">
                  <c:v>Salivary</c:v>
                </c:pt>
                <c:pt idx="2">
                  <c:v>Liver</c:v>
                </c:pt>
                <c:pt idx="3">
                  <c:v>Spleen</c:v>
                </c:pt>
                <c:pt idx="4">
                  <c:v>Marrow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16.9</c:v>
                </c:pt>
                <c:pt idx="1">
                  <c:v>20.8</c:v>
                </c:pt>
                <c:pt idx="2">
                  <c:v>30.6</c:v>
                </c:pt>
                <c:pt idx="3">
                  <c:v>36.8</c:v>
                </c:pt>
                <c:pt idx="4">
                  <c:v>25.4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⁶⁴Cu-PSMA-617</c:v>
                </c:pt>
              </c:strCache>
            </c:strRef>
          </c:tx>
          <c:spPr>
            <a:solidFill>
              <a:srgbClr val="3B0288"/>
            </a:solidFill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000" b="1">
                    <a:solidFill>
                      <a:srgbClr val="3B0288"/>
                    </a:solidFill>
                    <a:latin typeface="Times New Roman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Kidney</c:v>
                </c:pt>
                <c:pt idx="1">
                  <c:v>Salivary</c:v>
                </c:pt>
                <c:pt idx="2">
                  <c:v>Liver</c:v>
                </c:pt>
                <c:pt idx="3">
                  <c:v>Spleen</c:v>
                </c:pt>
                <c:pt idx="4">
                  <c:v>Marrow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11.3</c:v>
                </c:pt>
                <c:pt idx="1">
                  <c:v>15.8</c:v>
                </c:pt>
                <c:pt idx="2">
                  <c:v>14.4</c:v>
                </c:pt>
                <c:pt idx="3">
                  <c:v>29.7</c:v>
                </c:pt>
                <c:pt idx="4">
                  <c:v>10.4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D0DC"/>
            </a:solidFill>
          </a:ln>
        </c:spPr>
        <c:txPr>
          <a:bodyPr/>
          <a:lstStyle/>
          <a:p>
            <a:pPr>
              <a:defRPr sz="1100">
                <a:solidFill>
                  <a:srgbClr val="4A5568"/>
                </a:solidFill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</c:scaling>
        <c:delete val="0"/>
        <c:axPos val="l"/>
        <c:majorGridlines>
          <c:spPr>
            <a:ln w="6350">
              <a:solidFill>
                <a:srgbClr val="D9E0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4A5568"/>
                </a:solidFill>
                <a:latin typeface="Times New Roman"/>
              </a:defRPr>
            </a:pPr>
          </a:p>
        </c:txPr>
        <c:crossAx val="-2068027336"/>
        <c:crosses val="autoZero"/>
        <c:majorUnit val="10.0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4A5568"/>
              </a:solidFill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FB439-510A-4FC2-AFA0-1D7DBFE9BF0A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70C270-FF9F-4078-9412-AEC856687B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3547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results of the predictive dosimetry study, on one slide.</a:t>
            </a:r>
          </a:p>
          <a:p/>
          <a:p>
            <a:r>
              <a:t>Design: 640 virtual patients from our validated PSMA PBPK model, each simulated with three PET tracers (18F-DCFPyL, 68Ga-PSMA-11, 64Cu-PSMA-617) paired with 177Lu-PSMA therapy: 15,360 time-activity curves for tumours (0.001-1 L) and five organs. Kinetic features from noisy PET curves were used to predict AUC, absorbed dose, BED and EQD2, with patient-level 5-fold cross-validation and MAPE as the primary endpoint.</a:t>
            </a:r>
          </a:p>
          <a:p/>
          <a:p>
            <a:r>
              <a:t>Simulated dosimetry (left): tumour dose went from 48.3 Gy at 0.01 L to 31.6 Gy at 1 L, BED from 58.4 to 36.5 Gy. The kidney received the highest organ dose (about 4.7 Gy); spleen and marrow stayed below 0.1 Gy. The kidney-to-tumour ratio fell from 27.7 to 0.029: the tumour sink effect.</a:t>
            </a:r>
          </a:p>
          <a:p/>
          <a:p>
            <a:r>
              <a:t>Prediction accuracy (middle): 64Cu-PSMA-617 gave the lowest errors in most organs - kidney 11.3%, salivary 15.8%, liver 14.4%, marrow 10.4% - versus 16-31% for 18F and 68Ga. Spleen was hardest for all tracers (29-37%). For tumours, 64Cu dose MAPE fell from about 12% to 8% as volume increased. Without noise, errors were roughly halved. Ridge and XGBoost were the most robust models.</a:t>
            </a:r>
          </a:p>
          <a:p/>
          <a:p>
            <a:r>
              <a:t>Drivers (right): AMax correlated with AUC at r = 0.996 and above 0.96 with dose, BED and EQD2. AMax, clearance and Tmax were the most stable and influential features in both feature selection and SHAP.</a:t>
            </a:r>
          </a:p>
          <a:p/>
          <a:p>
            <a:r>
              <a:t>Message: 64Cu PET and peak uptake give the most robust 177Lu dose predictions; error falls as tumours grow and noise matters most for very small tumours. Limitation: simulation study; clinical validation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48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7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1" name="Stat card 1"/>
          <p:cNvSpPr/>
          <p:nvPr/>
        </p:nvSpPr>
        <p:spPr>
          <a:xfrm>
            <a:off x="813816" y="1280160"/>
            <a:ext cx="2505456" cy="10241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2" name="Stat card 2"/>
          <p:cNvSpPr/>
          <p:nvPr/>
        </p:nvSpPr>
        <p:spPr>
          <a:xfrm>
            <a:off x="3502152" y="1280160"/>
            <a:ext cx="2505456" cy="10241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3" name="Stat card 3"/>
          <p:cNvSpPr/>
          <p:nvPr/>
        </p:nvSpPr>
        <p:spPr>
          <a:xfrm>
            <a:off x="6190488" y="1280160"/>
            <a:ext cx="2505456" cy="10241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4" name="Stat card 4"/>
          <p:cNvSpPr/>
          <p:nvPr/>
        </p:nvSpPr>
        <p:spPr>
          <a:xfrm>
            <a:off x="8878824" y="1280160"/>
            <a:ext cx="2505456" cy="10241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5" name="Panel dosimetry"/>
          <p:cNvSpPr/>
          <p:nvPr/>
        </p:nvSpPr>
        <p:spPr>
          <a:xfrm>
            <a:off x="813816" y="2487168"/>
            <a:ext cx="3246120" cy="281635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Panel accuracy"/>
          <p:cNvSpPr/>
          <p:nvPr/>
        </p:nvSpPr>
        <p:spPr>
          <a:xfrm>
            <a:off x="4242816" y="2487168"/>
            <a:ext cx="4352544" cy="281635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7" name="Panel drivers"/>
          <p:cNvSpPr/>
          <p:nvPr/>
        </p:nvSpPr>
        <p:spPr>
          <a:xfrm>
            <a:off x="8778239" y="2487168"/>
            <a:ext cx="2606040" cy="281635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2800" y="508000"/>
            <a:ext cx="1016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F5FA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APPLICATION · PREDICTIVE DOSIMETRY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723900"/>
            <a:ext cx="105664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3B028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Predictive dosimetry: 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375400"/>
            <a:ext cx="9525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Abdollahi, Fowler, Uribe &amp; Rahmim · Predictive dosimetry in PSMA-targeted RPT · IEEE Trans Radiat Plasma Med Sci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5461000"/>
            <a:ext cx="10566400" cy="406400"/>
          </a:xfrm>
          <a:prstGeom prst="roundRect">
            <a:avLst>
              <a:gd name="adj" fmla="val 3000"/>
            </a:avLst>
          </a:prstGeom>
          <a:solidFill>
            <a:srgbClr val="E3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16000" y="5581650"/>
            <a:ext cx="1016000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13294B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⁶⁴Cu PET and peak uptake (AMax) give the most robust ¹⁷⁷Lu dose predictions; error falls as tumours grow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5000" y="6375400"/>
            <a:ext cx="584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" y="1389888"/>
            <a:ext cx="217627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B0288"/>
                </a:solidFill>
                <a:latin typeface="Times New Roman"/>
              </a:rPr>
              <a:t>640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3294B"/>
                </a:solidFill>
                <a:latin typeface="Times New Roman"/>
              </a:rPr>
              <a:t>virtual patients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A5568"/>
                </a:solidFill>
                <a:latin typeface="Times New Roman"/>
              </a:rPr>
              <a:t>15,360 TACs · 3 PET tracers → ¹⁷⁷Lu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66744" y="1389888"/>
            <a:ext cx="217627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B0288"/>
                </a:solidFill>
                <a:latin typeface="Times New Roman"/>
              </a:rPr>
              <a:t>r = 0.996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3294B"/>
                </a:solidFill>
                <a:latin typeface="Times New Roman"/>
              </a:rPr>
              <a:t>AMax vs tumour AUC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A5568"/>
                </a:solidFill>
                <a:latin typeface="Times New Roman"/>
              </a:rPr>
              <a:t>r &gt; 0.96 vs dose, BED and EQD2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55080" y="1389888"/>
            <a:ext cx="217627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B0288"/>
                </a:solidFill>
                <a:latin typeface="Times New Roman"/>
              </a:rPr>
              <a:t>8%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3294B"/>
                </a:solidFill>
                <a:latin typeface="Times New Roman"/>
              </a:rPr>
              <a:t>tumour dose MAPE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A5568"/>
                </a:solidFill>
                <a:latin typeface="Times New Roman"/>
              </a:rPr>
              <a:t>⁶⁴Cu PET · 1 L tumour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43416" y="1389888"/>
            <a:ext cx="217627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B0288"/>
                </a:solidFill>
                <a:latin typeface="Times New Roman"/>
              </a:rPr>
              <a:t>10–16%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3294B"/>
                </a:solidFill>
                <a:latin typeface="Times New Roman"/>
              </a:rPr>
              <a:t>organ dose MAPE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A5568"/>
                </a:solidFill>
                <a:latin typeface="Times New Roman"/>
              </a:rPr>
              <a:t>⁶⁴Cu PET · 4 of 5 organs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6696" y="261518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5FA8"/>
                </a:solidFill>
                <a:latin typeface="Times New Roman"/>
              </a:rPr>
              <a:t>Simulated ¹⁷⁷Lu dosimetry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96696" y="2907792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A5568"/>
                </a:solidFill>
                <a:latin typeface="Times New Roman"/>
              </a:rPr>
              <a:t>Small tumour → 1 L tumour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96696" y="3127248"/>
            <a:ext cx="288036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88136" y="3163824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3294B"/>
                </a:solidFill>
                <a:latin typeface="Times New Roman"/>
              </a:rPr>
              <a:t>Tumour dose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414016" y="3163824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13294B"/>
                </a:solidFill>
                <a:latin typeface="Times New Roman"/>
              </a:rPr>
              <a:t>48.3 → 31.6 Gy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6" y="3502152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3294B"/>
                </a:solidFill>
                <a:latin typeface="Times New Roman"/>
              </a:rPr>
              <a:t>Tumour BED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14016" y="3502152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13294B"/>
                </a:solidFill>
                <a:latin typeface="Times New Roman"/>
              </a:rPr>
              <a:t>58.4 → 36.5 Gy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96696" y="3803904"/>
            <a:ext cx="288036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88136" y="384048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3294B"/>
                </a:solidFill>
                <a:latin typeface="Times New Roman"/>
              </a:rPr>
              <a:t>Kidney dose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14016" y="3840480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13294B"/>
                </a:solidFill>
                <a:latin typeface="Times New Roman"/>
              </a:rPr>
              <a:t>≈ 4.7 Gy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8136" y="4178808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3294B"/>
                </a:solidFill>
                <a:latin typeface="Times New Roman"/>
              </a:rPr>
              <a:t>Spleen, marrow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414016" y="4178808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13294B"/>
                </a:solidFill>
                <a:latin typeface="Times New Roman"/>
              </a:rPr>
              <a:t>&lt; 0.1 Gy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6696" y="4480559"/>
            <a:ext cx="288036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88136" y="4517136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3294B"/>
                </a:solidFill>
                <a:latin typeface="Times New Roman"/>
              </a:rPr>
              <a:t>Kidney / tumour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414016" y="4517136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13294B"/>
                </a:solidFill>
                <a:latin typeface="Times New Roman"/>
              </a:rPr>
              <a:t>27.7 → 0.029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6696" y="4928616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5FA8"/>
                </a:solidFill>
                <a:latin typeface="Times New Roman"/>
              </a:rPr>
              <a:t>Tumour sink: </a:t>
            </a:r>
            <a:r>
              <a:rPr sz="1100" b="0">
                <a:solidFill>
                  <a:srgbClr val="4A5568"/>
                </a:solidFill>
                <a:latin typeface="Times New Roman"/>
              </a:rPr>
              <a:t>larger tumours absorb more while organ doses stay low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25696" y="2615184"/>
            <a:ext cx="3986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5FA8"/>
                </a:solidFill>
                <a:latin typeface="Times New Roman"/>
              </a:rPr>
              <a:t>Normal-organ dose error by PET tracer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25696" y="2907792"/>
            <a:ext cx="39867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A5568"/>
                </a:solidFill>
                <a:latin typeface="Times New Roman"/>
              </a:rPr>
              <a:t>MAPE (%) with PET-like noise · 0.1 L tumour · lower is better</a:t>
            </a:r>
          </a:p>
        </p:txBody>
      </p:sp>
      <p:graphicFrame>
        <p:nvGraphicFramePr>
          <p:cNvPr id="126" name="Organ MAPE chart"/>
          <p:cNvGraphicFramePr>
            <a:graphicFrameLocks noGrp="1"/>
          </p:cNvGraphicFramePr>
          <p:nvPr/>
        </p:nvGraphicFramePr>
        <p:xfrm>
          <a:off x="4334255" y="3090672"/>
          <a:ext cx="4169663" cy="213969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27" name="TextBox 126"/>
          <p:cNvSpPr txBox="1"/>
          <p:nvPr/>
        </p:nvSpPr>
        <p:spPr>
          <a:xfrm>
            <a:off x="8961119" y="261518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5FA8"/>
                </a:solidFill>
                <a:latin typeface="Times New Roman"/>
              </a:rPr>
              <a:t>What drives prediction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61119" y="2907792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A5568"/>
                </a:solidFill>
                <a:latin typeface="Times New Roman"/>
              </a:rPr>
              <a:t>Top features (frequency + SHAP)</a:t>
            </a:r>
          </a:p>
        </p:txBody>
      </p:sp>
      <p:sp>
        <p:nvSpPr>
          <p:cNvPr id="129" name="Oval 128"/>
          <p:cNvSpPr/>
          <p:nvPr/>
        </p:nvSpPr>
        <p:spPr>
          <a:xfrm>
            <a:off x="8979407" y="3145536"/>
            <a:ext cx="347472" cy="347472"/>
          </a:xfrm>
          <a:prstGeom prst="ellipse">
            <a:avLst/>
          </a:prstGeom>
          <a:solidFill>
            <a:srgbClr val="3B028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7" y="3108960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3294B"/>
                </a:solidFill>
                <a:latin typeface="Times New Roman"/>
              </a:rPr>
              <a:t>AMax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A5568"/>
                </a:solidFill>
                <a:latin typeface="Times New Roman"/>
              </a:rPr>
              <a:t>peak uptake, #1 for all targets</a:t>
            </a:r>
          </a:p>
        </p:txBody>
      </p:sp>
      <p:sp>
        <p:nvSpPr>
          <p:cNvPr id="131" name="Oval 130"/>
          <p:cNvSpPr/>
          <p:nvPr/>
        </p:nvSpPr>
        <p:spPr>
          <a:xfrm>
            <a:off x="8979407" y="3584448"/>
            <a:ext cx="347472" cy="347472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36607" y="3547872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3294B"/>
                </a:solidFill>
                <a:latin typeface="Times New Roman"/>
              </a:rPr>
              <a:t>Clearance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A5568"/>
                </a:solidFill>
                <a:latin typeface="Times New Roman"/>
              </a:rPr>
              <a:t>washout kinetics</a:t>
            </a:r>
          </a:p>
        </p:txBody>
      </p:sp>
      <p:sp>
        <p:nvSpPr>
          <p:cNvPr id="133" name="Oval 132"/>
          <p:cNvSpPr/>
          <p:nvPr/>
        </p:nvSpPr>
        <p:spPr>
          <a:xfrm>
            <a:off x="8979407" y="4023360"/>
            <a:ext cx="347472" cy="347472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436607" y="3986784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3294B"/>
                </a:solidFill>
                <a:latin typeface="Times New Roman"/>
              </a:rPr>
              <a:t>Tmax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A5568"/>
                </a:solidFill>
                <a:latin typeface="Times New Roman"/>
              </a:rPr>
              <a:t>time to peak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961119" y="4480560"/>
            <a:ext cx="2240280" cy="603504"/>
          </a:xfrm>
          <a:prstGeom prst="roundRect">
            <a:avLst>
              <a:gd name="adj" fmla="val 10000"/>
            </a:avLst>
          </a:prstGeom>
          <a:solidFill>
            <a:srgbClr val="DC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052559" y="4517136"/>
            <a:ext cx="2057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3294B"/>
                </a:solidFill>
                <a:latin typeface="Times New Roman"/>
              </a:rPr>
              <a:t>Error falls as tumour volume rises; </a:t>
            </a:r>
            <a:r>
              <a:rPr sz="1100" b="1">
                <a:solidFill>
                  <a:srgbClr val="13294B"/>
                </a:solidFill>
                <a:latin typeface="Times New Roman"/>
              </a:rPr>
              <a:t>noise hurts most at 0.001 L</a:t>
            </a:r>
            <a:r>
              <a:rPr sz="1100" b="0">
                <a:solidFill>
                  <a:srgbClr val="13294B"/>
                </a:solidFill>
                <a:latin typeface="Times New Roman"/>
              </a:rPr>
              <a:t> (⁶⁸Ga, ¹⁸F).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1372</Words>
  <Application>Microsoft Office PowerPoint</Application>
  <PresentationFormat>Widescreen</PresentationFormat>
  <Paragraphs>135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Hamid Abdollahi Nasehabad</dc:creator>
  <cp:lastModifiedBy>Hamid Abdollahi Nasehabad</cp:lastModifiedBy>
  <cp:revision>1</cp:revision>
  <dcterms:created xsi:type="dcterms:W3CDTF">2026-10-23T14:25:22Z</dcterms:created>
  <dcterms:modified xsi:type="dcterms:W3CDTF">2026-10-23T14:25:35Z</dcterms:modified>
</cp:coreProperties>
</file>