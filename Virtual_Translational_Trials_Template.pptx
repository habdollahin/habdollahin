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39682a2-fc31-3330-79a0-24cf102d0789}">
          <p14:sldIdLst>
            <p14:sldId id="256"/>
            <p14:sldId id="257"/>
          </p14:sldIdLst>
        </p14:section>
        <p14:section name="Background" id="{2dc9361f-8aea-760b-d533-35514ecd6f45}">
          <p14:sldIdLst>
            <p14:sldId id="258"/>
            <p14:sldId id="259"/>
          </p14:sldIdLst>
        </p14:section>
        <p14:section name="Methods" id="{2bf27e52-47a8-44c4-8ed4-53d4dccd49c9}">
          <p14:sldIdLst>
            <p14:sldId id="260"/>
            <p14:sldId id="261"/>
          </p14:sldIdLst>
        </p14:section>
        <p14:section name="Results" id="{9f6cd565-8f7b-46ef-10d4-205e9bc6c8e6}">
          <p14:sldIdLst>
            <p14:sldId id="262"/>
            <p14:sldId id="263"/>
            <p14:sldId id="264"/>
          </p14:sldIdLst>
        </p14:section>
        <p14:section name="Next Steps" id="{9241535e-2efa-a6ce-a31d-36060a0df30f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C0846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C0846"/>
                </a:solidFill>
                <a:latin typeface="+mn-lt"/>
              </a:rPr>
              <a:t>Response rate (%) by arm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trial</c:v>
                </c:pt>
              </c:strCache>
            </c:strRef>
          </c:tx>
          <c:spPr>
            <a:solidFill>
              <a:srgbClr val="4F08B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A355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Placebo</c:v>
                  </c:pt>
                  <c:pt idx="1">
                    <c:v>Low dose</c:v>
                  </c:pt>
                  <c:pt idx="2">
                    <c:v>Mid dose</c:v>
                  </c:pt>
                  <c:pt idx="3">
                    <c:v>High dose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35</c:v>
                </c:pt>
                <c:pt idx="2">
                  <c:v>58</c:v>
                </c:pt>
                <c:pt idx="3">
                  <c:v>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12B5A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A355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Placebo</c:v>
                  </c:pt>
                  <c:pt idx="1">
                    <c:v>Low dose</c:v>
                  </c:pt>
                  <c:pt idx="2">
                    <c:v>Mid dose</c:v>
                  </c:pt>
                  <c:pt idx="3">
                    <c:v>High dose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</c:v>
                </c:pt>
                <c:pt idx="1">
                  <c:v>32</c:v>
                </c:pt>
                <c:pt idx="2">
                  <c:v>55</c:v>
                </c:pt>
                <c:pt idx="3">
                  <c:v>64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3A355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56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l"/>
        <c:majorGridlines>
          <c:spPr>
            <a:ln w="9525" cap="flat">
              <a:solidFill>
                <a:srgbClr val="E6E0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56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Replace the subtitle, presenter, date and venue.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TT Title">
    <p:bg>
      <p:bgPr>
        <a:solidFill>
          <a:srgbClr val="1C08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6949440" y="548640"/>
            <a:ext cx="4754880" cy="4572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097280"/>
            <a:ext cx="6949440" cy="2651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Presentation Title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931920"/>
            <a:ext cx="6400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i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2200" i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Subtitle or study name</a:t>
            </a:r>
            <a:endParaRPr lang="en-US" sz="2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5394960"/>
            <a:ext cx="6400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 |  Date  |  Venue</a:t>
            </a: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TT Section">
    <p:bg>
      <p:bgPr>
        <a:solidFill>
          <a:srgbClr val="4F08B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680960" y="1188720"/>
            <a:ext cx="4023360" cy="38404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6459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7200" b="1" dirty="0">
                <a:solidFill>
                  <a:srgbClr val="C4B5F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defRPr>
            </a:lvl1pPr>
          </a:lstStyle>
          <a:p>
            <a:pPr indent="0" marL="0">
              <a:buNone/>
            </a:pPr>
            <a:r>
              <a:rPr lang="en-US" sz="7200" b="1" dirty="0">
                <a:solidFill>
                  <a:srgbClr val="C4B5F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01</a:t>
            </a:r>
            <a:endParaRPr lang="en-US" sz="72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40080" y="2743200"/>
            <a:ext cx="68580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Section Title</a:t>
            </a: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4114800"/>
            <a:ext cx="64008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E9E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E9E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description of this section</a:t>
            </a: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TT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08B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Virtual Translational Trials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4F08B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4F08B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Slide Title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5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TT Dark">
    <p:bg>
      <p:bgPr>
        <a:solidFill>
          <a:srgbClr val="1C08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4B5F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Virtual Translational Trials</a:t>
            </a:r>
            <a:endParaRPr lang="en-US" sz="11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60000"/>
          </a:blip>
          <a:stretch>
            <a:fillRect/>
          </a:stretch>
        </p:blipFill>
        <p:spPr>
          <a:xfrm>
            <a:off x="10058400" y="182880"/>
            <a:ext cx="1737360" cy="1645920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411480"/>
            <a:ext cx="8686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Slide Title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4B5F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5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1097280"/>
            <a:ext cx="6949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From Quantitative Imaging to Virtual Translational Trials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39319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 Approaches toward Precision Medicine</a:t>
            </a:r>
            <a:endParaRPr lang="en-US" sz="22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640080" y="53949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  |  Month DD, YYYY  |  Conference / Meeting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F08B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Agenda</a:t>
            </a:r>
            <a:endParaRPr lang="en-US" sz="3600" dirty="0"/>
          </a:p>
        </p:txBody>
      </p:sp>
      <p:sp>
        <p:nvSpPr>
          <p:cNvPr id="3" name="Agenda card 01"/>
          <p:cNvSpPr/>
          <p:nvPr/>
        </p:nvSpPr>
        <p:spPr>
          <a:xfrm>
            <a:off x="548640" y="150876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01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636776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Background &amp; rationale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2011680"/>
            <a:ext cx="8961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670"/>
                </a:solidFill>
              </a:rPr>
              <a:t>Why virtual trials, and the gap they close</a:t>
            </a:r>
            <a:endParaRPr lang="en-US" sz="1400" dirty="0"/>
          </a:p>
        </p:txBody>
      </p:sp>
      <p:sp>
        <p:nvSpPr>
          <p:cNvPr id="7" name="Agenda card 02"/>
          <p:cNvSpPr/>
          <p:nvPr/>
        </p:nvSpPr>
        <p:spPr>
          <a:xfrm>
            <a:off x="548640" y="2624328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624328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2752344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Model &amp; virtual cohort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920240" y="3127248"/>
            <a:ext cx="8961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670"/>
                </a:solidFill>
              </a:rPr>
              <a:t>Mechanistic model, data sources, calibration</a:t>
            </a:r>
            <a:endParaRPr lang="en-US" sz="1400" dirty="0"/>
          </a:p>
        </p:txBody>
      </p:sp>
      <p:sp>
        <p:nvSpPr>
          <p:cNvPr id="11" name="Agenda card 03"/>
          <p:cNvSpPr/>
          <p:nvPr/>
        </p:nvSpPr>
        <p:spPr>
          <a:xfrm>
            <a:off x="548640" y="3739896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739896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03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1920240" y="3867912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Trial design &amp; results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4242816"/>
            <a:ext cx="8961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670"/>
                </a:solidFill>
              </a:rPr>
              <a:t>Simulated arms, endpoints, key findings</a:t>
            </a:r>
            <a:endParaRPr lang="en-US" sz="1400" dirty="0"/>
          </a:p>
        </p:txBody>
      </p:sp>
      <p:sp>
        <p:nvSpPr>
          <p:cNvPr id="15" name="Agenda card 04"/>
          <p:cNvSpPr/>
          <p:nvPr/>
        </p:nvSpPr>
        <p:spPr>
          <a:xfrm>
            <a:off x="548640" y="4855464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855464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983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Validation &amp; next steps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920240" y="5358384"/>
            <a:ext cx="8961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670"/>
                </a:solidFill>
              </a:rPr>
              <a:t>Credibility evidence and path to the clinic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5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40080" y="16459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7200" b="1" dirty="0">
                <a:solidFill>
                  <a:srgbClr val="C4B5F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40080" y="2743200"/>
            <a:ext cx="6858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Background &amp; Rationale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640080" y="41148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E9E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simulate patients before we enrol them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F08B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Why virtual translational trials</a:t>
            </a:r>
            <a:endParaRPr lang="en-US" sz="3600" dirty="0"/>
          </a:p>
        </p:txBody>
      </p:sp>
      <p:sp>
        <p:nvSpPr>
          <p:cNvPr id="3" name="Mechanistic insight circle"/>
          <p:cNvSpPr/>
          <p:nvPr/>
        </p:nvSpPr>
        <p:spPr>
          <a:xfrm>
            <a:off x="548640" y="1828800"/>
            <a:ext cx="868680" cy="868680"/>
          </a:xfrm>
          <a:prstGeom prst="ellipse">
            <a:avLst/>
          </a:prstGeom>
          <a:solidFill>
            <a:srgbClr val="4F08B4"/>
          </a:solidFill>
          <a:ln w="12700">
            <a:solidFill>
              <a:srgbClr val="4F08B4"/>
            </a:solidFill>
            <a:prstDash val="solid"/>
          </a:ln>
        </p:spPr>
      </p:sp>
      <p:pic>
        <p:nvPicPr>
          <p:cNvPr id="4" name="Mechanistic insigh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4497" y="2054657"/>
            <a:ext cx="416966" cy="41696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91640" y="181051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Mechanistic insight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691640" y="22402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5670"/>
                </a:solidFill>
              </a:rPr>
              <a:t>Link molecular pathways to clinical outcomes in a single, testable model.</a:t>
            </a:r>
            <a:endParaRPr lang="en-US" sz="1500" dirty="0"/>
          </a:p>
        </p:txBody>
      </p:sp>
      <p:sp>
        <p:nvSpPr>
          <p:cNvPr id="7" name="Virtual patient cohorts circle"/>
          <p:cNvSpPr/>
          <p:nvPr/>
        </p:nvSpPr>
        <p:spPr>
          <a:xfrm>
            <a:off x="6217920" y="1828800"/>
            <a:ext cx="868680" cy="868680"/>
          </a:xfrm>
          <a:prstGeom prst="ellipse">
            <a:avLst/>
          </a:prstGeom>
          <a:solidFill>
            <a:srgbClr val="4F08B4"/>
          </a:solidFill>
          <a:ln w="12700">
            <a:solidFill>
              <a:srgbClr val="4F08B4"/>
            </a:solidFill>
            <a:prstDash val="solid"/>
          </a:ln>
        </p:spPr>
      </p:sp>
      <p:pic>
        <p:nvPicPr>
          <p:cNvPr id="8" name="Virtual patient cohort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3777" y="2054657"/>
            <a:ext cx="416966" cy="41696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360920" y="181051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Virtual patient cohorts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7360920" y="22402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5670"/>
                </a:solidFill>
              </a:rPr>
              <a:t>Explore heterogeneity across thousands of simulated patients.</a:t>
            </a:r>
            <a:endParaRPr lang="en-US" sz="1500" dirty="0"/>
          </a:p>
        </p:txBody>
      </p:sp>
      <p:sp>
        <p:nvSpPr>
          <p:cNvPr id="11" name="Faster decisions circle"/>
          <p:cNvSpPr/>
          <p:nvPr/>
        </p:nvSpPr>
        <p:spPr>
          <a:xfrm>
            <a:off x="548640" y="3749040"/>
            <a:ext cx="868680" cy="868680"/>
          </a:xfrm>
          <a:prstGeom prst="ellipse">
            <a:avLst/>
          </a:prstGeom>
          <a:solidFill>
            <a:srgbClr val="4F08B4"/>
          </a:solidFill>
          <a:ln w="12700">
            <a:solidFill>
              <a:srgbClr val="4F08B4"/>
            </a:solidFill>
            <a:prstDash val="solid"/>
          </a:ln>
        </p:spPr>
      </p:sp>
      <p:pic>
        <p:nvPicPr>
          <p:cNvPr id="12" name="Faster decision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97" y="3974897"/>
            <a:ext cx="416966" cy="41696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91640" y="373075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Faster decisions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1691640" y="41605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5670"/>
                </a:solidFill>
              </a:rPr>
              <a:t>Screen doses, regimens and subgroups before the first patient is enrolled.</a:t>
            </a:r>
            <a:endParaRPr lang="en-US" sz="1500" dirty="0"/>
          </a:p>
        </p:txBody>
      </p:sp>
      <p:sp>
        <p:nvSpPr>
          <p:cNvPr id="15" name="Fewer failed trials circle"/>
          <p:cNvSpPr/>
          <p:nvPr/>
        </p:nvSpPr>
        <p:spPr>
          <a:xfrm>
            <a:off x="6217920" y="3749040"/>
            <a:ext cx="868680" cy="868680"/>
          </a:xfrm>
          <a:prstGeom prst="ellipse">
            <a:avLst/>
          </a:prstGeom>
          <a:solidFill>
            <a:srgbClr val="4F08B4"/>
          </a:solidFill>
          <a:ln w="12700">
            <a:solidFill>
              <a:srgbClr val="4F08B4"/>
            </a:solidFill>
            <a:prstDash val="solid"/>
          </a:ln>
        </p:spPr>
      </p:sp>
      <p:pic>
        <p:nvPicPr>
          <p:cNvPr id="16" name="Fewer failed trials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3777" y="3974897"/>
            <a:ext cx="416966" cy="41696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360920" y="373075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Fewer failed trials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7360920" y="41605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5670"/>
                </a:solidFill>
              </a:rPr>
              <a:t>De-risk translation by predicting efficacy and safety signals early.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5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F08B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From data to virtual trial</a:t>
            </a:r>
            <a:endParaRPr lang="en-US" sz="3600" dirty="0"/>
          </a:p>
        </p:txBody>
      </p:sp>
      <p:sp>
        <p:nvSpPr>
          <p:cNvPr id="3" name="Step 1 card"/>
          <p:cNvSpPr/>
          <p:nvPr/>
        </p:nvSpPr>
        <p:spPr>
          <a:xfrm>
            <a:off x="548640" y="1737360"/>
            <a:ext cx="2011680" cy="356616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DD3F7"/>
            </a:solidFill>
            <a:prstDash val="solid"/>
          </a:ln>
          <a:effectLst>
            <a:outerShdw sx="100000" sy="100000" kx="0" ky="0" algn="bl" rotWithShape="0" blurRad="127000" dist="38100" dir="5400000">
              <a:srgbClr val="4F08B4">
                <a:alpha val="12000"/>
              </a:srgbClr>
            </a:outerShdw>
          </a:effectLst>
        </p:spPr>
      </p:sp>
      <p:sp>
        <p:nvSpPr>
          <p:cNvPr id="4" name="Data circle"/>
          <p:cNvSpPr/>
          <p:nvPr/>
        </p:nvSpPr>
        <p:spPr>
          <a:xfrm>
            <a:off x="1097280" y="2148840"/>
            <a:ext cx="914400" cy="914400"/>
          </a:xfrm>
          <a:prstGeom prst="ellipse">
            <a:avLst/>
          </a:prstGeom>
          <a:solidFill>
            <a:srgbClr val="EFEAFB"/>
          </a:solidFill>
          <a:ln w="12700">
            <a:solidFill>
              <a:srgbClr val="EFEAFB"/>
            </a:solidFill>
            <a:prstDash val="solid"/>
          </a:ln>
        </p:spPr>
      </p:sp>
      <p:pic>
        <p:nvPicPr>
          <p:cNvPr id="5" name="Data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5024" y="238658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2918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2B5A5"/>
                </a:solidFill>
              </a:rPr>
              <a:t>STEP 1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566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Data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11480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5670"/>
                </a:solidFill>
              </a:rPr>
              <a:t>Preclinical, clinical &amp; omics inputs</a:t>
            </a:r>
            <a:endParaRPr lang="en-US" sz="1400" dirty="0"/>
          </a:p>
        </p:txBody>
      </p:sp>
      <p:sp>
        <p:nvSpPr>
          <p:cNvPr id="9" name="Step 2 card"/>
          <p:cNvSpPr/>
          <p:nvPr/>
        </p:nvSpPr>
        <p:spPr>
          <a:xfrm>
            <a:off x="2811780" y="1737360"/>
            <a:ext cx="2011680" cy="356616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DD3F7"/>
            </a:solidFill>
            <a:prstDash val="solid"/>
          </a:ln>
          <a:effectLst>
            <a:outerShdw sx="100000" sy="100000" kx="0" ky="0" algn="bl" rotWithShape="0" blurRad="127000" dist="38100" dir="5400000">
              <a:srgbClr val="4F08B4">
                <a:alpha val="12000"/>
              </a:srgbClr>
            </a:outerShdw>
          </a:effectLst>
        </p:spPr>
      </p:sp>
      <p:sp>
        <p:nvSpPr>
          <p:cNvPr id="10" name="Model circle"/>
          <p:cNvSpPr/>
          <p:nvPr/>
        </p:nvSpPr>
        <p:spPr>
          <a:xfrm>
            <a:off x="3360420" y="2148840"/>
            <a:ext cx="914400" cy="914400"/>
          </a:xfrm>
          <a:prstGeom prst="ellipse">
            <a:avLst/>
          </a:prstGeom>
          <a:solidFill>
            <a:srgbClr val="EFEAFB"/>
          </a:solidFill>
          <a:ln w="12700">
            <a:solidFill>
              <a:srgbClr val="EFEAFB"/>
            </a:solidFill>
            <a:prstDash val="solid"/>
          </a:ln>
        </p:spPr>
      </p:sp>
      <p:pic>
        <p:nvPicPr>
          <p:cNvPr id="11" name="Model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8164" y="2386584"/>
            <a:ext cx="438912" cy="4389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811780" y="32918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2B5A5"/>
                </a:solidFill>
              </a:rPr>
              <a:t>STEP 2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2811780" y="3566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Model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2994660" y="411480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5670"/>
                </a:solidFill>
              </a:rPr>
              <a:t>Mechanistic / QSP model build</a:t>
            </a:r>
            <a:endParaRPr lang="en-US" sz="1400" dirty="0"/>
          </a:p>
        </p:txBody>
      </p:sp>
      <p:sp>
        <p:nvSpPr>
          <p:cNvPr id="15" name="Step 3 card"/>
          <p:cNvSpPr/>
          <p:nvPr/>
        </p:nvSpPr>
        <p:spPr>
          <a:xfrm>
            <a:off x="5074920" y="1737360"/>
            <a:ext cx="2011680" cy="356616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DD3F7"/>
            </a:solidFill>
            <a:prstDash val="solid"/>
          </a:ln>
          <a:effectLst>
            <a:outerShdw sx="100000" sy="100000" kx="0" ky="0" algn="bl" rotWithShape="0" blurRad="127000" dist="38100" dir="5400000">
              <a:srgbClr val="4F08B4">
                <a:alpha val="12000"/>
              </a:srgbClr>
            </a:outerShdw>
          </a:effectLst>
        </p:spPr>
      </p:sp>
      <p:sp>
        <p:nvSpPr>
          <p:cNvPr id="16" name="Cohort circle"/>
          <p:cNvSpPr/>
          <p:nvPr/>
        </p:nvSpPr>
        <p:spPr>
          <a:xfrm>
            <a:off x="5623560" y="2148840"/>
            <a:ext cx="914400" cy="914400"/>
          </a:xfrm>
          <a:prstGeom prst="ellipse">
            <a:avLst/>
          </a:prstGeom>
          <a:solidFill>
            <a:srgbClr val="EFEAFB"/>
          </a:solidFill>
          <a:ln w="12700">
            <a:solidFill>
              <a:srgbClr val="EFEAFB"/>
            </a:solidFill>
            <a:prstDash val="solid"/>
          </a:ln>
        </p:spPr>
      </p:sp>
      <p:pic>
        <p:nvPicPr>
          <p:cNvPr id="17" name="Cohort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1304" y="2386584"/>
            <a:ext cx="438912" cy="43891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074920" y="32918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2B5A5"/>
                </a:solidFill>
              </a:rPr>
              <a:t>STEP 3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5074920" y="3566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Cohort</a:t>
            </a:r>
            <a:endParaRPr lang="en-US" sz="2400" dirty="0"/>
          </a:p>
        </p:txBody>
      </p:sp>
      <p:sp>
        <p:nvSpPr>
          <p:cNvPr id="20" name="Text 15"/>
          <p:cNvSpPr txBox="1"/>
          <p:nvPr/>
        </p:nvSpPr>
        <p:spPr>
          <a:xfrm>
            <a:off x="5257800" y="411480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5670"/>
                </a:solidFill>
              </a:rPr>
              <a:t>Generate virtual patients</a:t>
            </a:r>
            <a:endParaRPr lang="en-US" sz="1400" dirty="0"/>
          </a:p>
        </p:txBody>
      </p:sp>
      <p:sp>
        <p:nvSpPr>
          <p:cNvPr id="21" name="Step 4 card"/>
          <p:cNvSpPr/>
          <p:nvPr/>
        </p:nvSpPr>
        <p:spPr>
          <a:xfrm>
            <a:off x="7338060" y="1737360"/>
            <a:ext cx="2011680" cy="3566160"/>
          </a:xfrm>
          <a:prstGeom prst="roundRect">
            <a:avLst>
              <a:gd name="adj" fmla="val 6818"/>
            </a:avLst>
          </a:prstGeom>
          <a:solidFill>
            <a:srgbClr val="4F08B4"/>
          </a:solidFill>
          <a:ln w="12700">
            <a:solidFill>
              <a:srgbClr val="DDD3F7"/>
            </a:solidFill>
            <a:prstDash val="solid"/>
          </a:ln>
          <a:effectLst>
            <a:outerShdw sx="100000" sy="100000" kx="0" ky="0" algn="bl" rotWithShape="0" blurRad="127000" dist="38100" dir="5400000">
              <a:srgbClr val="4F08B4">
                <a:alpha val="12000"/>
              </a:srgbClr>
            </a:outerShdw>
          </a:effectLst>
        </p:spPr>
      </p:sp>
      <p:sp>
        <p:nvSpPr>
          <p:cNvPr id="22" name="Simulate circle"/>
          <p:cNvSpPr/>
          <p:nvPr/>
        </p:nvSpPr>
        <p:spPr>
          <a:xfrm>
            <a:off x="7886700" y="214884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3" name="Simulate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4444" y="2386584"/>
            <a:ext cx="438912" cy="43891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338060" y="32918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4B5FD"/>
                </a:solidFill>
              </a:rPr>
              <a:t>STEP 4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7338060" y="3566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Simulate</a:t>
            </a:r>
            <a:endParaRPr lang="en-US" sz="2400" dirty="0"/>
          </a:p>
        </p:txBody>
      </p:sp>
      <p:sp>
        <p:nvSpPr>
          <p:cNvPr id="26" name="Text 20"/>
          <p:cNvSpPr txBox="1"/>
          <p:nvPr/>
        </p:nvSpPr>
        <p:spPr>
          <a:xfrm>
            <a:off x="7520940" y="411480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2FF"/>
                </a:solidFill>
              </a:rPr>
              <a:t>Run trial arms in silico</a:t>
            </a:r>
            <a:endParaRPr lang="en-US" sz="1400" dirty="0"/>
          </a:p>
        </p:txBody>
      </p:sp>
      <p:sp>
        <p:nvSpPr>
          <p:cNvPr id="27" name="Step 5 card"/>
          <p:cNvSpPr/>
          <p:nvPr/>
        </p:nvSpPr>
        <p:spPr>
          <a:xfrm>
            <a:off x="9601200" y="1737360"/>
            <a:ext cx="2011680" cy="356616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DD3F7"/>
            </a:solidFill>
            <a:prstDash val="solid"/>
          </a:ln>
          <a:effectLst>
            <a:outerShdw sx="100000" sy="100000" kx="0" ky="0" algn="bl" rotWithShape="0" blurRad="127000" dist="38100" dir="5400000">
              <a:srgbClr val="4F08B4">
                <a:alpha val="12000"/>
              </a:srgbClr>
            </a:outerShdw>
          </a:effectLst>
        </p:spPr>
      </p:sp>
      <p:sp>
        <p:nvSpPr>
          <p:cNvPr id="28" name="Validate circle"/>
          <p:cNvSpPr/>
          <p:nvPr/>
        </p:nvSpPr>
        <p:spPr>
          <a:xfrm>
            <a:off x="10149840" y="2148840"/>
            <a:ext cx="914400" cy="914400"/>
          </a:xfrm>
          <a:prstGeom prst="ellipse">
            <a:avLst/>
          </a:prstGeom>
          <a:solidFill>
            <a:srgbClr val="EFEAFB"/>
          </a:solidFill>
          <a:ln w="12700">
            <a:solidFill>
              <a:srgbClr val="EFEAFB"/>
            </a:solidFill>
            <a:prstDash val="solid"/>
          </a:ln>
        </p:spPr>
      </p:sp>
      <p:pic>
        <p:nvPicPr>
          <p:cNvPr id="29" name="Validate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7584" y="2386584"/>
            <a:ext cx="438912" cy="43891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601200" y="32918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2B5A5"/>
                </a:solidFill>
              </a:rPr>
              <a:t>STEP 5</a:t>
            </a:r>
            <a:endParaRPr lang="en-US" sz="1100" dirty="0"/>
          </a:p>
        </p:txBody>
      </p:sp>
      <p:sp>
        <p:nvSpPr>
          <p:cNvPr id="31" name="Text 24"/>
          <p:cNvSpPr txBox="1"/>
          <p:nvPr/>
        </p:nvSpPr>
        <p:spPr>
          <a:xfrm>
            <a:off x="9601200" y="3566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Validate</a:t>
            </a:r>
            <a:endParaRPr lang="en-US" sz="2400" dirty="0"/>
          </a:p>
        </p:txBody>
      </p:sp>
      <p:sp>
        <p:nvSpPr>
          <p:cNvPr id="32" name="Text 25"/>
          <p:cNvSpPr txBox="1"/>
          <p:nvPr/>
        </p:nvSpPr>
        <p:spPr>
          <a:xfrm>
            <a:off x="9784080" y="411480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5670"/>
                </a:solidFill>
              </a:rPr>
              <a:t>Compare with observed data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5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F08B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Virtual cohort design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600" b="1" dirty="0">
                <a:solidFill>
                  <a:srgbClr val="4F08B4"/>
                </a:solidFill>
              </a:rPr>
              <a:t>Population: </a:t>
            </a:r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N = 1,000 virtual patients sampled from published distributions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b="1" dirty="0">
                <a:solidFill>
                  <a:srgbClr val="4F08B4"/>
                </a:solidFill>
              </a:rPr>
              <a:t>Calibration: </a:t>
            </a:r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Parameters fitted to Phase I PK/PD data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b="1" dirty="0">
                <a:solidFill>
                  <a:srgbClr val="4F08B4"/>
                </a:solidFill>
              </a:rPr>
              <a:t>Variability: </a:t>
            </a:r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Covariates for age, weight, renal function, biomarker status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b="1" dirty="0">
                <a:solidFill>
                  <a:srgbClr val="4F08B4"/>
                </a:solidFill>
              </a:rPr>
              <a:t>Endpoints: </a:t>
            </a:r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Tumour response at week 12; safety exposure margin</a:t>
            </a:r>
            <a:endParaRPr lang="en-US" sz="1600" dirty="0"/>
          </a:p>
        </p:txBody>
      </p:sp>
      <p:sp>
        <p:nvSpPr>
          <p:cNvPr id="4" name="Image placeholder"/>
          <p:cNvSpPr/>
          <p:nvPr/>
        </p:nvSpPr>
        <p:spPr>
          <a:xfrm>
            <a:off x="6400800" y="1554480"/>
            <a:ext cx="5212080" cy="429768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9050">
            <a:solidFill>
              <a:srgbClr val="C4B5FD"/>
            </a:solidFill>
            <a:prstDash val="dash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297180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0" y="40233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5670"/>
                </a:solidFill>
              </a:rPr>
              <a:t>Insert figure, schematic or model diagram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5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Key findings at a glance</a:t>
            </a:r>
            <a:endParaRPr lang="en-US" sz="3600" dirty="0"/>
          </a:p>
        </p:txBody>
      </p:sp>
      <p:sp>
        <p:nvSpPr>
          <p:cNvPr id="3" name="Stat card 1"/>
          <p:cNvSpPr/>
          <p:nvPr/>
        </p:nvSpPr>
        <p:spPr>
          <a:xfrm>
            <a:off x="548640" y="1920240"/>
            <a:ext cx="3474720" cy="3291840"/>
          </a:xfrm>
          <a:prstGeom prst="roundRect">
            <a:avLst>
              <a:gd name="adj" fmla="val 5000"/>
            </a:avLst>
          </a:prstGeom>
          <a:solidFill>
            <a:srgbClr val="2E1470"/>
          </a:solidFill>
          <a:ln w="12700">
            <a:solidFill>
              <a:srgbClr val="4A2A9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33172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10,000</a:t>
            </a:r>
            <a:endParaRPr lang="en-US" sz="5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6CCF5"/>
                </a:solidFill>
              </a:rPr>
              <a:t>virtual patients simulated</a:t>
            </a:r>
            <a:endParaRPr lang="en-US" sz="1600" dirty="0"/>
          </a:p>
        </p:txBody>
      </p:sp>
      <p:sp>
        <p:nvSpPr>
          <p:cNvPr id="6" name="Stat card 2"/>
          <p:cNvSpPr/>
          <p:nvPr/>
        </p:nvSpPr>
        <p:spPr>
          <a:xfrm>
            <a:off x="4297680" y="1920240"/>
            <a:ext cx="3474720" cy="3291840"/>
          </a:xfrm>
          <a:prstGeom prst="roundRect">
            <a:avLst>
              <a:gd name="adj" fmla="val 5000"/>
            </a:avLst>
          </a:prstGeom>
          <a:solidFill>
            <a:srgbClr val="2E1470"/>
          </a:solidFill>
          <a:ln w="12700">
            <a:solidFill>
              <a:srgbClr val="4A2A9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97680" y="233172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12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68%</a:t>
            </a:r>
            <a:endParaRPr lang="en-US" sz="5800" dirty="0"/>
          </a:p>
        </p:txBody>
      </p:sp>
      <p:sp>
        <p:nvSpPr>
          <p:cNvPr id="8" name="Text 6"/>
          <p:cNvSpPr txBox="1"/>
          <p:nvPr/>
        </p:nvSpPr>
        <p:spPr>
          <a:xfrm>
            <a:off x="461772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6CCF5"/>
                </a:solidFill>
              </a:rPr>
              <a:t>predicted response rate, optimal dose</a:t>
            </a:r>
            <a:endParaRPr lang="en-US" sz="1600" dirty="0"/>
          </a:p>
        </p:txBody>
      </p:sp>
      <p:sp>
        <p:nvSpPr>
          <p:cNvPr id="9" name="Stat card 3"/>
          <p:cNvSpPr/>
          <p:nvPr/>
        </p:nvSpPr>
        <p:spPr>
          <a:xfrm>
            <a:off x="8046720" y="1920240"/>
            <a:ext cx="3474720" cy="3291840"/>
          </a:xfrm>
          <a:prstGeom prst="roundRect">
            <a:avLst>
              <a:gd name="adj" fmla="val 5000"/>
            </a:avLst>
          </a:prstGeom>
          <a:solidFill>
            <a:srgbClr val="2E1470"/>
          </a:solidFill>
          <a:ln w="12700">
            <a:solidFill>
              <a:srgbClr val="4A2A9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233172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3×</a:t>
            </a:r>
            <a:endParaRPr lang="en-US" sz="5800" dirty="0"/>
          </a:p>
        </p:txBody>
      </p:sp>
      <p:sp>
        <p:nvSpPr>
          <p:cNvPr id="11" name="Text 9"/>
          <p:cNvSpPr txBox="1"/>
          <p:nvPr/>
        </p:nvSpPr>
        <p:spPr>
          <a:xfrm>
            <a:off x="836676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6CCF5"/>
                </a:solidFill>
              </a:rPr>
              <a:t>faster than a conventional Phase II design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4B5F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F08B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Simulated vs. observed response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63040"/>
          <a:ext cx="69494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ommentary card"/>
          <p:cNvSpPr/>
          <p:nvPr/>
        </p:nvSpPr>
        <p:spPr>
          <a:xfrm>
            <a:off x="7955280" y="1463040"/>
            <a:ext cx="3657600" cy="448056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0" y="17373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What it shows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0" y="228600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Model predictions fall within 5 points of observed data in every arm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Dose–response plateaus above mid dose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Supports mid dose for the Phase III design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5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F08B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Conventional vs. virtual translational trial</a:t>
            </a:r>
            <a:endParaRPr lang="en-US" sz="3600" dirty="0"/>
          </a:p>
        </p:txBody>
      </p:sp>
      <p:sp>
        <p:nvSpPr>
          <p:cNvPr id="3" name="Conventional trial card"/>
          <p:cNvSpPr/>
          <p:nvPr/>
        </p:nvSpPr>
        <p:spPr>
          <a:xfrm>
            <a:off x="548640" y="1508760"/>
            <a:ext cx="5349240" cy="443484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 w="12700">
            <a:solidFill>
              <a:srgbClr val="DDD3F7"/>
            </a:solidFill>
            <a:prstDash val="solid"/>
          </a:ln>
          <a:effectLst>
            <a:outerShdw sx="100000" sy="100000" kx="0" ky="0" algn="bl" rotWithShape="0" blurRad="127000" dist="38100" dir="5400000">
              <a:srgbClr val="4F08B4">
                <a:alpha val="12000"/>
              </a:srgbClr>
            </a:outerShdw>
          </a:effectLst>
        </p:spPr>
      </p:sp>
      <p:sp>
        <p:nvSpPr>
          <p:cNvPr id="4" name="Conventional trial circle"/>
          <p:cNvSpPr/>
          <p:nvPr/>
        </p:nvSpPr>
        <p:spPr>
          <a:xfrm>
            <a:off x="914400" y="1783080"/>
            <a:ext cx="777240" cy="777240"/>
          </a:xfrm>
          <a:prstGeom prst="ellipse">
            <a:avLst/>
          </a:prstGeom>
          <a:solidFill>
            <a:srgbClr val="EFEAFB"/>
          </a:solidFill>
          <a:ln w="12700">
            <a:solidFill>
              <a:srgbClr val="EFEAFB"/>
            </a:solidFill>
            <a:prstDash val="solid"/>
          </a:ln>
        </p:spPr>
      </p:sp>
      <p:pic>
        <p:nvPicPr>
          <p:cNvPr id="5" name="Conventional tria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6482" y="1985162"/>
            <a:ext cx="373075" cy="37307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74520" y="178308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Conventional trial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2880360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B5670"/>
                </a:solidFill>
              </a:rPr>
              <a:t>Years from design to readout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B5670"/>
                </a:solidFill>
              </a:rPr>
              <a:t>Limited subgroups per study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B5670"/>
                </a:solidFill>
              </a:rPr>
              <a:t>High cost per patient enrolled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B5670"/>
                </a:solidFill>
              </a:rPr>
              <a:t>Late discovery of failure</a:t>
            </a:r>
            <a:endParaRPr lang="en-US" sz="1600" dirty="0"/>
          </a:p>
        </p:txBody>
      </p:sp>
      <p:sp>
        <p:nvSpPr>
          <p:cNvPr id="8" name="Virtual translational trial card"/>
          <p:cNvSpPr/>
          <p:nvPr/>
        </p:nvSpPr>
        <p:spPr>
          <a:xfrm>
            <a:off x="6263640" y="1508760"/>
            <a:ext cx="5349240" cy="4434840"/>
          </a:xfrm>
          <a:prstGeom prst="roundRect">
            <a:avLst>
              <a:gd name="adj" fmla="val 3711"/>
            </a:avLst>
          </a:prstGeom>
          <a:solidFill>
            <a:srgbClr val="4F08B4"/>
          </a:solidFill>
          <a:ln w="12700">
            <a:solidFill>
              <a:srgbClr val="4F08B4"/>
            </a:solidFill>
            <a:prstDash val="solid"/>
          </a:ln>
          <a:effectLst>
            <a:outerShdw sx="100000" sy="100000" kx="0" ky="0" algn="bl" rotWithShape="0" blurRad="127000" dist="38100" dir="5400000">
              <a:srgbClr val="4F08B4">
                <a:alpha val="12000"/>
              </a:srgbClr>
            </a:outerShdw>
          </a:effectLst>
        </p:spPr>
      </p:sp>
      <p:sp>
        <p:nvSpPr>
          <p:cNvPr id="9" name="Virtual translational trial circle"/>
          <p:cNvSpPr/>
          <p:nvPr/>
        </p:nvSpPr>
        <p:spPr>
          <a:xfrm>
            <a:off x="6629400" y="178308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Virtual translational trial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1482" y="1985162"/>
            <a:ext cx="373075" cy="37307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589520" y="178308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Virtual translational trial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6675120" y="2880360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E9E2FF"/>
                </a:solidFill>
              </a:rPr>
              <a:t>Weeks to simulate many designs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E9E2FF"/>
                </a:solidFill>
              </a:rPr>
              <a:t>Thousands of virtual subgroups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E9E2FF"/>
                </a:solidFill>
              </a:rPr>
              <a:t>Low marginal cost per scenario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E9E2FF"/>
                </a:solidFill>
              </a:rPr>
              <a:t>Early go / no-go signals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5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F08B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Roadmap to the clinic</a:t>
            </a:r>
            <a:endParaRPr lang="en-US" sz="3600" dirty="0"/>
          </a:p>
        </p:txBody>
      </p:sp>
      <p:sp>
        <p:nvSpPr>
          <p:cNvPr id="3" name="Timeline line"/>
          <p:cNvSpPr/>
          <p:nvPr/>
        </p:nvSpPr>
        <p:spPr>
          <a:xfrm>
            <a:off x="1828800" y="3108960"/>
            <a:ext cx="8531352" cy="0"/>
          </a:xfrm>
          <a:prstGeom prst="line">
            <a:avLst/>
          </a:prstGeom>
          <a:noFill/>
          <a:ln w="25400">
            <a:solidFill>
              <a:srgbClr val="C4B5FD"/>
            </a:solidFill>
            <a:prstDash val="solid"/>
          </a:ln>
        </p:spPr>
      </p:sp>
      <p:sp>
        <p:nvSpPr>
          <p:cNvPr id="4" name="Milestone Q1"/>
          <p:cNvSpPr/>
          <p:nvPr/>
        </p:nvSpPr>
        <p:spPr>
          <a:xfrm>
            <a:off x="1417320" y="2697480"/>
            <a:ext cx="822960" cy="822960"/>
          </a:xfrm>
          <a:prstGeom prst="ellipse">
            <a:avLst/>
          </a:prstGeom>
          <a:solidFill>
            <a:srgbClr val="4F08B4"/>
          </a:solidFill>
          <a:ln w="25400">
            <a:solidFill>
              <a:srgbClr val="4F08B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2697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Q1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749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Model qualification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062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5670"/>
                </a:solidFill>
              </a:rPr>
              <a:t>Regulatory feedback on credibility plan</a:t>
            </a:r>
            <a:endParaRPr lang="en-US" sz="1400" dirty="0"/>
          </a:p>
        </p:txBody>
      </p:sp>
      <p:sp>
        <p:nvSpPr>
          <p:cNvPr id="8" name="Milestone Q2"/>
          <p:cNvSpPr/>
          <p:nvPr/>
        </p:nvSpPr>
        <p:spPr>
          <a:xfrm>
            <a:off x="4261104" y="269748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F08B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61104" y="2697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F08B4"/>
                </a:solidFill>
              </a:rPr>
              <a:t>Q2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392424" y="3749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Prospective prediction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392424" y="42062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5670"/>
                </a:solidFill>
              </a:rPr>
              <a:t>Pre-register simulated outcomes</a:t>
            </a:r>
            <a:endParaRPr lang="en-US" sz="1400" dirty="0"/>
          </a:p>
        </p:txBody>
      </p:sp>
      <p:sp>
        <p:nvSpPr>
          <p:cNvPr id="12" name="Milestone Q3"/>
          <p:cNvSpPr/>
          <p:nvPr/>
        </p:nvSpPr>
        <p:spPr>
          <a:xfrm>
            <a:off x="7104888" y="269748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F08B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04888" y="2697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F08B4"/>
                </a:solidFill>
              </a:rPr>
              <a:t>Q3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236208" y="3749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Phase II readout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236208" y="42062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5670"/>
                </a:solidFill>
              </a:rPr>
              <a:t>Compare predictions with trial data</a:t>
            </a:r>
            <a:endParaRPr lang="en-US" sz="1400" dirty="0"/>
          </a:p>
        </p:txBody>
      </p:sp>
      <p:sp>
        <p:nvSpPr>
          <p:cNvPr id="16" name="Milestone Q4"/>
          <p:cNvSpPr/>
          <p:nvPr/>
        </p:nvSpPr>
        <p:spPr>
          <a:xfrm>
            <a:off x="9948672" y="269748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F08B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948672" y="2697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F08B4"/>
                </a:solidFill>
              </a:rPr>
              <a:t>Q4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079992" y="3749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Phase III design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079992" y="42062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5670"/>
                </a:solidFill>
              </a:rPr>
              <a:t>Optimise dose and enrichment strategy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5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1097280"/>
            <a:ext cx="6949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39319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640080" y="53949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name@institution.org  |  www.yourlab.org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irtual Translational Trials">
  <a:themeElements>
    <a:clrScheme name="Virtual Translational Trials">
      <a:dk1>
        <a:srgbClr val="1A1625"/>
      </a:dk1>
      <a:lt1>
        <a:srgbClr val="FFFFFF"/>
      </a:lt1>
      <a:dk2>
        <a:srgbClr val="1C0846"/>
      </a:dk2>
      <a:lt2>
        <a:srgbClr val="EFEAFB"/>
      </a:lt2>
      <a:accent1>
        <a:srgbClr val="4F08B4"/>
      </a:accent1>
      <a:accent2>
        <a:srgbClr val="12B5A5"/>
      </a:accent2>
      <a:accent3>
        <a:srgbClr val="8B5CF6"/>
      </a:accent3>
      <a:accent4>
        <a:srgbClr val="C4B5FD"/>
      </a:accent4>
      <a:accent5>
        <a:srgbClr val="F59E0B"/>
      </a:accent5>
      <a:accent6>
        <a:srgbClr val="5B5670"/>
      </a:accent6>
      <a:hlink>
        <a:srgbClr val="4F08B4"/>
      </a:hlink>
      <a:folHlink>
        <a:srgbClr val="8B5CF6"/>
      </a:folHlink>
    </a:clrScheme>
    <a:fontScheme name="Virtual Translational Trials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Virtual Translational Trials — Template</dc:title>
  <dc:subject>PptxGenJS Presentation</dc:subject>
  <dc:creator>PptxGenJS</dc:creator>
  <cp:lastModifiedBy>PptxGenJS</cp:lastModifiedBy>
  <cp:revision>1</cp:revision>
  <dcterms:created xsi:type="dcterms:W3CDTF">2026-10-07T21:35:19Z</dcterms:created>
  <dcterms:modified xsi:type="dcterms:W3CDTF">2026-10-07T21:35:19Z</dcterms:modified>
</cp:coreProperties>
</file>