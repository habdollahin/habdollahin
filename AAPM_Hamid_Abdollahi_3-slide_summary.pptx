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3" r:id="rId9"/>
    <p:sldId id="272" r:id="rId19"/>
    <p:sldId id="273" r:id="rId20"/>
  </p:sldIdLst>
  <p:sldSz cx="50292000" cy="27432000"/>
  <p:notesSz cx="6858000" cy="9144000"/>
  <p:defaultTextStyle>
    <a:defPPr>
      <a:defRPr lang="en-US"/>
    </a:defPPr>
    <a:lvl1pPr marL="0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1pPr>
    <a:lvl2pPr marL="1426323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2pPr>
    <a:lvl3pPr marL="2852645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3pPr>
    <a:lvl4pPr marL="4278968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4pPr>
    <a:lvl5pPr marL="5705290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5pPr>
    <a:lvl6pPr marL="7131617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6pPr>
    <a:lvl7pPr marL="8557931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7pPr>
    <a:lvl8pPr marL="9984250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8pPr>
    <a:lvl9pPr marL="11410572" algn="l" defTabSz="2852645" rtl="0" eaLnBrk="1" latinLnBrk="0" hangingPunct="1">
      <a:defRPr sz="56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15E"/>
    <a:srgbClr val="27025E"/>
    <a:srgbClr val="13827B"/>
    <a:srgbClr val="174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 autoAdjust="0"/>
    <p:restoredTop sz="80131" autoAdjust="0"/>
  </p:normalViewPr>
  <p:slideViewPr>
    <p:cSldViewPr snapToGrid="0">
      <p:cViewPr varScale="1">
        <p:scale>
          <a:sx n="16" d="100"/>
          <a:sy n="16" d="100"/>
        </p:scale>
        <p:origin x="161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2779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6400" b="1">
                <a:solidFill>
                  <a:srgbClr val="1B2F5E"/>
                </a:solidFill>
                <a:latin typeface="Calibri"/>
              </a:rPr>
              <a:t>Model AUC for clinical progression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E7C8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Clinical only</c:v>
                </c:pt>
                <c:pt idx="1">
                  <c:v>CT + clinical</c:v>
                </c:pt>
                <c:pt idx="2">
                  <c:v>PET + clinical</c:v>
                </c:pt>
                <c:pt idx="3">
                  <c:v>PET + CT + clinical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0.727</c:v>
                </c:pt>
                <c:pt idx="1">
                  <c:v>0.729</c:v>
                </c:pt>
                <c:pt idx="2">
                  <c:v>0.733</c:v>
                </c:pt>
                <c:pt idx="3">
                  <c:v>0.758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4400" b="1">
                  <a:solidFill>
                    <a:srgbClr val="222B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0B8C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5"/>
        </c:scaling>
        <c:delete val="0"/>
        <c:axPos val="b"/>
        <c:majorGridlines>
          <c:spPr>
            <a:ln>
              <a:solidFill>
                <a:srgbClr val="D9DEE5"/>
              </a:solidFill>
            </a:ln>
          </c:spPr>
        </c:majorGridlines>
        <c:numFmt formatCode="0.0" sourceLinked="0"/>
        <c:majorTickMark val="out"/>
        <c:minorTickMark val="none"/>
        <c:tickLblPos val="high"/>
        <c:spPr>
          <a:ln>
            <a:noFill/>
          </a:ln>
        </c:sp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4400">
          <a:solidFill>
            <a:srgbClr val="222B3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6400" b="1">
                <a:solidFill>
                  <a:srgbClr val="1B2F5E"/>
                </a:solidFill>
                <a:latin typeface="Calibri"/>
              </a:rPr>
              <a:t>Best single-organ AUC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 + clinical</c:v>
                </c:pt>
              </c:strCache>
            </c:strRef>
          </c:tx>
          <c:spPr>
            <a:solidFill>
              <a:srgbClr val="1B2F5E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Testes</c:v>
                </c:pt>
                <c:pt idx="1">
                  <c:v>Hypothal.-pituitary</c:v>
                </c:pt>
                <c:pt idx="2">
                  <c:v>Adrenal glands</c:v>
                </c:pt>
                <c:pt idx="3">
                  <c:v>Thyroid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0.729</c:v>
                </c:pt>
                <c:pt idx="1">
                  <c:v>0.709</c:v>
                </c:pt>
                <c:pt idx="2">
                  <c:v>0.7</c:v>
                </c:pt>
                <c:pt idx="3">
                  <c:v>0.642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PET + clinical</c:v>
                </c:pt>
              </c:strCache>
            </c:strRef>
          </c:tx>
          <c:spPr>
            <a:solidFill>
              <a:srgbClr val="E36C0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Testes</c:v>
                </c:pt>
                <c:pt idx="1">
                  <c:v>Hypothal.-pituitary</c:v>
                </c:pt>
                <c:pt idx="2">
                  <c:v>Adrenal glands</c:v>
                </c:pt>
                <c:pt idx="3">
                  <c:v>Thyroid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0.733</c:v>
                </c:pt>
                <c:pt idx="1">
                  <c:v>0.726</c:v>
                </c:pt>
                <c:pt idx="2">
                  <c:v>0.695</c:v>
                </c:pt>
                <c:pt idx="3">
                  <c:v>0.678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4400" b="1">
                  <a:solidFill>
                    <a:srgbClr val="222B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0B8C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5"/>
        </c:scaling>
        <c:delete val="0"/>
        <c:axPos val="b"/>
        <c:majorGridlines>
          <c:spPr>
            <a:ln>
              <a:solidFill>
                <a:srgbClr val="D9DEE5"/>
              </a:solidFill>
            </a:ln>
          </c:spPr>
        </c:majorGridlines>
        <c:numFmt formatCode="0.0" sourceLinked="0"/>
        <c:majorTickMark val="out"/>
        <c:minorTickMark val="none"/>
        <c:tickLblPos val="high"/>
        <c:spPr>
          <a:ln>
            <a:noFill/>
          </a:ln>
        </c:spPr>
        <c:crossAx val="-2068027336"/>
        <c:crosses val="autoZero"/>
        <c:majorUnit val="0.1"/>
      </c:valAx>
    </c:plotArea>
    <c:legend>
      <c:legendPos val="b"/>
      <c:overlay val="0"/>
      <c:txPr>
        <a:bodyPr/>
        <a:lstStyle/>
        <a:p>
          <a:pPr>
            <a:defRPr sz="4800"/>
          </a:pPr>
        </a:p>
      </c:txPr>
    </c:legend>
    <c:dispBlanksAs val="gap"/>
  </c:chart>
  <c:txPr>
    <a:bodyPr/>
    <a:lstStyle/>
    <a:p>
      <a:pPr>
        <a:defRPr sz="4400">
          <a:solidFill>
            <a:srgbClr val="222B3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3FBCB-8F57-471D-BF96-11AF4D72CE35}" type="datetimeFigureOut">
              <a:rPr lang="en-CA" smtClean="0"/>
              <a:t>2026-07-18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0075" y="1143000"/>
            <a:ext cx="5657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09B7E-BA46-4927-B0E2-16C3C57039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6041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1pPr>
    <a:lvl2pPr marL="1901952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2pPr>
    <a:lvl3pPr marL="3803904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3pPr>
    <a:lvl4pPr marL="5705856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4pPr>
    <a:lvl5pPr marL="7607808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5pPr>
    <a:lvl6pPr marL="9509760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6pPr>
    <a:lvl7pPr marL="11411712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7pPr>
    <a:lvl8pPr marL="13313664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8pPr>
    <a:lvl9pPr marL="15215616" algn="l" defTabSz="3803904" rtl="0" eaLnBrk="1" latinLnBrk="0" hangingPunct="1">
      <a:defRPr sz="499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3A48-2F61-631E-FEB6-C8317654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A019C-B520-D543-7AB0-4BB603BDA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00075" y="1143000"/>
            <a:ext cx="56578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8AA48-47B3-6085-706C-E6780EAAF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"The clinical-only model performed surprisingly well, achieving an AUC of 0.727.</a:t>
            </a:r>
          </a:p>
          <a:p>
            <a:r>
              <a:rPr lang="en-CA" dirty="0"/>
              <a:t>Adding CT radiomics and PET radiomics led to modest improvements, with AUC values of 0.729 and 0.733, respectively.</a:t>
            </a:r>
          </a:p>
          <a:p>
            <a:r>
              <a:rPr lang="en-CA" dirty="0"/>
              <a:t>The best performance was obtained using the combined PET, CT, and clinical model, which achieved an AUC of 0.758.</a:t>
            </a:r>
          </a:p>
          <a:p>
            <a:r>
              <a:rPr lang="en-CA" dirty="0"/>
              <a:t>Although these improvements were not statistically significant, the results suggest that endocrine organ radiomics may provide complementary prognostic information beyond traditional clinical variables.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AEF91-E62D-02F2-DC8F-B300A2FC6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09B7E-BA46-4927-B0E2-16C3C570393B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82734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63A63-F937-1553-4E6A-353DA3E50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4489454"/>
            <a:ext cx="37719000" cy="9550400"/>
          </a:xfrm>
          <a:prstGeom prst="rect">
            <a:avLst/>
          </a:prstGeom>
        </p:spPr>
        <p:txBody>
          <a:bodyPr anchor="b"/>
          <a:lstStyle>
            <a:lvl1pPr algn="ctr">
              <a:defRPr sz="3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6D3B2-2026-1D7F-1AC5-521BD0362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0" y="14408156"/>
            <a:ext cx="37719000" cy="66230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98"/>
            </a:lvl1pPr>
            <a:lvl2pPr marL="228629" indent="0" algn="ctr">
              <a:buNone/>
              <a:defRPr sz="1002"/>
            </a:lvl2pPr>
            <a:lvl3pPr marL="457252" indent="0" algn="ctr">
              <a:buNone/>
              <a:defRPr sz="899"/>
            </a:lvl3pPr>
            <a:lvl4pPr marL="685887" indent="0" algn="ctr">
              <a:buNone/>
              <a:defRPr sz="801"/>
            </a:lvl4pPr>
            <a:lvl5pPr marL="914516" indent="0" algn="ctr">
              <a:buNone/>
              <a:defRPr sz="801"/>
            </a:lvl5pPr>
            <a:lvl6pPr marL="1143144" indent="0" algn="ctr">
              <a:buNone/>
              <a:defRPr sz="801"/>
            </a:lvl6pPr>
            <a:lvl7pPr marL="1371773" indent="0" algn="ctr">
              <a:buNone/>
              <a:defRPr sz="801"/>
            </a:lvl7pPr>
            <a:lvl8pPr marL="1600403" indent="0" algn="ctr">
              <a:buNone/>
              <a:defRPr sz="801"/>
            </a:lvl8pPr>
            <a:lvl9pPr marL="1829025" indent="0" algn="ctr">
              <a:buNone/>
              <a:defRPr sz="8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B99F7-B31F-1F44-9378-6933A2DD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757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1D3C319F-4747-4D43-9A8B-5E9E7824A1E1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D464C-5848-51EC-F2D4-6B2C713C7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59225" y="25425408"/>
            <a:ext cx="16973550" cy="14605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E224E-960A-A472-896A-AF18154E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872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53FF36D-5CE4-A845-87E8-50F5C2DC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23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FB67-3710-851E-31D2-C57ED4A4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76130"/>
            <a:ext cx="49202340" cy="258664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D4F66-6CA7-8AEB-A0D9-64914F78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575" y="7302496"/>
            <a:ext cx="43376850" cy="174053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F3E5B-0B78-3EC8-7C14-B828280B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757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89703CC3-FAC7-47ED-89D4-92916B27D23C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97190-ADB1-84FA-A854-72F36D9B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59225" y="25425408"/>
            <a:ext cx="16973550" cy="14605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C6F84-1F25-234E-16DB-75FA6029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872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53FF36D-5CE4-A845-87E8-50F5C2DC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6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859D-455D-8C87-7937-400B3C3C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377" y="6838983"/>
            <a:ext cx="43376850" cy="11410950"/>
          </a:xfrm>
          <a:prstGeom prst="rect">
            <a:avLst/>
          </a:prstGeom>
        </p:spPr>
        <p:txBody>
          <a:bodyPr anchor="b"/>
          <a:lstStyle>
            <a:lvl1pPr>
              <a:defRPr sz="3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5C58A-64F4-D38E-6583-F4D8F3486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1377" y="18357867"/>
            <a:ext cx="43376850" cy="6000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8">
                <a:solidFill>
                  <a:schemeClr val="tx1">
                    <a:tint val="82000"/>
                  </a:schemeClr>
                </a:solidFill>
              </a:defRPr>
            </a:lvl1pPr>
            <a:lvl2pPr marL="228629" indent="0">
              <a:buNone/>
              <a:defRPr sz="1002">
                <a:solidFill>
                  <a:schemeClr val="tx1">
                    <a:tint val="82000"/>
                  </a:schemeClr>
                </a:solidFill>
              </a:defRPr>
            </a:lvl2pPr>
            <a:lvl3pPr marL="457252" indent="0">
              <a:buNone/>
              <a:defRPr sz="899">
                <a:solidFill>
                  <a:schemeClr val="tx1">
                    <a:tint val="82000"/>
                  </a:schemeClr>
                </a:solidFill>
              </a:defRPr>
            </a:lvl3pPr>
            <a:lvl4pPr marL="685887" indent="0">
              <a:buNone/>
              <a:defRPr sz="801">
                <a:solidFill>
                  <a:schemeClr val="tx1">
                    <a:tint val="82000"/>
                  </a:schemeClr>
                </a:solidFill>
              </a:defRPr>
            </a:lvl4pPr>
            <a:lvl5pPr marL="914516" indent="0">
              <a:buNone/>
              <a:defRPr sz="801">
                <a:solidFill>
                  <a:schemeClr val="tx1">
                    <a:tint val="82000"/>
                  </a:schemeClr>
                </a:solidFill>
              </a:defRPr>
            </a:lvl5pPr>
            <a:lvl6pPr marL="1143144" indent="0">
              <a:buNone/>
              <a:defRPr sz="801">
                <a:solidFill>
                  <a:schemeClr val="tx1">
                    <a:tint val="82000"/>
                  </a:schemeClr>
                </a:solidFill>
              </a:defRPr>
            </a:lvl6pPr>
            <a:lvl7pPr marL="1371773" indent="0">
              <a:buNone/>
              <a:defRPr sz="801">
                <a:solidFill>
                  <a:schemeClr val="tx1">
                    <a:tint val="82000"/>
                  </a:schemeClr>
                </a:solidFill>
              </a:defRPr>
            </a:lvl7pPr>
            <a:lvl8pPr marL="1600403" indent="0">
              <a:buNone/>
              <a:defRPr sz="801">
                <a:solidFill>
                  <a:schemeClr val="tx1">
                    <a:tint val="82000"/>
                  </a:schemeClr>
                </a:solidFill>
              </a:defRPr>
            </a:lvl8pPr>
            <a:lvl9pPr marL="1829025" indent="0">
              <a:buNone/>
              <a:defRPr sz="8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D806D-F16A-B000-74A8-8C749A28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757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B1E8AEFB-6B03-44BA-8EAD-E07F88F92291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C5D23-4AF4-1394-74EF-3338B99D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59225" y="25425408"/>
            <a:ext cx="16973550" cy="14605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F52A3-24ED-74F4-16DF-B8F5DB2E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872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53FF36D-5CE4-A845-87E8-50F5C2DC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49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6F85-8644-46CD-B297-CBBC3EA1C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64000"/>
            <a:ext cx="49202340" cy="269875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B442-EEE4-C304-BE44-B55C65AD5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7575" y="7302496"/>
            <a:ext cx="21374100" cy="174053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3AB5B-A06C-287C-A2F4-27D91B756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460325" y="7302496"/>
            <a:ext cx="21374100" cy="174053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1758E-3CFD-F961-6236-F0880B92C3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757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191CC008-97DC-4644-975E-2A39B68126C3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121E9-2219-D01A-7D92-B1A3F04B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59225" y="25425408"/>
            <a:ext cx="16973550" cy="14605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14BE1-F18B-5E72-576A-4CF9ED22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872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53FF36D-5CE4-A845-87E8-50F5C2DC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4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6587-9895-0F91-3300-873E6A473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129" y="3951901"/>
            <a:ext cx="43376850" cy="28108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A8A17-190C-CFEE-BA08-118CEDA9E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4129" y="6724660"/>
            <a:ext cx="21275870" cy="32956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98" b="1"/>
            </a:lvl1pPr>
            <a:lvl2pPr marL="228629" indent="0">
              <a:buNone/>
              <a:defRPr sz="1002" b="1"/>
            </a:lvl2pPr>
            <a:lvl3pPr marL="457252" indent="0">
              <a:buNone/>
              <a:defRPr sz="899" b="1"/>
            </a:lvl3pPr>
            <a:lvl4pPr marL="685887" indent="0">
              <a:buNone/>
              <a:defRPr sz="801" b="1"/>
            </a:lvl4pPr>
            <a:lvl5pPr marL="914516" indent="0">
              <a:buNone/>
              <a:defRPr sz="801" b="1"/>
            </a:lvl5pPr>
            <a:lvl6pPr marL="1143144" indent="0">
              <a:buNone/>
              <a:defRPr sz="801" b="1"/>
            </a:lvl6pPr>
            <a:lvl7pPr marL="1371773" indent="0">
              <a:buNone/>
              <a:defRPr sz="801" b="1"/>
            </a:lvl7pPr>
            <a:lvl8pPr marL="1600403" indent="0">
              <a:buNone/>
              <a:defRPr sz="801" b="1"/>
            </a:lvl8pPr>
            <a:lvl9pPr marL="1829025" indent="0">
              <a:buNone/>
              <a:defRPr sz="8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231E0-2A90-A15A-B4EF-3FBCEC196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4129" y="10020306"/>
            <a:ext cx="21275870" cy="14738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7025-2DE9-6D96-5388-8CFBCBDC9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5460357" y="6724660"/>
            <a:ext cx="21380654" cy="32956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98" b="1"/>
            </a:lvl1pPr>
            <a:lvl2pPr marL="228629" indent="0">
              <a:buNone/>
              <a:defRPr sz="1002" b="1"/>
            </a:lvl2pPr>
            <a:lvl3pPr marL="457252" indent="0">
              <a:buNone/>
              <a:defRPr sz="899" b="1"/>
            </a:lvl3pPr>
            <a:lvl4pPr marL="685887" indent="0">
              <a:buNone/>
              <a:defRPr sz="801" b="1"/>
            </a:lvl4pPr>
            <a:lvl5pPr marL="914516" indent="0">
              <a:buNone/>
              <a:defRPr sz="801" b="1"/>
            </a:lvl5pPr>
            <a:lvl6pPr marL="1143144" indent="0">
              <a:buNone/>
              <a:defRPr sz="801" b="1"/>
            </a:lvl6pPr>
            <a:lvl7pPr marL="1371773" indent="0">
              <a:buNone/>
              <a:defRPr sz="801" b="1"/>
            </a:lvl7pPr>
            <a:lvl8pPr marL="1600403" indent="0">
              <a:buNone/>
              <a:defRPr sz="801" b="1"/>
            </a:lvl8pPr>
            <a:lvl9pPr marL="1829025" indent="0">
              <a:buNone/>
              <a:defRPr sz="8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53F27-6EB6-F647-5E52-EB46D0133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5460357" y="10020306"/>
            <a:ext cx="21380654" cy="147383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14A8A-5812-FC74-0EB2-D1E01DAB09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757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8E6C576C-527D-435E-A5E9-E69DC64300F7}" type="datetime1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657903-AAC9-B123-C6F7-36A8D02F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59225" y="25425408"/>
            <a:ext cx="16973550" cy="14605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74376-E8C9-33E8-F1EC-8A3A480B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872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53FF36D-5CE4-A845-87E8-50F5C2DC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D8AC6-4FF1-2774-B088-69F729E8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757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157016A-1240-4935-BA08-FCDA82CBA405}" type="datetime1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74350-3570-7AC1-DD9B-7D96485C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59225" y="25425408"/>
            <a:ext cx="16973550" cy="14605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9671B-AA7F-98D9-C119-B43689E7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872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53FF36D-5CE4-A845-87E8-50F5C2DC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7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A85E-FD5E-46AF-ED79-9D67CE264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147" y="3949713"/>
            <a:ext cx="16220481" cy="4279893"/>
          </a:xfrm>
          <a:prstGeom prst="rect">
            <a:avLst/>
          </a:prstGeom>
        </p:spPr>
        <p:txBody>
          <a:bodyPr anchor="b"/>
          <a:lstStyle>
            <a:lvl1pPr>
              <a:defRPr sz="160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E84CA-38E6-07A7-E9CD-9964B155C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0658" y="3949727"/>
            <a:ext cx="25460325" cy="19494501"/>
          </a:xfrm>
          <a:prstGeom prst="rect">
            <a:avLst/>
          </a:prstGeom>
        </p:spPr>
        <p:txBody>
          <a:bodyPr/>
          <a:lstStyle>
            <a:lvl1pPr>
              <a:defRPr sz="1601"/>
            </a:lvl1pPr>
            <a:lvl2pPr>
              <a:defRPr sz="1399"/>
            </a:lvl2pPr>
            <a:lvl3pPr>
              <a:defRPr sz="1198"/>
            </a:lvl3pPr>
            <a:lvl4pPr>
              <a:defRPr sz="1002"/>
            </a:lvl4pPr>
            <a:lvl5pPr>
              <a:defRPr sz="1002"/>
            </a:lvl5pPr>
            <a:lvl6pPr>
              <a:defRPr sz="1002"/>
            </a:lvl6pPr>
            <a:lvl7pPr>
              <a:defRPr sz="1002"/>
            </a:lvl7pPr>
            <a:lvl8pPr>
              <a:defRPr sz="1002"/>
            </a:lvl8pPr>
            <a:lvl9pPr>
              <a:defRPr sz="10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59AA2-2E66-833B-E6B8-E65A5F456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64147" y="8229628"/>
            <a:ext cx="16220481" cy="152463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1"/>
            </a:lvl1pPr>
            <a:lvl2pPr marL="228629" indent="0">
              <a:buNone/>
              <a:defRPr sz="703"/>
            </a:lvl2pPr>
            <a:lvl3pPr marL="457252" indent="0">
              <a:buNone/>
              <a:defRPr sz="611"/>
            </a:lvl3pPr>
            <a:lvl4pPr marL="685887" indent="0">
              <a:buNone/>
              <a:defRPr sz="611"/>
            </a:lvl4pPr>
            <a:lvl5pPr marL="914516" indent="0">
              <a:buNone/>
              <a:defRPr sz="611"/>
            </a:lvl5pPr>
            <a:lvl6pPr marL="1143144" indent="0">
              <a:buNone/>
              <a:defRPr sz="611"/>
            </a:lvl6pPr>
            <a:lvl7pPr marL="1371773" indent="0">
              <a:buNone/>
              <a:defRPr sz="611"/>
            </a:lvl7pPr>
            <a:lvl8pPr marL="1600403" indent="0">
              <a:buNone/>
              <a:defRPr sz="611"/>
            </a:lvl8pPr>
            <a:lvl9pPr marL="1829025" indent="0">
              <a:buNone/>
              <a:defRPr sz="6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84880-19BB-1414-77E5-B1CB10AD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757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2AB08D98-52E4-418F-BE8D-93187C35A9C8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17E93-D349-097B-DACA-9552B63F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59225" y="25425408"/>
            <a:ext cx="16973550" cy="14605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C53C9-27D0-8B9A-A25E-D01230B1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872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53FF36D-5CE4-A845-87E8-50F5C2DC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2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A927-29A9-9B69-6FB4-A3C226AF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147" y="3949713"/>
            <a:ext cx="16220481" cy="4279893"/>
          </a:xfrm>
          <a:prstGeom prst="rect">
            <a:avLst/>
          </a:prstGeom>
        </p:spPr>
        <p:txBody>
          <a:bodyPr anchor="b"/>
          <a:lstStyle>
            <a:lvl1pPr>
              <a:defRPr sz="16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3C82A-92BB-241C-0469-4221C0775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380658" y="3949727"/>
            <a:ext cx="25460325" cy="194945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1"/>
            </a:lvl1pPr>
            <a:lvl2pPr marL="228629" indent="0">
              <a:buNone/>
              <a:defRPr sz="1399"/>
            </a:lvl2pPr>
            <a:lvl3pPr marL="457252" indent="0">
              <a:buNone/>
              <a:defRPr sz="1198"/>
            </a:lvl3pPr>
            <a:lvl4pPr marL="685887" indent="0">
              <a:buNone/>
              <a:defRPr sz="1002"/>
            </a:lvl4pPr>
            <a:lvl5pPr marL="914516" indent="0">
              <a:buNone/>
              <a:defRPr sz="1002"/>
            </a:lvl5pPr>
            <a:lvl6pPr marL="1143144" indent="0">
              <a:buNone/>
              <a:defRPr sz="1002"/>
            </a:lvl6pPr>
            <a:lvl7pPr marL="1371773" indent="0">
              <a:buNone/>
              <a:defRPr sz="1002"/>
            </a:lvl7pPr>
            <a:lvl8pPr marL="1600403" indent="0">
              <a:buNone/>
              <a:defRPr sz="1002"/>
            </a:lvl8pPr>
            <a:lvl9pPr marL="1829025" indent="0">
              <a:buNone/>
              <a:defRPr sz="1002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A9A7D-E055-5D0A-4340-1FA635725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64147" y="8229628"/>
            <a:ext cx="16220481" cy="152463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1"/>
            </a:lvl1pPr>
            <a:lvl2pPr marL="228629" indent="0">
              <a:buNone/>
              <a:defRPr sz="703"/>
            </a:lvl2pPr>
            <a:lvl3pPr marL="457252" indent="0">
              <a:buNone/>
              <a:defRPr sz="611"/>
            </a:lvl3pPr>
            <a:lvl4pPr marL="685887" indent="0">
              <a:buNone/>
              <a:defRPr sz="611"/>
            </a:lvl4pPr>
            <a:lvl5pPr marL="914516" indent="0">
              <a:buNone/>
              <a:defRPr sz="611"/>
            </a:lvl5pPr>
            <a:lvl6pPr marL="1143144" indent="0">
              <a:buNone/>
              <a:defRPr sz="611"/>
            </a:lvl6pPr>
            <a:lvl7pPr marL="1371773" indent="0">
              <a:buNone/>
              <a:defRPr sz="611"/>
            </a:lvl7pPr>
            <a:lvl8pPr marL="1600403" indent="0">
              <a:buNone/>
              <a:defRPr sz="611"/>
            </a:lvl8pPr>
            <a:lvl9pPr marL="1829025" indent="0">
              <a:buNone/>
              <a:defRPr sz="6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494C3-56A1-518D-268D-68E27A41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757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C6E34A72-3E6D-4CDD-98CA-AA2549AE20D8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A05E5-17E1-0CEE-1CA0-77F2232A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59225" y="25425408"/>
            <a:ext cx="16973550" cy="14605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3A660-287F-6103-AE2F-1FB4DE77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8725" y="25425408"/>
            <a:ext cx="11315700" cy="1460502"/>
          </a:xfrm>
          <a:prstGeom prst="rect">
            <a:avLst/>
          </a:prstGeom>
        </p:spPr>
        <p:txBody>
          <a:bodyPr/>
          <a:lstStyle/>
          <a:p>
            <a:fld id="{653FF36D-5CE4-A845-87E8-50F5C2DC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56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jpg"/><Relationship Id="rId11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BD80EE4-3EA3-C3F9-F9B8-9CA3E898C13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24" y="-4"/>
            <a:ext cx="50291991" cy="35560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0629D8-470B-BBD3-2333-E696E76824D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24" y="20"/>
            <a:ext cx="50291991" cy="355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hdr="0" ftr="0" dt="0"/>
  <p:txStyles>
    <p:titleStyle>
      <a:lvl1pPr algn="l" defTabSz="457252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14" indent="-114314" algn="l" defTabSz="45725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1pPr>
      <a:lvl2pPr marL="342943" indent="-114314" algn="l" defTabSz="457252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98" kern="1200">
          <a:solidFill>
            <a:schemeClr val="tx1"/>
          </a:solidFill>
          <a:latin typeface="+mn-lt"/>
          <a:ea typeface="+mn-ea"/>
          <a:cs typeface="+mn-cs"/>
        </a:defRPr>
      </a:lvl2pPr>
      <a:lvl3pPr marL="571573" indent="-114314" algn="l" defTabSz="457252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2" kern="1200">
          <a:solidFill>
            <a:schemeClr val="tx1"/>
          </a:solidFill>
          <a:latin typeface="+mn-lt"/>
          <a:ea typeface="+mn-ea"/>
          <a:cs typeface="+mn-cs"/>
        </a:defRPr>
      </a:lvl3pPr>
      <a:lvl4pPr marL="800195" indent="-114314" algn="l" defTabSz="457252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899" kern="1200">
          <a:solidFill>
            <a:schemeClr val="tx1"/>
          </a:solidFill>
          <a:latin typeface="+mn-lt"/>
          <a:ea typeface="+mn-ea"/>
          <a:cs typeface="+mn-cs"/>
        </a:defRPr>
      </a:lvl4pPr>
      <a:lvl5pPr marL="1028830" indent="-114314" algn="l" defTabSz="457252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899" kern="1200">
          <a:solidFill>
            <a:schemeClr val="tx1"/>
          </a:solidFill>
          <a:latin typeface="+mn-lt"/>
          <a:ea typeface="+mn-ea"/>
          <a:cs typeface="+mn-cs"/>
        </a:defRPr>
      </a:lvl5pPr>
      <a:lvl6pPr marL="1257459" indent="-114314" algn="l" defTabSz="457252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899" kern="1200">
          <a:solidFill>
            <a:schemeClr val="tx1"/>
          </a:solidFill>
          <a:latin typeface="+mn-lt"/>
          <a:ea typeface="+mn-ea"/>
          <a:cs typeface="+mn-cs"/>
        </a:defRPr>
      </a:lvl6pPr>
      <a:lvl7pPr marL="1486082" indent="-114314" algn="l" defTabSz="457252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899" kern="1200">
          <a:solidFill>
            <a:schemeClr val="tx1"/>
          </a:solidFill>
          <a:latin typeface="+mn-lt"/>
          <a:ea typeface="+mn-ea"/>
          <a:cs typeface="+mn-cs"/>
        </a:defRPr>
      </a:lvl7pPr>
      <a:lvl8pPr marL="1714711" indent="-114314" algn="l" defTabSz="457252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899" kern="1200">
          <a:solidFill>
            <a:schemeClr val="tx1"/>
          </a:solidFill>
          <a:latin typeface="+mn-lt"/>
          <a:ea typeface="+mn-ea"/>
          <a:cs typeface="+mn-cs"/>
        </a:defRPr>
      </a:lvl8pPr>
      <a:lvl9pPr marL="1943346" indent="-114314" algn="l" defTabSz="457252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8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1pPr>
      <a:lvl2pPr marL="228629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2pPr>
      <a:lvl3pPr marL="457252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3pPr>
      <a:lvl4pPr marL="685887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4pPr>
      <a:lvl5pPr marL="914516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5pPr>
      <a:lvl6pPr marL="1143144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6pPr>
      <a:lvl7pPr marL="1371773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7pPr>
      <a:lvl8pPr marL="1600403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8pPr>
      <a:lvl9pPr marL="1829025" algn="l" defTabSz="457252" rtl="0" eaLnBrk="1" latinLnBrk="0" hangingPunct="1">
        <a:defRPr sz="8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40A0-EED6-D56B-3644-71FCE1C0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AC8D19-27CF-8C27-E9BD-002676C4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36D-5CE4-A845-87E8-50F5C2DCA231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558E0D-E516-5F72-D2D5-221D711A87B0}"/>
              </a:ext>
            </a:extLst>
          </p:cNvPr>
          <p:cNvSpPr txBox="1">
            <a:spLocks/>
          </p:cNvSpPr>
          <p:nvPr/>
        </p:nvSpPr>
        <p:spPr>
          <a:xfrm rot="16200000">
            <a:off x="-4800599" y="12985636"/>
            <a:ext cx="16154398" cy="3324271"/>
          </a:xfrm>
          <a:prstGeom prst="rect">
            <a:avLst/>
          </a:prstGeom>
        </p:spPr>
        <p:txBody>
          <a:bodyPr/>
          <a:lstStyle>
            <a:lvl1pPr algn="l" defTabSz="68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600" b="1" dirty="0">
                <a:solidFill>
                  <a:srgbClr val="C00000"/>
                </a:solidFill>
              </a:rPr>
              <a:t>Background</a:t>
            </a:r>
            <a:endParaRPr lang="en-CA" sz="16600" b="1" dirty="0">
              <a:solidFill>
                <a:srgbClr val="C00000"/>
              </a:solidFill>
            </a:endParaRPr>
          </a:p>
        </p:txBody>
      </p:sp>
      <p:sp>
        <p:nvSpPr>
          <p:cNvPr id="8" name="Headline"/>
          <p:cNvSpPr txBox="1"/>
          <p:nvPr/>
        </p:nvSpPr>
        <p:spPr>
          <a:xfrm>
            <a:off x="5486400" y="4572000"/>
            <a:ext cx="42976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320"/>
              </a:spcAft>
            </a:pPr>
            <a:r>
              <a:rPr sz="9600" b="1">
                <a:solidFill>
                  <a:srgbClr val="1B2F5E"/>
                </a:solidFill>
                <a:latin typeface="Calibri"/>
              </a:rPr>
              <a:t>Can normal endocrine organs predict progression in PSMA-negative disease?</a:t>
            </a:r>
          </a:p>
        </p:txBody>
      </p:sp>
      <p:sp>
        <p:nvSpPr>
          <p:cNvPr id="9" name="Card 1"/>
          <p:cNvSpPr/>
          <p:nvPr/>
        </p:nvSpPr>
        <p:spPr>
          <a:xfrm>
            <a:off x="5486400" y="7680960"/>
            <a:ext cx="13624560" cy="170078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0" y="8503920"/>
            <a:ext cx="2194560" cy="21945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8503920"/>
            <a:ext cx="94183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780"/>
              </a:spcAft>
            </a:pPr>
            <a:r>
              <a:rPr sz="8400" b="1">
                <a:solidFill>
                  <a:srgbClr val="0E7C86"/>
                </a:solidFill>
                <a:latin typeface="Calibri"/>
              </a:rPr>
              <a:t>The clinical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521440"/>
            <a:ext cx="11978640" cy="82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610"/>
              </a:spcAft>
            </a:pPr>
            <a:r>
              <a:rPr sz="5800" b="1">
                <a:solidFill>
                  <a:srgbClr val="0E7C86"/>
                </a:solidFill>
                <a:latin typeface="Calibri"/>
              </a:rPr>
              <a:t>▸ </a:t>
            </a:r>
            <a:r>
              <a:rPr sz="5800" b="0">
                <a:solidFill>
                  <a:srgbClr val="222B38"/>
                </a:solidFill>
                <a:latin typeface="Calibri"/>
              </a:rPr>
              <a:t>Biochemical recurrence after radical prostatectomy is imaged with PSMA PET/CT</a:t>
            </a:r>
          </a:p>
          <a:p>
            <a:pPr algn="l">
              <a:spcAft>
                <a:spcPts val="2610"/>
              </a:spcAft>
            </a:pPr>
            <a:r>
              <a:rPr sz="5800" b="1">
                <a:solidFill>
                  <a:srgbClr val="0E7C86"/>
                </a:solidFill>
                <a:latin typeface="Calibri"/>
              </a:rPr>
              <a:t>▸ </a:t>
            </a:r>
            <a:r>
              <a:rPr sz="5800" b="0">
                <a:solidFill>
                  <a:srgbClr val="222B38"/>
                </a:solidFill>
                <a:latin typeface="Calibri"/>
              </a:rPr>
              <a:t>A subset of patients stays PSMA-negative despite ongoing disease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0"/>
            <a:ext cx="11978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350"/>
              </a:spcAft>
            </a:pPr>
            <a:r>
              <a:rPr sz="23000" b="1">
                <a:solidFill>
                  <a:srgbClr val="0E7C86"/>
                </a:solidFill>
                <a:latin typeface="Calibri"/>
              </a:rPr>
              <a:t>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305520"/>
            <a:ext cx="11978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160"/>
              </a:spcAft>
            </a:pPr>
            <a:r>
              <a:rPr sz="4800" b="0">
                <a:solidFill>
                  <a:srgbClr val="5B6675"/>
                </a:solidFill>
                <a:latin typeface="Calibri"/>
              </a:rPr>
              <a:t>of PSMA-negative patients later progressed clinically (Harsini et al., 2024)</a:t>
            </a:r>
          </a:p>
        </p:txBody>
      </p:sp>
      <p:sp>
        <p:nvSpPr>
          <p:cNvPr id="15" name="Card 2"/>
          <p:cNvSpPr/>
          <p:nvPr/>
        </p:nvSpPr>
        <p:spPr>
          <a:xfrm>
            <a:off x="20116800" y="7680960"/>
            <a:ext cx="13624560" cy="170078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939760" y="8503920"/>
            <a:ext cx="2194560" cy="219456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0" y="8503920"/>
            <a:ext cx="94183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780"/>
              </a:spcAft>
            </a:pPr>
            <a:r>
              <a:rPr sz="8400" b="1">
                <a:solidFill>
                  <a:srgbClr val="E36C0A"/>
                </a:solidFill>
                <a:latin typeface="Calibri"/>
              </a:rPr>
              <a:t>The scientific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0" y="11521440"/>
            <a:ext cx="11978640" cy="82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610"/>
              </a:spcAft>
            </a:pPr>
            <a:r>
              <a:rPr sz="5800" b="1">
                <a:solidFill>
                  <a:srgbClr val="E36C0A"/>
                </a:solidFill>
                <a:latin typeface="Calibri"/>
              </a:rPr>
              <a:t>▸ </a:t>
            </a:r>
            <a:r>
              <a:rPr sz="5800" b="0">
                <a:solidFill>
                  <a:srgbClr val="222B38"/>
                </a:solidFill>
                <a:latin typeface="Calibri"/>
              </a:rPr>
              <a:t>Radiomics studies analyze visible tumor lesions</a:t>
            </a:r>
          </a:p>
          <a:p>
            <a:pPr algn="l">
              <a:spcAft>
                <a:spcPts val="2610"/>
              </a:spcAft>
            </a:pPr>
            <a:r>
              <a:rPr sz="5800" b="1">
                <a:solidFill>
                  <a:srgbClr val="E36C0A"/>
                </a:solidFill>
                <a:latin typeface="Calibri"/>
              </a:rPr>
              <a:t>▸ </a:t>
            </a:r>
            <a:r>
              <a:rPr sz="5800" b="0">
                <a:solidFill>
                  <a:srgbClr val="222B38"/>
                </a:solidFill>
                <a:latin typeface="Calibri"/>
              </a:rPr>
              <a:t>New biomarkers are needed to stratify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0" y="17373600"/>
            <a:ext cx="11978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350"/>
              </a:spcAft>
            </a:pPr>
            <a:r>
              <a:rPr sz="23000" b="1">
                <a:solidFill>
                  <a:srgbClr val="E36C0A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0" y="21305520"/>
            <a:ext cx="11978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160"/>
              </a:spcAft>
            </a:pPr>
            <a:r>
              <a:rPr sz="4800" b="0">
                <a:solidFill>
                  <a:srgbClr val="5B6675"/>
                </a:solidFill>
                <a:latin typeface="Calibri"/>
              </a:rPr>
              <a:t>visible lesions to analyze in PSMA-negative patients</a:t>
            </a:r>
          </a:p>
        </p:txBody>
      </p:sp>
      <p:sp>
        <p:nvSpPr>
          <p:cNvPr id="21" name="Card 3"/>
          <p:cNvSpPr/>
          <p:nvPr/>
        </p:nvSpPr>
        <p:spPr>
          <a:xfrm>
            <a:off x="34747200" y="7680960"/>
            <a:ext cx="13624560" cy="170078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570160" y="8503920"/>
            <a:ext cx="2194560" cy="2194560"/>
          </a:xfrm>
          <a:prstGeom prst="ellipse">
            <a:avLst/>
          </a:prstGeom>
          <a:solidFill>
            <a:srgbClr val="1B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0" y="8503920"/>
            <a:ext cx="94183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780"/>
              </a:spcAft>
            </a:pPr>
            <a:r>
              <a:rPr sz="8400" b="1">
                <a:solidFill>
                  <a:srgbClr val="1B2F5E"/>
                </a:solidFill>
                <a:latin typeface="Calibri"/>
              </a:rPr>
              <a:t>Our hypothesis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0" y="11521440"/>
            <a:ext cx="11978640" cy="82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610"/>
              </a:spcAft>
            </a:pPr>
            <a:r>
              <a:rPr sz="5800" b="1">
                <a:solidFill>
                  <a:srgbClr val="1B2F5E"/>
                </a:solidFill>
                <a:latin typeface="Calibri"/>
              </a:rPr>
              <a:t>▸ </a:t>
            </a:r>
            <a:r>
              <a:rPr sz="5800" b="0">
                <a:solidFill>
                  <a:srgbClr val="222B38"/>
                </a:solidFill>
                <a:latin typeface="Calibri"/>
              </a:rPr>
              <a:t>Microscopic disease leaves systemic signatures in normal endocrine organs</a:t>
            </a:r>
          </a:p>
          <a:p>
            <a:pPr algn="l">
              <a:spcAft>
                <a:spcPts val="2610"/>
              </a:spcAft>
            </a:pPr>
            <a:r>
              <a:rPr sz="5800" b="1">
                <a:solidFill>
                  <a:srgbClr val="1B2F5E"/>
                </a:solidFill>
                <a:latin typeface="Calibri"/>
              </a:rPr>
              <a:t>▸ </a:t>
            </a:r>
            <a:r>
              <a:rPr sz="5800" b="0">
                <a:solidFill>
                  <a:srgbClr val="222B38"/>
                </a:solidFill>
                <a:latin typeface="Calibri"/>
              </a:rPr>
              <a:t>Hypothalamus-pituitary, thyroid, adrenals, testes + clinical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0" y="17373600"/>
            <a:ext cx="11978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350"/>
              </a:spcAft>
            </a:pPr>
            <a:r>
              <a:rPr sz="23000" b="1">
                <a:solidFill>
                  <a:srgbClr val="1B2F5E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60" y="21305520"/>
            <a:ext cx="11978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160"/>
              </a:spcAft>
            </a:pPr>
            <a:r>
              <a:rPr sz="4800" b="0">
                <a:solidFill>
                  <a:srgbClr val="5B6675"/>
                </a:solidFill>
                <a:latin typeface="Calibri"/>
              </a:rPr>
              <a:t>endocrine organs analyzed per patient on PET and CT</a:t>
            </a:r>
          </a:p>
        </p:txBody>
      </p:sp>
    </p:spTree>
    <p:extLst>
      <p:ext uri="{BB962C8B-B14F-4D97-AF65-F5344CB8AC3E}">
        <p14:creationId xmlns:p14="http://schemas.microsoft.com/office/powerpoint/2010/main" val="2516941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40A0-EED6-D56B-3644-71FCE1C0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AC8D19-27CF-8C27-E9BD-002676C4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36D-5CE4-A845-87E8-50F5C2DCA231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558E0D-E516-5F72-D2D5-221D711A87B0}"/>
              </a:ext>
            </a:extLst>
          </p:cNvPr>
          <p:cNvSpPr txBox="1">
            <a:spLocks/>
          </p:cNvSpPr>
          <p:nvPr/>
        </p:nvSpPr>
        <p:spPr>
          <a:xfrm rot="16200000">
            <a:off x="-4800599" y="12985636"/>
            <a:ext cx="16154398" cy="3324271"/>
          </a:xfrm>
          <a:prstGeom prst="rect">
            <a:avLst/>
          </a:prstGeom>
        </p:spPr>
        <p:txBody>
          <a:bodyPr/>
          <a:lstStyle>
            <a:lvl1pPr algn="l" defTabSz="68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600" b="1" dirty="0">
                <a:solidFill>
                  <a:srgbClr val="C00000"/>
                </a:solidFill>
              </a:rPr>
              <a:t>Results</a:t>
            </a:r>
            <a:endParaRPr lang="en-CA" sz="16600" b="1" dirty="0">
              <a:solidFill>
                <a:srgbClr val="C00000"/>
              </a:solidFill>
            </a:endParaRPr>
          </a:p>
        </p:txBody>
      </p:sp>
      <p:sp>
        <p:nvSpPr>
          <p:cNvPr id="8" name="Methods card"/>
          <p:cNvSpPr/>
          <p:nvPr/>
        </p:nvSpPr>
        <p:spPr>
          <a:xfrm>
            <a:off x="5486400" y="4754880"/>
            <a:ext cx="12070080" cy="199339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548640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80"/>
              </a:spcAft>
            </a:pPr>
            <a:r>
              <a:rPr sz="8400" b="1">
                <a:solidFill>
                  <a:srgbClr val="0E7C86"/>
                </a:solidFill>
                <a:latin typeface="Calibri"/>
              </a:rPr>
              <a:t>Study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7589520"/>
            <a:ext cx="10424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900"/>
              </a:spcAft>
            </a:pPr>
            <a:r>
              <a:rPr sz="22000" b="1">
                <a:solidFill>
                  <a:srgbClr val="1B2F5E"/>
                </a:solidFill>
                <a:latin typeface="Calibri"/>
              </a:rPr>
              <a:t>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078992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70"/>
              </a:spcAft>
            </a:pPr>
            <a:r>
              <a:rPr sz="4600" b="0">
                <a:solidFill>
                  <a:srgbClr val="5B6675"/>
                </a:solidFill>
                <a:latin typeface="Calibri"/>
              </a:rPr>
              <a:t>PSMA-negative patients with biochemical recurrence (retrospective)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13716000"/>
            <a:ext cx="1554480" cy="15544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3624560"/>
            <a:ext cx="8595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70"/>
              </a:spcAft>
            </a:pPr>
            <a:r>
              <a:rPr sz="4600" b="0">
                <a:solidFill>
                  <a:srgbClr val="222B38"/>
                </a:solidFill>
                <a:latin typeface="Calibri"/>
              </a:rPr>
              <a:t>Segment endocrine organs on baseline PSMA PET/CT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16459200"/>
            <a:ext cx="1554480" cy="15544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367759"/>
            <a:ext cx="8595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70"/>
              </a:spcAft>
            </a:pPr>
            <a:r>
              <a:rPr sz="4600" b="0">
                <a:solidFill>
                  <a:srgbClr val="222B38"/>
                </a:solidFill>
                <a:latin typeface="Calibri"/>
              </a:rPr>
              <a:t>Extract IBSI-compliant radiomic features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19202400"/>
            <a:ext cx="1554480" cy="15544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110960"/>
            <a:ext cx="8595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70"/>
              </a:spcAft>
            </a:pPr>
            <a:r>
              <a:rPr sz="4600" b="0">
                <a:solidFill>
                  <a:srgbClr val="222B38"/>
                </a:solidFill>
                <a:latin typeface="Calibri"/>
              </a:rPr>
              <a:t>Reduce and select features; add clinical variables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21945600"/>
            <a:ext cx="1554480" cy="15544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854160"/>
            <a:ext cx="8595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70"/>
              </a:spcAft>
            </a:pPr>
            <a:r>
              <a:rPr sz="4600" b="0">
                <a:solidFill>
                  <a:srgbClr val="222B38"/>
                </a:solidFill>
                <a:latin typeface="Calibri"/>
              </a:rPr>
              <a:t>Train and validate ML models (AUC, sensitivity, specificity, survival)</a:t>
            </a:r>
          </a:p>
        </p:txBody>
      </p:sp>
      <p:graphicFrame>
        <p:nvGraphicFramePr>
          <p:cNvPr id="20" name="Model AUC chart"/>
          <p:cNvGraphicFramePr>
            <a:graphicFrameLocks noGrp="1"/>
          </p:cNvGraphicFramePr>
          <p:nvPr/>
        </p:nvGraphicFramePr>
        <p:xfrm>
          <a:off x="18653760" y="4754880"/>
          <a:ext cx="14813280" cy="1554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Organ AUC chart"/>
          <p:cNvGraphicFramePr>
            <a:graphicFrameLocks noGrp="1"/>
          </p:cNvGraphicFramePr>
          <p:nvPr/>
        </p:nvGraphicFramePr>
        <p:xfrm>
          <a:off x="34198560" y="4754880"/>
          <a:ext cx="14813280" cy="1554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akeaway banner"/>
          <p:cNvSpPr/>
          <p:nvPr/>
        </p:nvSpPr>
        <p:spPr>
          <a:xfrm>
            <a:off x="18653760" y="21031200"/>
            <a:ext cx="30358080" cy="3657600"/>
          </a:xfrm>
          <a:prstGeom prst="roundRect">
            <a:avLst>
              <a:gd name="adj" fmla="val 6000"/>
            </a:avLst>
          </a:prstGeom>
          <a:solidFill>
            <a:srgbClr val="1B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568160" y="21031200"/>
            <a:ext cx="2852928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34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Combined PET + CT + clinical model performed best (AUC 0.758). </a:t>
            </a:r>
            <a:r>
              <a:rPr sz="5200" b="0">
                <a:solidFill>
                  <a:srgbClr val="FFFFFF"/>
                </a:solidFill>
                <a:latin typeface="Calibri"/>
              </a:rPr>
              <a:t>Testes ranked top on both modalities; the gain over clinical-only was modest and not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2516941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40A0-EED6-D56B-3644-71FCE1C0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AC8D19-27CF-8C27-E9BD-002676C4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36D-5CE4-A845-87E8-50F5C2DCA231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558E0D-E516-5F72-D2D5-221D711A87B0}"/>
              </a:ext>
            </a:extLst>
          </p:cNvPr>
          <p:cNvSpPr txBox="1">
            <a:spLocks/>
          </p:cNvSpPr>
          <p:nvPr/>
        </p:nvSpPr>
        <p:spPr>
          <a:xfrm rot="16200000">
            <a:off x="-4800599" y="12985636"/>
            <a:ext cx="16154398" cy="3324271"/>
          </a:xfrm>
          <a:prstGeom prst="rect">
            <a:avLst/>
          </a:prstGeom>
        </p:spPr>
        <p:txBody>
          <a:bodyPr/>
          <a:lstStyle>
            <a:lvl1pPr algn="l" defTabSz="68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600" b="1" dirty="0">
                <a:solidFill>
                  <a:srgbClr val="C00000"/>
                </a:solidFill>
              </a:rPr>
              <a:t>Conclusions</a:t>
            </a:r>
            <a:endParaRPr lang="en-CA" sz="16600" b="1" dirty="0">
              <a:solidFill>
                <a:srgbClr val="C00000"/>
              </a:solidFill>
            </a:endParaRPr>
          </a:p>
        </p:txBody>
      </p:sp>
      <p:sp>
        <p:nvSpPr>
          <p:cNvPr id="8" name="Headline"/>
          <p:cNvSpPr txBox="1"/>
          <p:nvPr/>
        </p:nvSpPr>
        <p:spPr>
          <a:xfrm>
            <a:off x="5486400" y="4572000"/>
            <a:ext cx="42976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320"/>
              </a:spcAft>
            </a:pPr>
            <a:r>
              <a:rPr sz="9600" b="1">
                <a:solidFill>
                  <a:srgbClr val="1B2F5E"/>
                </a:solidFill>
                <a:latin typeface="Calibri"/>
              </a:rPr>
              <a:t>Endocrine organ radiomics carries systemic imaging signatures linked to progression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8046719"/>
            <a:ext cx="2377440" cy="2377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7863840"/>
            <a:ext cx="19751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150"/>
              </a:spcAft>
            </a:pPr>
            <a:r>
              <a:rPr sz="7000" b="1">
                <a:solidFill>
                  <a:srgbClr val="0E7C86"/>
                </a:solidFill>
                <a:latin typeface="Calibri"/>
              </a:rPr>
              <a:t>Multimodal fusion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9692640"/>
            <a:ext cx="19751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340"/>
              </a:spcAft>
            </a:pPr>
            <a:r>
              <a:rPr sz="5200" b="0">
                <a:solidFill>
                  <a:srgbClr val="222B38"/>
                </a:solidFill>
                <a:latin typeface="Calibri"/>
              </a:rPr>
              <a:t>PET + CT + clinical gave the highest AUC (0.758) vs 0.727 for clinical variables alone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13167359"/>
            <a:ext cx="2377440" cy="2377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2984480"/>
            <a:ext cx="19751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150"/>
              </a:spcAft>
            </a:pPr>
            <a:r>
              <a:rPr sz="7000" b="1">
                <a:solidFill>
                  <a:srgbClr val="0E7C86"/>
                </a:solidFill>
                <a:latin typeface="Calibri"/>
              </a:rPr>
              <a:t>Testes and hypothalamus-pituitary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4813280"/>
            <a:ext cx="19751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340"/>
              </a:spcAft>
            </a:pPr>
            <a:r>
              <a:rPr sz="5200" b="0">
                <a:solidFill>
                  <a:srgbClr val="222B38"/>
                </a:solidFill>
                <a:latin typeface="Calibri"/>
              </a:rPr>
              <a:t>Most informative organs on both CT and PET, pointing to endocrine and androgen pathways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18287999"/>
            <a:ext cx="2377440" cy="2377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8105119"/>
            <a:ext cx="19751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150"/>
              </a:spcAft>
            </a:pPr>
            <a:r>
              <a:rPr sz="7000" b="1">
                <a:solidFill>
                  <a:srgbClr val="0E7C86"/>
                </a:solidFill>
                <a:latin typeface="Calibri"/>
              </a:rPr>
              <a:t>Complements clinical risk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9933919"/>
            <a:ext cx="19751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340"/>
              </a:spcAft>
            </a:pPr>
            <a:r>
              <a:rPr sz="5200" b="0">
                <a:solidFill>
                  <a:srgbClr val="222B38"/>
                </a:solidFill>
                <a:latin typeface="Calibri"/>
              </a:rPr>
              <a:t>Signals host-tumor interaction rather than tumor burden; may flag higher-risk PSMA-negative patients early</a:t>
            </a:r>
          </a:p>
        </p:txBody>
      </p:sp>
      <p:sp>
        <p:nvSpPr>
          <p:cNvPr id="18" name="Limitations card"/>
          <p:cNvSpPr/>
          <p:nvPr/>
        </p:nvSpPr>
        <p:spPr>
          <a:xfrm>
            <a:off x="30175200" y="7863840"/>
            <a:ext cx="18653760" cy="140817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72480" y="8778240"/>
            <a:ext cx="1645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80"/>
              </a:spcAft>
            </a:pPr>
            <a:r>
              <a:rPr sz="8400" b="1">
                <a:solidFill>
                  <a:srgbClr val="E36C0A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0" y="11521440"/>
            <a:ext cx="16459200" cy="1051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820"/>
              </a:spcAft>
            </a:pPr>
            <a:r>
              <a:rPr sz="6200" b="1">
                <a:solidFill>
                  <a:srgbClr val="E36C0A"/>
                </a:solidFill>
                <a:latin typeface="Calibri"/>
              </a:rPr>
              <a:t>▸ </a:t>
            </a:r>
            <a:r>
              <a:rPr sz="6200" b="0">
                <a:solidFill>
                  <a:srgbClr val="222B38"/>
                </a:solidFill>
                <a:latin typeface="Calibri"/>
              </a:rPr>
              <a:t>Retrospective, single-center study</a:t>
            </a:r>
          </a:p>
          <a:p>
            <a:pPr algn="l">
              <a:spcAft>
                <a:spcPts val="6820"/>
              </a:spcAft>
            </a:pPr>
            <a:r>
              <a:rPr sz="6200" b="1">
                <a:solidFill>
                  <a:srgbClr val="E36C0A"/>
                </a:solidFill>
                <a:latin typeface="Calibri"/>
              </a:rPr>
              <a:t>▸ </a:t>
            </a:r>
            <a:r>
              <a:rPr sz="6200" b="0">
                <a:solidFill>
                  <a:srgbClr val="222B38"/>
                </a:solidFill>
                <a:latin typeface="Calibri"/>
              </a:rPr>
              <a:t>Limited sample size (n = 101)</a:t>
            </a:r>
          </a:p>
          <a:p>
            <a:pPr algn="l">
              <a:spcAft>
                <a:spcPts val="6820"/>
              </a:spcAft>
            </a:pPr>
            <a:r>
              <a:rPr sz="6200" b="1">
                <a:solidFill>
                  <a:srgbClr val="E36C0A"/>
                </a:solidFill>
                <a:latin typeface="Calibri"/>
              </a:rPr>
              <a:t>▸ </a:t>
            </a:r>
            <a:r>
              <a:rPr sz="6200" b="0">
                <a:solidFill>
                  <a:srgbClr val="222B38"/>
                </a:solidFill>
                <a:latin typeface="Calibri"/>
              </a:rPr>
              <a:t>No endocrine biomarker correlation yet</a:t>
            </a:r>
          </a:p>
          <a:p>
            <a:pPr algn="l">
              <a:spcAft>
                <a:spcPts val="6820"/>
              </a:spcAft>
            </a:pPr>
            <a:r>
              <a:rPr sz="6200" b="1">
                <a:solidFill>
                  <a:srgbClr val="E36C0A"/>
                </a:solidFill>
                <a:latin typeface="Calibri"/>
              </a:rPr>
              <a:t>▸ </a:t>
            </a:r>
            <a:r>
              <a:rPr sz="6200" b="0">
                <a:solidFill>
                  <a:srgbClr val="222B38"/>
                </a:solidFill>
                <a:latin typeface="Calibri"/>
              </a:rPr>
              <a:t>Findings are exploratory: validate in larger prospective cohorts</a:t>
            </a:r>
          </a:p>
        </p:txBody>
      </p:sp>
      <p:sp>
        <p:nvSpPr>
          <p:cNvPr id="21" name="Citation"/>
          <p:cNvSpPr txBox="1"/>
          <p:nvPr/>
        </p:nvSpPr>
        <p:spPr>
          <a:xfrm>
            <a:off x="5486400" y="23408640"/>
            <a:ext cx="2743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160"/>
              </a:spcAft>
            </a:pPr>
            <a:r>
              <a:rPr sz="4800" b="0">
                <a:solidFill>
                  <a:srgbClr val="5B6675"/>
                </a:solidFill>
                <a:latin typeface="Calibri"/>
              </a:rPr>
              <a:t>Abdollahi et al., Cancers, 2026 May 28;18(11)</a:t>
            </a:r>
          </a:p>
        </p:txBody>
      </p:sp>
    </p:spTree>
    <p:extLst>
      <p:ext uri="{BB962C8B-B14F-4D97-AF65-F5344CB8AC3E}">
        <p14:creationId xmlns:p14="http://schemas.microsoft.com/office/powerpoint/2010/main" val="2516941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APM2024_Oral_Presentation_Template_1" id="{28A84E9A-5B60-FA45-A1F7-AE980C0AFAF6}" vid="{F6D13E1D-7888-B047-A445-F9D6EA37F5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1820</TotalTime>
  <Words>875</Words>
  <Application>Microsoft Office PowerPoint</Application>
  <PresentationFormat>Custom</PresentationFormat>
  <Paragraphs>77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Systemic Imaging Signatures from Normal Organs in  PSMA-Negative Prostate Cancer</vt:lpstr>
      <vt:lpstr>Disclosure/Acknowledgment  </vt:lpstr>
      <vt:lpstr>Clinical Background</vt:lpstr>
      <vt:lpstr>The Promise of Radiomics</vt:lpstr>
      <vt:lpstr>Scientific Gap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Laurie Allen</dc:creator>
  <cp:lastModifiedBy>Hamid Abdollahi Nasehabad</cp:lastModifiedBy>
  <cp:revision>71</cp:revision>
  <dcterms:created xsi:type="dcterms:W3CDTF">2024-06-26T16:29:01Z</dcterms:created>
  <dcterms:modified xsi:type="dcterms:W3CDTF">2026-07-18T16:46:27Z</dcterms:modified>
</cp:coreProperties>
</file>