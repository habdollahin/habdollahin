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highlights three defining features of cancer: complexity, heterogeneity, and continuous change.</a:t>
            </a:r>
          </a:p>
          <a:p>
            <a:r>
              <a:t>Cancer is complex because its behavior emerges from interactions among cancer cells, immune cells, blood vessels, and the surrounding tissue. Genetic alterations, epigenetic changes, and the microenvironment shape these interactions.</a:t>
            </a:r>
          </a:p>
          <a:p>
            <a:r>
              <a:t>Cancer is heterogeneous at several levels: between patients, between lesions in the same patient, and between regions within a single tumor. These differences extend from molecules and cells to tissues and whole patients.</a:t>
            </a:r>
          </a:p>
          <a:p>
            <a:r>
              <a:t>Cancer is also dynamic. Cell populations evolve over time under pressures such as limited oxygen, immune surveillance, and treatment. Therapy can eliminate sensitive cells while allowing resistant populations to survive and expand.</a:t>
            </a:r>
          </a:p>
          <a:p>
            <a:r>
              <a:t>Together, these features help explain differences in treatment response, progression, and recurrence. They also motivate my research vision: using quantitative imaging and computational models to characterize this variability, predict its evolution, and support personalized, adaptive treatment.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is that we have a strong cancer technology ecosystem.</a:t>
            </a:r>
          </a:p>
          <a:p>
            <a:r>
              <a:t>On the left is the cancer care continuum: prevention and screening, diagnosis and stratification, treatment planning, treatment delivery, response assessment, and survivorship and monitoring. Each step generates data and decisions.</a:t>
            </a:r>
          </a:p>
          <a:p>
            <a:r>
              <a:t>On the right are the four pillars of personalized cancer care: multimodal data — medical and molecular imaging, genomics and clinical outcomes; multidisciplinary expertise — patients, clinicians, physicists and scientists; treatment technologies — imaging, surgery, radiotherapy, systemic therapy and theranostics; and computational models — radiomics, AI, predictive models and digital twins.</a:t>
            </a:r>
          </a:p>
          <a:p>
            <a:r>
              <a:t>Connecting them must be multimodal, multiscale, multipurpose and multidisciplinary, and it works as a learning loop: evidence leads to decisions, decisions to outcomes, and outcomes back to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Imaging lets us measure the tumour phenotype non-invasively and repeatedly.</a:t>
            </a:r>
          </a:p>
          <a:p>
            <a:r>
              <a:t>We have three families of imaging: anatomic imaging with CT, MRI and ultrasound; functional imaging with diffusion, perfusion, BOLD and spectroscopy; and molecular imaging with PET, SPECT and targeted tracers.</a:t>
            </a:r>
          </a:p>
          <a:p>
            <a:r>
              <a:t>Together they capture tumour hallmarks: structure, such as cell density and fat and water composition; and function, such as metabolism, proliferation, hypoxia and angiogenesis, receptor expression, apoptosis and the microenvironment.</a:t>
            </a:r>
          </a:p>
          <a:p>
            <a:r>
              <a:t>These quantitative, multiscale measurements connect with the other ‘omics’ — radiomics, pathomics, metabolomics, proteomics, transcriptomics and genomics — to build an integrated cancer phenotype for biomarkers, prediction and personalization.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main ways to build radiomics models.</a:t>
            </a:r>
          </a:p>
          <a:p>
            <a:r>
              <a:t>A, handcrafted radiomics: we preprocess the images, segment the tumour, extract predefined shape, intensity and texture features, select the most informative ones, and train a machine-learning model such as SVM, random forest or regression to predict risk.</a:t>
            </a:r>
          </a:p>
          <a:p>
            <a:r>
              <a:t>B, end-to-end deep learning: a convolutional network or vision transformer learns its own features directly from the images, and the whole chain from image to risk is optimized jointly.</a:t>
            </a:r>
          </a:p>
          <a:p>
            <a:r>
              <a:t>C, deep features plus machine learning: a pretrained or fine-tuned network is used only as a feature extractor; its embeddings are selected and passed to a separate machine-learning model.</a:t>
            </a:r>
          </a:p>
          <a:p>
            <a:r>
              <a:t>All three can support diagnosis, prognosis and treatment-response prediction, but each needs independent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radiomics work uses four complementary, patient-centred perspectives.</a:t>
            </a:r>
          </a:p>
          <a:p>
            <a:r>
              <a:t>First, tumour phenotyping — characterizing the cancer itself in prostate, lung, brain and kidney: grade, molecular status, prognosis and treatment response.</a:t>
            </a:r>
          </a:p>
          <a:p>
            <a:r>
              <a:t>Second, normal-tissue response and toxicity — characterizing organs at risk such as the cochlea, salivary glands, rectum and bladder, their changes after radiotherapy, and toxicity risk.</a:t>
            </a:r>
          </a:p>
          <a:p>
            <a:r>
              <a:t>Third, systemic and multi-organ phenotyping — characterizing the host beyond the tumour, for example multi-organ and endocrine-organ signatures in PSMA-negative prostate cancer.</a:t>
            </a:r>
          </a:p>
          <a:p>
            <a:r>
              <a:t>Fourth, non-oncologic disease — myocardial infarction on cardiac MRI, COVID-19 lung disease on CT, and bone mineral loss on radiographs.</a:t>
            </a:r>
          </a:p>
          <a:p>
            <a:r>
              <a:t>Cross-cutting approaches are multimodal imaging, radiogenomics and longitudinal or delta radiomics.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Radiomics has six main applications, from image features to prediction and monitoring.</a:t>
            </a:r>
          </a:p>
          <a:p>
            <a:r>
              <a:t>One, radiotherapy response prediction — predicting tumour response and identifying resistance patterns.</a:t>
            </a:r>
          </a:p>
          <a:p>
            <a:r>
              <a:t>Two, radiation toxicity prediction — estimating normal-tissue injury risk in organs such as the salivary glands, rectum and bladder.</a:t>
            </a:r>
          </a:p>
          <a:p>
            <a:r>
              <a:t>Three, diagnosis and tumour characterization — assessing tumour type, grade and aggressiveness alongside pathology.</a:t>
            </a:r>
          </a:p>
          <a:p>
            <a:r>
              <a:t>Four, prognosis and recurrence prediction — estimating progression risk and stratifying patients over follow-up.</a:t>
            </a:r>
          </a:p>
          <a:p>
            <a:r>
              <a:t>Five, molecular characterization — radiogenomics, linking imaging features with tumour biology.</a:t>
            </a:r>
          </a:p>
          <a:p>
            <a:r>
              <a:t>Six, treatment monitoring — tracking change during and after therapy with delta radiomics.</a:t>
            </a:r>
          </a:p>
          <a:p>
            <a:r>
              <a:t>Radiomics also extends beyond the tumour to systemic and non-cancer disease. All of these need multimodal imaging, reproducible features and external validation.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2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INTRODUCTION · CANCER COMPLEXITY</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 complex, dynamic and heterogeneous disease</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Hanahan &amp; Weinberg, Cell 144, 2011 · Kashyap et al., Trends in Biotechnology, 2022</a:t>
            </a:r>
          </a:p>
        </p:txBody>
      </p:sp>
      <p:sp>
        <p:nvSpPr>
          <p:cNvPr id="6" name="TextBox 5"/>
          <p:cNvSpPr txBox="1"/>
          <p:nvPr/>
        </p:nvSpPr>
        <p:spPr>
          <a:xfrm>
            <a:off x="10795000" y="6350000"/>
            <a:ext cx="584200" cy="190500"/>
          </a:xfrm>
          <a:prstGeom prst="rect">
            <a:avLst/>
          </a:prstGeom>
          <a:noFill/>
        </p:spPr>
        <p:txBody>
          <a:bodyPr wrap="square" lIns="0" rIns="0" tIns="0" bIns="0">
            <a:spAutoFit/>
          </a:bodyPr>
          <a:lstStyle/>
          <a:p>
            <a:r>
              <a:rPr sz="1100" b="0">
                <a:solidFill>
                  <a:srgbClr val="4A5568"/>
                </a:solidFill>
                <a:latin typeface="Calibri"/>
              </a:rPr>
              <a:t>1</a:t>
            </a:r>
          </a:p>
        </p:txBody>
      </p:sp>
      <p:sp>
        <p:nvSpPr>
          <p:cNvPr id="7" name="Rounded Rectangle 6"/>
          <p:cNvSpPr/>
          <p:nvPr/>
        </p:nvSpPr>
        <p:spPr>
          <a:xfrm>
            <a:off x="812800" y="1397000"/>
            <a:ext cx="3556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capab.jpg"/>
          <p:cNvPicPr>
            <a:picLocks noChangeAspect="1"/>
          </p:cNvPicPr>
          <p:nvPr/>
        </p:nvPicPr>
        <p:blipFill>
          <a:blip r:embed="rId3"/>
          <a:stretch>
            <a:fillRect/>
          </a:stretch>
        </p:blipFill>
        <p:spPr>
          <a:xfrm>
            <a:off x="1356240" y="1498600"/>
            <a:ext cx="2469119" cy="1682750"/>
          </a:xfrm>
          <a:prstGeom prst="rect">
            <a:avLst/>
          </a:prstGeom>
        </p:spPr>
      </p:pic>
      <p:sp>
        <p:nvSpPr>
          <p:cNvPr id="9" name="TextBox 8"/>
          <p:cNvSpPr txBox="1"/>
          <p:nvPr/>
        </p:nvSpPr>
        <p:spPr>
          <a:xfrm>
            <a:off x="939800" y="3270250"/>
            <a:ext cx="3302000" cy="254000"/>
          </a:xfrm>
          <a:prstGeom prst="rect">
            <a:avLst/>
          </a:prstGeom>
          <a:noFill/>
        </p:spPr>
        <p:txBody>
          <a:bodyPr wrap="square" lIns="0" rIns="0" tIns="0" bIns="0">
            <a:spAutoFit/>
          </a:bodyPr>
          <a:lstStyle/>
          <a:p>
            <a:r>
              <a:rPr sz="1700" b="1">
                <a:solidFill>
                  <a:srgbClr val="13294B"/>
                </a:solidFill>
                <a:latin typeface="Calibri"/>
              </a:rPr>
              <a:t>1  Complex biology</a:t>
            </a:r>
          </a:p>
        </p:txBody>
      </p:sp>
      <p:sp>
        <p:nvSpPr>
          <p:cNvPr id="10" name="TextBox 9"/>
          <p:cNvSpPr txBox="1"/>
          <p:nvPr/>
        </p:nvSpPr>
        <p:spPr>
          <a:xfrm>
            <a:off x="939800" y="3549650"/>
            <a:ext cx="3302000" cy="1593850"/>
          </a:xfrm>
          <a:prstGeom prst="rect">
            <a:avLst/>
          </a:prstGeom>
          <a:noFill/>
        </p:spPr>
        <p:txBody>
          <a:bodyPr wrap="square" lIns="0" rIns="0" tIns="0" bIns="0">
            <a:spAutoFit/>
          </a:bodyPr>
          <a:lstStyle/>
          <a:p>
            <a:pPr>
              <a:spcAft>
                <a:spcPts val="400"/>
              </a:spcAft>
            </a:pPr>
            <a:r>
              <a:rPr sz="1500" b="0">
                <a:solidFill>
                  <a:srgbClr val="4A5568"/>
                </a:solidFill>
                <a:latin typeface="Calibri"/>
              </a:rPr>
              <a:t>• 14 hallmarks and enabling characteristics</a:t>
            </a:r>
          </a:p>
          <a:p>
            <a:pPr>
              <a:spcAft>
                <a:spcPts val="400"/>
              </a:spcAft>
            </a:pPr>
            <a:r>
              <a:rPr sz="1500" b="0">
                <a:solidFill>
                  <a:srgbClr val="4A5568"/>
                </a:solidFill>
                <a:latin typeface="Calibri"/>
              </a:rPr>
              <a:t>• Genetic and epigenetic alterations</a:t>
            </a:r>
          </a:p>
          <a:p>
            <a:pPr>
              <a:spcAft>
                <a:spcPts val="400"/>
              </a:spcAft>
            </a:pPr>
            <a:r>
              <a:rPr sz="1500" b="0">
                <a:solidFill>
                  <a:srgbClr val="4A5568"/>
                </a:solidFill>
                <a:latin typeface="Calibri"/>
              </a:rPr>
              <a:t>• Shaped by the microenvironment</a:t>
            </a:r>
          </a:p>
        </p:txBody>
      </p:sp>
      <p:sp>
        <p:nvSpPr>
          <p:cNvPr id="11" name="Right Arrow 10"/>
          <p:cNvSpPr/>
          <p:nvPr/>
        </p:nvSpPr>
        <p:spPr>
          <a:xfrm>
            <a:off x="44196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60900" y="1397000"/>
            <a:ext cx="3556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eco.jpg"/>
          <p:cNvPicPr>
            <a:picLocks noChangeAspect="1"/>
          </p:cNvPicPr>
          <p:nvPr/>
        </p:nvPicPr>
        <p:blipFill>
          <a:blip r:embed="rId4"/>
          <a:stretch>
            <a:fillRect/>
          </a:stretch>
        </p:blipFill>
        <p:spPr>
          <a:xfrm>
            <a:off x="5510212" y="1498600"/>
            <a:ext cx="1857375" cy="1682750"/>
          </a:xfrm>
          <a:prstGeom prst="rect">
            <a:avLst/>
          </a:prstGeom>
        </p:spPr>
      </p:pic>
      <p:sp>
        <p:nvSpPr>
          <p:cNvPr id="14" name="TextBox 13"/>
          <p:cNvSpPr txBox="1"/>
          <p:nvPr/>
        </p:nvSpPr>
        <p:spPr>
          <a:xfrm>
            <a:off x="4787900" y="3270250"/>
            <a:ext cx="3302000" cy="254000"/>
          </a:xfrm>
          <a:prstGeom prst="rect">
            <a:avLst/>
          </a:prstGeom>
          <a:noFill/>
        </p:spPr>
        <p:txBody>
          <a:bodyPr wrap="square" lIns="0" rIns="0" tIns="0" bIns="0">
            <a:spAutoFit/>
          </a:bodyPr>
          <a:lstStyle/>
          <a:p>
            <a:r>
              <a:rPr sz="1700" b="1">
                <a:solidFill>
                  <a:srgbClr val="13294B"/>
                </a:solidFill>
                <a:latin typeface="Calibri"/>
              </a:rPr>
              <a:t>2  Dynamic ecosystem</a:t>
            </a:r>
          </a:p>
        </p:txBody>
      </p:sp>
      <p:sp>
        <p:nvSpPr>
          <p:cNvPr id="15" name="TextBox 14"/>
          <p:cNvSpPr txBox="1"/>
          <p:nvPr/>
        </p:nvSpPr>
        <p:spPr>
          <a:xfrm>
            <a:off x="4787900" y="3549650"/>
            <a:ext cx="3302000" cy="1593850"/>
          </a:xfrm>
          <a:prstGeom prst="rect">
            <a:avLst/>
          </a:prstGeom>
          <a:noFill/>
        </p:spPr>
        <p:txBody>
          <a:bodyPr wrap="square" lIns="0" rIns="0" tIns="0" bIns="0">
            <a:spAutoFit/>
          </a:bodyPr>
          <a:lstStyle/>
          <a:p>
            <a:pPr>
              <a:spcAft>
                <a:spcPts val="400"/>
              </a:spcAft>
            </a:pPr>
            <a:r>
              <a:rPr sz="1500" b="0">
                <a:solidFill>
                  <a:srgbClr val="4A5568"/>
                </a:solidFill>
                <a:latin typeface="Calibri"/>
              </a:rPr>
              <a:t>• Cancer, immune, stromal cells and vessels</a:t>
            </a:r>
          </a:p>
          <a:p>
            <a:pPr>
              <a:spcAft>
                <a:spcPts val="400"/>
              </a:spcAft>
            </a:pPr>
            <a:r>
              <a:rPr sz="1500" b="0">
                <a:solidFill>
                  <a:srgbClr val="4A5568"/>
                </a:solidFill>
                <a:latin typeface="Calibri"/>
              </a:rPr>
              <a:t>• Variation → selection → adaptation → evolution</a:t>
            </a:r>
          </a:p>
          <a:p>
            <a:pPr>
              <a:spcAft>
                <a:spcPts val="400"/>
              </a:spcAft>
            </a:pPr>
            <a:r>
              <a:rPr sz="1500" b="0">
                <a:solidFill>
                  <a:srgbClr val="4A5568"/>
                </a:solidFill>
                <a:latin typeface="Calibri"/>
              </a:rPr>
              <a:t>• Hypoxia, immunity and treatment drive change</a:t>
            </a:r>
          </a:p>
        </p:txBody>
      </p:sp>
      <p:sp>
        <p:nvSpPr>
          <p:cNvPr id="16" name="Right Arrow 15"/>
          <p:cNvSpPr/>
          <p:nvPr/>
        </p:nvSpPr>
        <p:spPr>
          <a:xfrm>
            <a:off x="82677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09000" y="1397000"/>
            <a:ext cx="28702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et.jpg"/>
          <p:cNvPicPr>
            <a:picLocks noChangeAspect="1"/>
          </p:cNvPicPr>
          <p:nvPr/>
        </p:nvPicPr>
        <p:blipFill>
          <a:blip r:embed="rId5"/>
          <a:stretch>
            <a:fillRect/>
          </a:stretch>
        </p:blipFill>
        <p:spPr>
          <a:xfrm>
            <a:off x="9185109" y="1498600"/>
            <a:ext cx="1517980" cy="1682750"/>
          </a:xfrm>
          <a:prstGeom prst="rect">
            <a:avLst/>
          </a:prstGeom>
        </p:spPr>
      </p:pic>
      <p:sp>
        <p:nvSpPr>
          <p:cNvPr id="19" name="TextBox 18"/>
          <p:cNvSpPr txBox="1"/>
          <p:nvPr/>
        </p:nvSpPr>
        <p:spPr>
          <a:xfrm>
            <a:off x="8636000" y="3270250"/>
            <a:ext cx="2616200" cy="254000"/>
          </a:xfrm>
          <a:prstGeom prst="rect">
            <a:avLst/>
          </a:prstGeom>
          <a:noFill/>
        </p:spPr>
        <p:txBody>
          <a:bodyPr wrap="square" lIns="0" rIns="0" tIns="0" bIns="0">
            <a:spAutoFit/>
          </a:bodyPr>
          <a:lstStyle/>
          <a:p>
            <a:r>
              <a:rPr sz="1700" b="1">
                <a:solidFill>
                  <a:srgbClr val="13294B"/>
                </a:solidFill>
                <a:latin typeface="Calibri"/>
              </a:rPr>
              <a:t>3  Heterogeneous</a:t>
            </a:r>
          </a:p>
        </p:txBody>
      </p:sp>
      <p:sp>
        <p:nvSpPr>
          <p:cNvPr id="20" name="TextBox 19"/>
          <p:cNvSpPr txBox="1"/>
          <p:nvPr/>
        </p:nvSpPr>
        <p:spPr>
          <a:xfrm>
            <a:off x="8636000" y="3549650"/>
            <a:ext cx="2616200" cy="1593850"/>
          </a:xfrm>
          <a:prstGeom prst="rect">
            <a:avLst/>
          </a:prstGeom>
          <a:noFill/>
        </p:spPr>
        <p:txBody>
          <a:bodyPr wrap="square" lIns="0" rIns="0" tIns="0" bIns="0">
            <a:spAutoFit/>
          </a:bodyPr>
          <a:lstStyle/>
          <a:p>
            <a:pPr>
              <a:spcAft>
                <a:spcPts val="400"/>
              </a:spcAft>
            </a:pPr>
            <a:r>
              <a:rPr sz="1500" b="0">
                <a:solidFill>
                  <a:srgbClr val="4A5568"/>
                </a:solidFill>
                <a:latin typeface="Calibri"/>
              </a:rPr>
              <a:t>• Between patients</a:t>
            </a:r>
          </a:p>
          <a:p>
            <a:pPr>
              <a:spcAft>
                <a:spcPts val="400"/>
              </a:spcAft>
            </a:pPr>
            <a:r>
              <a:rPr sz="1500" b="0">
                <a:solidFill>
                  <a:srgbClr val="4A5568"/>
                </a:solidFill>
                <a:latin typeface="Calibri"/>
              </a:rPr>
              <a:t>• Between lesions in one patient</a:t>
            </a:r>
          </a:p>
          <a:p>
            <a:pPr>
              <a:spcAft>
                <a:spcPts val="400"/>
              </a:spcAft>
            </a:pPr>
            <a:r>
              <a:rPr sz="1500" b="0">
                <a:solidFill>
                  <a:srgbClr val="4A5568"/>
                </a:solidFill>
                <a:latin typeface="Calibri"/>
              </a:rPr>
              <a:t>• Within a tumour and over time</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Clinical consequences: variable prognosis · differential treatment response · resistance · metastasis · recurrence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INTRODUCTION · CANCER TECHNOLOGY ECOSYSTEM</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From the care continuum to personalized care</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
            </a:r>
          </a:p>
        </p:txBody>
      </p:sp>
      <p:sp>
        <p:nvSpPr>
          <p:cNvPr id="6" name="TextBox 5"/>
          <p:cNvSpPr txBox="1"/>
          <p:nvPr/>
        </p:nvSpPr>
        <p:spPr>
          <a:xfrm>
            <a:off x="10795000" y="6350000"/>
            <a:ext cx="584200" cy="190500"/>
          </a:xfrm>
          <a:prstGeom prst="rect">
            <a:avLst/>
          </a:prstGeom>
          <a:noFill/>
        </p:spPr>
        <p:txBody>
          <a:bodyPr wrap="square" lIns="0" rIns="0" tIns="0" bIns="0">
            <a:spAutoFit/>
          </a:bodyPr>
          <a:lstStyle/>
          <a:p>
            <a:r>
              <a:rPr sz="1100" b="0">
                <a:solidFill>
                  <a:srgbClr val="4A5568"/>
                </a:solidFill>
                <a:latin typeface="Calibri"/>
              </a:rPr>
              <a:t>2</a:t>
            </a:r>
          </a:p>
        </p:txBody>
      </p:sp>
      <p:sp>
        <p:nvSpPr>
          <p:cNvPr id="7" name="Rounded Rectangle 6"/>
          <p:cNvSpPr/>
          <p:nvPr/>
        </p:nvSpPr>
        <p:spPr>
          <a:xfrm>
            <a:off x="812800" y="1397000"/>
            <a:ext cx="508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cont.jpg"/>
          <p:cNvPicPr>
            <a:picLocks noChangeAspect="1"/>
          </p:cNvPicPr>
          <p:nvPr/>
        </p:nvPicPr>
        <p:blipFill>
          <a:blip r:embed="rId3"/>
          <a:stretch>
            <a:fillRect/>
          </a:stretch>
        </p:blipFill>
        <p:spPr>
          <a:xfrm>
            <a:off x="914400" y="1730973"/>
            <a:ext cx="2730500" cy="3142053"/>
          </a:xfrm>
          <a:prstGeom prst="rect">
            <a:avLst/>
          </a:prstGeom>
        </p:spPr>
      </p:pic>
      <p:sp>
        <p:nvSpPr>
          <p:cNvPr id="9" name="TextBox 8"/>
          <p:cNvSpPr txBox="1"/>
          <p:nvPr/>
        </p:nvSpPr>
        <p:spPr>
          <a:xfrm>
            <a:off x="3771900" y="1549400"/>
            <a:ext cx="1993900" cy="381000"/>
          </a:xfrm>
          <a:prstGeom prst="rect">
            <a:avLst/>
          </a:prstGeom>
          <a:noFill/>
        </p:spPr>
        <p:txBody>
          <a:bodyPr wrap="square" lIns="0" rIns="0" tIns="0" bIns="0">
            <a:spAutoFit/>
          </a:bodyPr>
          <a:lstStyle/>
          <a:p>
            <a:r>
              <a:rPr sz="1700" b="1">
                <a:solidFill>
                  <a:srgbClr val="13294B"/>
                </a:solidFill>
                <a:latin typeface="Calibri"/>
              </a:rPr>
              <a:t>1  Care continuum</a:t>
            </a:r>
          </a:p>
        </p:txBody>
      </p:sp>
      <p:sp>
        <p:nvSpPr>
          <p:cNvPr id="10" name="TextBox 9"/>
          <p:cNvSpPr txBox="1"/>
          <p:nvPr/>
        </p:nvSpPr>
        <p:spPr>
          <a:xfrm>
            <a:off x="3771900" y="1841500"/>
            <a:ext cx="1993900" cy="3263900"/>
          </a:xfrm>
          <a:prstGeom prst="rect">
            <a:avLst/>
          </a:prstGeom>
          <a:noFill/>
        </p:spPr>
        <p:txBody>
          <a:bodyPr wrap="square" lIns="0" rIns="0" tIns="0" bIns="0">
            <a:spAutoFit/>
          </a:bodyPr>
          <a:lstStyle/>
          <a:p>
            <a:pPr>
              <a:spcAft>
                <a:spcPts val="400"/>
              </a:spcAft>
            </a:pPr>
            <a:r>
              <a:rPr sz="1500" b="0">
                <a:solidFill>
                  <a:srgbClr val="4A5568"/>
                </a:solidFill>
                <a:latin typeface="Calibri"/>
              </a:rPr>
              <a:t>• Prevention and screening</a:t>
            </a:r>
          </a:p>
          <a:p>
            <a:pPr>
              <a:spcAft>
                <a:spcPts val="400"/>
              </a:spcAft>
            </a:pPr>
            <a:r>
              <a:rPr sz="1500" b="0">
                <a:solidFill>
                  <a:srgbClr val="4A5568"/>
                </a:solidFill>
                <a:latin typeface="Calibri"/>
              </a:rPr>
              <a:t>• Diagnosis and stratification</a:t>
            </a:r>
          </a:p>
          <a:p>
            <a:pPr>
              <a:spcAft>
                <a:spcPts val="400"/>
              </a:spcAft>
            </a:pPr>
            <a:r>
              <a:rPr sz="1500" b="0">
                <a:solidFill>
                  <a:srgbClr val="4A5568"/>
                </a:solidFill>
                <a:latin typeface="Calibri"/>
              </a:rPr>
              <a:t>• Treatment planning and delivery</a:t>
            </a:r>
          </a:p>
          <a:p>
            <a:pPr>
              <a:spcAft>
                <a:spcPts val="400"/>
              </a:spcAft>
            </a:pPr>
            <a:r>
              <a:rPr sz="1500" b="0">
                <a:solidFill>
                  <a:srgbClr val="4A5568"/>
                </a:solidFill>
                <a:latin typeface="Calibri"/>
              </a:rPr>
              <a:t>• Response assessment</a:t>
            </a:r>
          </a:p>
          <a:p>
            <a:pPr>
              <a:spcAft>
                <a:spcPts val="400"/>
              </a:spcAft>
            </a:pPr>
            <a:r>
              <a:rPr sz="1500" b="0">
                <a:solidFill>
                  <a:srgbClr val="4A5568"/>
                </a:solidFill>
                <a:latin typeface="Calibri"/>
              </a:rPr>
              <a:t>• Survivorship and monitoring</a:t>
            </a:r>
          </a:p>
        </p:txBody>
      </p:sp>
      <p:sp>
        <p:nvSpPr>
          <p:cNvPr id="11" name="Right Arrow 10"/>
          <p:cNvSpPr/>
          <p:nvPr/>
        </p:nvSpPr>
        <p:spPr>
          <a:xfrm>
            <a:off x="594995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7600" y="1397000"/>
            <a:ext cx="51816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pill.jpg"/>
          <p:cNvPicPr>
            <a:picLocks noChangeAspect="1"/>
          </p:cNvPicPr>
          <p:nvPr/>
        </p:nvPicPr>
        <p:blipFill>
          <a:blip r:embed="rId4"/>
          <a:stretch>
            <a:fillRect/>
          </a:stretch>
        </p:blipFill>
        <p:spPr>
          <a:xfrm>
            <a:off x="6299200" y="1744373"/>
            <a:ext cx="2730500" cy="3115252"/>
          </a:xfrm>
          <a:prstGeom prst="rect">
            <a:avLst/>
          </a:prstGeom>
        </p:spPr>
      </p:pic>
      <p:sp>
        <p:nvSpPr>
          <p:cNvPr id="14" name="TextBox 13"/>
          <p:cNvSpPr txBox="1"/>
          <p:nvPr/>
        </p:nvSpPr>
        <p:spPr>
          <a:xfrm>
            <a:off x="9156700" y="1549400"/>
            <a:ext cx="2095500" cy="381000"/>
          </a:xfrm>
          <a:prstGeom prst="rect">
            <a:avLst/>
          </a:prstGeom>
          <a:noFill/>
        </p:spPr>
        <p:txBody>
          <a:bodyPr wrap="square" lIns="0" rIns="0" tIns="0" bIns="0">
            <a:spAutoFit/>
          </a:bodyPr>
          <a:lstStyle/>
          <a:p>
            <a:r>
              <a:rPr sz="1700" b="1">
                <a:solidFill>
                  <a:srgbClr val="13294B"/>
                </a:solidFill>
                <a:latin typeface="Calibri"/>
              </a:rPr>
              <a:t>2  Personalized care</a:t>
            </a:r>
          </a:p>
        </p:txBody>
      </p:sp>
      <p:sp>
        <p:nvSpPr>
          <p:cNvPr id="15" name="TextBox 14"/>
          <p:cNvSpPr txBox="1"/>
          <p:nvPr/>
        </p:nvSpPr>
        <p:spPr>
          <a:xfrm>
            <a:off x="9156700" y="1841500"/>
            <a:ext cx="2095500" cy="3263900"/>
          </a:xfrm>
          <a:prstGeom prst="rect">
            <a:avLst/>
          </a:prstGeom>
          <a:noFill/>
        </p:spPr>
        <p:txBody>
          <a:bodyPr wrap="square" lIns="0" rIns="0" tIns="0" bIns="0">
            <a:spAutoFit/>
          </a:bodyPr>
          <a:lstStyle/>
          <a:p>
            <a:pPr>
              <a:spcAft>
                <a:spcPts val="400"/>
              </a:spcAft>
            </a:pPr>
            <a:r>
              <a:rPr sz="1500" b="0">
                <a:solidFill>
                  <a:srgbClr val="4A5568"/>
                </a:solidFill>
                <a:latin typeface="Calibri"/>
              </a:rPr>
              <a:t>• Multimodal data: imaging, omics, outcomes</a:t>
            </a:r>
          </a:p>
          <a:p>
            <a:pPr>
              <a:spcAft>
                <a:spcPts val="400"/>
              </a:spcAft>
            </a:pPr>
            <a:r>
              <a:rPr sz="1500" b="0">
                <a:solidFill>
                  <a:srgbClr val="4A5568"/>
                </a:solidFill>
                <a:latin typeface="Calibri"/>
              </a:rPr>
              <a:t>• Multidisciplinary expertise</a:t>
            </a:r>
          </a:p>
          <a:p>
            <a:pPr>
              <a:spcAft>
                <a:spcPts val="400"/>
              </a:spcAft>
            </a:pPr>
            <a:r>
              <a:rPr sz="1500" b="0">
                <a:solidFill>
                  <a:srgbClr val="4A5568"/>
                </a:solidFill>
                <a:latin typeface="Calibri"/>
              </a:rPr>
              <a:t>• Treatment technologies</a:t>
            </a:r>
          </a:p>
          <a:p>
            <a:pPr>
              <a:spcAft>
                <a:spcPts val="400"/>
              </a:spcAft>
            </a:pPr>
            <a:r>
              <a:rPr sz="1500" b="0">
                <a:solidFill>
                  <a:srgbClr val="4A5568"/>
                </a:solidFill>
                <a:latin typeface="Calibri"/>
              </a:rPr>
              <a:t>• Computational models: radiomics, AI, digital twins</a:t>
            </a:r>
          </a:p>
        </p:txBody>
      </p:sp>
      <p:sp>
        <p:nvSpPr>
          <p:cNvPr id="16" name="Rounded Rectangle 15"/>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Multimodal · multiscale · multipurpose · multidisciplinary — evidence → decisions → outcomes →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INTRODUCTION · CANCER IMAGING</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Imaging the tumour phenotype</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García-Figueiras et al., Insights into Imaging (2019) 10:28</a:t>
            </a:r>
          </a:p>
        </p:txBody>
      </p:sp>
      <p:sp>
        <p:nvSpPr>
          <p:cNvPr id="6" name="TextBox 5"/>
          <p:cNvSpPr txBox="1"/>
          <p:nvPr/>
        </p:nvSpPr>
        <p:spPr>
          <a:xfrm>
            <a:off x="10795000" y="6350000"/>
            <a:ext cx="584200" cy="190500"/>
          </a:xfrm>
          <a:prstGeom prst="rect">
            <a:avLst/>
          </a:prstGeom>
          <a:noFill/>
        </p:spPr>
        <p:txBody>
          <a:bodyPr wrap="square" lIns="0" rIns="0" tIns="0" bIns="0">
            <a:spAutoFit/>
          </a:bodyPr>
          <a:lstStyle/>
          <a:p>
            <a:r>
              <a:rPr sz="1100" b="0">
                <a:solidFill>
                  <a:srgbClr val="4A5568"/>
                </a:solidFill>
                <a:latin typeface="Calibri"/>
              </a:rPr>
              <a:t>3</a:t>
            </a:r>
          </a:p>
        </p:txBody>
      </p:sp>
      <p:sp>
        <p:nvSpPr>
          <p:cNvPr id="7" name="Rounded Rectangle 6"/>
          <p:cNvSpPr/>
          <p:nvPr/>
        </p:nvSpPr>
        <p:spPr>
          <a:xfrm>
            <a:off x="812800" y="1397000"/>
            <a:ext cx="28575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od.jpg"/>
          <p:cNvPicPr>
            <a:picLocks noChangeAspect="1"/>
          </p:cNvPicPr>
          <p:nvPr/>
        </p:nvPicPr>
        <p:blipFill>
          <a:blip r:embed="rId3"/>
          <a:stretch>
            <a:fillRect/>
          </a:stretch>
        </p:blipFill>
        <p:spPr>
          <a:xfrm>
            <a:off x="1856414" y="1498600"/>
            <a:ext cx="770271" cy="1905000"/>
          </a:xfrm>
          <a:prstGeom prst="rect">
            <a:avLst/>
          </a:prstGeom>
        </p:spPr>
      </p:pic>
      <p:sp>
        <p:nvSpPr>
          <p:cNvPr id="9" name="TextBox 8"/>
          <p:cNvSpPr txBox="1"/>
          <p:nvPr/>
        </p:nvSpPr>
        <p:spPr>
          <a:xfrm>
            <a:off x="939800" y="3492500"/>
            <a:ext cx="2603500" cy="254000"/>
          </a:xfrm>
          <a:prstGeom prst="rect">
            <a:avLst/>
          </a:prstGeom>
          <a:noFill/>
        </p:spPr>
        <p:txBody>
          <a:bodyPr wrap="square" lIns="0" rIns="0" tIns="0" bIns="0">
            <a:spAutoFit/>
          </a:bodyPr>
          <a:lstStyle/>
          <a:p>
            <a:r>
              <a:rPr sz="1700" b="1">
                <a:solidFill>
                  <a:srgbClr val="13294B"/>
                </a:solidFill>
                <a:latin typeface="Calibri"/>
              </a:rPr>
              <a:t>1  Imaging modalities</a:t>
            </a:r>
          </a:p>
        </p:txBody>
      </p:sp>
      <p:sp>
        <p:nvSpPr>
          <p:cNvPr id="10" name="TextBox 9"/>
          <p:cNvSpPr txBox="1"/>
          <p:nvPr/>
        </p:nvSpPr>
        <p:spPr>
          <a:xfrm>
            <a:off x="939800" y="3771900"/>
            <a:ext cx="2603500" cy="1371600"/>
          </a:xfrm>
          <a:prstGeom prst="rect">
            <a:avLst/>
          </a:prstGeom>
          <a:noFill/>
        </p:spPr>
        <p:txBody>
          <a:bodyPr wrap="square" lIns="0" rIns="0" tIns="0" bIns="0">
            <a:spAutoFit/>
          </a:bodyPr>
          <a:lstStyle/>
          <a:p>
            <a:pPr>
              <a:spcAft>
                <a:spcPts val="400"/>
              </a:spcAft>
            </a:pPr>
            <a:r>
              <a:rPr sz="1500" b="0">
                <a:solidFill>
                  <a:srgbClr val="4A5568"/>
                </a:solidFill>
                <a:latin typeface="Calibri"/>
              </a:rPr>
              <a:t>• Anatomic: CT, MRI, ultrasound</a:t>
            </a:r>
          </a:p>
          <a:p>
            <a:pPr>
              <a:spcAft>
                <a:spcPts val="400"/>
              </a:spcAft>
            </a:pPr>
            <a:r>
              <a:rPr sz="1500" b="0">
                <a:solidFill>
                  <a:srgbClr val="4A5568"/>
                </a:solidFill>
                <a:latin typeface="Calibri"/>
              </a:rPr>
              <a:t>• Functional: DWI, DCE, BOLD, MRS</a:t>
            </a:r>
          </a:p>
          <a:p>
            <a:pPr>
              <a:spcAft>
                <a:spcPts val="400"/>
              </a:spcAft>
            </a:pPr>
            <a:r>
              <a:rPr sz="1500" b="0">
                <a:solidFill>
                  <a:srgbClr val="4A5568"/>
                </a:solidFill>
                <a:latin typeface="Calibri"/>
              </a:rPr>
              <a:t>• Molecular: PET, SPECT, tracers</a:t>
            </a:r>
          </a:p>
        </p:txBody>
      </p:sp>
      <p:sp>
        <p:nvSpPr>
          <p:cNvPr id="11" name="Right Arrow 10"/>
          <p:cNvSpPr/>
          <p:nvPr/>
        </p:nvSpPr>
        <p:spPr>
          <a:xfrm>
            <a:off x="37211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62400" y="1397000"/>
            <a:ext cx="4064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pheno.jpg"/>
          <p:cNvPicPr>
            <a:picLocks noChangeAspect="1"/>
          </p:cNvPicPr>
          <p:nvPr/>
        </p:nvPicPr>
        <p:blipFill>
          <a:blip r:embed="rId4"/>
          <a:stretch>
            <a:fillRect/>
          </a:stretch>
        </p:blipFill>
        <p:spPr>
          <a:xfrm>
            <a:off x="5145272" y="1498600"/>
            <a:ext cx="1698255" cy="1905000"/>
          </a:xfrm>
          <a:prstGeom prst="rect">
            <a:avLst/>
          </a:prstGeom>
        </p:spPr>
      </p:pic>
      <p:sp>
        <p:nvSpPr>
          <p:cNvPr id="14" name="TextBox 13"/>
          <p:cNvSpPr txBox="1"/>
          <p:nvPr/>
        </p:nvSpPr>
        <p:spPr>
          <a:xfrm>
            <a:off x="4089400" y="3492500"/>
            <a:ext cx="3810000" cy="254000"/>
          </a:xfrm>
          <a:prstGeom prst="rect">
            <a:avLst/>
          </a:prstGeom>
          <a:noFill/>
        </p:spPr>
        <p:txBody>
          <a:bodyPr wrap="square" lIns="0" rIns="0" tIns="0" bIns="0">
            <a:spAutoFit/>
          </a:bodyPr>
          <a:lstStyle/>
          <a:p>
            <a:r>
              <a:rPr sz="1700" b="1">
                <a:solidFill>
                  <a:srgbClr val="13294B"/>
                </a:solidFill>
                <a:latin typeface="Calibri"/>
              </a:rPr>
              <a:t>2  Tumour hallmarks we can image</a:t>
            </a:r>
          </a:p>
        </p:txBody>
      </p:sp>
      <p:sp>
        <p:nvSpPr>
          <p:cNvPr id="15" name="TextBox 14"/>
          <p:cNvSpPr txBox="1"/>
          <p:nvPr/>
        </p:nvSpPr>
        <p:spPr>
          <a:xfrm>
            <a:off x="4089400" y="3771900"/>
            <a:ext cx="3810000" cy="1371600"/>
          </a:xfrm>
          <a:prstGeom prst="rect">
            <a:avLst/>
          </a:prstGeom>
          <a:noFill/>
        </p:spPr>
        <p:txBody>
          <a:bodyPr wrap="square" lIns="0" rIns="0" tIns="0" bIns="0">
            <a:spAutoFit/>
          </a:bodyPr>
          <a:lstStyle/>
          <a:p>
            <a:pPr>
              <a:spcAft>
                <a:spcPts val="400"/>
              </a:spcAft>
            </a:pPr>
            <a:r>
              <a:rPr sz="1500" b="0">
                <a:solidFill>
                  <a:srgbClr val="4A5568"/>
                </a:solidFill>
                <a:latin typeface="Calibri"/>
              </a:rPr>
              <a:t>• Structure: cell density, fat/water</a:t>
            </a:r>
          </a:p>
          <a:p>
            <a:pPr>
              <a:spcAft>
                <a:spcPts val="400"/>
              </a:spcAft>
            </a:pPr>
            <a:r>
              <a:rPr sz="1500" b="0">
                <a:solidFill>
                  <a:srgbClr val="4A5568"/>
                </a:solidFill>
                <a:latin typeface="Calibri"/>
              </a:rPr>
              <a:t>• Function: metabolism, proliferation, hypoxia, angiogenesis</a:t>
            </a:r>
          </a:p>
          <a:p>
            <a:pPr>
              <a:spcAft>
                <a:spcPts val="400"/>
              </a:spcAft>
            </a:pPr>
            <a:r>
              <a:rPr sz="1500" b="0">
                <a:solidFill>
                  <a:srgbClr val="4A5568"/>
                </a:solidFill>
                <a:latin typeface="Calibri"/>
              </a:rPr>
              <a:t>• Receptors, apoptosis, microenvironment</a:t>
            </a:r>
          </a:p>
        </p:txBody>
      </p:sp>
      <p:sp>
        <p:nvSpPr>
          <p:cNvPr id="16" name="Right Arrow 15"/>
          <p:cNvSpPr/>
          <p:nvPr/>
        </p:nvSpPr>
        <p:spPr>
          <a:xfrm>
            <a:off x="80772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18500" y="1397000"/>
            <a:ext cx="3060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pan.jpg"/>
          <p:cNvPicPr>
            <a:picLocks noChangeAspect="1"/>
          </p:cNvPicPr>
          <p:nvPr/>
        </p:nvPicPr>
        <p:blipFill>
          <a:blip r:embed="rId5"/>
          <a:stretch>
            <a:fillRect/>
          </a:stretch>
        </p:blipFill>
        <p:spPr>
          <a:xfrm>
            <a:off x="9031265" y="1498600"/>
            <a:ext cx="1635169" cy="1905000"/>
          </a:xfrm>
          <a:prstGeom prst="rect">
            <a:avLst/>
          </a:prstGeom>
        </p:spPr>
      </p:pic>
      <p:sp>
        <p:nvSpPr>
          <p:cNvPr id="19" name="TextBox 18"/>
          <p:cNvSpPr txBox="1"/>
          <p:nvPr/>
        </p:nvSpPr>
        <p:spPr>
          <a:xfrm>
            <a:off x="8445500" y="3492500"/>
            <a:ext cx="2806700" cy="254000"/>
          </a:xfrm>
          <a:prstGeom prst="rect">
            <a:avLst/>
          </a:prstGeom>
          <a:noFill/>
        </p:spPr>
        <p:txBody>
          <a:bodyPr wrap="square" lIns="0" rIns="0" tIns="0" bIns="0">
            <a:spAutoFit/>
          </a:bodyPr>
          <a:lstStyle/>
          <a:p>
            <a:r>
              <a:rPr sz="1700" b="1">
                <a:solidFill>
                  <a:srgbClr val="13294B"/>
                </a:solidFill>
                <a:latin typeface="Calibri"/>
              </a:rPr>
              <a:t>3  Multiscale panomics</a:t>
            </a:r>
          </a:p>
        </p:txBody>
      </p:sp>
      <p:sp>
        <p:nvSpPr>
          <p:cNvPr id="20" name="TextBox 19"/>
          <p:cNvSpPr txBox="1"/>
          <p:nvPr/>
        </p:nvSpPr>
        <p:spPr>
          <a:xfrm>
            <a:off x="8445500" y="3771900"/>
            <a:ext cx="2806700" cy="1371600"/>
          </a:xfrm>
          <a:prstGeom prst="rect">
            <a:avLst/>
          </a:prstGeom>
          <a:noFill/>
        </p:spPr>
        <p:txBody>
          <a:bodyPr wrap="square" lIns="0" rIns="0" tIns="0" bIns="0">
            <a:spAutoFit/>
          </a:bodyPr>
          <a:lstStyle/>
          <a:p>
            <a:pPr>
              <a:spcAft>
                <a:spcPts val="400"/>
              </a:spcAft>
            </a:pPr>
            <a:r>
              <a:rPr sz="1500" b="0">
                <a:solidFill>
                  <a:srgbClr val="4A5568"/>
                </a:solidFill>
                <a:latin typeface="Calibri"/>
              </a:rPr>
              <a:t>• Radiomics, pathomics, metabolomics, proteomics, genomics</a:t>
            </a:r>
          </a:p>
          <a:p>
            <a:pPr>
              <a:spcAft>
                <a:spcPts val="400"/>
              </a:spcAft>
            </a:pPr>
            <a:r>
              <a:rPr sz="1500" b="0">
                <a:solidFill>
                  <a:srgbClr val="4A5568"/>
                </a:solidFill>
                <a:latin typeface="Calibri"/>
              </a:rPr>
              <a:t>• → integrated cancer phenotype</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Quantitative, multiscale imaging → biomarkers, prediction and personalization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IMAGING BIOMARKER · RADIOMICS</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Three radiomics workflows</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a:t>
            </a:r>
          </a:p>
        </p:txBody>
      </p:sp>
      <p:sp>
        <p:nvSpPr>
          <p:cNvPr id="6" name="TextBox 5"/>
          <p:cNvSpPr txBox="1"/>
          <p:nvPr/>
        </p:nvSpPr>
        <p:spPr>
          <a:xfrm>
            <a:off x="10795000" y="6350000"/>
            <a:ext cx="584200" cy="190500"/>
          </a:xfrm>
          <a:prstGeom prst="rect">
            <a:avLst/>
          </a:prstGeom>
          <a:noFill/>
        </p:spPr>
        <p:txBody>
          <a:bodyPr wrap="square" lIns="0" rIns="0" tIns="0" bIns="0">
            <a:spAutoFit/>
          </a:bodyPr>
          <a:lstStyle/>
          <a:p>
            <a:r>
              <a:rPr sz="1100" b="0">
                <a:solidFill>
                  <a:srgbClr val="4A5568"/>
                </a:solidFill>
                <a:latin typeface="Calibri"/>
              </a:rPr>
              <a:t>4</a:t>
            </a:r>
          </a:p>
        </p:txBody>
      </p:sp>
      <p:sp>
        <p:nvSpPr>
          <p:cNvPr id="7" name="Rounded Rectangle 6"/>
          <p:cNvSpPr/>
          <p:nvPr/>
        </p:nvSpPr>
        <p:spPr>
          <a:xfrm>
            <a:off x="812800" y="1333500"/>
            <a:ext cx="10566400" cy="12192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a.jpg"/>
          <p:cNvPicPr>
            <a:picLocks noChangeAspect="1"/>
          </p:cNvPicPr>
          <p:nvPr/>
        </p:nvPicPr>
        <p:blipFill>
          <a:blip r:embed="rId3"/>
          <a:stretch>
            <a:fillRect/>
          </a:stretch>
        </p:blipFill>
        <p:spPr>
          <a:xfrm>
            <a:off x="914400" y="1554615"/>
            <a:ext cx="6731000" cy="776968"/>
          </a:xfrm>
          <a:prstGeom prst="rect">
            <a:avLst/>
          </a:prstGeom>
        </p:spPr>
      </p:pic>
      <p:sp>
        <p:nvSpPr>
          <p:cNvPr id="9" name="TextBox 8"/>
          <p:cNvSpPr txBox="1"/>
          <p:nvPr/>
        </p:nvSpPr>
        <p:spPr>
          <a:xfrm>
            <a:off x="7810500" y="1524000"/>
            <a:ext cx="3429000" cy="254000"/>
          </a:xfrm>
          <a:prstGeom prst="rect">
            <a:avLst/>
          </a:prstGeom>
          <a:noFill/>
        </p:spPr>
        <p:txBody>
          <a:bodyPr wrap="square" lIns="0" rIns="0" tIns="0" bIns="0">
            <a:spAutoFit/>
          </a:bodyPr>
          <a:lstStyle/>
          <a:p>
            <a:r>
              <a:rPr sz="1700" b="1">
                <a:solidFill>
                  <a:srgbClr val="13294B"/>
                </a:solidFill>
                <a:latin typeface="Calibri"/>
              </a:rPr>
              <a:t>A  Handcrafted radiomics</a:t>
            </a:r>
          </a:p>
        </p:txBody>
      </p:sp>
      <p:sp>
        <p:nvSpPr>
          <p:cNvPr id="10" name="TextBox 9"/>
          <p:cNvSpPr txBox="1"/>
          <p:nvPr/>
        </p:nvSpPr>
        <p:spPr>
          <a:xfrm>
            <a:off x="7810500" y="1816100"/>
            <a:ext cx="3429000" cy="698500"/>
          </a:xfrm>
          <a:prstGeom prst="rect">
            <a:avLst/>
          </a:prstGeom>
          <a:noFill/>
        </p:spPr>
        <p:txBody>
          <a:bodyPr wrap="square" lIns="0" rIns="0" tIns="0" bIns="0">
            <a:spAutoFit/>
          </a:bodyPr>
          <a:lstStyle/>
          <a:p>
            <a:pPr>
              <a:spcAft>
                <a:spcPts val="400"/>
              </a:spcAft>
            </a:pPr>
            <a:r>
              <a:rPr sz="1500" b="0">
                <a:solidFill>
                  <a:srgbClr val="4A5568"/>
                </a:solidFill>
                <a:latin typeface="Calibri"/>
              </a:rPr>
              <a:t>• ROI → shape, intensity, texture features</a:t>
            </a:r>
          </a:p>
          <a:p>
            <a:pPr>
              <a:spcAft>
                <a:spcPts val="400"/>
              </a:spcAft>
            </a:pPr>
            <a:r>
              <a:rPr sz="1500" b="0">
                <a:solidFill>
                  <a:srgbClr val="4A5568"/>
                </a:solidFill>
                <a:latin typeface="Calibri"/>
              </a:rPr>
              <a:t>• Feature selection + machine learning</a:t>
            </a:r>
          </a:p>
        </p:txBody>
      </p:sp>
      <p:sp>
        <p:nvSpPr>
          <p:cNvPr id="11" name="Rounded Rectangle 10"/>
          <p:cNvSpPr/>
          <p:nvPr/>
        </p:nvSpPr>
        <p:spPr>
          <a:xfrm>
            <a:off x="812800" y="2654300"/>
            <a:ext cx="10566400" cy="12192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b.jpg"/>
          <p:cNvPicPr>
            <a:picLocks noChangeAspect="1"/>
          </p:cNvPicPr>
          <p:nvPr/>
        </p:nvPicPr>
        <p:blipFill>
          <a:blip r:embed="rId4"/>
          <a:stretch>
            <a:fillRect/>
          </a:stretch>
        </p:blipFill>
        <p:spPr>
          <a:xfrm>
            <a:off x="914400" y="2850879"/>
            <a:ext cx="6731000" cy="826040"/>
          </a:xfrm>
          <a:prstGeom prst="rect">
            <a:avLst/>
          </a:prstGeom>
        </p:spPr>
      </p:pic>
      <p:sp>
        <p:nvSpPr>
          <p:cNvPr id="13" name="TextBox 12"/>
          <p:cNvSpPr txBox="1"/>
          <p:nvPr/>
        </p:nvSpPr>
        <p:spPr>
          <a:xfrm>
            <a:off x="7810500" y="2844800"/>
            <a:ext cx="3429000" cy="254000"/>
          </a:xfrm>
          <a:prstGeom prst="rect">
            <a:avLst/>
          </a:prstGeom>
          <a:noFill/>
        </p:spPr>
        <p:txBody>
          <a:bodyPr wrap="square" lIns="0" rIns="0" tIns="0" bIns="0">
            <a:spAutoFit/>
          </a:bodyPr>
          <a:lstStyle/>
          <a:p>
            <a:r>
              <a:rPr sz="1700" b="1">
                <a:solidFill>
                  <a:srgbClr val="13294B"/>
                </a:solidFill>
                <a:latin typeface="Calibri"/>
              </a:rPr>
              <a:t>B  End-to-end deep learning</a:t>
            </a:r>
          </a:p>
        </p:txBody>
      </p:sp>
      <p:sp>
        <p:nvSpPr>
          <p:cNvPr id="14" name="TextBox 13"/>
          <p:cNvSpPr txBox="1"/>
          <p:nvPr/>
        </p:nvSpPr>
        <p:spPr>
          <a:xfrm>
            <a:off x="7810500" y="3136900"/>
            <a:ext cx="3429000" cy="698500"/>
          </a:xfrm>
          <a:prstGeom prst="rect">
            <a:avLst/>
          </a:prstGeom>
          <a:noFill/>
        </p:spPr>
        <p:txBody>
          <a:bodyPr wrap="square" lIns="0" rIns="0" tIns="0" bIns="0">
            <a:spAutoFit/>
          </a:bodyPr>
          <a:lstStyle/>
          <a:p>
            <a:pPr>
              <a:spcAft>
                <a:spcPts val="400"/>
              </a:spcAft>
            </a:pPr>
            <a:r>
              <a:rPr sz="1500" b="0">
                <a:solidFill>
                  <a:srgbClr val="4A5568"/>
                </a:solidFill>
                <a:latin typeface="Calibri"/>
              </a:rPr>
              <a:t>• CNN / transformer learns the features</a:t>
            </a:r>
          </a:p>
          <a:p>
            <a:pPr>
              <a:spcAft>
                <a:spcPts val="400"/>
              </a:spcAft>
            </a:pPr>
            <a:r>
              <a:rPr sz="1500" b="0">
                <a:solidFill>
                  <a:srgbClr val="4A5568"/>
                </a:solidFill>
                <a:latin typeface="Calibri"/>
              </a:rPr>
              <a:t>• Optimized end to end, image → risk</a:t>
            </a:r>
          </a:p>
        </p:txBody>
      </p:sp>
      <p:sp>
        <p:nvSpPr>
          <p:cNvPr id="15" name="Rounded Rectangle 14"/>
          <p:cNvSpPr/>
          <p:nvPr/>
        </p:nvSpPr>
        <p:spPr>
          <a:xfrm>
            <a:off x="812800" y="3975100"/>
            <a:ext cx="10566400" cy="12192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c.jpg"/>
          <p:cNvPicPr>
            <a:picLocks noChangeAspect="1"/>
          </p:cNvPicPr>
          <p:nvPr/>
        </p:nvPicPr>
        <p:blipFill>
          <a:blip r:embed="rId5"/>
          <a:stretch>
            <a:fillRect/>
          </a:stretch>
        </p:blipFill>
        <p:spPr>
          <a:xfrm>
            <a:off x="914400" y="4151233"/>
            <a:ext cx="6731000" cy="866933"/>
          </a:xfrm>
          <a:prstGeom prst="rect">
            <a:avLst/>
          </a:prstGeom>
        </p:spPr>
      </p:pic>
      <p:sp>
        <p:nvSpPr>
          <p:cNvPr id="17" name="TextBox 16"/>
          <p:cNvSpPr txBox="1"/>
          <p:nvPr/>
        </p:nvSpPr>
        <p:spPr>
          <a:xfrm>
            <a:off x="7810500" y="4165600"/>
            <a:ext cx="3429000" cy="254000"/>
          </a:xfrm>
          <a:prstGeom prst="rect">
            <a:avLst/>
          </a:prstGeom>
          <a:noFill/>
        </p:spPr>
        <p:txBody>
          <a:bodyPr wrap="square" lIns="0" rIns="0" tIns="0" bIns="0">
            <a:spAutoFit/>
          </a:bodyPr>
          <a:lstStyle/>
          <a:p>
            <a:r>
              <a:rPr sz="1700" b="1">
                <a:solidFill>
                  <a:srgbClr val="13294B"/>
                </a:solidFill>
                <a:latin typeface="Calibri"/>
              </a:rPr>
              <a:t>C  Deep features + ML</a:t>
            </a:r>
          </a:p>
        </p:txBody>
      </p:sp>
      <p:sp>
        <p:nvSpPr>
          <p:cNvPr id="18" name="TextBox 17"/>
          <p:cNvSpPr txBox="1"/>
          <p:nvPr/>
        </p:nvSpPr>
        <p:spPr>
          <a:xfrm>
            <a:off x="7810500" y="4457700"/>
            <a:ext cx="3429000" cy="698500"/>
          </a:xfrm>
          <a:prstGeom prst="rect">
            <a:avLst/>
          </a:prstGeom>
          <a:noFill/>
        </p:spPr>
        <p:txBody>
          <a:bodyPr wrap="square" lIns="0" rIns="0" tIns="0" bIns="0">
            <a:spAutoFit/>
          </a:bodyPr>
          <a:lstStyle/>
          <a:p>
            <a:pPr>
              <a:spcAft>
                <a:spcPts val="400"/>
              </a:spcAft>
            </a:pPr>
            <a:r>
              <a:rPr sz="1500" b="0">
                <a:solidFill>
                  <a:srgbClr val="4A5568"/>
                </a:solidFill>
                <a:latin typeface="Calibri"/>
              </a:rPr>
              <a:t>• Pretrained network exports embeddings</a:t>
            </a:r>
          </a:p>
          <a:p>
            <a:pPr>
              <a:spcAft>
                <a:spcPts val="400"/>
              </a:spcAft>
            </a:pPr>
            <a:r>
              <a:rPr sz="1500" b="0">
                <a:solidFill>
                  <a:srgbClr val="4A5568"/>
                </a:solidFill>
                <a:latin typeface="Calibri"/>
              </a:rPr>
              <a:t>• Separate ML model predicts risk</a:t>
            </a:r>
          </a:p>
        </p:txBody>
      </p:sp>
      <p:sp>
        <p:nvSpPr>
          <p:cNvPr id="19" name="Rounded Rectangle 18"/>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Applications: diagnosis · prognosis · treatment response — independent validation required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IMAGING BIOMARKER · RADIOMICS</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Radiomics: from tumour to whole patient</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Abdollahi, radiomics potentials</a:t>
            </a:r>
          </a:p>
        </p:txBody>
      </p:sp>
      <p:sp>
        <p:nvSpPr>
          <p:cNvPr id="6" name="TextBox 5"/>
          <p:cNvSpPr txBox="1"/>
          <p:nvPr/>
        </p:nvSpPr>
        <p:spPr>
          <a:xfrm>
            <a:off x="10795000" y="6350000"/>
            <a:ext cx="584200" cy="190500"/>
          </a:xfrm>
          <a:prstGeom prst="rect">
            <a:avLst/>
          </a:prstGeom>
          <a:noFill/>
        </p:spPr>
        <p:txBody>
          <a:bodyPr wrap="square" lIns="0" rIns="0" tIns="0" bIns="0">
            <a:spAutoFit/>
          </a:bodyPr>
          <a:lstStyle/>
          <a:p>
            <a:r>
              <a:rPr sz="1100" b="0">
                <a:solidFill>
                  <a:srgbClr val="4A5568"/>
                </a:solidFill>
                <a:latin typeface="Calibri"/>
              </a:rPr>
              <a:t>5</a:t>
            </a:r>
          </a:p>
        </p:txBody>
      </p:sp>
      <p:sp>
        <p:nvSpPr>
          <p:cNvPr id="7" name="Rounded Rectangle 6"/>
          <p:cNvSpPr/>
          <p:nvPr/>
        </p:nvSpPr>
        <p:spPr>
          <a:xfrm>
            <a:off x="812800" y="13589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1.jpg"/>
          <p:cNvPicPr>
            <a:picLocks noChangeAspect="1"/>
          </p:cNvPicPr>
          <p:nvPr/>
        </p:nvPicPr>
        <p:blipFill>
          <a:blip r:embed="rId3"/>
          <a:stretch>
            <a:fillRect/>
          </a:stretch>
        </p:blipFill>
        <p:spPr>
          <a:xfrm>
            <a:off x="914400" y="1644388"/>
            <a:ext cx="2540000" cy="1308622"/>
          </a:xfrm>
          <a:prstGeom prst="rect">
            <a:avLst/>
          </a:prstGeom>
        </p:spPr>
      </p:pic>
      <p:sp>
        <p:nvSpPr>
          <p:cNvPr id="9" name="TextBox 8"/>
          <p:cNvSpPr txBox="1"/>
          <p:nvPr/>
        </p:nvSpPr>
        <p:spPr>
          <a:xfrm>
            <a:off x="3581400" y="1511300"/>
            <a:ext cx="2311400" cy="381000"/>
          </a:xfrm>
          <a:prstGeom prst="rect">
            <a:avLst/>
          </a:prstGeom>
          <a:noFill/>
        </p:spPr>
        <p:txBody>
          <a:bodyPr wrap="square" lIns="0" rIns="0" tIns="0" bIns="0">
            <a:spAutoFit/>
          </a:bodyPr>
          <a:lstStyle/>
          <a:p>
            <a:r>
              <a:rPr sz="1700" b="1">
                <a:solidFill>
                  <a:srgbClr val="13294B"/>
                </a:solidFill>
                <a:latin typeface="Calibri"/>
              </a:rPr>
              <a:t>I  Tumour phenotype</a:t>
            </a:r>
          </a:p>
        </p:txBody>
      </p:sp>
      <p:sp>
        <p:nvSpPr>
          <p:cNvPr id="10" name="TextBox 9"/>
          <p:cNvSpPr txBox="1"/>
          <p:nvPr/>
        </p:nvSpPr>
        <p:spPr>
          <a:xfrm>
            <a:off x="3581400" y="18034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Prostate, lung, brain, kidney</a:t>
            </a:r>
          </a:p>
          <a:p>
            <a:pPr>
              <a:spcAft>
                <a:spcPts val="400"/>
              </a:spcAft>
            </a:pPr>
            <a:r>
              <a:rPr sz="1500" b="0">
                <a:solidFill>
                  <a:srgbClr val="4A5568"/>
                </a:solidFill>
                <a:latin typeface="Calibri"/>
              </a:rPr>
              <a:t>• Grade, molecular status, prognosis</a:t>
            </a:r>
          </a:p>
          <a:p>
            <a:pPr>
              <a:spcAft>
                <a:spcPts val="400"/>
              </a:spcAft>
            </a:pPr>
            <a:r>
              <a:rPr sz="1500" b="0">
                <a:solidFill>
                  <a:srgbClr val="4A5568"/>
                </a:solidFill>
                <a:latin typeface="Calibri"/>
              </a:rPr>
              <a:t>• Treatment-response prediction</a:t>
            </a:r>
          </a:p>
        </p:txBody>
      </p:sp>
      <p:sp>
        <p:nvSpPr>
          <p:cNvPr id="11" name="Rounded Rectangle 10"/>
          <p:cNvSpPr/>
          <p:nvPr/>
        </p:nvSpPr>
        <p:spPr>
          <a:xfrm>
            <a:off x="6172200" y="13589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2.jpg"/>
          <p:cNvPicPr>
            <a:picLocks noChangeAspect="1"/>
          </p:cNvPicPr>
          <p:nvPr/>
        </p:nvPicPr>
        <p:blipFill>
          <a:blip r:embed="rId4"/>
          <a:stretch>
            <a:fillRect/>
          </a:stretch>
        </p:blipFill>
        <p:spPr>
          <a:xfrm>
            <a:off x="6273800" y="1950320"/>
            <a:ext cx="2540000" cy="696758"/>
          </a:xfrm>
          <a:prstGeom prst="rect">
            <a:avLst/>
          </a:prstGeom>
        </p:spPr>
      </p:pic>
      <p:sp>
        <p:nvSpPr>
          <p:cNvPr id="13" name="TextBox 12"/>
          <p:cNvSpPr txBox="1"/>
          <p:nvPr/>
        </p:nvSpPr>
        <p:spPr>
          <a:xfrm>
            <a:off x="8940800" y="1511300"/>
            <a:ext cx="2311400" cy="381000"/>
          </a:xfrm>
          <a:prstGeom prst="rect">
            <a:avLst/>
          </a:prstGeom>
          <a:noFill/>
        </p:spPr>
        <p:txBody>
          <a:bodyPr wrap="square" lIns="0" rIns="0" tIns="0" bIns="0">
            <a:spAutoFit/>
          </a:bodyPr>
          <a:lstStyle/>
          <a:p>
            <a:r>
              <a:rPr sz="1700" b="1">
                <a:solidFill>
                  <a:srgbClr val="13294B"/>
                </a:solidFill>
                <a:latin typeface="Calibri"/>
              </a:rPr>
              <a:t>II  Normal tissue</a:t>
            </a:r>
          </a:p>
        </p:txBody>
      </p:sp>
      <p:sp>
        <p:nvSpPr>
          <p:cNvPr id="14" name="TextBox 13"/>
          <p:cNvSpPr txBox="1"/>
          <p:nvPr/>
        </p:nvSpPr>
        <p:spPr>
          <a:xfrm>
            <a:off x="8940800" y="18034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Cochlea, salivary glands, rectum, bladder</a:t>
            </a:r>
          </a:p>
          <a:p>
            <a:pPr>
              <a:spcAft>
                <a:spcPts val="400"/>
              </a:spcAft>
            </a:pPr>
            <a:r>
              <a:rPr sz="1500" b="0">
                <a:solidFill>
                  <a:srgbClr val="4A5568"/>
                </a:solidFill>
                <a:latin typeface="Calibri"/>
              </a:rPr>
              <a:t>• Changes after radiotherapy</a:t>
            </a:r>
          </a:p>
          <a:p>
            <a:pPr>
              <a:spcAft>
                <a:spcPts val="400"/>
              </a:spcAft>
            </a:pPr>
            <a:r>
              <a:rPr sz="1500" b="0">
                <a:solidFill>
                  <a:srgbClr val="4A5568"/>
                </a:solidFill>
                <a:latin typeface="Calibri"/>
              </a:rPr>
              <a:t>• Toxicity-risk prediction</a:t>
            </a:r>
          </a:p>
        </p:txBody>
      </p:sp>
      <p:sp>
        <p:nvSpPr>
          <p:cNvPr id="15" name="Rounded Rectangle 14"/>
          <p:cNvSpPr/>
          <p:nvPr/>
        </p:nvSpPr>
        <p:spPr>
          <a:xfrm>
            <a:off x="812800" y="33401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3.jpg"/>
          <p:cNvPicPr>
            <a:picLocks noChangeAspect="1"/>
          </p:cNvPicPr>
          <p:nvPr/>
        </p:nvPicPr>
        <p:blipFill>
          <a:blip r:embed="rId5"/>
          <a:stretch>
            <a:fillRect/>
          </a:stretch>
        </p:blipFill>
        <p:spPr>
          <a:xfrm>
            <a:off x="914400" y="3537520"/>
            <a:ext cx="2540000" cy="1484759"/>
          </a:xfrm>
          <a:prstGeom prst="rect">
            <a:avLst/>
          </a:prstGeom>
        </p:spPr>
      </p:pic>
      <p:sp>
        <p:nvSpPr>
          <p:cNvPr id="17" name="TextBox 16"/>
          <p:cNvSpPr txBox="1"/>
          <p:nvPr/>
        </p:nvSpPr>
        <p:spPr>
          <a:xfrm>
            <a:off x="3581400" y="3492500"/>
            <a:ext cx="2311400" cy="381000"/>
          </a:xfrm>
          <a:prstGeom prst="rect">
            <a:avLst/>
          </a:prstGeom>
          <a:noFill/>
        </p:spPr>
        <p:txBody>
          <a:bodyPr wrap="square" lIns="0" rIns="0" tIns="0" bIns="0">
            <a:spAutoFit/>
          </a:bodyPr>
          <a:lstStyle/>
          <a:p>
            <a:r>
              <a:rPr sz="1700" b="1">
                <a:solidFill>
                  <a:srgbClr val="13294B"/>
                </a:solidFill>
                <a:latin typeface="Calibri"/>
              </a:rPr>
              <a:t>III  Systemic, multi-organ</a:t>
            </a:r>
          </a:p>
        </p:txBody>
      </p:sp>
      <p:sp>
        <p:nvSpPr>
          <p:cNvPr id="18" name="TextBox 17"/>
          <p:cNvSpPr txBox="1"/>
          <p:nvPr/>
        </p:nvSpPr>
        <p:spPr>
          <a:xfrm>
            <a:off x="3581400" y="37846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Host beyond the tumour</a:t>
            </a:r>
          </a:p>
          <a:p>
            <a:pPr>
              <a:spcAft>
                <a:spcPts val="400"/>
              </a:spcAft>
            </a:pPr>
            <a:r>
              <a:rPr sz="1500" b="0">
                <a:solidFill>
                  <a:srgbClr val="4A5568"/>
                </a:solidFill>
                <a:latin typeface="Calibri"/>
              </a:rPr>
              <a:t>• Endocrine-organ signatures</a:t>
            </a:r>
          </a:p>
          <a:p>
            <a:pPr>
              <a:spcAft>
                <a:spcPts val="400"/>
              </a:spcAft>
            </a:pPr>
            <a:r>
              <a:rPr sz="1500" b="0">
                <a:solidFill>
                  <a:srgbClr val="4A5568"/>
                </a:solidFill>
                <a:latin typeface="Calibri"/>
              </a:rPr>
              <a:t>• PSMA-negative prostate cancer</a:t>
            </a:r>
          </a:p>
        </p:txBody>
      </p:sp>
      <p:sp>
        <p:nvSpPr>
          <p:cNvPr id="19" name="Rounded Rectangle 18"/>
          <p:cNvSpPr/>
          <p:nvPr/>
        </p:nvSpPr>
        <p:spPr>
          <a:xfrm>
            <a:off x="6172200" y="33401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4.jpg"/>
          <p:cNvPicPr>
            <a:picLocks noChangeAspect="1"/>
          </p:cNvPicPr>
          <p:nvPr/>
        </p:nvPicPr>
        <p:blipFill>
          <a:blip r:embed="rId6"/>
          <a:stretch>
            <a:fillRect/>
          </a:stretch>
        </p:blipFill>
        <p:spPr>
          <a:xfrm>
            <a:off x="6273800" y="3976170"/>
            <a:ext cx="2540000" cy="607459"/>
          </a:xfrm>
          <a:prstGeom prst="rect">
            <a:avLst/>
          </a:prstGeom>
        </p:spPr>
      </p:pic>
      <p:sp>
        <p:nvSpPr>
          <p:cNvPr id="21" name="TextBox 20"/>
          <p:cNvSpPr txBox="1"/>
          <p:nvPr/>
        </p:nvSpPr>
        <p:spPr>
          <a:xfrm>
            <a:off x="8940800" y="3492500"/>
            <a:ext cx="2311400" cy="381000"/>
          </a:xfrm>
          <a:prstGeom prst="rect">
            <a:avLst/>
          </a:prstGeom>
          <a:noFill/>
        </p:spPr>
        <p:txBody>
          <a:bodyPr wrap="square" lIns="0" rIns="0" tIns="0" bIns="0">
            <a:spAutoFit/>
          </a:bodyPr>
          <a:lstStyle/>
          <a:p>
            <a:r>
              <a:rPr sz="1700" b="1">
                <a:solidFill>
                  <a:srgbClr val="13294B"/>
                </a:solidFill>
                <a:latin typeface="Calibri"/>
              </a:rPr>
              <a:t>IV  Non-oncologic</a:t>
            </a:r>
          </a:p>
        </p:txBody>
      </p:sp>
      <p:sp>
        <p:nvSpPr>
          <p:cNvPr id="22" name="TextBox 21"/>
          <p:cNvSpPr txBox="1"/>
          <p:nvPr/>
        </p:nvSpPr>
        <p:spPr>
          <a:xfrm>
            <a:off x="8940800" y="37846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Myocardial infarction (cardiac MRI)</a:t>
            </a:r>
          </a:p>
          <a:p>
            <a:pPr>
              <a:spcAft>
                <a:spcPts val="400"/>
              </a:spcAft>
            </a:pPr>
            <a:r>
              <a:rPr sz="1500" b="0">
                <a:solidFill>
                  <a:srgbClr val="4A5568"/>
                </a:solidFill>
                <a:latin typeface="Calibri"/>
              </a:rPr>
              <a:t>• COVID-19 lung disease (CT)</a:t>
            </a:r>
          </a:p>
          <a:p>
            <a:pPr>
              <a:spcAft>
                <a:spcPts val="400"/>
              </a:spcAft>
            </a:pPr>
            <a:r>
              <a:rPr sz="1500" b="0">
                <a:solidFill>
                  <a:srgbClr val="4A5568"/>
                </a:solidFill>
                <a:latin typeface="Calibri"/>
              </a:rPr>
              <a:t>• Bone mineral loss (radiograph)</a:t>
            </a:r>
          </a:p>
        </p:txBody>
      </p:sp>
      <p:sp>
        <p:nvSpPr>
          <p:cNvPr id="23" name="Rounded Rectangle 22"/>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Cross-cutting: multimodal imaging · radiogenomics · longitudinal / delta radiomics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IMAGING BIOMARKER · RADIOMICS</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Applications of radiomics</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Abdollahi, radiomics potentials</a:t>
            </a:r>
          </a:p>
        </p:txBody>
      </p:sp>
      <p:sp>
        <p:nvSpPr>
          <p:cNvPr id="6" name="TextBox 5"/>
          <p:cNvSpPr txBox="1"/>
          <p:nvPr/>
        </p:nvSpPr>
        <p:spPr>
          <a:xfrm>
            <a:off x="10795000" y="6350000"/>
            <a:ext cx="584200" cy="190500"/>
          </a:xfrm>
          <a:prstGeom prst="rect">
            <a:avLst/>
          </a:prstGeom>
          <a:noFill/>
        </p:spPr>
        <p:txBody>
          <a:bodyPr wrap="square" lIns="0" rIns="0" tIns="0" bIns="0">
            <a:spAutoFit/>
          </a:bodyPr>
          <a:lstStyle/>
          <a:p>
            <a:r>
              <a:rPr sz="1100" b="0">
                <a:solidFill>
                  <a:srgbClr val="4A5568"/>
                </a:solidFill>
                <a:latin typeface="Calibri"/>
              </a:rPr>
              <a:t>6</a:t>
            </a:r>
          </a:p>
        </p:txBody>
      </p:sp>
      <p:sp>
        <p:nvSpPr>
          <p:cNvPr id="7" name="Rounded Rectangle 6"/>
          <p:cNvSpPr/>
          <p:nvPr/>
        </p:nvSpPr>
        <p:spPr>
          <a:xfrm>
            <a:off x="812800" y="13081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1.jpg"/>
          <p:cNvPicPr>
            <a:picLocks noChangeAspect="1"/>
          </p:cNvPicPr>
          <p:nvPr/>
        </p:nvPicPr>
        <p:blipFill>
          <a:blip r:embed="rId3"/>
          <a:stretch>
            <a:fillRect/>
          </a:stretch>
        </p:blipFill>
        <p:spPr>
          <a:xfrm>
            <a:off x="1074869" y="1409700"/>
            <a:ext cx="2904861" cy="952500"/>
          </a:xfrm>
          <a:prstGeom prst="rect">
            <a:avLst/>
          </a:prstGeom>
        </p:spPr>
      </p:pic>
      <p:sp>
        <p:nvSpPr>
          <p:cNvPr id="9" name="TextBox 8"/>
          <p:cNvSpPr txBox="1"/>
          <p:nvPr/>
        </p:nvSpPr>
        <p:spPr>
          <a:xfrm>
            <a:off x="939800" y="2451100"/>
            <a:ext cx="3175000" cy="254000"/>
          </a:xfrm>
          <a:prstGeom prst="rect">
            <a:avLst/>
          </a:prstGeom>
          <a:noFill/>
        </p:spPr>
        <p:txBody>
          <a:bodyPr wrap="square" lIns="0" rIns="0" tIns="0" bIns="0">
            <a:spAutoFit/>
          </a:bodyPr>
          <a:lstStyle/>
          <a:p>
            <a:r>
              <a:rPr sz="1700" b="1">
                <a:solidFill>
                  <a:srgbClr val="13294B"/>
                </a:solidFill>
                <a:latin typeface="Calibri"/>
              </a:rPr>
              <a:t>I  RT response</a:t>
            </a:r>
          </a:p>
        </p:txBody>
      </p:sp>
      <p:sp>
        <p:nvSpPr>
          <p:cNvPr id="10" name="TextBox 9"/>
          <p:cNvSpPr txBox="1"/>
          <p:nvPr/>
        </p:nvSpPr>
        <p:spPr>
          <a:xfrm>
            <a:off x="939800" y="27305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Predict tumour response to RT</a:t>
            </a:r>
          </a:p>
          <a:p>
            <a:pPr>
              <a:spcAft>
                <a:spcPts val="400"/>
              </a:spcAft>
            </a:pPr>
            <a:r>
              <a:rPr sz="1400" b="0">
                <a:solidFill>
                  <a:srgbClr val="4A5568"/>
                </a:solidFill>
                <a:latin typeface="Calibri"/>
              </a:rPr>
              <a:t>• Identify resistance patterns</a:t>
            </a:r>
          </a:p>
        </p:txBody>
      </p:sp>
      <p:sp>
        <p:nvSpPr>
          <p:cNvPr id="11" name="Rounded Rectangle 10"/>
          <p:cNvSpPr/>
          <p:nvPr/>
        </p:nvSpPr>
        <p:spPr>
          <a:xfrm>
            <a:off x="4381500" y="13081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2.jpg"/>
          <p:cNvPicPr>
            <a:picLocks noChangeAspect="1"/>
          </p:cNvPicPr>
          <p:nvPr/>
        </p:nvPicPr>
        <p:blipFill>
          <a:blip r:embed="rId4"/>
          <a:stretch>
            <a:fillRect/>
          </a:stretch>
        </p:blipFill>
        <p:spPr>
          <a:xfrm>
            <a:off x="4910441" y="1409700"/>
            <a:ext cx="2371117" cy="952500"/>
          </a:xfrm>
          <a:prstGeom prst="rect">
            <a:avLst/>
          </a:prstGeom>
        </p:spPr>
      </p:pic>
      <p:sp>
        <p:nvSpPr>
          <p:cNvPr id="13" name="TextBox 12"/>
          <p:cNvSpPr txBox="1"/>
          <p:nvPr/>
        </p:nvSpPr>
        <p:spPr>
          <a:xfrm>
            <a:off x="4508500" y="2451100"/>
            <a:ext cx="3175000" cy="254000"/>
          </a:xfrm>
          <a:prstGeom prst="rect">
            <a:avLst/>
          </a:prstGeom>
          <a:noFill/>
        </p:spPr>
        <p:txBody>
          <a:bodyPr wrap="square" lIns="0" rIns="0" tIns="0" bIns="0">
            <a:spAutoFit/>
          </a:bodyPr>
          <a:lstStyle/>
          <a:p>
            <a:r>
              <a:rPr sz="1700" b="1">
                <a:solidFill>
                  <a:srgbClr val="13294B"/>
                </a:solidFill>
                <a:latin typeface="Calibri"/>
              </a:rPr>
              <a:t>II  Toxicity</a:t>
            </a:r>
          </a:p>
        </p:txBody>
      </p:sp>
      <p:sp>
        <p:nvSpPr>
          <p:cNvPr id="14" name="TextBox 13"/>
          <p:cNvSpPr txBox="1"/>
          <p:nvPr/>
        </p:nvSpPr>
        <p:spPr>
          <a:xfrm>
            <a:off x="4508500" y="27305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Normal-tissue injury risk</a:t>
            </a:r>
          </a:p>
          <a:p>
            <a:pPr>
              <a:spcAft>
                <a:spcPts val="400"/>
              </a:spcAft>
            </a:pPr>
            <a:r>
              <a:rPr sz="1400" b="0">
                <a:solidFill>
                  <a:srgbClr val="4A5568"/>
                </a:solidFill>
                <a:latin typeface="Calibri"/>
              </a:rPr>
              <a:t>• Salivary glands, rectum, bladder</a:t>
            </a:r>
          </a:p>
        </p:txBody>
      </p:sp>
      <p:sp>
        <p:nvSpPr>
          <p:cNvPr id="15" name="Rounded Rectangle 14"/>
          <p:cNvSpPr/>
          <p:nvPr/>
        </p:nvSpPr>
        <p:spPr>
          <a:xfrm>
            <a:off x="7950200" y="13081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3.jpg"/>
          <p:cNvPicPr>
            <a:picLocks noChangeAspect="1"/>
          </p:cNvPicPr>
          <p:nvPr/>
        </p:nvPicPr>
        <p:blipFill>
          <a:blip r:embed="rId5"/>
          <a:stretch>
            <a:fillRect/>
          </a:stretch>
        </p:blipFill>
        <p:spPr>
          <a:xfrm>
            <a:off x="8337279" y="1409700"/>
            <a:ext cx="2654840" cy="952500"/>
          </a:xfrm>
          <a:prstGeom prst="rect">
            <a:avLst/>
          </a:prstGeom>
        </p:spPr>
      </p:pic>
      <p:sp>
        <p:nvSpPr>
          <p:cNvPr id="17" name="TextBox 16"/>
          <p:cNvSpPr txBox="1"/>
          <p:nvPr/>
        </p:nvSpPr>
        <p:spPr>
          <a:xfrm>
            <a:off x="8077200" y="2451100"/>
            <a:ext cx="3175000" cy="254000"/>
          </a:xfrm>
          <a:prstGeom prst="rect">
            <a:avLst/>
          </a:prstGeom>
          <a:noFill/>
        </p:spPr>
        <p:txBody>
          <a:bodyPr wrap="square" lIns="0" rIns="0" tIns="0" bIns="0">
            <a:spAutoFit/>
          </a:bodyPr>
          <a:lstStyle/>
          <a:p>
            <a:r>
              <a:rPr sz="1700" b="1">
                <a:solidFill>
                  <a:srgbClr val="13294B"/>
                </a:solidFill>
                <a:latin typeface="Calibri"/>
              </a:rPr>
              <a:t>III  Diagnosis</a:t>
            </a:r>
          </a:p>
        </p:txBody>
      </p:sp>
      <p:sp>
        <p:nvSpPr>
          <p:cNvPr id="18" name="TextBox 17"/>
          <p:cNvSpPr txBox="1"/>
          <p:nvPr/>
        </p:nvSpPr>
        <p:spPr>
          <a:xfrm>
            <a:off x="8077200" y="27305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Tumour type, grade, aggressiveness</a:t>
            </a:r>
          </a:p>
          <a:p>
            <a:pPr>
              <a:spcAft>
                <a:spcPts val="400"/>
              </a:spcAft>
            </a:pPr>
            <a:r>
              <a:rPr sz="1400" b="0">
                <a:solidFill>
                  <a:srgbClr val="4A5568"/>
                </a:solidFill>
                <a:latin typeface="Calibri"/>
              </a:rPr>
              <a:t>• Support lesion characterization</a:t>
            </a:r>
          </a:p>
        </p:txBody>
      </p:sp>
      <p:sp>
        <p:nvSpPr>
          <p:cNvPr id="19" name="Rounded Rectangle 18"/>
          <p:cNvSpPr/>
          <p:nvPr/>
        </p:nvSpPr>
        <p:spPr>
          <a:xfrm>
            <a:off x="812800" y="33274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4.jpg"/>
          <p:cNvPicPr>
            <a:picLocks noChangeAspect="1"/>
          </p:cNvPicPr>
          <p:nvPr/>
        </p:nvPicPr>
        <p:blipFill>
          <a:blip r:embed="rId6"/>
          <a:stretch>
            <a:fillRect/>
          </a:stretch>
        </p:blipFill>
        <p:spPr>
          <a:xfrm>
            <a:off x="1002198" y="3429000"/>
            <a:ext cx="3050202" cy="952500"/>
          </a:xfrm>
          <a:prstGeom prst="rect">
            <a:avLst/>
          </a:prstGeom>
        </p:spPr>
      </p:pic>
      <p:sp>
        <p:nvSpPr>
          <p:cNvPr id="21" name="TextBox 20"/>
          <p:cNvSpPr txBox="1"/>
          <p:nvPr/>
        </p:nvSpPr>
        <p:spPr>
          <a:xfrm>
            <a:off x="939800" y="4470400"/>
            <a:ext cx="3175000" cy="254000"/>
          </a:xfrm>
          <a:prstGeom prst="rect">
            <a:avLst/>
          </a:prstGeom>
          <a:noFill/>
        </p:spPr>
        <p:txBody>
          <a:bodyPr wrap="square" lIns="0" rIns="0" tIns="0" bIns="0">
            <a:spAutoFit/>
          </a:bodyPr>
          <a:lstStyle/>
          <a:p>
            <a:r>
              <a:rPr sz="1700" b="1">
                <a:solidFill>
                  <a:srgbClr val="13294B"/>
                </a:solidFill>
                <a:latin typeface="Calibri"/>
              </a:rPr>
              <a:t>IV  Prognosis</a:t>
            </a:r>
          </a:p>
        </p:txBody>
      </p:sp>
      <p:sp>
        <p:nvSpPr>
          <p:cNvPr id="22" name="TextBox 21"/>
          <p:cNvSpPr txBox="1"/>
          <p:nvPr/>
        </p:nvSpPr>
        <p:spPr>
          <a:xfrm>
            <a:off x="939800" y="47498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Progression and recurrence risk</a:t>
            </a:r>
          </a:p>
          <a:p>
            <a:pPr>
              <a:spcAft>
                <a:spcPts val="400"/>
              </a:spcAft>
            </a:pPr>
            <a:r>
              <a:rPr sz="1400" b="0">
                <a:solidFill>
                  <a:srgbClr val="4A5568"/>
                </a:solidFill>
                <a:latin typeface="Calibri"/>
              </a:rPr>
              <a:t>• Stratify patients by outcome</a:t>
            </a:r>
          </a:p>
        </p:txBody>
      </p:sp>
      <p:sp>
        <p:nvSpPr>
          <p:cNvPr id="23" name="Rounded Rectangle 22"/>
          <p:cNvSpPr/>
          <p:nvPr/>
        </p:nvSpPr>
        <p:spPr>
          <a:xfrm>
            <a:off x="4381500" y="33274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5.jpg"/>
          <p:cNvPicPr>
            <a:picLocks noChangeAspect="1"/>
          </p:cNvPicPr>
          <p:nvPr/>
        </p:nvPicPr>
        <p:blipFill>
          <a:blip r:embed="rId7"/>
          <a:stretch>
            <a:fillRect/>
          </a:stretch>
        </p:blipFill>
        <p:spPr>
          <a:xfrm>
            <a:off x="4864843" y="3429000"/>
            <a:ext cx="2462313" cy="952500"/>
          </a:xfrm>
          <a:prstGeom prst="rect">
            <a:avLst/>
          </a:prstGeom>
        </p:spPr>
      </p:pic>
      <p:sp>
        <p:nvSpPr>
          <p:cNvPr id="25" name="TextBox 24"/>
          <p:cNvSpPr txBox="1"/>
          <p:nvPr/>
        </p:nvSpPr>
        <p:spPr>
          <a:xfrm>
            <a:off x="4508500" y="4470400"/>
            <a:ext cx="3175000" cy="254000"/>
          </a:xfrm>
          <a:prstGeom prst="rect">
            <a:avLst/>
          </a:prstGeom>
          <a:noFill/>
        </p:spPr>
        <p:txBody>
          <a:bodyPr wrap="square" lIns="0" rIns="0" tIns="0" bIns="0">
            <a:spAutoFit/>
          </a:bodyPr>
          <a:lstStyle/>
          <a:p>
            <a:r>
              <a:rPr sz="1700" b="1">
                <a:solidFill>
                  <a:srgbClr val="13294B"/>
                </a:solidFill>
                <a:latin typeface="Calibri"/>
              </a:rPr>
              <a:t>V  Radiogenomics</a:t>
            </a:r>
          </a:p>
        </p:txBody>
      </p:sp>
      <p:sp>
        <p:nvSpPr>
          <p:cNvPr id="26" name="TextBox 25"/>
          <p:cNvSpPr txBox="1"/>
          <p:nvPr/>
        </p:nvSpPr>
        <p:spPr>
          <a:xfrm>
            <a:off x="4508500" y="47498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Link features to tumour biology</a:t>
            </a:r>
          </a:p>
          <a:p>
            <a:pPr>
              <a:spcAft>
                <a:spcPts val="400"/>
              </a:spcAft>
            </a:pPr>
            <a:r>
              <a:rPr sz="1400" b="0">
                <a:solidFill>
                  <a:srgbClr val="4A5568"/>
                </a:solidFill>
                <a:latin typeface="Calibri"/>
              </a:rPr>
              <a:t>• Molecular signatures</a:t>
            </a:r>
          </a:p>
        </p:txBody>
      </p:sp>
      <p:sp>
        <p:nvSpPr>
          <p:cNvPr id="27" name="Rounded Rectangle 26"/>
          <p:cNvSpPr/>
          <p:nvPr/>
        </p:nvSpPr>
        <p:spPr>
          <a:xfrm>
            <a:off x="7950200" y="33274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a-6.jpg"/>
          <p:cNvPicPr>
            <a:picLocks noChangeAspect="1"/>
          </p:cNvPicPr>
          <p:nvPr/>
        </p:nvPicPr>
        <p:blipFill>
          <a:blip r:embed="rId8"/>
          <a:stretch>
            <a:fillRect/>
          </a:stretch>
        </p:blipFill>
        <p:spPr>
          <a:xfrm>
            <a:off x="8077200" y="3475484"/>
            <a:ext cx="3175000" cy="859530"/>
          </a:xfrm>
          <a:prstGeom prst="rect">
            <a:avLst/>
          </a:prstGeom>
        </p:spPr>
      </p:pic>
      <p:sp>
        <p:nvSpPr>
          <p:cNvPr id="29" name="TextBox 28"/>
          <p:cNvSpPr txBox="1"/>
          <p:nvPr/>
        </p:nvSpPr>
        <p:spPr>
          <a:xfrm>
            <a:off x="8077200" y="4470400"/>
            <a:ext cx="3175000" cy="254000"/>
          </a:xfrm>
          <a:prstGeom prst="rect">
            <a:avLst/>
          </a:prstGeom>
          <a:noFill/>
        </p:spPr>
        <p:txBody>
          <a:bodyPr wrap="square" lIns="0" rIns="0" tIns="0" bIns="0">
            <a:spAutoFit/>
          </a:bodyPr>
          <a:lstStyle/>
          <a:p>
            <a:r>
              <a:rPr sz="1700" b="1">
                <a:solidFill>
                  <a:srgbClr val="13294B"/>
                </a:solidFill>
                <a:latin typeface="Calibri"/>
              </a:rPr>
              <a:t>VI  Monitoring</a:t>
            </a:r>
          </a:p>
        </p:txBody>
      </p:sp>
      <p:sp>
        <p:nvSpPr>
          <p:cNvPr id="30" name="TextBox 29"/>
          <p:cNvSpPr txBox="1"/>
          <p:nvPr/>
        </p:nvSpPr>
        <p:spPr>
          <a:xfrm>
            <a:off x="8077200" y="47498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Track change during and after therapy</a:t>
            </a:r>
          </a:p>
          <a:p>
            <a:pPr>
              <a:spcAft>
                <a:spcPts val="400"/>
              </a:spcAft>
            </a:pPr>
            <a:r>
              <a:rPr sz="1400" b="0">
                <a:solidFill>
                  <a:srgbClr val="4A5568"/>
                </a:solidFill>
                <a:latin typeface="Calibri"/>
              </a:rPr>
              <a:t>• Delta radiomics</a:t>
            </a:r>
          </a:p>
        </p:txBody>
      </p:sp>
      <p:sp>
        <p:nvSpPr>
          <p:cNvPr id="31" name="Rounded Rectangle 30"/>
          <p:cNvSpPr/>
          <p:nvPr/>
        </p:nvSpPr>
        <p:spPr>
          <a:xfrm>
            <a:off x="812800" y="5448300"/>
            <a:ext cx="10566400" cy="3556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6000" y="5543550"/>
            <a:ext cx="10160000" cy="254000"/>
          </a:xfrm>
          <a:prstGeom prst="rect">
            <a:avLst/>
          </a:prstGeom>
          <a:noFill/>
        </p:spPr>
        <p:txBody>
          <a:bodyPr wrap="square" lIns="0" rIns="0" tIns="0" bIns="0">
            <a:spAutoFit/>
          </a:bodyPr>
          <a:lstStyle/>
          <a:p>
            <a:r>
              <a:rPr sz="1600" b="0">
                <a:solidFill>
                  <a:srgbClr val="13294B"/>
                </a:solidFill>
                <a:latin typeface="Calibri"/>
              </a:rPr>
              <a:t>Beyond the tumour: systemic and non-cancer disease · needs reproducible features and external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