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talk (15 min)" id="{8ccbf597-fde2-3ce5-2067-ca5eafe70b70}">
          <p14:sldIdLst>
            <p14:sldId id="256"/>
            <p14:sldId id="257"/>
            <p14:sldId id="258"/>
            <p14:sldId id="259"/>
            <p14:sldId id="260"/>
            <p14:sldId id="261"/>
            <p14:sldId id="262"/>
            <p14:sldId id="263"/>
            <p14:sldId id="264"/>
            <p14:sldId id="265"/>
            <p14:sldId id="266"/>
            <p14:sldId id="267"/>
            <p14:sldId id="268"/>
          </p14:sldIdLst>
        </p14:section>
        <p14:section name="Backup" id="{cf6f6e55-d03e-cb97-b271-f7c961feab4d}">
          <p14:sldIdLst>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0.5 min (main talk totals 15 minutes across slides 1–13)
SAY:
My research vision is to make molecular imaging a quantitative basis for predicting and planning therapy. I will connect imaging biomarkers to patient-specific models, and then use those models to test treatment strategies in virtual trials. The initial clinical focus is radiopharmaceutical therapy. This program brings together my work in quantitative imaging, pharmacokinetic modelling and radiobiology around one question: how can we make better treatment decisions for an individual patient?
TRANSITION:
The opportunity begins with the treatment-planning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
SAY:
Molecular imaging gives us measurements of tracer distribution and disease burden. Theranostics creates a setting in which those measurements can help inform treatment: we see the target, select patients, treat with the same ligand, and monitor. My interest is step 3, the planning decision, outlined in orange: what treatment strategy is appropriate for this patient, and how should it change when new information arrives? In routine care that step is still mostly missing; activity is largely fixed. I will focus initially on PSMA-targeted therapy, with DOTATATE-based therapy as a complementary application. The aim is to estimate exposure and absorbed dose, then test whether those estimates improve predictions of response. Diagnostic and therapeutic agents can have different kinetics, so imaging-based predictions must be checked using measurements relevant to the therapeutic agent.
TRANSITION:
Three scientific gaps define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
SAY:
The central question is how molecular imaging can capture biological heterogeneity and guide patient-specific therapy. Three gaps sit inside that question. First, heterogeneity: tumours differ within a patient and change over time; lesion effective half-life varies about twice as much as kidney half-life, 33 versus 18 percent. Second, dosimetry: imaging and dose estimates have uncertainty, measurement variation can look like biological change, and patient-specific dosimetry still needs three to four scans over four to seven days. Third, integration: we need a credible link between what we measure and the treatment decision; only 3.4 percent of oncology drugs entering Phase 1 reach approval. My working hypothesis is that quantitative imaging interpreted through biological and physical models can improve predictions of dose and response. Each part of that hypothesis will be tested, rather than assuming that a more complex model is better.
TRANSITION:
I address these gaps through five connected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
SAY:
The five directions in my research statement form a connected program. Imaging biomarkers describe disease and normal tissue. AI supports reliable reconstruction, segmentation and quantification. Together these are the reliable inputs. Digital twins connect those observations to pharmacokinetics, dose and response: the prediction. Therapy integration applies the models to specific treatment questions, and virtual trials compare candidate agents and protocols across plausible patient populations: the decisions. I will develop these in stages. The immediate emphasis is reliable imaging and predictive models for radiopharmaceutical therapy. Broader treatment integration follows when the relevant data and clinical partnerships are available.
TRANSITION:
The first two directions provide reliable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
SAY:
I begin with a practical question: which measurements are sufficiently reliable to support a treatment model? The strip at the top is the chain I mean, shown on a synthetic phantom: a low-count SPECT image, AI denoising, organ and lesion segmentation, and a voxel dose map. The biomarker work combines PET, SPECT and complementary CT or MRI information. I will examine within-lesion and between-lesion heterogeneity, whole-body disease burden and change over time. Biological interpretation requires independent validation when possible, because uptake alone does not uniquely establish receptor density, hypoxia or another mechanism. AI will support reconstruction, segmentation and quantitative analysis, but I will evaluate its effect on the downstream measurement. A cleaner image is useful only if it preserves the information needed for dosimetry or prediction. The literature is encouraging: deep learning can shorten 177Lu SPECT acquisitions by 50 to 75 percent, and transformer-based dosimetry runs in seconds instead of hours of Monte Carlo, but lesion-level reliability still needs care. The first deliverable is a reproducible measurement pipeline and a compact biomarker panel, tested across protocols and independent data.
TRANSITION:
Those measurements become inputs to a patient-specific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
SAY:
A digital twin is a patient-specific model that updates when new observations become available. Its value comes from prediction and testing alternatives, not simply representing the patient in three dimensions. In this program, imaging and clinical data constrain pharmacokinetic models of distribution and clearance. Dosimetry converts the activity history into absorbed-dose estimates. Radiobiological models then explore response, with their uncertainty made explicit. The schematic on the right shows the idea: in cycle 1 the twin starts from a population prior with a wide uncertainty band; sparse post-therapy measurements, the dots, update it, so the cycle-2 prediction is much tighter for both tumour and kidney. I will start with a limited number of identifiable parameters and a well-defined prediction task. Sparse imaging can help constrain a model, but it cannot identify every unknown. Population information may support estimation, and serial therapy measurements will provide an important validation reference.
TRANSITION:
The model then allows us to compare treatment choices.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
SAY:
On the left is an illustrative digital-twin case for 177Lu-PSMA from the literature. At the standard 7.4 GBq, organs are safe but the tumour is refractory; at 8.3 GBq the tumour responds and organs remain safe; at 10 GBq there is organ toxicity. So one fixed activity can under-treat one patient and harm another. But activity is only one decision. On the right, I separate the decisions we can change from the biology the model must represent. We can investigate activity, number and spacing of cycles, infusion or ligand conditions, and adaptation rules. Their effects depend on kinetics, dose rate, radiobiology and tumour–organ interactions. These factors are coupled; for example, changing the schedule may change repair and accumulated exposure. I will compare candidate strategies within a constrained, validated model and report the uncertainty around each prediction. Circadian timing remains an exploratory hypothesis for preclinical work. These are research comparisons rather than clinical recommendations, and any change to patient care requires prospective evidence.
TRANSITION:
Virtual trials extend these comparisons to patient populations.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1.25 min
SAY:
A virtual trial asks how a candidate strategy behaves across a population of plausible patients. I will describe variation in imaging features, kinetics and relevant biological parameters, then compare candidate protocols and agent properties. The schematic on the right shows the kind of comparison: each dot is a simulated patient. With a fixed activity, grey, many patients sit far below the kidney constraint and some cross it. With model-guided activity, teal, patients cluster just below the constraint, with more tumour dose where it is safe. The aim is to identify which strategies remain promising when assumptions change, and which measurements would most reduce uncertainty. This can help prioritize real studies, refine eligibility criteria and choose informative endpoints. A virtual trial cannot establish clinical benefit by simulation alone. Its credibility depends on the model, the population it represents and the specific decision it is intended to support.
TRANSITION:
This creates a research framework across translation.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
SAY:
This figure shows the broader framework. Please focus on the three column headings. In virtual preclinical trials, imaging and laboratory measurements support studies of kinetics, dose rate and response. In virtual translational trials, species-specific models help explore how evidence might transfer to humans, with substantial uncertainty that must be tested. In virtual clinical trials, patient-specific models compare candidate schedules and adaptation rules. The same principle applies across these settings: observations constrain the model, the model generates a prediction, and new evidence tests or revises it. I would begin with focused applications in the first three stages. Practice and population modelling are longer-term extensions, rather than simultaneous commitments at launch.
TRANSITION:
The common requirement is credible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
SAY:
I will validate each component against a reference appropriate to its intended use, as a staircase. Imaging requires quantitative calibration and repeatability assessment, against phantoms and test–retest data. Kinetic and dose models require comparisons with serial measurements and established calculations such as Monte Carlo, including uncertainty in those references. Predictive models require evaluation on independent patients and sites where feasible. Only after those stages would I move into prospective observational evaluation. Simple comparator models are essential: added complexity must improve a relevant endpoint. If response prediction remains unstable, validated dosimetry is still a useful scientific deliverable.
TRANSITION:
The roadmap makes these gates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1.25 min
SAY:
The first two years establish data access, imaging quality assurance and reproducible baseline models. I will focus on a suitable PSMA therapy cohort and carefully scoped trainee projects. In years two and three, I will develop patient-specific kinetics and dose models, evaluate them independently, and establish where uncertainty limits prediction. In years three to five, the strongest models support virtual protocol comparisons and prospective observational evaluation with clinical partners. These are overlapping workstreams, not rigid calendar boundaries, and the two diamonds are evidence gates: reproducible measurements, then independently validated predictions. The decision to expand depends on evidence. Combined radiopharmaceutical and external-beam therapy, proton PET and biology-guided radiotherapy are later collaborative extensions. The first five-year outcome is a validated foundation and evidence for the next clinical study.
TRANSITION:
An independent scientific identity and a strong training plan make this sustainable.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
SAY:
The independent scientific contribution is the connection between molecular imaging, mechanistic models and therapeutic prediction. My prior work in theranostic digital twins, PBPK modelling and low-dose-rate radiobiology provides the foundation. I would build a team in which students own bounded questions while contributing to a shared reproducible platform. MSc projects can focus on imaging reliability and measurement design. PhD projects can address coupled models, uncertainty and optimization. Clinical and radiochemistry collaborators bring complementary expertise. Transparent recruitment, clear expectations and accessible training support an inclusive research culture. The goal is a research group with a recognizable scientific direction and methods that others can evaluate and reuse.
TRANSITION:
I will close with the outcome this program is designed to pursue.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
SAY:
My vision is a research program in which molecular imaging supports predictive treatment planning. Reliable imaging provides measurements of the patient. Digital twins connect those measurements to models of exposure, dose and response. Virtual trials compare strategies and help select the most informative next experiment or study. The immediate focus is radiopharmaceutical therapy, with a staged route toward broader integration. Success in the first five years means reproducible methods, independently tested predictions and prospective feasibility evidence, together with researchers trained across imaging, physics and computation. The longer-term clinical goal is better patient selection and treatment adaptation. Thank you.
TRANSITION:
End of 15-minute talk. Slides 14–17 are backup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Backup
SAY:
Use only for questions. The supplied deck lists these groups as collaborators or planned partners. Describe the status of each relationship accurately and distinguish existing coauthorship from committed data access or formal agreements. International data work remains conditional on institutional approvals and applicable governance; federated learning keeps patient data local.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Backup
SAY:
T3 and T4 are longer-term extensions. The figure illustrates potential real-world registries, model updates, access and health-economic questions. Its curves and bars are schematic, not study results. Feasibility depends on mature clinical evidence and appropriate population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Backup
SAY:
Initial scope remains radiopharmaceutical therapy. Combining RPT and external-beam radiotherapy requires compatible biological assumptions and attention to dose-rate effects, uncertainty and organ endpoints. Proton-induced PET activity is not a direct absorbed-dose measurement. Biology-guided delivery and adaptive planning are distinct processes that require application-specific models and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Backup
SAY:
Sparse imaging requires identifiable models, population information and informative sampling. Poor site transfer motivates simpler comparators and protocol studies. A model that cannot predict response may still support a strong dosimetry project. Expand only when the evidence and resources justify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ph idx="101" type="body" hasCustomPrompt="1"/>
          </p:nvPr>
        </p:nvSpPr>
        <p:spPr>
          <a:xfrm>
            <a:off x="548640" y="1005840"/>
            <a:ext cx="11094415" cy="411480"/>
          </a:xfrm>
          <a:prstGeom prst="rect">
            <a:avLst/>
          </a:prstGeom>
          <a:noFill/>
          <a:ln/>
        </p:spPr>
        <p:txBody>
          <a:bodyPr wrap="square" rtlCol="0"/>
          <a:lstStyle>
            <a:lvl1pPr indent="0" marL="0">
              <a:buNone/>
              <a:defRPr lang="en-US" sz="1600" dirty="0">
                <a:solidFill>
                  <a:schemeClr val="accent6"/>
                </a:solidFill>
              </a:defRPr>
            </a:lvl1pPr>
          </a:lstStyle>
          <a:p>
            <a:pPr indent="0" marL="0">
              <a:buNone/>
            </a:pPr>
            <a:endParaRPr lang="en-US" sz="1600" dirty="0"/>
          </a:p>
        </p:txBody>
      </p:sp>
      <p:sp>
        <p:nvSpPr>
          <p:cNvPr id="4"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Hamid Abdollahi  ·  Research vision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2.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2.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slideLayout" Target="../slideLayouts/slideLayout2.xml"/><Relationship Id="rId10"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188720"/>
            <a:ext cx="6858000" cy="320040"/>
          </a:xfrm>
          <a:prstGeom prst="rect">
            <a:avLst/>
          </a:prstGeom>
          <a:noFill/>
          <a:ln/>
        </p:spPr>
        <p:txBody>
          <a:bodyPr wrap="square" lIns="0" tIns="0" rIns="0" bIns="0" rtlCol="0" anchor="t"/>
          <a:lstStyle/>
          <a:p>
            <a:pPr indent="0" marL="0">
              <a:buNone/>
            </a:pPr>
            <a:r>
              <a:rPr lang="en-US" sz="1300" b="1" spc="200" kern="0" dirty="0">
                <a:solidFill>
                  <a:schemeClr val="accent1"/>
                </a:solidFill>
              </a:rPr>
              <a:t>FACULTY / CRC TIER 2 RESEARCH VISION</a:t>
            </a:r>
            <a:endParaRPr lang="en-US" sz="1300" dirty="0"/>
          </a:p>
        </p:txBody>
      </p:sp>
      <p:sp>
        <p:nvSpPr>
          <p:cNvPr id="3" name="Text 1"/>
          <p:cNvSpPr txBox="1"/>
          <p:nvPr/>
        </p:nvSpPr>
        <p:spPr>
          <a:xfrm>
            <a:off x="731520" y="1645920"/>
            <a:ext cx="7498080" cy="1645920"/>
          </a:xfrm>
          <a:prstGeom prst="rect">
            <a:avLst/>
          </a:prstGeom>
          <a:noFill/>
          <a:ln/>
        </p:spPr>
        <p:txBody>
          <a:bodyPr wrap="square" lIns="0" tIns="0" rIns="0" bIns="0" rtlCol="0" anchor="t"/>
          <a:lstStyle/>
          <a:p>
            <a:pPr indent="0" marL="0">
              <a:buNone/>
            </a:pPr>
            <a:r>
              <a:rPr lang="en-US" sz="4200" b="1" dirty="0">
                <a:solidFill>
                  <a:schemeClr val="bg1"/>
                </a:solidFill>
                <a:latin typeface="Calibri" pitchFamily="34" charset="0"/>
                <a:ea typeface="Calibri" pitchFamily="34" charset="-122"/>
                <a:cs typeface="Calibri" pitchFamily="34" charset="-120"/>
              </a:rPr>
              <a:t>Predictive Molecular Imaging</a:t>
            </a:r>
            <a:endParaRPr lang="en-US" sz="4200" dirty="0"/>
          </a:p>
          <a:p>
            <a:pPr indent="0" marL="0">
              <a:buNone/>
            </a:pPr>
            <a:r>
              <a:rPr lang="en-US" sz="4200" b="1" dirty="0">
                <a:solidFill>
                  <a:schemeClr val="bg1"/>
                </a:solidFill>
                <a:latin typeface="Calibri" pitchFamily="34" charset="0"/>
                <a:ea typeface="Calibri" pitchFamily="34" charset="-122"/>
                <a:cs typeface="Calibri" pitchFamily="34" charset="-120"/>
              </a:rPr>
              <a:t>&amp; Virtual Theranostic Trials</a:t>
            </a:r>
            <a:endParaRPr lang="en-US" sz="4200" dirty="0"/>
          </a:p>
        </p:txBody>
      </p:sp>
      <p:sp>
        <p:nvSpPr>
          <p:cNvPr id="4" name="Text 2"/>
          <p:cNvSpPr txBox="1"/>
          <p:nvPr/>
        </p:nvSpPr>
        <p:spPr>
          <a:xfrm>
            <a:off x="731520" y="3383280"/>
            <a:ext cx="7315200" cy="457200"/>
          </a:xfrm>
          <a:prstGeom prst="rect">
            <a:avLst/>
          </a:prstGeom>
          <a:noFill/>
          <a:ln/>
        </p:spPr>
        <p:txBody>
          <a:bodyPr wrap="square" lIns="0" tIns="0" rIns="0" bIns="0" rtlCol="0" anchor="t"/>
          <a:lstStyle/>
          <a:p>
            <a:pPr indent="0" marL="0">
              <a:buNone/>
            </a:pPr>
            <a:r>
              <a:rPr lang="en-US" sz="2000" dirty="0">
                <a:solidFill>
                  <a:schemeClr val="bg2"/>
                </a:solidFill>
              </a:rPr>
              <a:t>Patient-specific models for treatment planning</a:t>
            </a:r>
            <a:endParaRPr lang="en-US" sz="2000" dirty="0"/>
          </a:p>
        </p:txBody>
      </p:sp>
      <p:sp>
        <p:nvSpPr>
          <p:cNvPr id="5" name="Shape 3"/>
          <p:cNvSpPr/>
          <p:nvPr/>
        </p:nvSpPr>
        <p:spPr>
          <a:xfrm>
            <a:off x="731520" y="4160520"/>
            <a:ext cx="548640" cy="54864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879653" y="4308653"/>
            <a:ext cx="252374" cy="252374"/>
          </a:xfrm>
          <a:prstGeom prst="rect">
            <a:avLst/>
          </a:prstGeom>
        </p:spPr>
      </p:pic>
      <p:sp>
        <p:nvSpPr>
          <p:cNvPr id="7" name="Text 4"/>
          <p:cNvSpPr txBox="1"/>
          <p:nvPr/>
        </p:nvSpPr>
        <p:spPr>
          <a:xfrm>
            <a:off x="1389888" y="4160520"/>
            <a:ext cx="914400" cy="548640"/>
          </a:xfrm>
          <a:prstGeom prst="rect">
            <a:avLst/>
          </a:prstGeom>
          <a:noFill/>
          <a:ln/>
        </p:spPr>
        <p:txBody>
          <a:bodyPr wrap="square" lIns="0" tIns="0" rIns="0" bIns="0" rtlCol="0" anchor="ctr"/>
          <a:lstStyle/>
          <a:p>
            <a:pPr indent="0" marL="0">
              <a:buNone/>
            </a:pPr>
            <a:r>
              <a:rPr lang="en-US" sz="1600" b="1" dirty="0">
                <a:solidFill>
                  <a:schemeClr val="bg1"/>
                </a:solidFill>
              </a:rPr>
              <a:t>Image</a:t>
            </a:r>
            <a:endParaRPr lang="en-US" sz="1600" dirty="0"/>
          </a:p>
        </p:txBody>
      </p:sp>
      <p:sp>
        <p:nvSpPr>
          <p:cNvPr id="8" name="Shape 5"/>
          <p:cNvSpPr/>
          <p:nvPr/>
        </p:nvSpPr>
        <p:spPr>
          <a:xfrm>
            <a:off x="2057400" y="4434840"/>
            <a:ext cx="365760" cy="0"/>
          </a:xfrm>
          <a:prstGeom prst="line">
            <a:avLst/>
          </a:prstGeom>
          <a:noFill/>
          <a:ln w="22225">
            <a:solidFill>
              <a:schemeClr val="bg2"/>
            </a:solidFill>
            <a:prstDash val="solid"/>
            <a:tailEnd type="triangle"/>
          </a:ln>
        </p:spPr>
      </p:sp>
      <p:sp>
        <p:nvSpPr>
          <p:cNvPr id="9" name="Shape 6"/>
          <p:cNvSpPr/>
          <p:nvPr/>
        </p:nvSpPr>
        <p:spPr>
          <a:xfrm>
            <a:off x="2560320" y="4160520"/>
            <a:ext cx="548640" cy="548640"/>
          </a:xfrm>
          <a:prstGeom prst="ellipse">
            <a:avLst/>
          </a:prstGeom>
          <a:solidFill>
            <a:schemeClr val="accent3"/>
          </a:solidFill>
          <a:ln/>
        </p:spPr>
      </p:sp>
      <p:pic>
        <p:nvPicPr>
          <p:cNvPr id="10" name="Image 1" descr="preencoded.png">    </p:cNvPr>
          <p:cNvPicPr>
            <a:picLocks noChangeAspect="1"/>
          </p:cNvPicPr>
          <p:nvPr/>
        </p:nvPicPr>
        <p:blipFill>
          <a:blip r:embed="rId2"/>
          <a:stretch>
            <a:fillRect/>
          </a:stretch>
        </p:blipFill>
        <p:spPr>
          <a:xfrm>
            <a:off x="2708453" y="4308653"/>
            <a:ext cx="252374" cy="252374"/>
          </a:xfrm>
          <a:prstGeom prst="rect">
            <a:avLst/>
          </a:prstGeom>
        </p:spPr>
      </p:pic>
      <p:sp>
        <p:nvSpPr>
          <p:cNvPr id="11" name="Text 7"/>
          <p:cNvSpPr txBox="1"/>
          <p:nvPr/>
        </p:nvSpPr>
        <p:spPr>
          <a:xfrm>
            <a:off x="3218688" y="4160520"/>
            <a:ext cx="914400" cy="548640"/>
          </a:xfrm>
          <a:prstGeom prst="rect">
            <a:avLst/>
          </a:prstGeom>
          <a:noFill/>
          <a:ln/>
        </p:spPr>
        <p:txBody>
          <a:bodyPr wrap="square" lIns="0" tIns="0" rIns="0" bIns="0" rtlCol="0" anchor="ctr"/>
          <a:lstStyle/>
          <a:p>
            <a:pPr indent="0" marL="0">
              <a:buNone/>
            </a:pPr>
            <a:r>
              <a:rPr lang="en-US" sz="1600" b="1" dirty="0">
                <a:solidFill>
                  <a:schemeClr val="bg1"/>
                </a:solidFill>
              </a:rPr>
              <a:t>Model</a:t>
            </a:r>
            <a:endParaRPr lang="en-US" sz="1600" dirty="0"/>
          </a:p>
        </p:txBody>
      </p:sp>
      <p:sp>
        <p:nvSpPr>
          <p:cNvPr id="12" name="Shape 8"/>
          <p:cNvSpPr/>
          <p:nvPr/>
        </p:nvSpPr>
        <p:spPr>
          <a:xfrm>
            <a:off x="3886200" y="4434840"/>
            <a:ext cx="365760" cy="0"/>
          </a:xfrm>
          <a:prstGeom prst="line">
            <a:avLst/>
          </a:prstGeom>
          <a:noFill/>
          <a:ln w="22225">
            <a:solidFill>
              <a:schemeClr val="bg2"/>
            </a:solidFill>
            <a:prstDash val="solid"/>
            <a:tailEnd type="triangle"/>
          </a:ln>
        </p:spPr>
      </p:sp>
      <p:sp>
        <p:nvSpPr>
          <p:cNvPr id="13" name="Shape 9"/>
          <p:cNvSpPr/>
          <p:nvPr/>
        </p:nvSpPr>
        <p:spPr>
          <a:xfrm>
            <a:off x="4389120" y="4160520"/>
            <a:ext cx="548640" cy="548640"/>
          </a:xfrm>
          <a:prstGeom prst="ellipse">
            <a:avLst/>
          </a:prstGeom>
          <a:solidFill>
            <a:schemeClr val="accent2"/>
          </a:solidFill>
          <a:ln/>
        </p:spPr>
      </p:sp>
      <p:pic>
        <p:nvPicPr>
          <p:cNvPr id="14" name="Image 2" descr="preencoded.png">    </p:cNvPr>
          <p:cNvPicPr>
            <a:picLocks noChangeAspect="1"/>
          </p:cNvPicPr>
          <p:nvPr/>
        </p:nvPicPr>
        <p:blipFill>
          <a:blip r:embed="rId3"/>
          <a:stretch>
            <a:fillRect/>
          </a:stretch>
        </p:blipFill>
        <p:spPr>
          <a:xfrm>
            <a:off x="4537253" y="4308653"/>
            <a:ext cx="252374" cy="252374"/>
          </a:xfrm>
          <a:prstGeom prst="rect">
            <a:avLst/>
          </a:prstGeom>
        </p:spPr>
      </p:pic>
      <p:sp>
        <p:nvSpPr>
          <p:cNvPr id="15" name="Text 10"/>
          <p:cNvSpPr txBox="1"/>
          <p:nvPr/>
        </p:nvSpPr>
        <p:spPr>
          <a:xfrm>
            <a:off x="5047488" y="4160520"/>
            <a:ext cx="914400" cy="548640"/>
          </a:xfrm>
          <a:prstGeom prst="rect">
            <a:avLst/>
          </a:prstGeom>
          <a:noFill/>
          <a:ln/>
        </p:spPr>
        <p:txBody>
          <a:bodyPr wrap="square" lIns="0" tIns="0" rIns="0" bIns="0" rtlCol="0" anchor="ctr"/>
          <a:lstStyle/>
          <a:p>
            <a:pPr indent="0" marL="0">
              <a:buNone/>
            </a:pPr>
            <a:r>
              <a:rPr lang="en-US" sz="1600" b="1" dirty="0">
                <a:solidFill>
                  <a:schemeClr val="bg1"/>
                </a:solidFill>
              </a:rPr>
              <a:t>Plan</a:t>
            </a:r>
            <a:endParaRPr lang="en-US" sz="1600" dirty="0"/>
          </a:p>
        </p:txBody>
      </p:sp>
      <p:sp>
        <p:nvSpPr>
          <p:cNvPr id="16" name="Text 11"/>
          <p:cNvSpPr txBox="1"/>
          <p:nvPr/>
        </p:nvSpPr>
        <p:spPr>
          <a:xfrm>
            <a:off x="731520" y="5257800"/>
            <a:ext cx="5486400" cy="365760"/>
          </a:xfrm>
          <a:prstGeom prst="rect">
            <a:avLst/>
          </a:prstGeom>
          <a:noFill/>
          <a:ln/>
        </p:spPr>
        <p:txBody>
          <a:bodyPr wrap="square" lIns="0" tIns="0" rIns="0" bIns="0" rtlCol="0" anchor="t"/>
          <a:lstStyle/>
          <a:p>
            <a:pPr indent="0" marL="0">
              <a:buNone/>
            </a:pPr>
            <a:r>
              <a:rPr lang="en-US" sz="1800" b="1" dirty="0">
                <a:solidFill>
                  <a:schemeClr val="bg1"/>
                </a:solidFill>
              </a:rPr>
              <a:t>Hamid Abdollahi, PhD</a:t>
            </a:r>
            <a:endParaRPr lang="en-US" sz="1800" dirty="0"/>
          </a:p>
        </p:txBody>
      </p:sp>
      <p:sp>
        <p:nvSpPr>
          <p:cNvPr id="17" name="Text 12"/>
          <p:cNvSpPr txBox="1"/>
          <p:nvPr/>
        </p:nvSpPr>
        <p:spPr>
          <a:xfrm>
            <a:off x="731520" y="5623560"/>
            <a:ext cx="7315200" cy="320040"/>
          </a:xfrm>
          <a:prstGeom prst="rect">
            <a:avLst/>
          </a:prstGeom>
          <a:noFill/>
          <a:ln/>
        </p:spPr>
        <p:txBody>
          <a:bodyPr wrap="square" lIns="0" tIns="0" rIns="0" bIns="0" rtlCol="0" anchor="t"/>
          <a:lstStyle/>
          <a:p>
            <a:pPr indent="0" marL="0">
              <a:buNone/>
            </a:pPr>
            <a:r>
              <a:rPr lang="en-US" sz="1400" dirty="0">
                <a:solidFill>
                  <a:schemeClr val="bg2"/>
                </a:solidFill>
              </a:rPr>
              <a:t>Medical physics · quantitative imaging · AI · radiopharmaceutical therapy</a:t>
            </a:r>
            <a:endParaRPr lang="en-US" sz="1400" dirty="0"/>
          </a:p>
        </p:txBody>
      </p:sp>
      <p:pic>
        <p:nvPicPr>
          <p:cNvPr id="18" name="Image 3" descr="/tmp/claude-0/-home-user-habdollahin/757748ce-ce00-518f-b6e2-dec1c5e36469/scratchpad/build/figs/hero.png">    </p:cNvPr>
          <p:cNvPicPr>
            <a:picLocks noChangeAspect="1"/>
          </p:cNvPicPr>
          <p:nvPr/>
        </p:nvPicPr>
        <p:blipFill>
          <a:blip r:embed="rId4"/>
          <a:stretch>
            <a:fillRect/>
          </a:stretch>
        </p:blipFill>
        <p:spPr>
          <a:xfrm>
            <a:off x="8732520" y="411480"/>
            <a:ext cx="2816352" cy="6035040"/>
          </a:xfrm>
          <a:prstGeom prst="rect">
            <a:avLst/>
          </a:prstGeom>
        </p:spPr>
      </p:pic>
      <p:sp>
        <p:nvSpPr>
          <p:cNvPr id="19" name="Text 13"/>
          <p:cNvSpPr txBox="1"/>
          <p:nvPr/>
        </p:nvSpPr>
        <p:spPr>
          <a:xfrm>
            <a:off x="8732520" y="6446520"/>
            <a:ext cx="2816352" cy="228600"/>
          </a:xfrm>
          <a:prstGeom prst="rect">
            <a:avLst/>
          </a:prstGeom>
          <a:noFill/>
          <a:ln/>
        </p:spPr>
        <p:txBody>
          <a:bodyPr wrap="square" lIns="0" tIns="0" rIns="0" bIns="0" rtlCol="0" anchor="t"/>
          <a:lstStyle/>
          <a:p>
            <a:pPr algn="ctr" indent="0" marL="0">
              <a:buNone/>
            </a:pPr>
            <a:r>
              <a:rPr lang="en-US" sz="1000" i="1" dirty="0">
                <a:solidFill>
                  <a:schemeClr val="accent6"/>
                </a:solidFill>
              </a:rPr>
              <a:t>Schematic PET MIP</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400" b="1" dirty="0">
                <a:solidFill>
                  <a:schemeClr val="tx2"/>
                </a:solidFill>
              </a:rPr>
              <a:t>The opportunity: predictive treatment planning</a:t>
            </a:r>
            <a:endParaRPr lang="en-US" sz="34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Theranostics already links seeing a target to treating it; the planning step is still missing</a:t>
            </a:r>
            <a:endParaRPr lang="en-US" sz="1600" dirty="0"/>
          </a:p>
        </p:txBody>
      </p:sp>
      <p:sp>
        <p:nvSpPr>
          <p:cNvPr id="4" name="Text 2"/>
          <p:cNvSpPr txBox="1"/>
          <p:nvPr/>
        </p:nvSpPr>
        <p:spPr>
          <a:xfrm>
            <a:off x="548640" y="1691640"/>
            <a:ext cx="6766560" cy="1188720"/>
          </a:xfrm>
          <a:prstGeom prst="rect">
            <a:avLst/>
          </a:prstGeom>
          <a:noFill/>
          <a:ln/>
        </p:spPr>
        <p:txBody>
          <a:bodyPr wrap="square" lIns="0" tIns="0" rIns="0" bIns="0" rtlCol="0" anchor="ctr"/>
          <a:lstStyle/>
          <a:p>
            <a:pPr indent="0" marL="0">
              <a:buNone/>
            </a:pPr>
            <a:r>
              <a:rPr lang="en-US" sz="3000" b="1" dirty="0">
                <a:solidFill>
                  <a:schemeClr val="tx2"/>
                </a:solidFill>
              </a:rPr>
              <a:t>Which treatment strategy is best for this patient, at this time?</a:t>
            </a:r>
            <a:endParaRPr lang="en-US" sz="3000" dirty="0"/>
          </a:p>
        </p:txBody>
      </p:sp>
      <p:sp>
        <p:nvSpPr>
          <p:cNvPr id="5" name="Shape 3"/>
          <p:cNvSpPr/>
          <p:nvPr/>
        </p:nvSpPr>
        <p:spPr>
          <a:xfrm>
            <a:off x="7726680" y="1691640"/>
            <a:ext cx="3916375" cy="1188720"/>
          </a:xfrm>
          <a:prstGeom prst="roundRect">
            <a:avLst>
              <a:gd name="adj" fmla="val 6154"/>
            </a:avLst>
          </a:prstGeom>
          <a:solidFill>
            <a:schemeClr val="bg2"/>
          </a:solidFill>
          <a:ln/>
        </p:spPr>
      </p:sp>
      <p:sp>
        <p:nvSpPr>
          <p:cNvPr id="6" name="Text 4"/>
          <p:cNvSpPr txBox="1"/>
          <p:nvPr/>
        </p:nvSpPr>
        <p:spPr>
          <a:xfrm>
            <a:off x="7955280" y="1810512"/>
            <a:ext cx="356616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INITIAL FOCUS</a:t>
            </a:r>
            <a:endParaRPr lang="en-US" sz="1200" dirty="0"/>
          </a:p>
        </p:txBody>
      </p:sp>
      <p:sp>
        <p:nvSpPr>
          <p:cNvPr id="7" name="Text 5"/>
          <p:cNvSpPr txBox="1"/>
          <p:nvPr/>
        </p:nvSpPr>
        <p:spPr>
          <a:xfrm>
            <a:off x="7955280" y="2130552"/>
            <a:ext cx="3566160" cy="640080"/>
          </a:xfrm>
          <a:prstGeom prst="rect">
            <a:avLst/>
          </a:prstGeom>
          <a:noFill/>
          <a:ln/>
        </p:spPr>
        <p:txBody>
          <a:bodyPr wrap="square" lIns="0" tIns="0" rIns="0" bIns="0" rtlCol="0" anchor="t"/>
          <a:lstStyle/>
          <a:p>
            <a:pPr indent="0" marL="0">
              <a:buNone/>
            </a:pPr>
            <a:r>
              <a:rPr lang="en-US" sz="1600" b="1" dirty="0">
                <a:solidFill>
                  <a:schemeClr val="tx2"/>
                </a:solidFill>
              </a:rPr>
              <a:t>PSMA-targeted therapy</a:t>
            </a:r>
            <a:endParaRPr lang="en-US" sz="1600" dirty="0"/>
          </a:p>
          <a:p>
            <a:pPr indent="0" marL="0">
              <a:buNone/>
            </a:pPr>
            <a:r>
              <a:rPr lang="en-US" sz="1600" b="1" dirty="0">
                <a:solidFill>
                  <a:schemeClr val="tx2"/>
                </a:solidFill>
              </a:rPr>
              <a:t>DOTATATE-based therapy</a:t>
            </a:r>
            <a:endParaRPr lang="en-US" sz="1600" dirty="0"/>
          </a:p>
        </p:txBody>
      </p:sp>
      <p:sp>
        <p:nvSpPr>
          <p:cNvPr id="8" name="Shape 6"/>
          <p:cNvSpPr/>
          <p:nvPr/>
        </p:nvSpPr>
        <p:spPr>
          <a:xfrm>
            <a:off x="5059558" y="3154680"/>
            <a:ext cx="2072579" cy="2148840"/>
          </a:xfrm>
          <a:prstGeom prst="roundRect">
            <a:avLst>
              <a:gd name="adj" fmla="val 3530"/>
            </a:avLst>
          </a:prstGeom>
          <a:solidFill>
            <a:schemeClr val="bg1"/>
          </a:solidFill>
          <a:ln w="22225">
            <a:solidFill>
              <a:schemeClr val="accent2"/>
            </a:solidFill>
            <a:prstDash val="dash"/>
          </a:ln>
        </p:spPr>
      </p:sp>
      <p:sp>
        <p:nvSpPr>
          <p:cNvPr id="9" name="Shape 7"/>
          <p:cNvSpPr/>
          <p:nvPr/>
        </p:nvSpPr>
        <p:spPr>
          <a:xfrm>
            <a:off x="1269462" y="3383280"/>
            <a:ext cx="777240" cy="777240"/>
          </a:xfrm>
          <a:prstGeom prst="ellipse">
            <a:avLst/>
          </a:prstGeom>
          <a:solidFill>
            <a:schemeClr val="accent1"/>
          </a:solidFill>
          <a:ln/>
        </p:spPr>
      </p:sp>
      <p:pic>
        <p:nvPicPr>
          <p:cNvPr id="10" name="Image 0" descr="preencoded.png">    </p:cNvPr>
          <p:cNvPicPr>
            <a:picLocks noChangeAspect="1"/>
          </p:cNvPicPr>
          <p:nvPr/>
        </p:nvPicPr>
        <p:blipFill>
          <a:blip r:embed="rId1"/>
          <a:stretch>
            <a:fillRect/>
          </a:stretch>
        </p:blipFill>
        <p:spPr>
          <a:xfrm>
            <a:off x="1479316" y="3593135"/>
            <a:ext cx="357530" cy="357530"/>
          </a:xfrm>
          <a:prstGeom prst="rect">
            <a:avLst/>
          </a:prstGeom>
        </p:spPr>
      </p:pic>
      <p:sp>
        <p:nvSpPr>
          <p:cNvPr id="11" name="Text 8"/>
          <p:cNvSpPr txBox="1"/>
          <p:nvPr/>
        </p:nvSpPr>
        <p:spPr>
          <a:xfrm>
            <a:off x="731520" y="4297680"/>
            <a:ext cx="1853123" cy="320040"/>
          </a:xfrm>
          <a:prstGeom prst="rect">
            <a:avLst/>
          </a:prstGeom>
          <a:noFill/>
          <a:ln/>
        </p:spPr>
        <p:txBody>
          <a:bodyPr wrap="square" lIns="0" tIns="0" rIns="0" bIns="0" rtlCol="0" anchor="t"/>
          <a:lstStyle/>
          <a:p>
            <a:pPr algn="ctr" indent="0" marL="0">
              <a:buNone/>
            </a:pPr>
            <a:r>
              <a:rPr lang="en-US" sz="1600" b="1" dirty="0">
                <a:solidFill>
                  <a:schemeClr val="tx2"/>
                </a:solidFill>
              </a:rPr>
              <a:t>1 · See the target</a:t>
            </a:r>
            <a:endParaRPr lang="en-US" sz="1600" dirty="0"/>
          </a:p>
        </p:txBody>
      </p:sp>
      <p:sp>
        <p:nvSpPr>
          <p:cNvPr id="12" name="Text 9"/>
          <p:cNvSpPr txBox="1"/>
          <p:nvPr/>
        </p:nvSpPr>
        <p:spPr>
          <a:xfrm>
            <a:off x="731520" y="4645152"/>
            <a:ext cx="1853123" cy="640080"/>
          </a:xfrm>
          <a:prstGeom prst="rect">
            <a:avLst/>
          </a:prstGeom>
          <a:noFill/>
          <a:ln/>
        </p:spPr>
        <p:txBody>
          <a:bodyPr wrap="square" lIns="0" tIns="0" rIns="0" bIns="0" rtlCol="0" anchor="t"/>
          <a:lstStyle/>
          <a:p>
            <a:pPr algn="ctr" indent="0" marL="0">
              <a:buNone/>
            </a:pPr>
            <a:r>
              <a:rPr lang="en-US" sz="1400" dirty="0">
                <a:solidFill>
                  <a:schemeClr val="tx1"/>
                </a:solidFill>
              </a:rPr>
              <a:t>PET maps target expression and tumour burden</a:t>
            </a:r>
            <a:endParaRPr lang="en-US" sz="1400" dirty="0"/>
          </a:p>
        </p:txBody>
      </p:sp>
      <p:sp>
        <p:nvSpPr>
          <p:cNvPr id="13" name="Shape 10"/>
          <p:cNvSpPr/>
          <p:nvPr/>
        </p:nvSpPr>
        <p:spPr>
          <a:xfrm>
            <a:off x="2156430" y="3771900"/>
            <a:ext cx="1222187" cy="0"/>
          </a:xfrm>
          <a:prstGeom prst="line">
            <a:avLst/>
          </a:prstGeom>
          <a:noFill/>
          <a:ln w="22225">
            <a:solidFill>
              <a:schemeClr val="accent6"/>
            </a:solidFill>
            <a:prstDash val="solid"/>
            <a:tailEnd type="triangle"/>
          </a:ln>
        </p:spPr>
      </p:sp>
      <p:sp>
        <p:nvSpPr>
          <p:cNvPr id="14" name="Shape 11"/>
          <p:cNvSpPr/>
          <p:nvPr/>
        </p:nvSpPr>
        <p:spPr>
          <a:xfrm>
            <a:off x="3488345" y="3383280"/>
            <a:ext cx="777240" cy="777240"/>
          </a:xfrm>
          <a:prstGeom prst="ellipse">
            <a:avLst/>
          </a:prstGeom>
          <a:solidFill>
            <a:schemeClr val="accent1"/>
          </a:solidFill>
          <a:ln/>
        </p:spPr>
      </p:sp>
      <p:pic>
        <p:nvPicPr>
          <p:cNvPr id="15" name="Image 1" descr="preencoded.png">    </p:cNvPr>
          <p:cNvPicPr>
            <a:picLocks noChangeAspect="1"/>
          </p:cNvPicPr>
          <p:nvPr/>
        </p:nvPicPr>
        <p:blipFill>
          <a:blip r:embed="rId2"/>
          <a:stretch>
            <a:fillRect/>
          </a:stretch>
        </p:blipFill>
        <p:spPr>
          <a:xfrm>
            <a:off x="3698199" y="3593135"/>
            <a:ext cx="357530" cy="357530"/>
          </a:xfrm>
          <a:prstGeom prst="rect">
            <a:avLst/>
          </a:prstGeom>
        </p:spPr>
      </p:pic>
      <p:sp>
        <p:nvSpPr>
          <p:cNvPr id="16" name="Text 12"/>
          <p:cNvSpPr txBox="1"/>
          <p:nvPr/>
        </p:nvSpPr>
        <p:spPr>
          <a:xfrm>
            <a:off x="2950403" y="4297680"/>
            <a:ext cx="1853123" cy="320040"/>
          </a:xfrm>
          <a:prstGeom prst="rect">
            <a:avLst/>
          </a:prstGeom>
          <a:noFill/>
          <a:ln/>
        </p:spPr>
        <p:txBody>
          <a:bodyPr wrap="square" lIns="0" tIns="0" rIns="0" bIns="0" rtlCol="0" anchor="t"/>
          <a:lstStyle/>
          <a:p>
            <a:pPr algn="ctr" indent="0" marL="0">
              <a:buNone/>
            </a:pPr>
            <a:r>
              <a:rPr lang="en-US" sz="1600" b="1" dirty="0">
                <a:solidFill>
                  <a:schemeClr val="tx2"/>
                </a:solidFill>
              </a:rPr>
              <a:t>2 · Select</a:t>
            </a:r>
            <a:endParaRPr lang="en-US" sz="1600" dirty="0"/>
          </a:p>
        </p:txBody>
      </p:sp>
      <p:sp>
        <p:nvSpPr>
          <p:cNvPr id="17" name="Text 13"/>
          <p:cNvSpPr txBox="1"/>
          <p:nvPr/>
        </p:nvSpPr>
        <p:spPr>
          <a:xfrm>
            <a:off x="2950403" y="4645152"/>
            <a:ext cx="1853123" cy="640080"/>
          </a:xfrm>
          <a:prstGeom prst="rect">
            <a:avLst/>
          </a:prstGeom>
          <a:noFill/>
          <a:ln/>
        </p:spPr>
        <p:txBody>
          <a:bodyPr wrap="square" lIns="0" tIns="0" rIns="0" bIns="0" rtlCol="0" anchor="t"/>
          <a:lstStyle/>
          <a:p>
            <a:pPr algn="ctr" indent="0" marL="0">
              <a:buNone/>
            </a:pPr>
            <a:r>
              <a:rPr lang="en-US" sz="1400" dirty="0">
                <a:solidFill>
                  <a:schemeClr val="tx1"/>
                </a:solidFill>
              </a:rPr>
              <a:t>Treat when disease expresses the target</a:t>
            </a:r>
            <a:endParaRPr lang="en-US" sz="1400" dirty="0"/>
          </a:p>
        </p:txBody>
      </p:sp>
      <p:sp>
        <p:nvSpPr>
          <p:cNvPr id="18" name="Shape 14"/>
          <p:cNvSpPr/>
          <p:nvPr/>
        </p:nvSpPr>
        <p:spPr>
          <a:xfrm>
            <a:off x="4375313" y="3771900"/>
            <a:ext cx="1222187" cy="0"/>
          </a:xfrm>
          <a:prstGeom prst="line">
            <a:avLst/>
          </a:prstGeom>
          <a:noFill/>
          <a:ln w="22225">
            <a:solidFill>
              <a:schemeClr val="accent6"/>
            </a:solidFill>
            <a:prstDash val="solid"/>
            <a:tailEnd type="triangle"/>
          </a:ln>
        </p:spPr>
      </p:sp>
      <p:sp>
        <p:nvSpPr>
          <p:cNvPr id="19" name="Shape 15"/>
          <p:cNvSpPr/>
          <p:nvPr/>
        </p:nvSpPr>
        <p:spPr>
          <a:xfrm>
            <a:off x="5707228" y="3383280"/>
            <a:ext cx="777240" cy="777240"/>
          </a:xfrm>
          <a:prstGeom prst="ellipse">
            <a:avLst/>
          </a:prstGeom>
          <a:solidFill>
            <a:schemeClr val="accent2"/>
          </a:solidFill>
          <a:ln/>
        </p:spPr>
      </p:sp>
      <p:pic>
        <p:nvPicPr>
          <p:cNvPr id="20" name="Image 2" descr="preencoded.png">    </p:cNvPr>
          <p:cNvPicPr>
            <a:picLocks noChangeAspect="1"/>
          </p:cNvPicPr>
          <p:nvPr/>
        </p:nvPicPr>
        <p:blipFill>
          <a:blip r:embed="rId3"/>
          <a:stretch>
            <a:fillRect/>
          </a:stretch>
        </p:blipFill>
        <p:spPr>
          <a:xfrm>
            <a:off x="5917082" y="3593135"/>
            <a:ext cx="357530" cy="357530"/>
          </a:xfrm>
          <a:prstGeom prst="rect">
            <a:avLst/>
          </a:prstGeom>
        </p:spPr>
      </p:pic>
      <p:sp>
        <p:nvSpPr>
          <p:cNvPr id="21" name="Text 16"/>
          <p:cNvSpPr txBox="1"/>
          <p:nvPr/>
        </p:nvSpPr>
        <p:spPr>
          <a:xfrm>
            <a:off x="5169286" y="4297680"/>
            <a:ext cx="1853123" cy="320040"/>
          </a:xfrm>
          <a:prstGeom prst="rect">
            <a:avLst/>
          </a:prstGeom>
          <a:noFill/>
          <a:ln/>
        </p:spPr>
        <p:txBody>
          <a:bodyPr wrap="square" lIns="0" tIns="0" rIns="0" bIns="0" rtlCol="0" anchor="t"/>
          <a:lstStyle/>
          <a:p>
            <a:pPr algn="ctr" indent="0" marL="0">
              <a:buNone/>
            </a:pPr>
            <a:r>
              <a:rPr lang="en-US" sz="1600" b="1" dirty="0">
                <a:solidFill>
                  <a:schemeClr val="accent2"/>
                </a:solidFill>
              </a:rPr>
              <a:t>3 · Plan</a:t>
            </a:r>
            <a:endParaRPr lang="en-US" sz="1600" dirty="0"/>
          </a:p>
        </p:txBody>
      </p:sp>
      <p:sp>
        <p:nvSpPr>
          <p:cNvPr id="22" name="Text 17"/>
          <p:cNvSpPr txBox="1"/>
          <p:nvPr/>
        </p:nvSpPr>
        <p:spPr>
          <a:xfrm>
            <a:off x="5169286" y="4645152"/>
            <a:ext cx="1853123" cy="640080"/>
          </a:xfrm>
          <a:prstGeom prst="rect">
            <a:avLst/>
          </a:prstGeom>
          <a:noFill/>
          <a:ln/>
        </p:spPr>
        <p:txBody>
          <a:bodyPr wrap="square" lIns="0" tIns="0" rIns="0" bIns="0" rtlCol="0" anchor="t"/>
          <a:lstStyle/>
          <a:p>
            <a:pPr algn="ctr" indent="0" marL="0">
              <a:buNone/>
            </a:pPr>
            <a:r>
              <a:rPr lang="en-US" sz="1400" dirty="0">
                <a:solidFill>
                  <a:schemeClr val="tx1"/>
                </a:solidFill>
              </a:rPr>
              <a:t>Predict tumour and organ dose; choose the strategy</a:t>
            </a:r>
            <a:endParaRPr lang="en-US" sz="1400" dirty="0"/>
          </a:p>
        </p:txBody>
      </p:sp>
      <p:sp>
        <p:nvSpPr>
          <p:cNvPr id="23" name="Shape 18"/>
          <p:cNvSpPr/>
          <p:nvPr/>
        </p:nvSpPr>
        <p:spPr>
          <a:xfrm>
            <a:off x="6594196" y="3771900"/>
            <a:ext cx="1222187" cy="0"/>
          </a:xfrm>
          <a:prstGeom prst="line">
            <a:avLst/>
          </a:prstGeom>
          <a:noFill/>
          <a:ln w="22225">
            <a:solidFill>
              <a:schemeClr val="accent6"/>
            </a:solidFill>
            <a:prstDash val="solid"/>
            <a:tailEnd type="triangle"/>
          </a:ln>
        </p:spPr>
      </p:sp>
      <p:sp>
        <p:nvSpPr>
          <p:cNvPr id="24" name="Shape 19"/>
          <p:cNvSpPr/>
          <p:nvPr/>
        </p:nvSpPr>
        <p:spPr>
          <a:xfrm>
            <a:off x="7926111" y="3383280"/>
            <a:ext cx="777240" cy="777240"/>
          </a:xfrm>
          <a:prstGeom prst="ellipse">
            <a:avLst/>
          </a:prstGeom>
          <a:solidFill>
            <a:schemeClr val="accent1"/>
          </a:solidFill>
          <a:ln/>
        </p:spPr>
      </p:sp>
      <p:pic>
        <p:nvPicPr>
          <p:cNvPr id="25" name="Image 3" descr="preencoded.png">    </p:cNvPr>
          <p:cNvPicPr>
            <a:picLocks noChangeAspect="1"/>
          </p:cNvPicPr>
          <p:nvPr/>
        </p:nvPicPr>
        <p:blipFill>
          <a:blip r:embed="rId4"/>
          <a:stretch>
            <a:fillRect/>
          </a:stretch>
        </p:blipFill>
        <p:spPr>
          <a:xfrm>
            <a:off x="8135965" y="3593135"/>
            <a:ext cx="357530" cy="357530"/>
          </a:xfrm>
          <a:prstGeom prst="rect">
            <a:avLst/>
          </a:prstGeom>
        </p:spPr>
      </p:pic>
      <p:sp>
        <p:nvSpPr>
          <p:cNvPr id="26" name="Text 20"/>
          <p:cNvSpPr txBox="1"/>
          <p:nvPr/>
        </p:nvSpPr>
        <p:spPr>
          <a:xfrm>
            <a:off x="7388169" y="4297680"/>
            <a:ext cx="1853123" cy="320040"/>
          </a:xfrm>
          <a:prstGeom prst="rect">
            <a:avLst/>
          </a:prstGeom>
          <a:noFill/>
          <a:ln/>
        </p:spPr>
        <p:txBody>
          <a:bodyPr wrap="square" lIns="0" tIns="0" rIns="0" bIns="0" rtlCol="0" anchor="t"/>
          <a:lstStyle/>
          <a:p>
            <a:pPr algn="ctr" indent="0" marL="0">
              <a:buNone/>
            </a:pPr>
            <a:r>
              <a:rPr lang="en-US" sz="1600" b="1" dirty="0">
                <a:solidFill>
                  <a:schemeClr val="tx2"/>
                </a:solidFill>
              </a:rPr>
              <a:t>4 · Treat</a:t>
            </a:r>
            <a:endParaRPr lang="en-US" sz="1600" dirty="0"/>
          </a:p>
        </p:txBody>
      </p:sp>
      <p:sp>
        <p:nvSpPr>
          <p:cNvPr id="27" name="Text 21"/>
          <p:cNvSpPr txBox="1"/>
          <p:nvPr/>
        </p:nvSpPr>
        <p:spPr>
          <a:xfrm>
            <a:off x="7388169" y="4645152"/>
            <a:ext cx="1853123" cy="640080"/>
          </a:xfrm>
          <a:prstGeom prst="rect">
            <a:avLst/>
          </a:prstGeom>
          <a:noFill/>
          <a:ln/>
        </p:spPr>
        <p:txBody>
          <a:bodyPr wrap="square" lIns="0" tIns="0" rIns="0" bIns="0" rtlCol="0" anchor="t"/>
          <a:lstStyle/>
          <a:p>
            <a:pPr algn="ctr" indent="0" marL="0">
              <a:buNone/>
            </a:pPr>
            <a:r>
              <a:rPr lang="en-US" sz="1400" dirty="0">
                <a:solidFill>
                  <a:schemeClr val="tx1"/>
                </a:solidFill>
              </a:rPr>
              <a:t>Same ligand with a β, α or Auger emitter</a:t>
            </a:r>
            <a:endParaRPr lang="en-US" sz="1400" dirty="0"/>
          </a:p>
        </p:txBody>
      </p:sp>
      <p:sp>
        <p:nvSpPr>
          <p:cNvPr id="28" name="Shape 22"/>
          <p:cNvSpPr/>
          <p:nvPr/>
        </p:nvSpPr>
        <p:spPr>
          <a:xfrm>
            <a:off x="8813079" y="3771900"/>
            <a:ext cx="1222187" cy="0"/>
          </a:xfrm>
          <a:prstGeom prst="line">
            <a:avLst/>
          </a:prstGeom>
          <a:noFill/>
          <a:ln w="22225">
            <a:solidFill>
              <a:schemeClr val="accent6"/>
            </a:solidFill>
            <a:prstDash val="solid"/>
            <a:tailEnd type="triangle"/>
          </a:ln>
        </p:spPr>
      </p:sp>
      <p:sp>
        <p:nvSpPr>
          <p:cNvPr id="29" name="Shape 23"/>
          <p:cNvSpPr/>
          <p:nvPr/>
        </p:nvSpPr>
        <p:spPr>
          <a:xfrm>
            <a:off x="10144994" y="3383280"/>
            <a:ext cx="777240" cy="777240"/>
          </a:xfrm>
          <a:prstGeom prst="ellipse">
            <a:avLst/>
          </a:prstGeom>
          <a:solidFill>
            <a:schemeClr val="accent1"/>
          </a:solidFill>
          <a:ln/>
        </p:spPr>
      </p:sp>
      <p:pic>
        <p:nvPicPr>
          <p:cNvPr id="30" name="Image 4" descr="preencoded.png">    </p:cNvPr>
          <p:cNvPicPr>
            <a:picLocks noChangeAspect="1"/>
          </p:cNvPicPr>
          <p:nvPr/>
        </p:nvPicPr>
        <p:blipFill>
          <a:blip r:embed="rId5"/>
          <a:stretch>
            <a:fillRect/>
          </a:stretch>
        </p:blipFill>
        <p:spPr>
          <a:xfrm>
            <a:off x="10354848" y="3593135"/>
            <a:ext cx="357530" cy="357530"/>
          </a:xfrm>
          <a:prstGeom prst="rect">
            <a:avLst/>
          </a:prstGeom>
        </p:spPr>
      </p:pic>
      <p:sp>
        <p:nvSpPr>
          <p:cNvPr id="31" name="Text 24"/>
          <p:cNvSpPr txBox="1"/>
          <p:nvPr/>
        </p:nvSpPr>
        <p:spPr>
          <a:xfrm>
            <a:off x="9607052" y="4297680"/>
            <a:ext cx="1853123" cy="320040"/>
          </a:xfrm>
          <a:prstGeom prst="rect">
            <a:avLst/>
          </a:prstGeom>
          <a:noFill/>
          <a:ln/>
        </p:spPr>
        <p:txBody>
          <a:bodyPr wrap="square" lIns="0" tIns="0" rIns="0" bIns="0" rtlCol="0" anchor="t"/>
          <a:lstStyle/>
          <a:p>
            <a:pPr algn="ctr" indent="0" marL="0">
              <a:buNone/>
            </a:pPr>
            <a:r>
              <a:rPr lang="en-US" sz="1600" b="1" dirty="0">
                <a:solidFill>
                  <a:schemeClr val="tx2"/>
                </a:solidFill>
              </a:rPr>
              <a:t>5 · Monitor and adapt</a:t>
            </a:r>
            <a:endParaRPr lang="en-US" sz="1600" dirty="0"/>
          </a:p>
        </p:txBody>
      </p:sp>
      <p:sp>
        <p:nvSpPr>
          <p:cNvPr id="32" name="Text 25"/>
          <p:cNvSpPr txBox="1"/>
          <p:nvPr/>
        </p:nvSpPr>
        <p:spPr>
          <a:xfrm>
            <a:off x="9607052" y="4645152"/>
            <a:ext cx="1853123" cy="640080"/>
          </a:xfrm>
          <a:prstGeom prst="rect">
            <a:avLst/>
          </a:prstGeom>
          <a:noFill/>
          <a:ln/>
        </p:spPr>
        <p:txBody>
          <a:bodyPr wrap="square" lIns="0" tIns="0" rIns="0" bIns="0" rtlCol="0" anchor="t"/>
          <a:lstStyle/>
          <a:p>
            <a:pPr algn="ctr" indent="0" marL="0">
              <a:buNone/>
            </a:pPr>
            <a:r>
              <a:rPr lang="en-US" sz="1400" dirty="0">
                <a:solidFill>
                  <a:schemeClr val="tx1"/>
                </a:solidFill>
              </a:rPr>
              <a:t>Post-therapy SPECT/PET guide the next cycle</a:t>
            </a:r>
            <a:endParaRPr lang="en-US" sz="1400" dirty="0"/>
          </a:p>
        </p:txBody>
      </p:sp>
      <p:sp>
        <p:nvSpPr>
          <p:cNvPr id="33" name="Text 26"/>
          <p:cNvSpPr txBox="1"/>
          <p:nvPr/>
        </p:nvSpPr>
        <p:spPr>
          <a:xfrm>
            <a:off x="4437766" y="2852928"/>
            <a:ext cx="3316163" cy="274320"/>
          </a:xfrm>
          <a:prstGeom prst="rect">
            <a:avLst/>
          </a:prstGeom>
          <a:noFill/>
          <a:ln/>
        </p:spPr>
        <p:txBody>
          <a:bodyPr wrap="square" lIns="0" tIns="0" rIns="0" bIns="0" rtlCol="0" anchor="t"/>
          <a:lstStyle/>
          <a:p>
            <a:pPr algn="ctr" indent="0" marL="0">
              <a:buNone/>
            </a:pPr>
            <a:r>
              <a:rPr lang="en-US" sz="1100" b="1" dirty="0">
                <a:solidFill>
                  <a:schemeClr val="accent2"/>
                </a:solidFill>
              </a:rPr>
              <a:t>Missing in routine care: activity is mostly fixed</a:t>
            </a:r>
            <a:endParaRPr lang="en-US" sz="1100" dirty="0"/>
          </a:p>
        </p:txBody>
      </p:sp>
      <p:sp>
        <p:nvSpPr>
          <p:cNvPr id="34" name="Shape 27"/>
          <p:cNvSpPr/>
          <p:nvPr/>
        </p:nvSpPr>
        <p:spPr>
          <a:xfrm>
            <a:off x="10533614" y="5303520"/>
            <a:ext cx="0" cy="182880"/>
          </a:xfrm>
          <a:prstGeom prst="line">
            <a:avLst/>
          </a:prstGeom>
          <a:noFill/>
          <a:ln w="19050">
            <a:solidFill>
              <a:schemeClr val="accent6"/>
            </a:solidFill>
            <a:prstDash val="dash"/>
          </a:ln>
        </p:spPr>
      </p:sp>
      <p:sp>
        <p:nvSpPr>
          <p:cNvPr id="35" name="Shape 28"/>
          <p:cNvSpPr/>
          <p:nvPr/>
        </p:nvSpPr>
        <p:spPr>
          <a:xfrm flipH="1">
            <a:off x="1658082" y="5486400"/>
            <a:ext cx="8875532" cy="0"/>
          </a:xfrm>
          <a:prstGeom prst="line">
            <a:avLst/>
          </a:prstGeom>
          <a:noFill/>
          <a:ln w="19050">
            <a:solidFill>
              <a:schemeClr val="accent6"/>
            </a:solidFill>
            <a:prstDash val="dash"/>
          </a:ln>
        </p:spPr>
      </p:sp>
      <p:sp>
        <p:nvSpPr>
          <p:cNvPr id="36" name="Shape 29"/>
          <p:cNvSpPr/>
          <p:nvPr/>
        </p:nvSpPr>
        <p:spPr>
          <a:xfrm flipV="1">
            <a:off x="1658082" y="5349240"/>
            <a:ext cx="0" cy="137160"/>
          </a:xfrm>
          <a:prstGeom prst="line">
            <a:avLst/>
          </a:prstGeom>
          <a:noFill/>
          <a:ln w="22225">
            <a:solidFill>
              <a:schemeClr val="accent6"/>
            </a:solidFill>
            <a:prstDash val="dash"/>
            <a:tailEnd type="triangle"/>
          </a:ln>
        </p:spPr>
      </p:sp>
      <p:sp>
        <p:nvSpPr>
          <p:cNvPr id="37" name="Text 30"/>
          <p:cNvSpPr txBox="1"/>
          <p:nvPr/>
        </p:nvSpPr>
        <p:spPr>
          <a:xfrm>
            <a:off x="5181448" y="5522976"/>
            <a:ext cx="1828800" cy="256032"/>
          </a:xfrm>
          <a:prstGeom prst="rect">
            <a:avLst/>
          </a:prstGeom>
          <a:noFill/>
          <a:ln/>
        </p:spPr>
        <p:txBody>
          <a:bodyPr wrap="square" lIns="0" tIns="0" rIns="0" bIns="0" rtlCol="0" anchor="t"/>
          <a:lstStyle/>
          <a:p>
            <a:pPr algn="ctr" indent="0" marL="0">
              <a:buNone/>
            </a:pPr>
            <a:r>
              <a:rPr lang="en-US" sz="1200" i="1" dirty="0">
                <a:solidFill>
                  <a:schemeClr val="accent6"/>
                </a:solidFill>
              </a:rPr>
              <a:t>every cycle</a:t>
            </a:r>
            <a:endParaRPr lang="en-US" sz="1200" dirty="0"/>
          </a:p>
        </p:txBody>
      </p:sp>
      <p:sp>
        <p:nvSpPr>
          <p:cNvPr id="38" name="Text 31"/>
          <p:cNvSpPr txBox="1"/>
          <p:nvPr/>
        </p:nvSpPr>
        <p:spPr>
          <a:xfrm>
            <a:off x="548640" y="5897880"/>
            <a:ext cx="11094415" cy="365760"/>
          </a:xfrm>
          <a:prstGeom prst="rect">
            <a:avLst/>
          </a:prstGeom>
          <a:noFill/>
          <a:ln/>
        </p:spPr>
        <p:txBody>
          <a:bodyPr wrap="square" lIns="0" tIns="0" rIns="0" bIns="0" rtlCol="0" anchor="t"/>
          <a:lstStyle/>
          <a:p>
            <a:pPr algn="ctr" indent="0" marL="0">
              <a:buNone/>
            </a:pPr>
            <a:r>
              <a:rPr lang="en-US" sz="1500" i="1" dirty="0">
                <a:solidFill>
                  <a:schemeClr val="tx2"/>
                </a:solidFill>
              </a:rPr>
              <a:t>Imaging observations inform models. Measured outcomes test their predictions.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400" b="1" dirty="0">
                <a:solidFill>
                  <a:schemeClr val="tx2"/>
                </a:solidFill>
              </a:rPr>
              <a:t>The question that connects the program</a:t>
            </a:r>
            <a:endParaRPr lang="en-US" sz="3400" dirty="0"/>
          </a:p>
        </p:txBody>
      </p:sp>
      <p:sp>
        <p:nvSpPr>
          <p:cNvPr id="3" name="Shape 1"/>
          <p:cNvSpPr/>
          <p:nvPr/>
        </p:nvSpPr>
        <p:spPr>
          <a:xfrm>
            <a:off x="548640" y="1188720"/>
            <a:ext cx="11094415" cy="1097280"/>
          </a:xfrm>
          <a:prstGeom prst="roundRect">
            <a:avLst>
              <a:gd name="adj" fmla="val 6667"/>
            </a:avLst>
          </a:prstGeom>
          <a:solidFill>
            <a:schemeClr val="tx2"/>
          </a:solidFill>
          <a:ln/>
        </p:spPr>
      </p:sp>
      <p:sp>
        <p:nvSpPr>
          <p:cNvPr id="4" name="Text 2"/>
          <p:cNvSpPr txBox="1"/>
          <p:nvPr/>
        </p:nvSpPr>
        <p:spPr>
          <a:xfrm>
            <a:off x="914400" y="1188720"/>
            <a:ext cx="10362895" cy="1097280"/>
          </a:xfrm>
          <a:prstGeom prst="rect">
            <a:avLst/>
          </a:prstGeom>
          <a:noFill/>
          <a:ln/>
        </p:spPr>
        <p:txBody>
          <a:bodyPr wrap="square" lIns="0" tIns="0" rIns="0" bIns="0" rtlCol="0" anchor="ctr"/>
          <a:lstStyle/>
          <a:p>
            <a:pPr algn="ctr" indent="0" marL="0">
              <a:buNone/>
            </a:pPr>
            <a:r>
              <a:rPr lang="en-US" sz="2400" b="1" dirty="0">
                <a:solidFill>
                  <a:schemeClr val="bg1"/>
                </a:solidFill>
              </a:rPr>
              <a:t>How can molecular imaging capture heterogeneity and guide patient-specific therapy?</a:t>
            </a:r>
            <a:endParaRPr lang="en-US" sz="2400" dirty="0"/>
          </a:p>
        </p:txBody>
      </p:sp>
      <p:sp>
        <p:nvSpPr>
          <p:cNvPr id="5" name="Shape 3"/>
          <p:cNvSpPr/>
          <p:nvPr/>
        </p:nvSpPr>
        <p:spPr>
          <a:xfrm>
            <a:off x="548640" y="2606040"/>
            <a:ext cx="3515258" cy="3246120"/>
          </a:xfrm>
          <a:prstGeom prst="roundRect">
            <a:avLst>
              <a:gd name="adj" fmla="val 2254"/>
            </a:avLst>
          </a:prstGeom>
          <a:solidFill>
            <a:schemeClr val="bg2"/>
          </a:solidFill>
          <a:ln/>
        </p:spPr>
      </p:sp>
      <p:sp>
        <p:nvSpPr>
          <p:cNvPr id="6" name="Shape 4"/>
          <p:cNvSpPr/>
          <p:nvPr/>
        </p:nvSpPr>
        <p:spPr>
          <a:xfrm>
            <a:off x="868680" y="2926080"/>
            <a:ext cx="685800" cy="685800"/>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1053846" y="3111246"/>
            <a:ext cx="315468" cy="315468"/>
          </a:xfrm>
          <a:prstGeom prst="rect">
            <a:avLst/>
          </a:prstGeom>
        </p:spPr>
      </p:pic>
      <p:sp>
        <p:nvSpPr>
          <p:cNvPr id="8" name="Text 5"/>
          <p:cNvSpPr txBox="1"/>
          <p:nvPr/>
        </p:nvSpPr>
        <p:spPr>
          <a:xfrm>
            <a:off x="1737360" y="2926080"/>
            <a:ext cx="2143658" cy="685800"/>
          </a:xfrm>
          <a:prstGeom prst="rect">
            <a:avLst/>
          </a:prstGeom>
          <a:noFill/>
          <a:ln/>
        </p:spPr>
        <p:txBody>
          <a:bodyPr wrap="square" lIns="0" tIns="0" rIns="0" bIns="0" rtlCol="0" anchor="ctr"/>
          <a:lstStyle/>
          <a:p>
            <a:pPr indent="0" marL="0">
              <a:buNone/>
            </a:pPr>
            <a:r>
              <a:rPr lang="en-US" sz="2200" b="1" dirty="0">
                <a:solidFill>
                  <a:schemeClr val="tx2"/>
                </a:solidFill>
              </a:rPr>
              <a:t>Heterogeneity</a:t>
            </a:r>
            <a:endParaRPr lang="en-US" sz="2200" dirty="0"/>
          </a:p>
        </p:txBody>
      </p:sp>
      <p:sp>
        <p:nvSpPr>
          <p:cNvPr id="9" name="Text 6"/>
          <p:cNvSpPr txBox="1"/>
          <p:nvPr/>
        </p:nvSpPr>
        <p:spPr>
          <a:xfrm>
            <a:off x="868680" y="3794760"/>
            <a:ext cx="2875178" cy="731520"/>
          </a:xfrm>
          <a:prstGeom prst="rect">
            <a:avLst/>
          </a:prstGeom>
          <a:noFill/>
          <a:ln/>
        </p:spPr>
        <p:txBody>
          <a:bodyPr wrap="square" lIns="0" tIns="0" rIns="0" bIns="0" rtlCol="0" anchor="t"/>
          <a:lstStyle/>
          <a:p>
            <a:pPr indent="0" marL="0">
              <a:buNone/>
            </a:pPr>
            <a:r>
              <a:rPr lang="en-US" sz="1500" dirty="0">
                <a:solidFill>
                  <a:schemeClr val="tx1"/>
                </a:solidFill>
              </a:rPr>
              <a:t>Biology varies within and between tumours, and over time</a:t>
            </a:r>
            <a:endParaRPr lang="en-US" sz="1500" dirty="0"/>
          </a:p>
        </p:txBody>
      </p:sp>
      <p:sp>
        <p:nvSpPr>
          <p:cNvPr id="10" name="Text 7"/>
          <p:cNvSpPr txBox="1"/>
          <p:nvPr/>
        </p:nvSpPr>
        <p:spPr>
          <a:xfrm>
            <a:off x="868680" y="4572000"/>
            <a:ext cx="2875178" cy="640080"/>
          </a:xfrm>
          <a:prstGeom prst="rect">
            <a:avLst/>
          </a:prstGeom>
          <a:noFill/>
          <a:ln/>
        </p:spPr>
        <p:txBody>
          <a:bodyPr wrap="square" lIns="0" tIns="0" rIns="0" bIns="0" rtlCol="0" anchor="t"/>
          <a:lstStyle/>
          <a:p>
            <a:pPr indent="0" marL="0">
              <a:buNone/>
            </a:pPr>
            <a:r>
              <a:rPr lang="en-US" sz="4000" b="1" dirty="0">
                <a:solidFill>
                  <a:schemeClr val="accent1"/>
                </a:solidFill>
              </a:rPr>
              <a:t>33% vs 18%</a:t>
            </a:r>
            <a:endParaRPr lang="en-US" sz="4000" dirty="0"/>
          </a:p>
        </p:txBody>
      </p:sp>
      <p:sp>
        <p:nvSpPr>
          <p:cNvPr id="11" name="Text 8"/>
          <p:cNvSpPr txBox="1"/>
          <p:nvPr/>
        </p:nvSpPr>
        <p:spPr>
          <a:xfrm>
            <a:off x="868680" y="5212080"/>
            <a:ext cx="2875178" cy="502920"/>
          </a:xfrm>
          <a:prstGeom prst="rect">
            <a:avLst/>
          </a:prstGeom>
          <a:noFill/>
          <a:ln/>
        </p:spPr>
        <p:txBody>
          <a:bodyPr wrap="square" lIns="0" tIns="0" rIns="0" bIns="0" rtlCol="0" anchor="t"/>
          <a:lstStyle/>
          <a:p>
            <a:pPr indent="0" marL="0">
              <a:buNone/>
            </a:pPr>
            <a:r>
              <a:rPr lang="en-US" sz="1200" dirty="0">
                <a:solidFill>
                  <a:schemeClr val="accent6"/>
                </a:solidFill>
              </a:rPr>
              <a:t>variability (CV) in effective half-life: lesions vs kidneys</a:t>
            </a:r>
            <a:endParaRPr lang="en-US" sz="1200" dirty="0"/>
          </a:p>
        </p:txBody>
      </p:sp>
      <p:sp>
        <p:nvSpPr>
          <p:cNvPr id="12" name="Shape 9"/>
          <p:cNvSpPr/>
          <p:nvPr/>
        </p:nvSpPr>
        <p:spPr>
          <a:xfrm>
            <a:off x="4338218" y="2606040"/>
            <a:ext cx="3515258" cy="3246120"/>
          </a:xfrm>
          <a:prstGeom prst="roundRect">
            <a:avLst>
              <a:gd name="adj" fmla="val 2254"/>
            </a:avLst>
          </a:prstGeom>
          <a:solidFill>
            <a:schemeClr val="bg2"/>
          </a:solidFill>
          <a:ln/>
        </p:spPr>
      </p:sp>
      <p:sp>
        <p:nvSpPr>
          <p:cNvPr id="13" name="Shape 10"/>
          <p:cNvSpPr/>
          <p:nvPr/>
        </p:nvSpPr>
        <p:spPr>
          <a:xfrm>
            <a:off x="4658258" y="2926080"/>
            <a:ext cx="685800" cy="685800"/>
          </a:xfrm>
          <a:prstGeom prst="ellipse">
            <a:avLst/>
          </a:prstGeom>
          <a:solidFill>
            <a:schemeClr val="accent3"/>
          </a:solidFill>
          <a:ln/>
        </p:spPr>
      </p:sp>
      <p:pic>
        <p:nvPicPr>
          <p:cNvPr id="14" name="Image 1" descr="preencoded.png">    </p:cNvPr>
          <p:cNvPicPr>
            <a:picLocks noChangeAspect="1"/>
          </p:cNvPicPr>
          <p:nvPr/>
        </p:nvPicPr>
        <p:blipFill>
          <a:blip r:embed="rId2"/>
          <a:stretch>
            <a:fillRect/>
          </a:stretch>
        </p:blipFill>
        <p:spPr>
          <a:xfrm>
            <a:off x="4843424" y="3111246"/>
            <a:ext cx="315468" cy="315468"/>
          </a:xfrm>
          <a:prstGeom prst="rect">
            <a:avLst/>
          </a:prstGeom>
        </p:spPr>
      </p:pic>
      <p:sp>
        <p:nvSpPr>
          <p:cNvPr id="15" name="Text 11"/>
          <p:cNvSpPr txBox="1"/>
          <p:nvPr/>
        </p:nvSpPr>
        <p:spPr>
          <a:xfrm>
            <a:off x="5526938" y="2926080"/>
            <a:ext cx="2143658" cy="685800"/>
          </a:xfrm>
          <a:prstGeom prst="rect">
            <a:avLst/>
          </a:prstGeom>
          <a:noFill/>
          <a:ln/>
        </p:spPr>
        <p:txBody>
          <a:bodyPr wrap="square" lIns="0" tIns="0" rIns="0" bIns="0" rtlCol="0" anchor="ctr"/>
          <a:lstStyle/>
          <a:p>
            <a:pPr indent="0" marL="0">
              <a:buNone/>
            </a:pPr>
            <a:r>
              <a:rPr lang="en-US" sz="2200" b="1" dirty="0">
                <a:solidFill>
                  <a:schemeClr val="tx2"/>
                </a:solidFill>
              </a:rPr>
              <a:t>Dosimetry</a:t>
            </a:r>
            <a:endParaRPr lang="en-US" sz="2200" dirty="0"/>
          </a:p>
        </p:txBody>
      </p:sp>
      <p:sp>
        <p:nvSpPr>
          <p:cNvPr id="16" name="Text 12"/>
          <p:cNvSpPr txBox="1"/>
          <p:nvPr/>
        </p:nvSpPr>
        <p:spPr>
          <a:xfrm>
            <a:off x="4658258" y="3794760"/>
            <a:ext cx="2875178" cy="731520"/>
          </a:xfrm>
          <a:prstGeom prst="rect">
            <a:avLst/>
          </a:prstGeom>
          <a:noFill/>
          <a:ln/>
        </p:spPr>
        <p:txBody>
          <a:bodyPr wrap="square" lIns="0" tIns="0" rIns="0" bIns="0" rtlCol="0" anchor="t"/>
          <a:lstStyle/>
          <a:p>
            <a:pPr indent="0" marL="0">
              <a:buNone/>
            </a:pPr>
            <a:r>
              <a:rPr lang="en-US" sz="1500" dirty="0">
                <a:solidFill>
                  <a:schemeClr val="tx1"/>
                </a:solidFill>
              </a:rPr>
              <a:t>Exposure varies, and measurement noise can look like biological change</a:t>
            </a:r>
            <a:endParaRPr lang="en-US" sz="1500" dirty="0"/>
          </a:p>
        </p:txBody>
      </p:sp>
      <p:sp>
        <p:nvSpPr>
          <p:cNvPr id="17" name="Text 13"/>
          <p:cNvSpPr txBox="1"/>
          <p:nvPr/>
        </p:nvSpPr>
        <p:spPr>
          <a:xfrm>
            <a:off x="4658258" y="4572000"/>
            <a:ext cx="2875178" cy="640080"/>
          </a:xfrm>
          <a:prstGeom prst="rect">
            <a:avLst/>
          </a:prstGeom>
          <a:noFill/>
          <a:ln/>
        </p:spPr>
        <p:txBody>
          <a:bodyPr wrap="square" lIns="0" tIns="0" rIns="0" bIns="0" rtlCol="0" anchor="t"/>
          <a:lstStyle/>
          <a:p>
            <a:pPr indent="0" marL="0">
              <a:buNone/>
            </a:pPr>
            <a:r>
              <a:rPr lang="en-US" sz="4000" b="1" dirty="0">
                <a:solidFill>
                  <a:schemeClr val="accent3"/>
                </a:solidFill>
              </a:rPr>
              <a:t>3–4 scans</a:t>
            </a:r>
            <a:endParaRPr lang="en-US" sz="4000" dirty="0"/>
          </a:p>
        </p:txBody>
      </p:sp>
      <p:sp>
        <p:nvSpPr>
          <p:cNvPr id="18" name="Text 14"/>
          <p:cNvSpPr txBox="1"/>
          <p:nvPr/>
        </p:nvSpPr>
        <p:spPr>
          <a:xfrm>
            <a:off x="4658258" y="5212080"/>
            <a:ext cx="2875178" cy="502920"/>
          </a:xfrm>
          <a:prstGeom prst="rect">
            <a:avLst/>
          </a:prstGeom>
          <a:noFill/>
          <a:ln/>
        </p:spPr>
        <p:txBody>
          <a:bodyPr wrap="square" lIns="0" tIns="0" rIns="0" bIns="0" rtlCol="0" anchor="t"/>
          <a:lstStyle/>
          <a:p>
            <a:pPr indent="0" marL="0">
              <a:buNone/>
            </a:pPr>
            <a:r>
              <a:rPr lang="en-US" sz="1200" dirty="0">
                <a:solidFill>
                  <a:schemeClr val="accent6"/>
                </a:solidFill>
              </a:rPr>
              <a:t>over 4–7 days for patient-specific dosimetry today</a:t>
            </a:r>
            <a:endParaRPr lang="en-US" sz="1200" dirty="0"/>
          </a:p>
        </p:txBody>
      </p:sp>
      <p:sp>
        <p:nvSpPr>
          <p:cNvPr id="19" name="Shape 15"/>
          <p:cNvSpPr/>
          <p:nvPr/>
        </p:nvSpPr>
        <p:spPr>
          <a:xfrm>
            <a:off x="8127797" y="2606040"/>
            <a:ext cx="3515258" cy="3246120"/>
          </a:xfrm>
          <a:prstGeom prst="roundRect">
            <a:avLst>
              <a:gd name="adj" fmla="val 2254"/>
            </a:avLst>
          </a:prstGeom>
          <a:solidFill>
            <a:schemeClr val="bg2"/>
          </a:solidFill>
          <a:ln/>
        </p:spPr>
      </p:sp>
      <p:sp>
        <p:nvSpPr>
          <p:cNvPr id="20" name="Shape 16"/>
          <p:cNvSpPr/>
          <p:nvPr/>
        </p:nvSpPr>
        <p:spPr>
          <a:xfrm>
            <a:off x="8447837" y="2926080"/>
            <a:ext cx="685800" cy="685800"/>
          </a:xfrm>
          <a:prstGeom prst="ellipse">
            <a:avLst/>
          </a:prstGeom>
          <a:solidFill>
            <a:schemeClr val="accent2"/>
          </a:solidFill>
          <a:ln/>
        </p:spPr>
      </p:sp>
      <p:pic>
        <p:nvPicPr>
          <p:cNvPr id="21" name="Image 2" descr="preencoded.png">    </p:cNvPr>
          <p:cNvPicPr>
            <a:picLocks noChangeAspect="1"/>
          </p:cNvPicPr>
          <p:nvPr/>
        </p:nvPicPr>
        <p:blipFill>
          <a:blip r:embed="rId3"/>
          <a:stretch>
            <a:fillRect/>
          </a:stretch>
        </p:blipFill>
        <p:spPr>
          <a:xfrm>
            <a:off x="8633003" y="3111246"/>
            <a:ext cx="315468" cy="315468"/>
          </a:xfrm>
          <a:prstGeom prst="rect">
            <a:avLst/>
          </a:prstGeom>
        </p:spPr>
      </p:pic>
      <p:sp>
        <p:nvSpPr>
          <p:cNvPr id="22" name="Text 17"/>
          <p:cNvSpPr txBox="1"/>
          <p:nvPr/>
        </p:nvSpPr>
        <p:spPr>
          <a:xfrm>
            <a:off x="9316517" y="2926080"/>
            <a:ext cx="2143658" cy="685800"/>
          </a:xfrm>
          <a:prstGeom prst="rect">
            <a:avLst/>
          </a:prstGeom>
          <a:noFill/>
          <a:ln/>
        </p:spPr>
        <p:txBody>
          <a:bodyPr wrap="square" lIns="0" tIns="0" rIns="0" bIns="0" rtlCol="0" anchor="ctr"/>
          <a:lstStyle/>
          <a:p>
            <a:pPr indent="0" marL="0">
              <a:buNone/>
            </a:pPr>
            <a:r>
              <a:rPr lang="en-US" sz="2200" b="1" dirty="0">
                <a:solidFill>
                  <a:schemeClr val="tx2"/>
                </a:solidFill>
              </a:rPr>
              <a:t>Integration</a:t>
            </a:r>
            <a:endParaRPr lang="en-US" sz="2200" dirty="0"/>
          </a:p>
        </p:txBody>
      </p:sp>
      <p:sp>
        <p:nvSpPr>
          <p:cNvPr id="23" name="Text 18"/>
          <p:cNvSpPr txBox="1"/>
          <p:nvPr/>
        </p:nvSpPr>
        <p:spPr>
          <a:xfrm>
            <a:off x="8447837" y="3794760"/>
            <a:ext cx="2875178" cy="731520"/>
          </a:xfrm>
          <a:prstGeom prst="rect">
            <a:avLst/>
          </a:prstGeom>
          <a:noFill/>
          <a:ln/>
        </p:spPr>
        <p:txBody>
          <a:bodyPr wrap="square" lIns="0" tIns="0" rIns="0" bIns="0" rtlCol="0" anchor="t"/>
          <a:lstStyle/>
          <a:p>
            <a:pPr indent="0" marL="0">
              <a:buNone/>
            </a:pPr>
            <a:r>
              <a:rPr lang="en-US" sz="1500" dirty="0">
                <a:solidFill>
                  <a:schemeClr val="tx1"/>
                </a:solidFill>
              </a:rPr>
              <a:t>Decisions need a credible link from measurement to prediction</a:t>
            </a:r>
            <a:endParaRPr lang="en-US" sz="1500" dirty="0"/>
          </a:p>
        </p:txBody>
      </p:sp>
      <p:sp>
        <p:nvSpPr>
          <p:cNvPr id="24" name="Text 19"/>
          <p:cNvSpPr txBox="1"/>
          <p:nvPr/>
        </p:nvSpPr>
        <p:spPr>
          <a:xfrm>
            <a:off x="8447837" y="4572000"/>
            <a:ext cx="2875178" cy="640080"/>
          </a:xfrm>
          <a:prstGeom prst="rect">
            <a:avLst/>
          </a:prstGeom>
          <a:noFill/>
          <a:ln/>
        </p:spPr>
        <p:txBody>
          <a:bodyPr wrap="square" lIns="0" tIns="0" rIns="0" bIns="0" rtlCol="0" anchor="t"/>
          <a:lstStyle/>
          <a:p>
            <a:pPr indent="0" marL="0">
              <a:buNone/>
            </a:pPr>
            <a:r>
              <a:rPr lang="en-US" sz="4000" b="1" dirty="0">
                <a:solidFill>
                  <a:schemeClr val="accent2"/>
                </a:solidFill>
              </a:rPr>
              <a:t>3.4%</a:t>
            </a:r>
            <a:endParaRPr lang="en-US" sz="4000" dirty="0"/>
          </a:p>
        </p:txBody>
      </p:sp>
      <p:sp>
        <p:nvSpPr>
          <p:cNvPr id="25" name="Text 20"/>
          <p:cNvSpPr txBox="1"/>
          <p:nvPr/>
        </p:nvSpPr>
        <p:spPr>
          <a:xfrm>
            <a:off x="8447837" y="5212080"/>
            <a:ext cx="2875178" cy="502920"/>
          </a:xfrm>
          <a:prstGeom prst="rect">
            <a:avLst/>
          </a:prstGeom>
          <a:noFill/>
          <a:ln/>
        </p:spPr>
        <p:txBody>
          <a:bodyPr wrap="square" lIns="0" tIns="0" rIns="0" bIns="0" rtlCol="0" anchor="t"/>
          <a:lstStyle/>
          <a:p>
            <a:pPr indent="0" marL="0">
              <a:buNone/>
            </a:pPr>
            <a:r>
              <a:rPr lang="en-US" sz="1200" dirty="0">
                <a:solidFill>
                  <a:schemeClr val="accent6"/>
                </a:solidFill>
              </a:rPr>
              <a:t>of oncology drugs entering Phase 1 reach approval</a:t>
            </a:r>
            <a:endParaRPr lang="en-US" sz="1200" dirty="0"/>
          </a:p>
        </p:txBody>
      </p:sp>
      <p:sp>
        <p:nvSpPr>
          <p:cNvPr id="26" name="Text 21"/>
          <p:cNvSpPr txBox="1"/>
          <p:nvPr/>
        </p:nvSpPr>
        <p:spPr>
          <a:xfrm>
            <a:off x="548640" y="5989320"/>
            <a:ext cx="11094415" cy="274320"/>
          </a:xfrm>
          <a:prstGeom prst="rect">
            <a:avLst/>
          </a:prstGeom>
          <a:noFill/>
          <a:ln/>
        </p:spPr>
        <p:txBody>
          <a:bodyPr wrap="square" lIns="0" tIns="0" rIns="0" bIns="0" rtlCol="0" anchor="t"/>
          <a:lstStyle/>
          <a:p>
            <a:pPr algn="l" indent="0" marL="0">
              <a:buNone/>
            </a:pPr>
            <a:r>
              <a:rPr lang="en-US" sz="1000" i="1" dirty="0">
                <a:solidFill>
                  <a:schemeClr val="accent6"/>
                </a:solidFill>
              </a:rPr>
              <a:t>Yazdani et al., Theranostics 2026 (half-life variability; imaging burden); Wong, Siah &amp; Lo, Biostatistics 2019 (3.4%).</a:t>
            </a:r>
            <a:endParaRPr lang="en-US" sz="1000" dirty="0"/>
          </a:p>
        </p:txBody>
      </p:sp>
      <p:sp>
        <p:nvSpPr>
          <p:cNvPr id="28"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indent="0" marL="0">
              <a:buNone/>
            </a:pP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400" b="1" dirty="0">
                <a:solidFill>
                  <a:schemeClr val="tx2"/>
                </a:solidFill>
              </a:rPr>
              <a:t>Five directions, one connected program</a:t>
            </a:r>
            <a:endParaRPr lang="en-US" sz="34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Reliable inputs feed a predictive model, which supports treatment decisions</a:t>
            </a:r>
            <a:endParaRPr lang="en-US" sz="1600" dirty="0"/>
          </a:p>
        </p:txBody>
      </p:sp>
      <p:sp>
        <p:nvSpPr>
          <p:cNvPr id="4" name="Shape 2"/>
          <p:cNvSpPr/>
          <p:nvPr/>
        </p:nvSpPr>
        <p:spPr>
          <a:xfrm>
            <a:off x="548640" y="1691640"/>
            <a:ext cx="4160520" cy="3566160"/>
          </a:xfrm>
          <a:prstGeom prst="roundRect">
            <a:avLst>
              <a:gd name="adj" fmla="val 2051"/>
            </a:avLst>
          </a:prstGeom>
          <a:solidFill>
            <a:schemeClr val="accent1">
              <a:alpha val="12000"/>
            </a:schemeClr>
          </a:solidFill>
          <a:ln/>
        </p:spPr>
      </p:sp>
      <p:sp>
        <p:nvSpPr>
          <p:cNvPr id="5" name="Text 3"/>
          <p:cNvSpPr txBox="1"/>
          <p:nvPr/>
        </p:nvSpPr>
        <p:spPr>
          <a:xfrm>
            <a:off x="548640" y="1874520"/>
            <a:ext cx="4160520" cy="274320"/>
          </a:xfrm>
          <a:prstGeom prst="rect">
            <a:avLst/>
          </a:prstGeom>
          <a:noFill/>
          <a:ln/>
        </p:spPr>
        <p:txBody>
          <a:bodyPr wrap="square" lIns="0" tIns="0" rIns="0" bIns="0" rtlCol="0" anchor="t"/>
          <a:lstStyle/>
          <a:p>
            <a:pPr algn="ctr" indent="0" marL="0">
              <a:buNone/>
            </a:pPr>
            <a:r>
              <a:rPr lang="en-US" sz="1200" b="1" spc="100" kern="0" dirty="0">
                <a:solidFill>
                  <a:schemeClr val="accent1"/>
                </a:solidFill>
              </a:rPr>
              <a:t>RELIABLE INPUTS</a:t>
            </a:r>
            <a:endParaRPr lang="en-US" sz="1200" dirty="0"/>
          </a:p>
        </p:txBody>
      </p:sp>
      <p:sp>
        <p:nvSpPr>
          <p:cNvPr id="6" name="Shape 4"/>
          <p:cNvSpPr/>
          <p:nvPr/>
        </p:nvSpPr>
        <p:spPr>
          <a:xfrm>
            <a:off x="1131570" y="2377440"/>
            <a:ext cx="914400" cy="914400"/>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1378458" y="2624328"/>
            <a:ext cx="420624" cy="420624"/>
          </a:xfrm>
          <a:prstGeom prst="rect">
            <a:avLst/>
          </a:prstGeom>
        </p:spPr>
      </p:pic>
      <p:sp>
        <p:nvSpPr>
          <p:cNvPr id="8" name="Text 5"/>
          <p:cNvSpPr txBox="1"/>
          <p:nvPr/>
        </p:nvSpPr>
        <p:spPr>
          <a:xfrm>
            <a:off x="685800" y="3474720"/>
            <a:ext cx="1805940" cy="640080"/>
          </a:xfrm>
          <a:prstGeom prst="rect">
            <a:avLst/>
          </a:prstGeom>
          <a:noFill/>
          <a:ln/>
        </p:spPr>
        <p:txBody>
          <a:bodyPr wrap="square" lIns="0" tIns="0" rIns="0" bIns="0" rtlCol="0" anchor="ctr"/>
          <a:lstStyle/>
          <a:p>
            <a:pPr algn="ctr" indent="0" marL="0">
              <a:buNone/>
            </a:pPr>
            <a:r>
              <a:rPr lang="en-US" sz="1700" b="1" dirty="0">
                <a:solidFill>
                  <a:schemeClr val="tx2"/>
                </a:solidFill>
              </a:rPr>
              <a:t>Imaging biomarkers</a:t>
            </a:r>
            <a:endParaRPr lang="en-US" sz="1700" dirty="0"/>
          </a:p>
        </p:txBody>
      </p:sp>
      <p:sp>
        <p:nvSpPr>
          <p:cNvPr id="9" name="Text 6"/>
          <p:cNvSpPr txBox="1"/>
          <p:nvPr/>
        </p:nvSpPr>
        <p:spPr>
          <a:xfrm>
            <a:off x="731520" y="4160520"/>
            <a:ext cx="1714500" cy="822960"/>
          </a:xfrm>
          <a:prstGeom prst="rect">
            <a:avLst/>
          </a:prstGeom>
          <a:noFill/>
          <a:ln/>
        </p:spPr>
        <p:txBody>
          <a:bodyPr wrap="square" lIns="0" tIns="0" rIns="0" bIns="0" rtlCol="0" anchor="t"/>
          <a:lstStyle/>
          <a:p>
            <a:pPr algn="ctr" indent="0" marL="0">
              <a:buNone/>
            </a:pPr>
            <a:r>
              <a:rPr lang="en-US" sz="1400" dirty="0">
                <a:solidFill>
                  <a:schemeClr val="tx1"/>
                </a:solidFill>
              </a:rPr>
              <a:t>Characterize biological heterogeneity</a:t>
            </a:r>
            <a:endParaRPr lang="en-US" sz="1400" dirty="0"/>
          </a:p>
        </p:txBody>
      </p:sp>
      <p:sp>
        <p:nvSpPr>
          <p:cNvPr id="10" name="Shape 7"/>
          <p:cNvSpPr/>
          <p:nvPr/>
        </p:nvSpPr>
        <p:spPr>
          <a:xfrm>
            <a:off x="3211830" y="2377440"/>
            <a:ext cx="914400" cy="914400"/>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3458718" y="2624328"/>
            <a:ext cx="420624" cy="420624"/>
          </a:xfrm>
          <a:prstGeom prst="rect">
            <a:avLst/>
          </a:prstGeom>
        </p:spPr>
      </p:pic>
      <p:sp>
        <p:nvSpPr>
          <p:cNvPr id="12" name="Text 8"/>
          <p:cNvSpPr txBox="1"/>
          <p:nvPr/>
        </p:nvSpPr>
        <p:spPr>
          <a:xfrm>
            <a:off x="2766060" y="3474720"/>
            <a:ext cx="1805940" cy="640080"/>
          </a:xfrm>
          <a:prstGeom prst="rect">
            <a:avLst/>
          </a:prstGeom>
          <a:noFill/>
          <a:ln/>
        </p:spPr>
        <p:txBody>
          <a:bodyPr wrap="square" lIns="0" tIns="0" rIns="0" bIns="0" rtlCol="0" anchor="ctr"/>
          <a:lstStyle/>
          <a:p>
            <a:pPr algn="ctr" indent="0" marL="0">
              <a:buNone/>
            </a:pPr>
            <a:r>
              <a:rPr lang="en-US" sz="1700" b="1" dirty="0">
                <a:solidFill>
                  <a:schemeClr val="tx2"/>
                </a:solidFill>
              </a:rPr>
              <a:t>AI-enhanced imaging</a:t>
            </a:r>
            <a:endParaRPr lang="en-US" sz="1700" dirty="0"/>
          </a:p>
        </p:txBody>
      </p:sp>
      <p:sp>
        <p:nvSpPr>
          <p:cNvPr id="13" name="Text 9"/>
          <p:cNvSpPr txBox="1"/>
          <p:nvPr/>
        </p:nvSpPr>
        <p:spPr>
          <a:xfrm>
            <a:off x="2811780" y="4160520"/>
            <a:ext cx="1714500" cy="822960"/>
          </a:xfrm>
          <a:prstGeom prst="rect">
            <a:avLst/>
          </a:prstGeom>
          <a:noFill/>
          <a:ln/>
        </p:spPr>
        <p:txBody>
          <a:bodyPr wrap="square" lIns="0" tIns="0" rIns="0" bIns="0" rtlCol="0" anchor="t"/>
          <a:lstStyle/>
          <a:p>
            <a:pPr algn="ctr" indent="0" marL="0">
              <a:buNone/>
            </a:pPr>
            <a:r>
              <a:rPr lang="en-US" sz="1400" dirty="0">
                <a:solidFill>
                  <a:schemeClr val="tx1"/>
                </a:solidFill>
              </a:rPr>
              <a:t>Make measurements reliable and efficient</a:t>
            </a:r>
            <a:endParaRPr lang="en-US" sz="1400" dirty="0"/>
          </a:p>
        </p:txBody>
      </p:sp>
      <p:sp>
        <p:nvSpPr>
          <p:cNvPr id="14" name="Shape 10"/>
          <p:cNvSpPr/>
          <p:nvPr/>
        </p:nvSpPr>
        <p:spPr>
          <a:xfrm>
            <a:off x="5074920" y="1691640"/>
            <a:ext cx="2103120" cy="3566160"/>
          </a:xfrm>
          <a:prstGeom prst="roundRect">
            <a:avLst>
              <a:gd name="adj" fmla="val 3478"/>
            </a:avLst>
          </a:prstGeom>
          <a:solidFill>
            <a:schemeClr val="accent3">
              <a:alpha val="12000"/>
            </a:schemeClr>
          </a:solidFill>
          <a:ln/>
        </p:spPr>
      </p:sp>
      <p:sp>
        <p:nvSpPr>
          <p:cNvPr id="15" name="Text 11"/>
          <p:cNvSpPr txBox="1"/>
          <p:nvPr/>
        </p:nvSpPr>
        <p:spPr>
          <a:xfrm>
            <a:off x="5074920" y="1874520"/>
            <a:ext cx="2103120" cy="274320"/>
          </a:xfrm>
          <a:prstGeom prst="rect">
            <a:avLst/>
          </a:prstGeom>
          <a:noFill/>
          <a:ln/>
        </p:spPr>
        <p:txBody>
          <a:bodyPr wrap="square" lIns="0" tIns="0" rIns="0" bIns="0" rtlCol="0" anchor="t"/>
          <a:lstStyle/>
          <a:p>
            <a:pPr algn="ctr" indent="0" marL="0">
              <a:buNone/>
            </a:pPr>
            <a:r>
              <a:rPr lang="en-US" sz="1200" b="1" spc="100" kern="0" dirty="0">
                <a:solidFill>
                  <a:schemeClr val="accent3"/>
                </a:solidFill>
              </a:rPr>
              <a:t>PREDICTION</a:t>
            </a:r>
            <a:endParaRPr lang="en-US" sz="1200" dirty="0"/>
          </a:p>
        </p:txBody>
      </p:sp>
      <p:sp>
        <p:nvSpPr>
          <p:cNvPr id="16" name="Shape 12"/>
          <p:cNvSpPr/>
          <p:nvPr/>
        </p:nvSpPr>
        <p:spPr>
          <a:xfrm>
            <a:off x="5669280" y="2377440"/>
            <a:ext cx="914400" cy="914400"/>
          </a:xfrm>
          <a:prstGeom prst="ellipse">
            <a:avLst/>
          </a:prstGeom>
          <a:solidFill>
            <a:schemeClr val="accent3"/>
          </a:solidFill>
          <a:ln/>
        </p:spPr>
      </p:sp>
      <p:pic>
        <p:nvPicPr>
          <p:cNvPr id="17" name="Image 2" descr="preencoded.png">    </p:cNvPr>
          <p:cNvPicPr>
            <a:picLocks noChangeAspect="1"/>
          </p:cNvPicPr>
          <p:nvPr/>
        </p:nvPicPr>
        <p:blipFill>
          <a:blip r:embed="rId3"/>
          <a:stretch>
            <a:fillRect/>
          </a:stretch>
        </p:blipFill>
        <p:spPr>
          <a:xfrm>
            <a:off x="5916168" y="2624328"/>
            <a:ext cx="420624" cy="420624"/>
          </a:xfrm>
          <a:prstGeom prst="rect">
            <a:avLst/>
          </a:prstGeom>
        </p:spPr>
      </p:pic>
      <p:sp>
        <p:nvSpPr>
          <p:cNvPr id="18" name="Text 13"/>
          <p:cNvSpPr txBox="1"/>
          <p:nvPr/>
        </p:nvSpPr>
        <p:spPr>
          <a:xfrm>
            <a:off x="5212080" y="3474720"/>
            <a:ext cx="1828800" cy="640080"/>
          </a:xfrm>
          <a:prstGeom prst="rect">
            <a:avLst/>
          </a:prstGeom>
          <a:noFill/>
          <a:ln/>
        </p:spPr>
        <p:txBody>
          <a:bodyPr wrap="square" lIns="0" tIns="0" rIns="0" bIns="0" rtlCol="0" anchor="ctr"/>
          <a:lstStyle/>
          <a:p>
            <a:pPr algn="ctr" indent="0" marL="0">
              <a:buNone/>
            </a:pPr>
            <a:r>
              <a:rPr lang="en-US" sz="1700" b="1" dirty="0">
                <a:solidFill>
                  <a:schemeClr val="tx2"/>
                </a:solidFill>
              </a:rPr>
              <a:t>Digital twins</a:t>
            </a:r>
            <a:endParaRPr lang="en-US" sz="1700" dirty="0"/>
          </a:p>
        </p:txBody>
      </p:sp>
      <p:sp>
        <p:nvSpPr>
          <p:cNvPr id="19" name="Text 14"/>
          <p:cNvSpPr txBox="1"/>
          <p:nvPr/>
        </p:nvSpPr>
        <p:spPr>
          <a:xfrm>
            <a:off x="5257800" y="4160520"/>
            <a:ext cx="1737360" cy="822960"/>
          </a:xfrm>
          <a:prstGeom prst="rect">
            <a:avLst/>
          </a:prstGeom>
          <a:noFill/>
          <a:ln/>
        </p:spPr>
        <p:txBody>
          <a:bodyPr wrap="square" lIns="0" tIns="0" rIns="0" bIns="0" rtlCol="0" anchor="t"/>
          <a:lstStyle/>
          <a:p>
            <a:pPr algn="ctr" indent="0" marL="0">
              <a:buNone/>
            </a:pPr>
            <a:r>
              <a:rPr lang="en-US" sz="1400" dirty="0">
                <a:solidFill>
                  <a:schemeClr val="tx1"/>
                </a:solidFill>
              </a:rPr>
              <a:t>Predict exposure, dose and response</a:t>
            </a:r>
            <a:endParaRPr lang="en-US" sz="1400" dirty="0"/>
          </a:p>
        </p:txBody>
      </p:sp>
      <p:sp>
        <p:nvSpPr>
          <p:cNvPr id="20" name="Shape 15"/>
          <p:cNvSpPr/>
          <p:nvPr/>
        </p:nvSpPr>
        <p:spPr>
          <a:xfrm>
            <a:off x="7543800" y="1691640"/>
            <a:ext cx="4096512" cy="3566160"/>
          </a:xfrm>
          <a:prstGeom prst="roundRect">
            <a:avLst>
              <a:gd name="adj" fmla="val 2051"/>
            </a:avLst>
          </a:prstGeom>
          <a:solidFill>
            <a:schemeClr val="accent2">
              <a:alpha val="12000"/>
            </a:schemeClr>
          </a:solidFill>
          <a:ln/>
        </p:spPr>
      </p:sp>
      <p:sp>
        <p:nvSpPr>
          <p:cNvPr id="21" name="Text 16"/>
          <p:cNvSpPr txBox="1"/>
          <p:nvPr/>
        </p:nvSpPr>
        <p:spPr>
          <a:xfrm>
            <a:off x="7543800" y="1874520"/>
            <a:ext cx="4096512" cy="274320"/>
          </a:xfrm>
          <a:prstGeom prst="rect">
            <a:avLst/>
          </a:prstGeom>
          <a:noFill/>
          <a:ln/>
        </p:spPr>
        <p:txBody>
          <a:bodyPr wrap="square" lIns="0" tIns="0" rIns="0" bIns="0" rtlCol="0" anchor="t"/>
          <a:lstStyle/>
          <a:p>
            <a:pPr algn="ctr" indent="0" marL="0">
              <a:buNone/>
            </a:pPr>
            <a:r>
              <a:rPr lang="en-US" sz="1200" b="1" spc="100" kern="0" dirty="0">
                <a:solidFill>
                  <a:schemeClr val="accent2"/>
                </a:solidFill>
              </a:rPr>
              <a:t>DECISIONS</a:t>
            </a:r>
            <a:endParaRPr lang="en-US" sz="1200" dirty="0"/>
          </a:p>
        </p:txBody>
      </p:sp>
      <p:sp>
        <p:nvSpPr>
          <p:cNvPr id="22" name="Shape 17"/>
          <p:cNvSpPr/>
          <p:nvPr/>
        </p:nvSpPr>
        <p:spPr>
          <a:xfrm>
            <a:off x="8110728" y="2377440"/>
            <a:ext cx="914400" cy="914400"/>
          </a:xfrm>
          <a:prstGeom prst="ellipse">
            <a:avLst/>
          </a:prstGeom>
          <a:solidFill>
            <a:schemeClr val="accent2"/>
          </a:solidFill>
          <a:ln/>
        </p:spPr>
      </p:sp>
      <p:pic>
        <p:nvPicPr>
          <p:cNvPr id="23" name="Image 3" descr="preencoded.png">    </p:cNvPr>
          <p:cNvPicPr>
            <a:picLocks noChangeAspect="1"/>
          </p:cNvPicPr>
          <p:nvPr/>
        </p:nvPicPr>
        <p:blipFill>
          <a:blip r:embed="rId4"/>
          <a:stretch>
            <a:fillRect/>
          </a:stretch>
        </p:blipFill>
        <p:spPr>
          <a:xfrm>
            <a:off x="8357616" y="2624328"/>
            <a:ext cx="420624" cy="420624"/>
          </a:xfrm>
          <a:prstGeom prst="rect">
            <a:avLst/>
          </a:prstGeom>
        </p:spPr>
      </p:pic>
      <p:sp>
        <p:nvSpPr>
          <p:cNvPr id="24" name="Text 18"/>
          <p:cNvSpPr txBox="1"/>
          <p:nvPr/>
        </p:nvSpPr>
        <p:spPr>
          <a:xfrm>
            <a:off x="7680960" y="3474720"/>
            <a:ext cx="1773936" cy="640080"/>
          </a:xfrm>
          <a:prstGeom prst="rect">
            <a:avLst/>
          </a:prstGeom>
          <a:noFill/>
          <a:ln/>
        </p:spPr>
        <p:txBody>
          <a:bodyPr wrap="square" lIns="0" tIns="0" rIns="0" bIns="0" rtlCol="0" anchor="ctr"/>
          <a:lstStyle/>
          <a:p>
            <a:pPr algn="ctr" indent="0" marL="0">
              <a:buNone/>
            </a:pPr>
            <a:r>
              <a:rPr lang="en-US" sz="1700" b="1" dirty="0">
                <a:solidFill>
                  <a:schemeClr val="tx2"/>
                </a:solidFill>
              </a:rPr>
              <a:t>Therapy integration</a:t>
            </a:r>
            <a:endParaRPr lang="en-US" sz="1700" dirty="0"/>
          </a:p>
        </p:txBody>
      </p:sp>
      <p:sp>
        <p:nvSpPr>
          <p:cNvPr id="25" name="Text 19"/>
          <p:cNvSpPr txBox="1"/>
          <p:nvPr/>
        </p:nvSpPr>
        <p:spPr>
          <a:xfrm>
            <a:off x="7726680" y="4160520"/>
            <a:ext cx="1682496" cy="822960"/>
          </a:xfrm>
          <a:prstGeom prst="rect">
            <a:avLst/>
          </a:prstGeom>
          <a:noFill/>
          <a:ln/>
        </p:spPr>
        <p:txBody>
          <a:bodyPr wrap="square" lIns="0" tIns="0" rIns="0" bIns="0" rtlCol="0" anchor="t"/>
          <a:lstStyle/>
          <a:p>
            <a:pPr algn="ctr" indent="0" marL="0">
              <a:buNone/>
            </a:pPr>
            <a:r>
              <a:rPr lang="en-US" sz="1400" dirty="0">
                <a:solidFill>
                  <a:schemeClr val="tx1"/>
                </a:solidFill>
              </a:rPr>
              <a:t>Evaluate planning and adaptation</a:t>
            </a:r>
            <a:endParaRPr lang="en-US" sz="1400" dirty="0"/>
          </a:p>
        </p:txBody>
      </p:sp>
      <p:sp>
        <p:nvSpPr>
          <p:cNvPr id="26" name="Shape 20"/>
          <p:cNvSpPr/>
          <p:nvPr/>
        </p:nvSpPr>
        <p:spPr>
          <a:xfrm>
            <a:off x="10158984" y="2377440"/>
            <a:ext cx="914400" cy="914400"/>
          </a:xfrm>
          <a:prstGeom prst="ellipse">
            <a:avLst/>
          </a:prstGeom>
          <a:solidFill>
            <a:schemeClr val="accent2"/>
          </a:solidFill>
          <a:ln/>
        </p:spPr>
      </p:sp>
      <p:pic>
        <p:nvPicPr>
          <p:cNvPr id="27" name="Image 4" descr="preencoded.png">    </p:cNvPr>
          <p:cNvPicPr>
            <a:picLocks noChangeAspect="1"/>
          </p:cNvPicPr>
          <p:nvPr/>
        </p:nvPicPr>
        <p:blipFill>
          <a:blip r:embed="rId5"/>
          <a:stretch>
            <a:fillRect/>
          </a:stretch>
        </p:blipFill>
        <p:spPr>
          <a:xfrm>
            <a:off x="10405872" y="2624328"/>
            <a:ext cx="420624" cy="420624"/>
          </a:xfrm>
          <a:prstGeom prst="rect">
            <a:avLst/>
          </a:prstGeom>
        </p:spPr>
      </p:pic>
      <p:sp>
        <p:nvSpPr>
          <p:cNvPr id="28" name="Text 21"/>
          <p:cNvSpPr txBox="1"/>
          <p:nvPr/>
        </p:nvSpPr>
        <p:spPr>
          <a:xfrm>
            <a:off x="9729216" y="3474720"/>
            <a:ext cx="1773936" cy="640080"/>
          </a:xfrm>
          <a:prstGeom prst="rect">
            <a:avLst/>
          </a:prstGeom>
          <a:noFill/>
          <a:ln/>
        </p:spPr>
        <p:txBody>
          <a:bodyPr wrap="square" lIns="0" tIns="0" rIns="0" bIns="0" rtlCol="0" anchor="ctr"/>
          <a:lstStyle/>
          <a:p>
            <a:pPr algn="ctr" indent="0" marL="0">
              <a:buNone/>
            </a:pPr>
            <a:r>
              <a:rPr lang="en-US" sz="1700" b="1" dirty="0">
                <a:solidFill>
                  <a:schemeClr val="tx2"/>
                </a:solidFill>
              </a:rPr>
              <a:t>Virtual trials</a:t>
            </a:r>
            <a:endParaRPr lang="en-US" sz="1700" dirty="0"/>
          </a:p>
        </p:txBody>
      </p:sp>
      <p:sp>
        <p:nvSpPr>
          <p:cNvPr id="29" name="Text 22"/>
          <p:cNvSpPr txBox="1"/>
          <p:nvPr/>
        </p:nvSpPr>
        <p:spPr>
          <a:xfrm>
            <a:off x="9774936" y="4160520"/>
            <a:ext cx="1682496" cy="822960"/>
          </a:xfrm>
          <a:prstGeom prst="rect">
            <a:avLst/>
          </a:prstGeom>
          <a:noFill/>
          <a:ln/>
        </p:spPr>
        <p:txBody>
          <a:bodyPr wrap="square" lIns="0" tIns="0" rIns="0" bIns="0" rtlCol="0" anchor="t"/>
          <a:lstStyle/>
          <a:p>
            <a:pPr algn="ctr" indent="0" marL="0">
              <a:buNone/>
            </a:pPr>
            <a:r>
              <a:rPr lang="en-US" sz="1400" dirty="0">
                <a:solidFill>
                  <a:schemeClr val="tx1"/>
                </a:solidFill>
              </a:rPr>
              <a:t>Compare agents and protocols</a:t>
            </a:r>
            <a:endParaRPr lang="en-US" sz="1400" dirty="0"/>
          </a:p>
        </p:txBody>
      </p:sp>
      <p:sp>
        <p:nvSpPr>
          <p:cNvPr id="30" name="Shape 23"/>
          <p:cNvSpPr/>
          <p:nvPr/>
        </p:nvSpPr>
        <p:spPr>
          <a:xfrm>
            <a:off x="4754880" y="2834640"/>
            <a:ext cx="274320" cy="0"/>
          </a:xfrm>
          <a:prstGeom prst="line">
            <a:avLst/>
          </a:prstGeom>
          <a:noFill/>
          <a:ln w="31750">
            <a:solidFill>
              <a:schemeClr val="tx2"/>
            </a:solidFill>
            <a:prstDash val="solid"/>
            <a:tailEnd type="triangle"/>
          </a:ln>
        </p:spPr>
      </p:sp>
      <p:sp>
        <p:nvSpPr>
          <p:cNvPr id="31" name="Shape 24"/>
          <p:cNvSpPr/>
          <p:nvPr/>
        </p:nvSpPr>
        <p:spPr>
          <a:xfrm>
            <a:off x="7223760" y="2834640"/>
            <a:ext cx="274320" cy="0"/>
          </a:xfrm>
          <a:prstGeom prst="line">
            <a:avLst/>
          </a:prstGeom>
          <a:noFill/>
          <a:ln w="31750">
            <a:solidFill>
              <a:schemeClr val="tx2"/>
            </a:solidFill>
            <a:prstDash val="solid"/>
            <a:tailEnd type="triangle"/>
          </a:ln>
        </p:spPr>
      </p:sp>
      <p:sp>
        <p:nvSpPr>
          <p:cNvPr id="32" name="Shape 25"/>
          <p:cNvSpPr/>
          <p:nvPr/>
        </p:nvSpPr>
        <p:spPr>
          <a:xfrm>
            <a:off x="548640" y="5532120"/>
            <a:ext cx="11094415" cy="502920"/>
          </a:xfrm>
          <a:prstGeom prst="roundRect">
            <a:avLst>
              <a:gd name="adj" fmla="val 14545"/>
            </a:avLst>
          </a:prstGeom>
          <a:solidFill>
            <a:schemeClr val="tx2"/>
          </a:solidFill>
          <a:ln/>
        </p:spPr>
      </p:sp>
      <p:sp>
        <p:nvSpPr>
          <p:cNvPr id="33" name="Text 26"/>
          <p:cNvSpPr txBox="1"/>
          <p:nvPr/>
        </p:nvSpPr>
        <p:spPr>
          <a:xfrm>
            <a:off x="822960" y="5532120"/>
            <a:ext cx="10545775" cy="502920"/>
          </a:xfrm>
          <a:prstGeom prst="rect">
            <a:avLst/>
          </a:prstGeom>
          <a:noFill/>
          <a:ln/>
        </p:spPr>
        <p:txBody>
          <a:bodyPr wrap="square" lIns="0" tIns="0" rIns="0" bIns="0" rtlCol="0" anchor="ctr"/>
          <a:lstStyle/>
          <a:p>
            <a:pPr indent="0" marL="0">
              <a:buNone/>
            </a:pPr>
            <a:r>
              <a:rPr lang="en-US" sz="1500" b="1" dirty="0">
                <a:solidFill>
                  <a:schemeClr val="bg1"/>
                </a:solidFill>
              </a:rPr>
              <a:t>Staged: start with radiopharmaceutical therapy; broader therapy integration follows data and partnerships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400" b="1" dirty="0">
                <a:solidFill>
                  <a:schemeClr val="tx2"/>
                </a:solidFill>
              </a:rPr>
              <a:t>Reliable imaging is the foundation</a:t>
            </a:r>
            <a:endParaRPr lang="en-US" sz="34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Which measurements are reliable enough to support a treatment model?</a:t>
            </a:r>
            <a:endParaRPr lang="en-US" sz="1600" dirty="0"/>
          </a:p>
        </p:txBody>
      </p:sp>
      <p:pic>
        <p:nvPicPr>
          <p:cNvPr id="4" name="Image 0" descr="/tmp/claude-0/-home-user-habdollahin/757748ce-ce00-518f-b6e2-dec1c5e36469/scratchpad/build/figs/pipe1.png">    </p:cNvPr>
          <p:cNvPicPr>
            <a:picLocks noChangeAspect="1"/>
          </p:cNvPicPr>
          <p:nvPr/>
        </p:nvPicPr>
        <p:blipFill>
          <a:blip r:embed="rId1"/>
          <a:stretch>
            <a:fillRect/>
          </a:stretch>
        </p:blipFill>
        <p:spPr>
          <a:xfrm>
            <a:off x="1340968" y="1600200"/>
            <a:ext cx="1828800" cy="1828800"/>
          </a:xfrm>
          <a:prstGeom prst="rect">
            <a:avLst/>
          </a:prstGeom>
        </p:spPr>
      </p:pic>
      <p:sp>
        <p:nvSpPr>
          <p:cNvPr id="5" name="Text 2"/>
          <p:cNvSpPr txBox="1"/>
          <p:nvPr/>
        </p:nvSpPr>
        <p:spPr>
          <a:xfrm>
            <a:off x="1066648" y="3502152"/>
            <a:ext cx="2377440" cy="292608"/>
          </a:xfrm>
          <a:prstGeom prst="rect">
            <a:avLst/>
          </a:prstGeom>
          <a:noFill/>
          <a:ln/>
        </p:spPr>
        <p:txBody>
          <a:bodyPr wrap="square" lIns="0" tIns="0" rIns="0" bIns="0" rtlCol="0" anchor="t"/>
          <a:lstStyle/>
          <a:p>
            <a:pPr algn="ctr" indent="0" marL="0">
              <a:buNone/>
            </a:pPr>
            <a:r>
              <a:rPr lang="en-US" sz="1500" b="1" dirty="0">
                <a:solidFill>
                  <a:schemeClr val="tx2"/>
                </a:solidFill>
              </a:rPr>
              <a:t>Low-count SPECT</a:t>
            </a:r>
            <a:endParaRPr lang="en-US" sz="1500" dirty="0"/>
          </a:p>
        </p:txBody>
      </p:sp>
      <p:sp>
        <p:nvSpPr>
          <p:cNvPr id="6" name="Shape 3"/>
          <p:cNvSpPr/>
          <p:nvPr/>
        </p:nvSpPr>
        <p:spPr>
          <a:xfrm>
            <a:off x="3306928" y="2514600"/>
            <a:ext cx="457200" cy="0"/>
          </a:xfrm>
          <a:prstGeom prst="line">
            <a:avLst/>
          </a:prstGeom>
          <a:noFill/>
          <a:ln w="28575">
            <a:solidFill>
              <a:schemeClr val="tx2"/>
            </a:solidFill>
            <a:prstDash val="solid"/>
            <a:tailEnd type="triangle"/>
          </a:ln>
        </p:spPr>
      </p:sp>
      <p:pic>
        <p:nvPicPr>
          <p:cNvPr id="7" name="Image 1" descr="/tmp/claude-0/-home-user-habdollahin/757748ce-ce00-518f-b6e2-dec1c5e36469/scratchpad/build/figs/pipe2.png">    </p:cNvPr>
          <p:cNvPicPr>
            <a:picLocks noChangeAspect="1"/>
          </p:cNvPicPr>
          <p:nvPr/>
        </p:nvPicPr>
        <p:blipFill>
          <a:blip r:embed="rId2"/>
          <a:stretch>
            <a:fillRect/>
          </a:stretch>
        </p:blipFill>
        <p:spPr>
          <a:xfrm>
            <a:off x="3901288" y="1600200"/>
            <a:ext cx="1828800" cy="1828800"/>
          </a:xfrm>
          <a:prstGeom prst="rect">
            <a:avLst/>
          </a:prstGeom>
        </p:spPr>
      </p:pic>
      <p:sp>
        <p:nvSpPr>
          <p:cNvPr id="8" name="Text 4"/>
          <p:cNvSpPr txBox="1"/>
          <p:nvPr/>
        </p:nvSpPr>
        <p:spPr>
          <a:xfrm>
            <a:off x="3626968" y="3502152"/>
            <a:ext cx="2377440" cy="292608"/>
          </a:xfrm>
          <a:prstGeom prst="rect">
            <a:avLst/>
          </a:prstGeom>
          <a:noFill/>
          <a:ln/>
        </p:spPr>
        <p:txBody>
          <a:bodyPr wrap="square" lIns="0" tIns="0" rIns="0" bIns="0" rtlCol="0" anchor="t"/>
          <a:lstStyle/>
          <a:p>
            <a:pPr algn="ctr" indent="0" marL="0">
              <a:buNone/>
            </a:pPr>
            <a:r>
              <a:rPr lang="en-US" sz="1500" b="1" dirty="0">
                <a:solidFill>
                  <a:schemeClr val="tx2"/>
                </a:solidFill>
              </a:rPr>
              <a:t>AI denoising</a:t>
            </a:r>
            <a:endParaRPr lang="en-US" sz="1500" dirty="0"/>
          </a:p>
        </p:txBody>
      </p:sp>
      <p:sp>
        <p:nvSpPr>
          <p:cNvPr id="9" name="Shape 5"/>
          <p:cNvSpPr/>
          <p:nvPr/>
        </p:nvSpPr>
        <p:spPr>
          <a:xfrm>
            <a:off x="5867248" y="2514600"/>
            <a:ext cx="457200" cy="0"/>
          </a:xfrm>
          <a:prstGeom prst="line">
            <a:avLst/>
          </a:prstGeom>
          <a:noFill/>
          <a:ln w="28575">
            <a:solidFill>
              <a:schemeClr val="tx2"/>
            </a:solidFill>
            <a:prstDash val="solid"/>
            <a:tailEnd type="triangle"/>
          </a:ln>
        </p:spPr>
      </p:sp>
      <p:pic>
        <p:nvPicPr>
          <p:cNvPr id="10" name="Image 2" descr="/tmp/claude-0/-home-user-habdollahin/757748ce-ce00-518f-b6e2-dec1c5e36469/scratchpad/build/figs/pipe3.png">    </p:cNvPr>
          <p:cNvPicPr>
            <a:picLocks noChangeAspect="1"/>
          </p:cNvPicPr>
          <p:nvPr/>
        </p:nvPicPr>
        <p:blipFill>
          <a:blip r:embed="rId3"/>
          <a:stretch>
            <a:fillRect/>
          </a:stretch>
        </p:blipFill>
        <p:spPr>
          <a:xfrm>
            <a:off x="6461608" y="1600200"/>
            <a:ext cx="1828800" cy="1828800"/>
          </a:xfrm>
          <a:prstGeom prst="rect">
            <a:avLst/>
          </a:prstGeom>
        </p:spPr>
      </p:pic>
      <p:sp>
        <p:nvSpPr>
          <p:cNvPr id="11" name="Text 6"/>
          <p:cNvSpPr txBox="1"/>
          <p:nvPr/>
        </p:nvSpPr>
        <p:spPr>
          <a:xfrm>
            <a:off x="6187288" y="3502152"/>
            <a:ext cx="2377440" cy="292608"/>
          </a:xfrm>
          <a:prstGeom prst="rect">
            <a:avLst/>
          </a:prstGeom>
          <a:noFill/>
          <a:ln/>
        </p:spPr>
        <p:txBody>
          <a:bodyPr wrap="square" lIns="0" tIns="0" rIns="0" bIns="0" rtlCol="0" anchor="t"/>
          <a:lstStyle/>
          <a:p>
            <a:pPr algn="ctr" indent="0" marL="0">
              <a:buNone/>
            </a:pPr>
            <a:r>
              <a:rPr lang="en-US" sz="1500" b="1" dirty="0">
                <a:solidFill>
                  <a:schemeClr val="tx2"/>
                </a:solidFill>
              </a:rPr>
              <a:t>Organs + lesions</a:t>
            </a:r>
            <a:endParaRPr lang="en-US" sz="1500" dirty="0"/>
          </a:p>
        </p:txBody>
      </p:sp>
      <p:sp>
        <p:nvSpPr>
          <p:cNvPr id="12" name="Shape 7"/>
          <p:cNvSpPr/>
          <p:nvPr/>
        </p:nvSpPr>
        <p:spPr>
          <a:xfrm>
            <a:off x="8427568" y="2514600"/>
            <a:ext cx="457200" cy="0"/>
          </a:xfrm>
          <a:prstGeom prst="line">
            <a:avLst/>
          </a:prstGeom>
          <a:noFill/>
          <a:ln w="28575">
            <a:solidFill>
              <a:schemeClr val="tx2"/>
            </a:solidFill>
            <a:prstDash val="solid"/>
            <a:tailEnd type="triangle"/>
          </a:ln>
        </p:spPr>
      </p:sp>
      <p:pic>
        <p:nvPicPr>
          <p:cNvPr id="13" name="Image 3" descr="/tmp/claude-0/-home-user-habdollahin/757748ce-ce00-518f-b6e2-dec1c5e36469/scratchpad/build/figs/pipe4.png">    </p:cNvPr>
          <p:cNvPicPr>
            <a:picLocks noChangeAspect="1"/>
          </p:cNvPicPr>
          <p:nvPr/>
        </p:nvPicPr>
        <p:blipFill>
          <a:blip r:embed="rId4"/>
          <a:stretch>
            <a:fillRect/>
          </a:stretch>
        </p:blipFill>
        <p:spPr>
          <a:xfrm>
            <a:off x="9021928" y="1600200"/>
            <a:ext cx="1828800" cy="1828800"/>
          </a:xfrm>
          <a:prstGeom prst="rect">
            <a:avLst/>
          </a:prstGeom>
        </p:spPr>
      </p:pic>
      <p:sp>
        <p:nvSpPr>
          <p:cNvPr id="14" name="Text 8"/>
          <p:cNvSpPr txBox="1"/>
          <p:nvPr/>
        </p:nvSpPr>
        <p:spPr>
          <a:xfrm>
            <a:off x="8747608" y="3502152"/>
            <a:ext cx="2377440" cy="292608"/>
          </a:xfrm>
          <a:prstGeom prst="rect">
            <a:avLst/>
          </a:prstGeom>
          <a:noFill/>
          <a:ln/>
        </p:spPr>
        <p:txBody>
          <a:bodyPr wrap="square" lIns="0" tIns="0" rIns="0" bIns="0" rtlCol="0" anchor="t"/>
          <a:lstStyle/>
          <a:p>
            <a:pPr algn="ctr" indent="0" marL="0">
              <a:buNone/>
            </a:pPr>
            <a:r>
              <a:rPr lang="en-US" sz="1500" b="1" dirty="0">
                <a:solidFill>
                  <a:schemeClr val="tx2"/>
                </a:solidFill>
              </a:rPr>
              <a:t>Voxel dose</a:t>
            </a:r>
            <a:endParaRPr lang="en-US" sz="1500" dirty="0"/>
          </a:p>
        </p:txBody>
      </p:sp>
      <p:sp>
        <p:nvSpPr>
          <p:cNvPr id="15" name="Text 9"/>
          <p:cNvSpPr txBox="1"/>
          <p:nvPr/>
        </p:nvSpPr>
        <p:spPr>
          <a:xfrm>
            <a:off x="1340968" y="3813048"/>
            <a:ext cx="9509760" cy="228600"/>
          </a:xfrm>
          <a:prstGeom prst="rect">
            <a:avLst/>
          </a:prstGeom>
          <a:noFill/>
          <a:ln/>
        </p:spPr>
        <p:txBody>
          <a:bodyPr wrap="square" lIns="0" tIns="0" rIns="0" bIns="0" rtlCol="0" anchor="t"/>
          <a:lstStyle/>
          <a:p>
            <a:pPr algn="r" indent="0" marL="0">
              <a:buNone/>
            </a:pPr>
            <a:r>
              <a:rPr lang="en-US" sz="1000" i="1" dirty="0">
                <a:solidFill>
                  <a:schemeClr val="accent6"/>
                </a:solidFill>
              </a:rPr>
              <a:t>Schematic, synthetic phantom</a:t>
            </a:r>
            <a:endParaRPr lang="en-US" sz="1000" dirty="0"/>
          </a:p>
        </p:txBody>
      </p:sp>
      <p:sp>
        <p:nvSpPr>
          <p:cNvPr id="16" name="Shape 10"/>
          <p:cNvSpPr/>
          <p:nvPr/>
        </p:nvSpPr>
        <p:spPr>
          <a:xfrm>
            <a:off x="548640" y="4160520"/>
            <a:ext cx="3515258" cy="1463040"/>
          </a:xfrm>
          <a:prstGeom prst="roundRect">
            <a:avLst>
              <a:gd name="adj" fmla="val 5000"/>
            </a:avLst>
          </a:prstGeom>
          <a:solidFill>
            <a:schemeClr val="bg2"/>
          </a:solidFill>
          <a:ln/>
        </p:spPr>
      </p:sp>
      <p:sp>
        <p:nvSpPr>
          <p:cNvPr id="17" name="Shape 11"/>
          <p:cNvSpPr/>
          <p:nvPr/>
        </p:nvSpPr>
        <p:spPr>
          <a:xfrm>
            <a:off x="777240" y="4361688"/>
            <a:ext cx="457200" cy="457200"/>
          </a:xfrm>
          <a:prstGeom prst="ellipse">
            <a:avLst/>
          </a:prstGeom>
          <a:solidFill>
            <a:schemeClr val="accent1"/>
          </a:solidFill>
          <a:ln/>
        </p:spPr>
      </p:sp>
      <p:pic>
        <p:nvPicPr>
          <p:cNvPr id="18" name="Image 4" descr="preencoded.png">    </p:cNvPr>
          <p:cNvPicPr>
            <a:picLocks noChangeAspect="1"/>
          </p:cNvPicPr>
          <p:nvPr/>
        </p:nvPicPr>
        <p:blipFill>
          <a:blip r:embed="rId5"/>
          <a:stretch>
            <a:fillRect/>
          </a:stretch>
        </p:blipFill>
        <p:spPr>
          <a:xfrm>
            <a:off x="900684" y="4485132"/>
            <a:ext cx="210312" cy="210312"/>
          </a:xfrm>
          <a:prstGeom prst="rect">
            <a:avLst/>
          </a:prstGeom>
        </p:spPr>
      </p:pic>
      <p:sp>
        <p:nvSpPr>
          <p:cNvPr id="19" name="Text 12"/>
          <p:cNvSpPr txBox="1"/>
          <p:nvPr/>
        </p:nvSpPr>
        <p:spPr>
          <a:xfrm>
            <a:off x="1371600" y="4361688"/>
            <a:ext cx="2509418" cy="457200"/>
          </a:xfrm>
          <a:prstGeom prst="rect">
            <a:avLst/>
          </a:prstGeom>
          <a:noFill/>
          <a:ln/>
        </p:spPr>
        <p:txBody>
          <a:bodyPr wrap="square" lIns="0" tIns="0" rIns="0" bIns="0" rtlCol="0" anchor="ctr"/>
          <a:lstStyle/>
          <a:p>
            <a:pPr indent="0" marL="0">
              <a:buNone/>
            </a:pPr>
            <a:r>
              <a:rPr lang="en-US" sz="1700" b="1" dirty="0">
                <a:solidFill>
                  <a:schemeClr val="tx2"/>
                </a:solidFill>
              </a:rPr>
              <a:t>Measure biology</a:t>
            </a:r>
            <a:endParaRPr lang="en-US" sz="1700" dirty="0"/>
          </a:p>
        </p:txBody>
      </p:sp>
      <p:sp>
        <p:nvSpPr>
          <p:cNvPr id="20" name="Text 13"/>
          <p:cNvSpPr txBox="1"/>
          <p:nvPr/>
        </p:nvSpPr>
        <p:spPr>
          <a:xfrm>
            <a:off x="777240" y="4910328"/>
            <a:ext cx="3058058" cy="640080"/>
          </a:xfrm>
          <a:prstGeom prst="rect">
            <a:avLst/>
          </a:prstGeom>
          <a:noFill/>
          <a:ln/>
        </p:spPr>
        <p:txBody>
          <a:bodyPr wrap="square" lIns="0" tIns="0" rIns="0" bIns="0" rtlCol="0" anchor="t"/>
          <a:lstStyle/>
          <a:p>
            <a:pPr indent="0" marL="0">
              <a:buNone/>
            </a:pPr>
            <a:r>
              <a:rPr lang="en-US" sz="1400" dirty="0">
                <a:solidFill>
                  <a:schemeClr val="tx1"/>
                </a:solidFill>
              </a:rPr>
              <a:t>Tracer uptake · lesion heterogeneity · disease burden · longitudinal change</a:t>
            </a:r>
            <a:endParaRPr lang="en-US" sz="1400" dirty="0"/>
          </a:p>
        </p:txBody>
      </p:sp>
      <p:sp>
        <p:nvSpPr>
          <p:cNvPr id="21" name="Shape 14"/>
          <p:cNvSpPr/>
          <p:nvPr/>
        </p:nvSpPr>
        <p:spPr>
          <a:xfrm>
            <a:off x="4338218" y="4160520"/>
            <a:ext cx="3515258" cy="1463040"/>
          </a:xfrm>
          <a:prstGeom prst="roundRect">
            <a:avLst>
              <a:gd name="adj" fmla="val 5000"/>
            </a:avLst>
          </a:prstGeom>
          <a:solidFill>
            <a:schemeClr val="bg2"/>
          </a:solidFill>
          <a:ln/>
        </p:spPr>
      </p:sp>
      <p:sp>
        <p:nvSpPr>
          <p:cNvPr id="22" name="Shape 15"/>
          <p:cNvSpPr/>
          <p:nvPr/>
        </p:nvSpPr>
        <p:spPr>
          <a:xfrm>
            <a:off x="4566818" y="4361688"/>
            <a:ext cx="457200" cy="457200"/>
          </a:xfrm>
          <a:prstGeom prst="ellipse">
            <a:avLst/>
          </a:prstGeom>
          <a:solidFill>
            <a:schemeClr val="accent3"/>
          </a:solidFill>
          <a:ln/>
        </p:spPr>
      </p:sp>
      <p:pic>
        <p:nvPicPr>
          <p:cNvPr id="23" name="Image 5" descr="preencoded.png">    </p:cNvPr>
          <p:cNvPicPr>
            <a:picLocks noChangeAspect="1"/>
          </p:cNvPicPr>
          <p:nvPr/>
        </p:nvPicPr>
        <p:blipFill>
          <a:blip r:embed="rId6"/>
          <a:stretch>
            <a:fillRect/>
          </a:stretch>
        </p:blipFill>
        <p:spPr>
          <a:xfrm>
            <a:off x="4690262" y="4485132"/>
            <a:ext cx="210312" cy="210312"/>
          </a:xfrm>
          <a:prstGeom prst="rect">
            <a:avLst/>
          </a:prstGeom>
        </p:spPr>
      </p:pic>
      <p:sp>
        <p:nvSpPr>
          <p:cNvPr id="24" name="Text 16"/>
          <p:cNvSpPr txBox="1"/>
          <p:nvPr/>
        </p:nvSpPr>
        <p:spPr>
          <a:xfrm>
            <a:off x="5161178" y="4361688"/>
            <a:ext cx="2509418" cy="457200"/>
          </a:xfrm>
          <a:prstGeom prst="rect">
            <a:avLst/>
          </a:prstGeom>
          <a:noFill/>
          <a:ln/>
        </p:spPr>
        <p:txBody>
          <a:bodyPr wrap="square" lIns="0" tIns="0" rIns="0" bIns="0" rtlCol="0" anchor="ctr"/>
          <a:lstStyle/>
          <a:p>
            <a:pPr indent="0" marL="0">
              <a:buNone/>
            </a:pPr>
            <a:r>
              <a:rPr lang="en-US" sz="1700" b="1" dirty="0">
                <a:solidFill>
                  <a:schemeClr val="tx2"/>
                </a:solidFill>
              </a:rPr>
              <a:t>Improve measurement</a:t>
            </a:r>
            <a:endParaRPr lang="en-US" sz="1700" dirty="0"/>
          </a:p>
        </p:txBody>
      </p:sp>
      <p:sp>
        <p:nvSpPr>
          <p:cNvPr id="25" name="Text 17"/>
          <p:cNvSpPr txBox="1"/>
          <p:nvPr/>
        </p:nvSpPr>
        <p:spPr>
          <a:xfrm>
            <a:off x="4566818" y="4910328"/>
            <a:ext cx="3058058" cy="640080"/>
          </a:xfrm>
          <a:prstGeom prst="rect">
            <a:avLst/>
          </a:prstGeom>
          <a:noFill/>
          <a:ln/>
        </p:spPr>
        <p:txBody>
          <a:bodyPr wrap="square" lIns="0" tIns="0" rIns="0" bIns="0" rtlCol="0" anchor="t"/>
          <a:lstStyle/>
          <a:p>
            <a:pPr indent="0" marL="0">
              <a:buNone/>
            </a:pPr>
            <a:r>
              <a:rPr lang="en-US" sz="1400" dirty="0">
                <a:solidFill>
                  <a:schemeClr val="tx1"/>
                </a:solidFill>
              </a:rPr>
              <a:t>Reconstruction · segmentation · registration · quantification</a:t>
            </a:r>
            <a:endParaRPr lang="en-US" sz="1400" dirty="0"/>
          </a:p>
        </p:txBody>
      </p:sp>
      <p:sp>
        <p:nvSpPr>
          <p:cNvPr id="26" name="Shape 18"/>
          <p:cNvSpPr/>
          <p:nvPr/>
        </p:nvSpPr>
        <p:spPr>
          <a:xfrm>
            <a:off x="8127797" y="4160520"/>
            <a:ext cx="3515258" cy="1463040"/>
          </a:xfrm>
          <a:prstGeom prst="roundRect">
            <a:avLst>
              <a:gd name="adj" fmla="val 5000"/>
            </a:avLst>
          </a:prstGeom>
          <a:solidFill>
            <a:schemeClr val="bg2"/>
          </a:solidFill>
          <a:ln/>
        </p:spPr>
      </p:sp>
      <p:sp>
        <p:nvSpPr>
          <p:cNvPr id="27" name="Shape 19"/>
          <p:cNvSpPr/>
          <p:nvPr/>
        </p:nvSpPr>
        <p:spPr>
          <a:xfrm>
            <a:off x="8356397" y="4361688"/>
            <a:ext cx="457200" cy="457200"/>
          </a:xfrm>
          <a:prstGeom prst="ellipse">
            <a:avLst/>
          </a:prstGeom>
          <a:solidFill>
            <a:schemeClr val="accent2"/>
          </a:solidFill>
          <a:ln/>
        </p:spPr>
      </p:sp>
      <p:pic>
        <p:nvPicPr>
          <p:cNvPr id="28" name="Image 6" descr="preencoded.png">    </p:cNvPr>
          <p:cNvPicPr>
            <a:picLocks noChangeAspect="1"/>
          </p:cNvPicPr>
          <p:nvPr/>
        </p:nvPicPr>
        <p:blipFill>
          <a:blip r:embed="rId7"/>
          <a:stretch>
            <a:fillRect/>
          </a:stretch>
        </p:blipFill>
        <p:spPr>
          <a:xfrm>
            <a:off x="8479841" y="4485132"/>
            <a:ext cx="210312" cy="210312"/>
          </a:xfrm>
          <a:prstGeom prst="rect">
            <a:avLst/>
          </a:prstGeom>
        </p:spPr>
      </p:pic>
      <p:sp>
        <p:nvSpPr>
          <p:cNvPr id="29" name="Text 20"/>
          <p:cNvSpPr txBox="1"/>
          <p:nvPr/>
        </p:nvSpPr>
        <p:spPr>
          <a:xfrm>
            <a:off x="8950757" y="4361688"/>
            <a:ext cx="2509418" cy="457200"/>
          </a:xfrm>
          <a:prstGeom prst="rect">
            <a:avLst/>
          </a:prstGeom>
          <a:noFill/>
          <a:ln/>
        </p:spPr>
        <p:txBody>
          <a:bodyPr wrap="square" lIns="0" tIns="0" rIns="0" bIns="0" rtlCol="0" anchor="ctr"/>
          <a:lstStyle/>
          <a:p>
            <a:pPr indent="0" marL="0">
              <a:buNone/>
            </a:pPr>
            <a:r>
              <a:rPr lang="en-US" sz="1700" b="1" dirty="0">
                <a:solidFill>
                  <a:schemeClr val="tx2"/>
                </a:solidFill>
              </a:rPr>
              <a:t>Test reliability</a:t>
            </a:r>
            <a:endParaRPr lang="en-US" sz="1700" dirty="0"/>
          </a:p>
        </p:txBody>
      </p:sp>
      <p:sp>
        <p:nvSpPr>
          <p:cNvPr id="30" name="Text 21"/>
          <p:cNvSpPr txBox="1"/>
          <p:nvPr/>
        </p:nvSpPr>
        <p:spPr>
          <a:xfrm>
            <a:off x="8356397" y="4910328"/>
            <a:ext cx="3058058" cy="640080"/>
          </a:xfrm>
          <a:prstGeom prst="rect">
            <a:avLst/>
          </a:prstGeom>
          <a:noFill/>
          <a:ln/>
        </p:spPr>
        <p:txBody>
          <a:bodyPr wrap="square" lIns="0" tIns="0" rIns="0" bIns="0" rtlCol="0" anchor="t"/>
          <a:lstStyle/>
          <a:p>
            <a:pPr indent="0" marL="0">
              <a:buNone/>
            </a:pPr>
            <a:r>
              <a:rPr lang="en-US" sz="1400" dirty="0">
                <a:solidFill>
                  <a:schemeClr val="tx1"/>
                </a:solidFill>
              </a:rPr>
              <a:t>Repeatability · protocol sensitivity · quantitative bias · external performance</a:t>
            </a:r>
            <a:endParaRPr lang="en-US" sz="1400" dirty="0"/>
          </a:p>
        </p:txBody>
      </p:sp>
      <p:sp>
        <p:nvSpPr>
          <p:cNvPr id="31" name="Text 22"/>
          <p:cNvSpPr txBox="1"/>
          <p:nvPr/>
        </p:nvSpPr>
        <p:spPr>
          <a:xfrm>
            <a:off x="548640" y="5806440"/>
            <a:ext cx="11094415" cy="365760"/>
          </a:xfrm>
          <a:prstGeom prst="rect">
            <a:avLst/>
          </a:prstGeom>
          <a:noFill/>
          <a:ln/>
        </p:spPr>
        <p:txBody>
          <a:bodyPr wrap="square" lIns="0" tIns="0" rIns="0" bIns="0" rtlCol="0" anchor="t"/>
          <a:lstStyle/>
          <a:p>
            <a:pPr indent="0" marL="0">
              <a:buNone/>
            </a:pPr>
            <a:r>
              <a:rPr lang="en-US" sz="1600" b="1" dirty="0">
                <a:solidFill>
                  <a:schemeClr val="accent1"/>
                </a:solidFill>
              </a:rPr>
              <a:t>Planned output: a validated imaging pipeline and a compact biomarker panel</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400" b="1" dirty="0">
                <a:solidFill>
                  <a:schemeClr val="tx2"/>
                </a:solidFill>
              </a:rPr>
              <a:t>The patient-specific digital twin</a:t>
            </a:r>
            <a:endParaRPr lang="en-US" sz="34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A model that updates when new observations arrive, and predicts before the next cycle</a:t>
            </a:r>
            <a:endParaRPr lang="en-US" sz="1600" dirty="0"/>
          </a:p>
        </p:txBody>
      </p:sp>
      <p:sp>
        <p:nvSpPr>
          <p:cNvPr id="4" name="Shape 2"/>
          <p:cNvSpPr/>
          <p:nvPr/>
        </p:nvSpPr>
        <p:spPr>
          <a:xfrm>
            <a:off x="548640" y="1691640"/>
            <a:ext cx="731520" cy="73152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746150" y="1889150"/>
            <a:ext cx="336499" cy="336499"/>
          </a:xfrm>
          <a:prstGeom prst="rect">
            <a:avLst/>
          </a:prstGeom>
        </p:spPr>
      </p:pic>
      <p:sp>
        <p:nvSpPr>
          <p:cNvPr id="6" name="Text 3"/>
          <p:cNvSpPr txBox="1"/>
          <p:nvPr/>
        </p:nvSpPr>
        <p:spPr>
          <a:xfrm>
            <a:off x="1508760" y="1673352"/>
            <a:ext cx="3383280" cy="365760"/>
          </a:xfrm>
          <a:prstGeom prst="rect">
            <a:avLst/>
          </a:prstGeom>
          <a:noFill/>
          <a:ln/>
        </p:spPr>
        <p:txBody>
          <a:bodyPr wrap="square" lIns="0" tIns="0" rIns="0" bIns="0" rtlCol="0" anchor="t"/>
          <a:lstStyle/>
          <a:p>
            <a:pPr indent="0" marL="0">
              <a:buNone/>
            </a:pPr>
            <a:r>
              <a:rPr lang="en-US" sz="2000" b="1" dirty="0">
                <a:solidFill>
                  <a:schemeClr val="tx2"/>
                </a:solidFill>
              </a:rPr>
              <a:t>Observe</a:t>
            </a:r>
            <a:endParaRPr lang="en-US" sz="2000" dirty="0"/>
          </a:p>
        </p:txBody>
      </p:sp>
      <p:sp>
        <p:nvSpPr>
          <p:cNvPr id="7" name="Text 4"/>
          <p:cNvSpPr txBox="1"/>
          <p:nvPr/>
        </p:nvSpPr>
        <p:spPr>
          <a:xfrm>
            <a:off x="1508760" y="2057400"/>
            <a:ext cx="3383280" cy="731520"/>
          </a:xfrm>
          <a:prstGeom prst="rect">
            <a:avLst/>
          </a:prstGeom>
          <a:noFill/>
          <a:ln/>
        </p:spPr>
        <p:txBody>
          <a:bodyPr wrap="square" lIns="0" tIns="0" rIns="0" bIns="0" rtlCol="0" anchor="t"/>
          <a:lstStyle/>
          <a:p>
            <a:pPr indent="0" marL="0">
              <a:buNone/>
            </a:pPr>
            <a:r>
              <a:rPr lang="en-US" sz="1400" dirty="0">
                <a:solidFill>
                  <a:schemeClr val="tx1"/>
                </a:solidFill>
              </a:rPr>
              <a:t>Serial imaging, organ function and treatment history constrain the model</a:t>
            </a:r>
            <a:endParaRPr lang="en-US" sz="1400" dirty="0"/>
          </a:p>
        </p:txBody>
      </p:sp>
      <p:sp>
        <p:nvSpPr>
          <p:cNvPr id="8" name="Shape 5"/>
          <p:cNvSpPr/>
          <p:nvPr/>
        </p:nvSpPr>
        <p:spPr>
          <a:xfrm>
            <a:off x="914400" y="2496312"/>
            <a:ext cx="0" cy="365760"/>
          </a:xfrm>
          <a:prstGeom prst="line">
            <a:avLst/>
          </a:prstGeom>
          <a:noFill/>
          <a:ln w="22225">
            <a:solidFill>
              <a:schemeClr val="accent6"/>
            </a:solidFill>
            <a:prstDash val="solid"/>
            <a:tailEnd type="triangle"/>
          </a:ln>
        </p:spPr>
      </p:sp>
      <p:sp>
        <p:nvSpPr>
          <p:cNvPr id="9" name="Shape 6"/>
          <p:cNvSpPr/>
          <p:nvPr/>
        </p:nvSpPr>
        <p:spPr>
          <a:xfrm>
            <a:off x="548640" y="2926080"/>
            <a:ext cx="731520" cy="731520"/>
          </a:xfrm>
          <a:prstGeom prst="ellipse">
            <a:avLst/>
          </a:prstGeom>
          <a:solidFill>
            <a:schemeClr val="accent3"/>
          </a:solidFill>
          <a:ln/>
        </p:spPr>
      </p:sp>
      <p:pic>
        <p:nvPicPr>
          <p:cNvPr id="10" name="Image 1" descr="preencoded.png">    </p:cNvPr>
          <p:cNvPicPr>
            <a:picLocks noChangeAspect="1"/>
          </p:cNvPicPr>
          <p:nvPr/>
        </p:nvPicPr>
        <p:blipFill>
          <a:blip r:embed="rId2"/>
          <a:stretch>
            <a:fillRect/>
          </a:stretch>
        </p:blipFill>
        <p:spPr>
          <a:xfrm>
            <a:off x="746150" y="3123590"/>
            <a:ext cx="336499" cy="336499"/>
          </a:xfrm>
          <a:prstGeom prst="rect">
            <a:avLst/>
          </a:prstGeom>
        </p:spPr>
      </p:pic>
      <p:sp>
        <p:nvSpPr>
          <p:cNvPr id="11" name="Text 7"/>
          <p:cNvSpPr txBox="1"/>
          <p:nvPr/>
        </p:nvSpPr>
        <p:spPr>
          <a:xfrm>
            <a:off x="1508760" y="2907792"/>
            <a:ext cx="3383280" cy="365760"/>
          </a:xfrm>
          <a:prstGeom prst="rect">
            <a:avLst/>
          </a:prstGeom>
          <a:noFill/>
          <a:ln/>
        </p:spPr>
        <p:txBody>
          <a:bodyPr wrap="square" lIns="0" tIns="0" rIns="0" bIns="0" rtlCol="0" anchor="t"/>
          <a:lstStyle/>
          <a:p>
            <a:pPr indent="0" marL="0">
              <a:buNone/>
            </a:pPr>
            <a:r>
              <a:rPr lang="en-US" sz="2000" b="1" dirty="0">
                <a:solidFill>
                  <a:schemeClr val="tx2"/>
                </a:solidFill>
              </a:rPr>
              <a:t>Predict</a:t>
            </a:r>
            <a:endParaRPr lang="en-US" sz="2000" dirty="0"/>
          </a:p>
        </p:txBody>
      </p:sp>
      <p:sp>
        <p:nvSpPr>
          <p:cNvPr id="12" name="Text 8"/>
          <p:cNvSpPr txBox="1"/>
          <p:nvPr/>
        </p:nvSpPr>
        <p:spPr>
          <a:xfrm>
            <a:off x="1508760" y="3291840"/>
            <a:ext cx="3383280" cy="731520"/>
          </a:xfrm>
          <a:prstGeom prst="rect">
            <a:avLst/>
          </a:prstGeom>
          <a:noFill/>
          <a:ln/>
        </p:spPr>
        <p:txBody>
          <a:bodyPr wrap="square" lIns="0" tIns="0" rIns="0" bIns="0" rtlCol="0" anchor="t"/>
          <a:lstStyle/>
          <a:p>
            <a:pPr indent="0" marL="0">
              <a:buNone/>
            </a:pPr>
            <a:r>
              <a:rPr lang="en-US" sz="1400" dirty="0">
                <a:solidFill>
                  <a:schemeClr val="tx1"/>
                </a:solidFill>
              </a:rPr>
              <a:t>Pharmacokinetics, dosimetry and radiobiology estimate future outcomes</a:t>
            </a:r>
            <a:endParaRPr lang="en-US" sz="1400" dirty="0"/>
          </a:p>
        </p:txBody>
      </p:sp>
      <p:sp>
        <p:nvSpPr>
          <p:cNvPr id="13" name="Shape 9"/>
          <p:cNvSpPr/>
          <p:nvPr/>
        </p:nvSpPr>
        <p:spPr>
          <a:xfrm>
            <a:off x="914400" y="3730752"/>
            <a:ext cx="0" cy="365760"/>
          </a:xfrm>
          <a:prstGeom prst="line">
            <a:avLst/>
          </a:prstGeom>
          <a:noFill/>
          <a:ln w="22225">
            <a:solidFill>
              <a:schemeClr val="accent6"/>
            </a:solidFill>
            <a:prstDash val="solid"/>
            <a:tailEnd type="triangle"/>
          </a:ln>
        </p:spPr>
      </p:sp>
      <p:sp>
        <p:nvSpPr>
          <p:cNvPr id="14" name="Shape 10"/>
          <p:cNvSpPr/>
          <p:nvPr/>
        </p:nvSpPr>
        <p:spPr>
          <a:xfrm>
            <a:off x="548640" y="4160520"/>
            <a:ext cx="731520" cy="731520"/>
          </a:xfrm>
          <a:prstGeom prst="ellipse">
            <a:avLst/>
          </a:prstGeom>
          <a:solidFill>
            <a:schemeClr val="accent2"/>
          </a:solidFill>
          <a:ln/>
        </p:spPr>
      </p:sp>
      <p:pic>
        <p:nvPicPr>
          <p:cNvPr id="15" name="Image 2" descr="preencoded.png">    </p:cNvPr>
          <p:cNvPicPr>
            <a:picLocks noChangeAspect="1"/>
          </p:cNvPicPr>
          <p:nvPr/>
        </p:nvPicPr>
        <p:blipFill>
          <a:blip r:embed="rId3"/>
          <a:stretch>
            <a:fillRect/>
          </a:stretch>
        </p:blipFill>
        <p:spPr>
          <a:xfrm>
            <a:off x="746150" y="4358030"/>
            <a:ext cx="336499" cy="336499"/>
          </a:xfrm>
          <a:prstGeom prst="rect">
            <a:avLst/>
          </a:prstGeom>
        </p:spPr>
      </p:pic>
      <p:sp>
        <p:nvSpPr>
          <p:cNvPr id="16" name="Text 11"/>
          <p:cNvSpPr txBox="1"/>
          <p:nvPr/>
        </p:nvSpPr>
        <p:spPr>
          <a:xfrm>
            <a:off x="1508760" y="4142232"/>
            <a:ext cx="3383280" cy="365760"/>
          </a:xfrm>
          <a:prstGeom prst="rect">
            <a:avLst/>
          </a:prstGeom>
          <a:noFill/>
          <a:ln/>
        </p:spPr>
        <p:txBody>
          <a:bodyPr wrap="square" lIns="0" tIns="0" rIns="0" bIns="0" rtlCol="0" anchor="t"/>
          <a:lstStyle/>
          <a:p>
            <a:pPr indent="0" marL="0">
              <a:buNone/>
            </a:pPr>
            <a:r>
              <a:rPr lang="en-US" sz="2000" b="1" dirty="0">
                <a:solidFill>
                  <a:schemeClr val="tx2"/>
                </a:solidFill>
              </a:rPr>
              <a:t>Update</a:t>
            </a:r>
            <a:endParaRPr lang="en-US" sz="2000" dirty="0"/>
          </a:p>
        </p:txBody>
      </p:sp>
      <p:sp>
        <p:nvSpPr>
          <p:cNvPr id="17" name="Text 12"/>
          <p:cNvSpPr txBox="1"/>
          <p:nvPr/>
        </p:nvSpPr>
        <p:spPr>
          <a:xfrm>
            <a:off x="1508760" y="4526280"/>
            <a:ext cx="3383280" cy="731520"/>
          </a:xfrm>
          <a:prstGeom prst="rect">
            <a:avLst/>
          </a:prstGeom>
          <a:noFill/>
          <a:ln/>
        </p:spPr>
        <p:txBody>
          <a:bodyPr wrap="square" lIns="0" tIns="0" rIns="0" bIns="0" rtlCol="0" anchor="t"/>
          <a:lstStyle/>
          <a:p>
            <a:pPr indent="0" marL="0">
              <a:buNone/>
            </a:pPr>
            <a:r>
              <a:rPr lang="en-US" sz="1400" dirty="0">
                <a:solidFill>
                  <a:schemeClr val="tx1"/>
                </a:solidFill>
              </a:rPr>
              <a:t>New measurements revise the model before the next treatment cycle</a:t>
            </a:r>
            <a:endParaRPr lang="en-US" sz="1400" dirty="0"/>
          </a:p>
        </p:txBody>
      </p:sp>
      <p:pic>
        <p:nvPicPr>
          <p:cNvPr id="18" name="Image 3" descr="/tmp/claude-0/-home-user-habdollahin/757748ce-ce00-518f-b6e2-dec1c5e36469/scratchpad/build/figs/twin.png">    </p:cNvPr>
          <p:cNvPicPr>
            <a:picLocks noChangeAspect="1"/>
          </p:cNvPicPr>
          <p:nvPr/>
        </p:nvPicPr>
        <p:blipFill>
          <a:blip r:embed="rId4"/>
          <a:stretch>
            <a:fillRect/>
          </a:stretch>
        </p:blipFill>
        <p:spPr>
          <a:xfrm>
            <a:off x="5074920" y="1554480"/>
            <a:ext cx="6565392" cy="3630168"/>
          </a:xfrm>
          <a:prstGeom prst="rect">
            <a:avLst/>
          </a:prstGeom>
        </p:spPr>
      </p:pic>
      <p:sp>
        <p:nvSpPr>
          <p:cNvPr id="19" name="Text 13"/>
          <p:cNvSpPr txBox="1"/>
          <p:nvPr/>
        </p:nvSpPr>
        <p:spPr>
          <a:xfrm>
            <a:off x="5212080" y="5212080"/>
            <a:ext cx="6400800" cy="411480"/>
          </a:xfrm>
          <a:prstGeom prst="rect">
            <a:avLst/>
          </a:prstGeom>
          <a:noFill/>
          <a:ln/>
        </p:spPr>
        <p:txBody>
          <a:bodyPr wrap="square" lIns="0" tIns="0" rIns="0" bIns="0" rtlCol="0" anchor="t"/>
          <a:lstStyle/>
          <a:p>
            <a:pPr algn="l" indent="0" marL="0">
              <a:buNone/>
            </a:pPr>
            <a:r>
              <a:rPr lang="en-US" sz="1000" i="1" dirty="0">
                <a:solidFill>
                  <a:schemeClr val="accent6"/>
                </a:solidFill>
              </a:rPr>
              <a:t>Schematic: sparse post-therapy measurements (dots) narrow the prediction band (shaded) from cycle 1 to cycle 2. Not patient data.</a:t>
            </a:r>
            <a:endParaRPr lang="en-US" sz="1000" dirty="0"/>
          </a:p>
        </p:txBody>
      </p:sp>
      <p:sp>
        <p:nvSpPr>
          <p:cNvPr id="20" name="Shape 14"/>
          <p:cNvSpPr/>
          <p:nvPr/>
        </p:nvSpPr>
        <p:spPr>
          <a:xfrm>
            <a:off x="548640" y="5669280"/>
            <a:ext cx="11094415" cy="548640"/>
          </a:xfrm>
          <a:prstGeom prst="roundRect">
            <a:avLst>
              <a:gd name="adj" fmla="val 13333"/>
            </a:avLst>
          </a:prstGeom>
          <a:solidFill>
            <a:schemeClr val="accent2">
              <a:alpha val="15000"/>
            </a:schemeClr>
          </a:solidFill>
          <a:ln/>
        </p:spPr>
      </p:sp>
      <p:sp>
        <p:nvSpPr>
          <p:cNvPr id="21" name="Text 15"/>
          <p:cNvSpPr txBox="1"/>
          <p:nvPr/>
        </p:nvSpPr>
        <p:spPr>
          <a:xfrm>
            <a:off x="822960" y="5669280"/>
            <a:ext cx="10545775" cy="548640"/>
          </a:xfrm>
          <a:prstGeom prst="rect">
            <a:avLst/>
          </a:prstGeom>
          <a:noFill/>
          <a:ln/>
        </p:spPr>
        <p:txBody>
          <a:bodyPr wrap="square" lIns="0" tIns="0" rIns="0" bIns="0" rtlCol="0" anchor="ctr"/>
          <a:lstStyle/>
          <a:p>
            <a:pPr indent="0" marL="0">
              <a:buNone/>
            </a:pPr>
            <a:r>
              <a:rPr lang="en-US" sz="1600" b="1" dirty="0">
                <a:solidFill>
                  <a:schemeClr val="accent2"/>
                </a:solidFill>
              </a:rPr>
              <a:t>First test:  </a:t>
            </a:r>
            <a:pPr indent="0" marL="0">
              <a:buNone/>
            </a:pPr>
            <a:r>
              <a:rPr lang="en-US" sz="1600" b="1" dirty="0">
                <a:solidFill>
                  <a:schemeClr val="tx2"/>
                </a:solidFill>
              </a:rPr>
              <a:t>prediction of tumour and organ absorbed dose in PSMA-targeted therapy</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400" b="1" dirty="0">
                <a:solidFill>
                  <a:schemeClr val="tx2"/>
                </a:solidFill>
              </a:rPr>
              <a:t>The treatment choices I will study</a:t>
            </a:r>
            <a:endParaRPr lang="en-US" sz="34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Therapy is a design space: separate the decisions we can change from the biology the model must represent</a:t>
            </a:r>
            <a:endParaRPr lang="en-US" sz="1600" dirty="0"/>
          </a:p>
        </p:txBody>
      </p:sp>
      <p:sp>
        <p:nvSpPr>
          <p:cNvPr id="4" name="Shape 2"/>
          <p:cNvSpPr/>
          <p:nvPr/>
        </p:nvSpPr>
        <p:spPr>
          <a:xfrm>
            <a:off x="548640" y="1645920"/>
            <a:ext cx="4297680" cy="3931920"/>
          </a:xfrm>
          <a:prstGeom prst="roundRect">
            <a:avLst>
              <a:gd name="adj" fmla="val 1860"/>
            </a:avLst>
          </a:prstGeom>
          <a:solidFill>
            <a:schemeClr val="bg2"/>
          </a:solidFill>
          <a:ln/>
        </p:spPr>
      </p:sp>
      <p:sp>
        <p:nvSpPr>
          <p:cNvPr id="5" name="Text 3"/>
          <p:cNvSpPr txBox="1"/>
          <p:nvPr/>
        </p:nvSpPr>
        <p:spPr>
          <a:xfrm>
            <a:off x="822960" y="1828800"/>
            <a:ext cx="3749040" cy="320040"/>
          </a:xfrm>
          <a:prstGeom prst="rect">
            <a:avLst/>
          </a:prstGeom>
          <a:noFill/>
          <a:ln/>
        </p:spPr>
        <p:txBody>
          <a:bodyPr wrap="square" lIns="0" tIns="0" rIns="0" bIns="0" rtlCol="0" anchor="t"/>
          <a:lstStyle/>
          <a:p>
            <a:pPr indent="0" marL="0">
              <a:buNone/>
            </a:pPr>
            <a:r>
              <a:rPr lang="en-US" sz="1500" b="1" dirty="0">
                <a:solidFill>
                  <a:schemeClr val="tx2"/>
                </a:solidFill>
              </a:rPr>
              <a:t>Activity alone (illustrative 177Lu-PSMA twin)</a:t>
            </a:r>
            <a:endParaRPr lang="en-US" sz="1500" dirty="0"/>
          </a:p>
        </p:txBody>
      </p:sp>
      <p:sp>
        <p:nvSpPr>
          <p:cNvPr id="6" name="Shape 4"/>
          <p:cNvSpPr/>
          <p:nvPr/>
        </p:nvSpPr>
        <p:spPr>
          <a:xfrm>
            <a:off x="822960" y="2331720"/>
            <a:ext cx="1325880" cy="658368"/>
          </a:xfrm>
          <a:prstGeom prst="roundRect">
            <a:avLst>
              <a:gd name="adj" fmla="val 11111"/>
            </a:avLst>
          </a:prstGeom>
          <a:solidFill>
            <a:schemeClr val="accent6"/>
          </a:solidFill>
          <a:ln/>
        </p:spPr>
      </p:sp>
      <p:sp>
        <p:nvSpPr>
          <p:cNvPr id="7" name="Text 5"/>
          <p:cNvSpPr txBox="1"/>
          <p:nvPr/>
        </p:nvSpPr>
        <p:spPr>
          <a:xfrm>
            <a:off x="822960" y="2331720"/>
            <a:ext cx="1325880" cy="658368"/>
          </a:xfrm>
          <a:prstGeom prst="rect">
            <a:avLst/>
          </a:prstGeom>
          <a:noFill/>
          <a:ln/>
        </p:spPr>
        <p:txBody>
          <a:bodyPr wrap="square" lIns="0" tIns="0" rIns="0" bIns="0" rtlCol="0" anchor="ctr"/>
          <a:lstStyle/>
          <a:p>
            <a:pPr algn="ctr" indent="0" marL="0">
              <a:buNone/>
            </a:pPr>
            <a:r>
              <a:rPr lang="en-US" sz="2000" b="1" dirty="0">
                <a:solidFill>
                  <a:schemeClr val="bg1"/>
                </a:solidFill>
              </a:rPr>
              <a:t>7.4 GBq</a:t>
            </a:r>
            <a:endParaRPr lang="en-US" sz="2000" dirty="0"/>
          </a:p>
        </p:txBody>
      </p:sp>
      <p:sp>
        <p:nvSpPr>
          <p:cNvPr id="8" name="Text 6"/>
          <p:cNvSpPr txBox="1"/>
          <p:nvPr/>
        </p:nvSpPr>
        <p:spPr>
          <a:xfrm>
            <a:off x="2331720" y="2331720"/>
            <a:ext cx="2286000" cy="658368"/>
          </a:xfrm>
          <a:prstGeom prst="rect">
            <a:avLst/>
          </a:prstGeom>
          <a:noFill/>
          <a:ln/>
        </p:spPr>
        <p:txBody>
          <a:bodyPr wrap="square" lIns="0" tIns="0" rIns="0" bIns="0" rtlCol="0" anchor="ctr"/>
          <a:lstStyle/>
          <a:p>
            <a:pPr indent="0" marL="0">
              <a:buNone/>
            </a:pPr>
            <a:r>
              <a:rPr lang="en-US" sz="1500" dirty="0">
                <a:solidFill>
                  <a:schemeClr val="tx1"/>
                </a:solidFill>
              </a:rPr>
              <a:t>Organs safe · tumour refractory</a:t>
            </a:r>
            <a:endParaRPr lang="en-US" sz="1500" dirty="0"/>
          </a:p>
        </p:txBody>
      </p:sp>
      <p:sp>
        <p:nvSpPr>
          <p:cNvPr id="9" name="Shape 7"/>
          <p:cNvSpPr/>
          <p:nvPr/>
        </p:nvSpPr>
        <p:spPr>
          <a:xfrm>
            <a:off x="822960" y="3200400"/>
            <a:ext cx="1325880" cy="658368"/>
          </a:xfrm>
          <a:prstGeom prst="roundRect">
            <a:avLst>
              <a:gd name="adj" fmla="val 11111"/>
            </a:avLst>
          </a:prstGeom>
          <a:solidFill>
            <a:schemeClr val="accent1"/>
          </a:solidFill>
          <a:ln/>
        </p:spPr>
      </p:sp>
      <p:sp>
        <p:nvSpPr>
          <p:cNvPr id="10" name="Text 8"/>
          <p:cNvSpPr txBox="1"/>
          <p:nvPr/>
        </p:nvSpPr>
        <p:spPr>
          <a:xfrm>
            <a:off x="822960" y="3200400"/>
            <a:ext cx="1325880" cy="658368"/>
          </a:xfrm>
          <a:prstGeom prst="rect">
            <a:avLst/>
          </a:prstGeom>
          <a:noFill/>
          <a:ln/>
        </p:spPr>
        <p:txBody>
          <a:bodyPr wrap="square" lIns="0" tIns="0" rIns="0" bIns="0" rtlCol="0" anchor="ctr"/>
          <a:lstStyle/>
          <a:p>
            <a:pPr algn="ctr" indent="0" marL="0">
              <a:buNone/>
            </a:pPr>
            <a:r>
              <a:rPr lang="en-US" sz="2000" b="1" dirty="0">
                <a:solidFill>
                  <a:schemeClr val="bg1"/>
                </a:solidFill>
              </a:rPr>
              <a:t>8.3 GBq</a:t>
            </a:r>
            <a:endParaRPr lang="en-US" sz="2000" dirty="0"/>
          </a:p>
        </p:txBody>
      </p:sp>
      <p:sp>
        <p:nvSpPr>
          <p:cNvPr id="11" name="Text 9"/>
          <p:cNvSpPr txBox="1"/>
          <p:nvPr/>
        </p:nvSpPr>
        <p:spPr>
          <a:xfrm>
            <a:off x="2331720" y="3200400"/>
            <a:ext cx="2286000" cy="658368"/>
          </a:xfrm>
          <a:prstGeom prst="rect">
            <a:avLst/>
          </a:prstGeom>
          <a:noFill/>
          <a:ln/>
        </p:spPr>
        <p:txBody>
          <a:bodyPr wrap="square" lIns="0" tIns="0" rIns="0" bIns="0" rtlCol="0" anchor="ctr"/>
          <a:lstStyle/>
          <a:p>
            <a:pPr indent="0" marL="0">
              <a:buNone/>
            </a:pPr>
            <a:r>
              <a:rPr lang="en-US" sz="1500" dirty="0">
                <a:solidFill>
                  <a:schemeClr val="tx1"/>
                </a:solidFill>
              </a:rPr>
              <a:t>Organs safe · tumour responds</a:t>
            </a:r>
            <a:endParaRPr lang="en-US" sz="1500" dirty="0"/>
          </a:p>
        </p:txBody>
      </p:sp>
      <p:sp>
        <p:nvSpPr>
          <p:cNvPr id="12" name="Shape 10"/>
          <p:cNvSpPr/>
          <p:nvPr/>
        </p:nvSpPr>
        <p:spPr>
          <a:xfrm>
            <a:off x="822960" y="4069080"/>
            <a:ext cx="1325880" cy="658368"/>
          </a:xfrm>
          <a:prstGeom prst="roundRect">
            <a:avLst>
              <a:gd name="adj" fmla="val 11111"/>
            </a:avLst>
          </a:prstGeom>
          <a:solidFill>
            <a:schemeClr val="accent5"/>
          </a:solidFill>
          <a:ln/>
        </p:spPr>
      </p:sp>
      <p:sp>
        <p:nvSpPr>
          <p:cNvPr id="13" name="Text 11"/>
          <p:cNvSpPr txBox="1"/>
          <p:nvPr/>
        </p:nvSpPr>
        <p:spPr>
          <a:xfrm>
            <a:off x="822960" y="4069080"/>
            <a:ext cx="1325880" cy="658368"/>
          </a:xfrm>
          <a:prstGeom prst="rect">
            <a:avLst/>
          </a:prstGeom>
          <a:noFill/>
          <a:ln/>
        </p:spPr>
        <p:txBody>
          <a:bodyPr wrap="square" lIns="0" tIns="0" rIns="0" bIns="0" rtlCol="0" anchor="ctr"/>
          <a:lstStyle/>
          <a:p>
            <a:pPr algn="ctr" indent="0" marL="0">
              <a:buNone/>
            </a:pPr>
            <a:r>
              <a:rPr lang="en-US" sz="2000" b="1" dirty="0">
                <a:solidFill>
                  <a:schemeClr val="bg1"/>
                </a:solidFill>
              </a:rPr>
              <a:t>10 GBq</a:t>
            </a:r>
            <a:endParaRPr lang="en-US" sz="2000" dirty="0"/>
          </a:p>
        </p:txBody>
      </p:sp>
      <p:sp>
        <p:nvSpPr>
          <p:cNvPr id="14" name="Text 12"/>
          <p:cNvSpPr txBox="1"/>
          <p:nvPr/>
        </p:nvSpPr>
        <p:spPr>
          <a:xfrm>
            <a:off x="2331720" y="4069080"/>
            <a:ext cx="2286000" cy="658368"/>
          </a:xfrm>
          <a:prstGeom prst="rect">
            <a:avLst/>
          </a:prstGeom>
          <a:noFill/>
          <a:ln/>
        </p:spPr>
        <p:txBody>
          <a:bodyPr wrap="square" lIns="0" tIns="0" rIns="0" bIns="0" rtlCol="0" anchor="ctr"/>
          <a:lstStyle/>
          <a:p>
            <a:pPr indent="0" marL="0">
              <a:buNone/>
            </a:pPr>
            <a:r>
              <a:rPr lang="en-US" sz="1500" dirty="0">
                <a:solidFill>
                  <a:schemeClr val="tx1"/>
                </a:solidFill>
              </a:rPr>
              <a:t>Tumour responds · organ toxicity</a:t>
            </a:r>
            <a:endParaRPr lang="en-US" sz="1500" dirty="0"/>
          </a:p>
        </p:txBody>
      </p:sp>
      <p:sp>
        <p:nvSpPr>
          <p:cNvPr id="15" name="Text 13"/>
          <p:cNvSpPr txBox="1"/>
          <p:nvPr/>
        </p:nvSpPr>
        <p:spPr>
          <a:xfrm>
            <a:off x="822960" y="4937760"/>
            <a:ext cx="3749040" cy="548640"/>
          </a:xfrm>
          <a:prstGeom prst="rect">
            <a:avLst/>
          </a:prstGeom>
          <a:noFill/>
          <a:ln/>
        </p:spPr>
        <p:txBody>
          <a:bodyPr wrap="square" lIns="0" tIns="0" rIns="0" bIns="0" rtlCol="0" anchor="t"/>
          <a:lstStyle/>
          <a:p>
            <a:pPr indent="0" marL="0">
              <a:buNone/>
            </a:pPr>
            <a:r>
              <a:rPr lang="en-US" sz="1400" i="1" dirty="0">
                <a:solidFill>
                  <a:schemeClr val="tx2"/>
                </a:solidFill>
              </a:rPr>
              <a:t>Fixed activity would under-treat this patient; a higher fixed activity would harm them.</a:t>
            </a:r>
            <a:endParaRPr lang="en-US" sz="1400" dirty="0"/>
          </a:p>
        </p:txBody>
      </p:sp>
      <p:sp>
        <p:nvSpPr>
          <p:cNvPr id="16" name="Text 14"/>
          <p:cNvSpPr txBox="1"/>
          <p:nvPr/>
        </p:nvSpPr>
        <p:spPr>
          <a:xfrm>
            <a:off x="548640" y="5623560"/>
            <a:ext cx="4297680" cy="274320"/>
          </a:xfrm>
          <a:prstGeom prst="rect">
            <a:avLst/>
          </a:prstGeom>
          <a:noFill/>
          <a:ln/>
        </p:spPr>
        <p:txBody>
          <a:bodyPr wrap="square" lIns="0" tIns="0" rIns="0" bIns="0" rtlCol="0" anchor="t"/>
          <a:lstStyle/>
          <a:p>
            <a:pPr algn="l" indent="0" marL="0">
              <a:buNone/>
            </a:pPr>
            <a:r>
              <a:rPr lang="en-US" sz="1000" i="1" dirty="0">
                <a:solidFill>
                  <a:schemeClr val="accent6"/>
                </a:solidFill>
              </a:rPr>
              <a:t>After Yazdani et al., Theranostics 2026 (Fig. 5); Abdollahi et al., Theranostics 2024.</a:t>
            </a:r>
            <a:endParaRPr lang="en-US" sz="1000" dirty="0"/>
          </a:p>
        </p:txBody>
      </p:sp>
      <p:sp>
        <p:nvSpPr>
          <p:cNvPr id="17" name="Text 15"/>
          <p:cNvSpPr txBox="1"/>
          <p:nvPr/>
        </p:nvSpPr>
        <p:spPr>
          <a:xfrm>
            <a:off x="6080760" y="1645920"/>
            <a:ext cx="2377440" cy="274320"/>
          </a:xfrm>
          <a:prstGeom prst="rect">
            <a:avLst/>
          </a:prstGeom>
          <a:noFill/>
          <a:ln/>
        </p:spPr>
        <p:txBody>
          <a:bodyPr wrap="square" lIns="0" tIns="0" rIns="0" bIns="0" rtlCol="0" anchor="t"/>
          <a:lstStyle/>
          <a:p>
            <a:pPr indent="0" marL="0">
              <a:buNone/>
            </a:pPr>
            <a:r>
              <a:rPr lang="en-US" sz="1100" b="1" spc="100" kern="0" dirty="0">
                <a:solidFill>
                  <a:schemeClr val="accent6"/>
                </a:solidFill>
              </a:rPr>
              <a:t>DECISIONS TO COMPARE</a:t>
            </a:r>
            <a:endParaRPr lang="en-US" sz="1100" dirty="0"/>
          </a:p>
        </p:txBody>
      </p:sp>
      <p:sp>
        <p:nvSpPr>
          <p:cNvPr id="18" name="Text 16"/>
          <p:cNvSpPr txBox="1"/>
          <p:nvPr/>
        </p:nvSpPr>
        <p:spPr>
          <a:xfrm>
            <a:off x="8778240" y="1645920"/>
            <a:ext cx="2926080" cy="274320"/>
          </a:xfrm>
          <a:prstGeom prst="rect">
            <a:avLst/>
          </a:prstGeom>
          <a:noFill/>
          <a:ln/>
        </p:spPr>
        <p:txBody>
          <a:bodyPr wrap="square" lIns="0" tIns="0" rIns="0" bIns="0" rtlCol="0" anchor="t"/>
          <a:lstStyle/>
          <a:p>
            <a:pPr indent="0" marL="0">
              <a:buNone/>
            </a:pPr>
            <a:r>
              <a:rPr lang="en-US" sz="1100" b="1" spc="100" kern="0" dirty="0">
                <a:solidFill>
                  <a:schemeClr val="accent6"/>
                </a:solidFill>
              </a:rPr>
              <a:t>BIOLOGY AND PHYSICS TO REPRESENT</a:t>
            </a:r>
            <a:endParaRPr lang="en-US" sz="1100" dirty="0"/>
          </a:p>
        </p:txBody>
      </p:sp>
      <p:sp>
        <p:nvSpPr>
          <p:cNvPr id="19" name="Shape 17"/>
          <p:cNvSpPr/>
          <p:nvPr/>
        </p:nvSpPr>
        <p:spPr>
          <a:xfrm>
            <a:off x="5257800" y="2011680"/>
            <a:ext cx="6385255" cy="749808"/>
          </a:xfrm>
          <a:prstGeom prst="roundRect">
            <a:avLst>
              <a:gd name="adj" fmla="val 9756"/>
            </a:avLst>
          </a:prstGeom>
          <a:solidFill>
            <a:schemeClr val="bg2"/>
          </a:solidFill>
          <a:ln/>
        </p:spPr>
      </p:sp>
      <p:sp>
        <p:nvSpPr>
          <p:cNvPr id="20" name="Shape 18"/>
          <p:cNvSpPr/>
          <p:nvPr/>
        </p:nvSpPr>
        <p:spPr>
          <a:xfrm>
            <a:off x="5422392" y="2130552"/>
            <a:ext cx="512064" cy="512064"/>
          </a:xfrm>
          <a:prstGeom prst="ellipse">
            <a:avLst/>
          </a:prstGeom>
          <a:solidFill>
            <a:schemeClr val="accent3"/>
          </a:solidFill>
          <a:ln/>
        </p:spPr>
      </p:sp>
      <p:pic>
        <p:nvPicPr>
          <p:cNvPr id="21" name="Image 0" descr="preencoded.png">    </p:cNvPr>
          <p:cNvPicPr>
            <a:picLocks noChangeAspect="1"/>
          </p:cNvPicPr>
          <p:nvPr/>
        </p:nvPicPr>
        <p:blipFill>
          <a:blip r:embed="rId1"/>
          <a:stretch>
            <a:fillRect/>
          </a:stretch>
        </p:blipFill>
        <p:spPr>
          <a:xfrm>
            <a:off x="5560649" y="2268809"/>
            <a:ext cx="235549" cy="235549"/>
          </a:xfrm>
          <a:prstGeom prst="rect">
            <a:avLst/>
          </a:prstGeom>
        </p:spPr>
      </p:pic>
      <p:sp>
        <p:nvSpPr>
          <p:cNvPr id="22" name="Text 19"/>
          <p:cNvSpPr txBox="1"/>
          <p:nvPr/>
        </p:nvSpPr>
        <p:spPr>
          <a:xfrm>
            <a:off x="6080760" y="2011680"/>
            <a:ext cx="2331720" cy="749808"/>
          </a:xfrm>
          <a:prstGeom prst="rect">
            <a:avLst/>
          </a:prstGeom>
          <a:noFill/>
          <a:ln/>
        </p:spPr>
        <p:txBody>
          <a:bodyPr wrap="square" lIns="0" tIns="0" rIns="0" bIns="0" rtlCol="0" anchor="ctr"/>
          <a:lstStyle/>
          <a:p>
            <a:pPr indent="0" marL="0">
              <a:buNone/>
            </a:pPr>
            <a:r>
              <a:rPr lang="en-US" sz="1600" b="1" dirty="0">
                <a:solidFill>
                  <a:schemeClr val="tx2"/>
                </a:solidFill>
              </a:rPr>
              <a:t>Administered activity</a:t>
            </a:r>
            <a:endParaRPr lang="en-US" sz="1600" dirty="0"/>
          </a:p>
        </p:txBody>
      </p:sp>
      <p:sp>
        <p:nvSpPr>
          <p:cNvPr id="23" name="Shape 20"/>
          <p:cNvSpPr/>
          <p:nvPr/>
        </p:nvSpPr>
        <p:spPr>
          <a:xfrm>
            <a:off x="8385048" y="2386584"/>
            <a:ext cx="274320" cy="0"/>
          </a:xfrm>
          <a:prstGeom prst="line">
            <a:avLst/>
          </a:prstGeom>
          <a:noFill/>
          <a:ln w="22225">
            <a:solidFill>
              <a:schemeClr val="accent6"/>
            </a:solidFill>
            <a:prstDash val="solid"/>
            <a:tailEnd type="triangle"/>
          </a:ln>
        </p:spPr>
      </p:sp>
      <p:sp>
        <p:nvSpPr>
          <p:cNvPr id="24" name="Text 21"/>
          <p:cNvSpPr txBox="1"/>
          <p:nvPr/>
        </p:nvSpPr>
        <p:spPr>
          <a:xfrm>
            <a:off x="8778240" y="2011680"/>
            <a:ext cx="2727655" cy="749808"/>
          </a:xfrm>
          <a:prstGeom prst="rect">
            <a:avLst/>
          </a:prstGeom>
          <a:noFill/>
          <a:ln/>
        </p:spPr>
        <p:txBody>
          <a:bodyPr wrap="square" lIns="0" tIns="0" rIns="0" bIns="0" rtlCol="0" anchor="ctr"/>
          <a:lstStyle/>
          <a:p>
            <a:pPr indent="0" marL="0">
              <a:buNone/>
            </a:pPr>
            <a:r>
              <a:rPr lang="en-US" sz="1400" dirty="0">
                <a:solidFill>
                  <a:schemeClr val="tx1"/>
                </a:solidFill>
              </a:rPr>
              <a:t>Distribution, clearance and organ exposure</a:t>
            </a:r>
            <a:endParaRPr lang="en-US" sz="1400" dirty="0"/>
          </a:p>
        </p:txBody>
      </p:sp>
      <p:sp>
        <p:nvSpPr>
          <p:cNvPr id="25" name="Shape 22"/>
          <p:cNvSpPr/>
          <p:nvPr/>
        </p:nvSpPr>
        <p:spPr>
          <a:xfrm>
            <a:off x="5257800" y="2898648"/>
            <a:ext cx="6385255" cy="749808"/>
          </a:xfrm>
          <a:prstGeom prst="roundRect">
            <a:avLst>
              <a:gd name="adj" fmla="val 9756"/>
            </a:avLst>
          </a:prstGeom>
          <a:solidFill>
            <a:schemeClr val="bg2"/>
          </a:solidFill>
          <a:ln/>
        </p:spPr>
      </p:sp>
      <p:sp>
        <p:nvSpPr>
          <p:cNvPr id="26" name="Shape 23"/>
          <p:cNvSpPr/>
          <p:nvPr/>
        </p:nvSpPr>
        <p:spPr>
          <a:xfrm>
            <a:off x="5422392" y="3017520"/>
            <a:ext cx="512064" cy="512064"/>
          </a:xfrm>
          <a:prstGeom prst="ellipse">
            <a:avLst/>
          </a:prstGeom>
          <a:solidFill>
            <a:schemeClr val="accent3"/>
          </a:solidFill>
          <a:ln/>
        </p:spPr>
      </p:sp>
      <p:pic>
        <p:nvPicPr>
          <p:cNvPr id="27" name="Image 1" descr="preencoded.png">    </p:cNvPr>
          <p:cNvPicPr>
            <a:picLocks noChangeAspect="1"/>
          </p:cNvPicPr>
          <p:nvPr/>
        </p:nvPicPr>
        <p:blipFill>
          <a:blip r:embed="rId2"/>
          <a:stretch>
            <a:fillRect/>
          </a:stretch>
        </p:blipFill>
        <p:spPr>
          <a:xfrm>
            <a:off x="5560649" y="3155777"/>
            <a:ext cx="235549" cy="235549"/>
          </a:xfrm>
          <a:prstGeom prst="rect">
            <a:avLst/>
          </a:prstGeom>
        </p:spPr>
      </p:pic>
      <p:sp>
        <p:nvSpPr>
          <p:cNvPr id="28" name="Text 24"/>
          <p:cNvSpPr txBox="1"/>
          <p:nvPr/>
        </p:nvSpPr>
        <p:spPr>
          <a:xfrm>
            <a:off x="6080760" y="2898648"/>
            <a:ext cx="2331720" cy="749808"/>
          </a:xfrm>
          <a:prstGeom prst="rect">
            <a:avLst/>
          </a:prstGeom>
          <a:noFill/>
          <a:ln/>
        </p:spPr>
        <p:txBody>
          <a:bodyPr wrap="square" lIns="0" tIns="0" rIns="0" bIns="0" rtlCol="0" anchor="ctr"/>
          <a:lstStyle/>
          <a:p>
            <a:pPr indent="0" marL="0">
              <a:buNone/>
            </a:pPr>
            <a:r>
              <a:rPr lang="en-US" sz="1600" b="1" dirty="0">
                <a:solidFill>
                  <a:schemeClr val="tx2"/>
                </a:solidFill>
              </a:rPr>
              <a:t>Cycles and intervals</a:t>
            </a:r>
            <a:endParaRPr lang="en-US" sz="1600" dirty="0"/>
          </a:p>
        </p:txBody>
      </p:sp>
      <p:sp>
        <p:nvSpPr>
          <p:cNvPr id="29" name="Shape 25"/>
          <p:cNvSpPr/>
          <p:nvPr/>
        </p:nvSpPr>
        <p:spPr>
          <a:xfrm>
            <a:off x="8385048" y="3273552"/>
            <a:ext cx="274320" cy="0"/>
          </a:xfrm>
          <a:prstGeom prst="line">
            <a:avLst/>
          </a:prstGeom>
          <a:noFill/>
          <a:ln w="22225">
            <a:solidFill>
              <a:schemeClr val="accent6"/>
            </a:solidFill>
            <a:prstDash val="solid"/>
            <a:tailEnd type="triangle"/>
          </a:ln>
        </p:spPr>
      </p:sp>
      <p:sp>
        <p:nvSpPr>
          <p:cNvPr id="30" name="Text 26"/>
          <p:cNvSpPr txBox="1"/>
          <p:nvPr/>
        </p:nvSpPr>
        <p:spPr>
          <a:xfrm>
            <a:off x="8778240" y="2898648"/>
            <a:ext cx="2727655" cy="749808"/>
          </a:xfrm>
          <a:prstGeom prst="rect">
            <a:avLst/>
          </a:prstGeom>
          <a:noFill/>
          <a:ln/>
        </p:spPr>
        <p:txBody>
          <a:bodyPr wrap="square" lIns="0" tIns="0" rIns="0" bIns="0" rtlCol="0" anchor="ctr"/>
          <a:lstStyle/>
          <a:p>
            <a:pPr indent="0" marL="0">
              <a:buNone/>
            </a:pPr>
            <a:r>
              <a:rPr lang="en-US" sz="1400" dirty="0">
                <a:solidFill>
                  <a:schemeClr val="tx1"/>
                </a:solidFill>
              </a:rPr>
              <a:t>Dose rate, repair and cumulative response</a:t>
            </a:r>
            <a:endParaRPr lang="en-US" sz="1400" dirty="0"/>
          </a:p>
        </p:txBody>
      </p:sp>
      <p:sp>
        <p:nvSpPr>
          <p:cNvPr id="31" name="Shape 27"/>
          <p:cNvSpPr/>
          <p:nvPr/>
        </p:nvSpPr>
        <p:spPr>
          <a:xfrm>
            <a:off x="5257800" y="3785616"/>
            <a:ext cx="6385255" cy="749808"/>
          </a:xfrm>
          <a:prstGeom prst="roundRect">
            <a:avLst>
              <a:gd name="adj" fmla="val 9756"/>
            </a:avLst>
          </a:prstGeom>
          <a:solidFill>
            <a:schemeClr val="bg2"/>
          </a:solidFill>
          <a:ln/>
        </p:spPr>
      </p:sp>
      <p:sp>
        <p:nvSpPr>
          <p:cNvPr id="32" name="Shape 28"/>
          <p:cNvSpPr/>
          <p:nvPr/>
        </p:nvSpPr>
        <p:spPr>
          <a:xfrm>
            <a:off x="5422392" y="3904488"/>
            <a:ext cx="512064" cy="512064"/>
          </a:xfrm>
          <a:prstGeom prst="ellipse">
            <a:avLst/>
          </a:prstGeom>
          <a:solidFill>
            <a:schemeClr val="accent3"/>
          </a:solidFill>
          <a:ln/>
        </p:spPr>
      </p:sp>
      <p:pic>
        <p:nvPicPr>
          <p:cNvPr id="33" name="Image 2" descr="preencoded.png">    </p:cNvPr>
          <p:cNvPicPr>
            <a:picLocks noChangeAspect="1"/>
          </p:cNvPicPr>
          <p:nvPr/>
        </p:nvPicPr>
        <p:blipFill>
          <a:blip r:embed="rId3"/>
          <a:stretch>
            <a:fillRect/>
          </a:stretch>
        </p:blipFill>
        <p:spPr>
          <a:xfrm>
            <a:off x="5560649" y="4042745"/>
            <a:ext cx="235549" cy="235549"/>
          </a:xfrm>
          <a:prstGeom prst="rect">
            <a:avLst/>
          </a:prstGeom>
        </p:spPr>
      </p:pic>
      <p:sp>
        <p:nvSpPr>
          <p:cNvPr id="34" name="Text 29"/>
          <p:cNvSpPr txBox="1"/>
          <p:nvPr/>
        </p:nvSpPr>
        <p:spPr>
          <a:xfrm>
            <a:off x="6080760" y="3785616"/>
            <a:ext cx="2331720" cy="749808"/>
          </a:xfrm>
          <a:prstGeom prst="rect">
            <a:avLst/>
          </a:prstGeom>
          <a:noFill/>
          <a:ln/>
        </p:spPr>
        <p:txBody>
          <a:bodyPr wrap="square" lIns="0" tIns="0" rIns="0" bIns="0" rtlCol="0" anchor="ctr"/>
          <a:lstStyle/>
          <a:p>
            <a:pPr indent="0" marL="0">
              <a:buNone/>
            </a:pPr>
            <a:r>
              <a:rPr lang="en-US" sz="1600" b="1" dirty="0">
                <a:solidFill>
                  <a:schemeClr val="tx2"/>
                </a:solidFill>
              </a:rPr>
              <a:t>Infusion and ligand conditions</a:t>
            </a:r>
            <a:endParaRPr lang="en-US" sz="1600" dirty="0"/>
          </a:p>
        </p:txBody>
      </p:sp>
      <p:sp>
        <p:nvSpPr>
          <p:cNvPr id="35" name="Shape 30"/>
          <p:cNvSpPr/>
          <p:nvPr/>
        </p:nvSpPr>
        <p:spPr>
          <a:xfrm>
            <a:off x="8385048" y="4160520"/>
            <a:ext cx="274320" cy="0"/>
          </a:xfrm>
          <a:prstGeom prst="line">
            <a:avLst/>
          </a:prstGeom>
          <a:noFill/>
          <a:ln w="22225">
            <a:solidFill>
              <a:schemeClr val="accent6"/>
            </a:solidFill>
            <a:prstDash val="solid"/>
            <a:tailEnd type="triangle"/>
          </a:ln>
        </p:spPr>
      </p:sp>
      <p:sp>
        <p:nvSpPr>
          <p:cNvPr id="36" name="Text 31"/>
          <p:cNvSpPr txBox="1"/>
          <p:nvPr/>
        </p:nvSpPr>
        <p:spPr>
          <a:xfrm>
            <a:off x="8778240" y="3785616"/>
            <a:ext cx="2727655" cy="749808"/>
          </a:xfrm>
          <a:prstGeom prst="rect">
            <a:avLst/>
          </a:prstGeom>
          <a:noFill/>
          <a:ln/>
        </p:spPr>
        <p:txBody>
          <a:bodyPr wrap="square" lIns="0" tIns="0" rIns="0" bIns="0" rtlCol="0" anchor="ctr"/>
          <a:lstStyle/>
          <a:p>
            <a:pPr indent="0" marL="0">
              <a:buNone/>
            </a:pPr>
            <a:r>
              <a:rPr lang="en-US" sz="1400" dirty="0">
                <a:solidFill>
                  <a:schemeClr val="tx1"/>
                </a:solidFill>
              </a:rPr>
              <a:t>Binding, saturation, tumour–organ interactions</a:t>
            </a:r>
            <a:endParaRPr lang="en-US" sz="1400" dirty="0"/>
          </a:p>
        </p:txBody>
      </p:sp>
      <p:sp>
        <p:nvSpPr>
          <p:cNvPr id="37" name="Shape 32"/>
          <p:cNvSpPr/>
          <p:nvPr/>
        </p:nvSpPr>
        <p:spPr>
          <a:xfrm>
            <a:off x="5257800" y="4672584"/>
            <a:ext cx="6385255" cy="749808"/>
          </a:xfrm>
          <a:prstGeom prst="roundRect">
            <a:avLst>
              <a:gd name="adj" fmla="val 9756"/>
            </a:avLst>
          </a:prstGeom>
          <a:solidFill>
            <a:schemeClr val="bg2"/>
          </a:solidFill>
          <a:ln/>
        </p:spPr>
      </p:sp>
      <p:sp>
        <p:nvSpPr>
          <p:cNvPr id="38" name="Shape 33"/>
          <p:cNvSpPr/>
          <p:nvPr/>
        </p:nvSpPr>
        <p:spPr>
          <a:xfrm>
            <a:off x="5422392" y="4791456"/>
            <a:ext cx="512064" cy="512064"/>
          </a:xfrm>
          <a:prstGeom prst="ellipse">
            <a:avLst/>
          </a:prstGeom>
          <a:solidFill>
            <a:schemeClr val="accent3"/>
          </a:solidFill>
          <a:ln/>
        </p:spPr>
      </p:sp>
      <p:pic>
        <p:nvPicPr>
          <p:cNvPr id="39" name="Image 3" descr="preencoded.png">    </p:cNvPr>
          <p:cNvPicPr>
            <a:picLocks noChangeAspect="1"/>
          </p:cNvPicPr>
          <p:nvPr/>
        </p:nvPicPr>
        <p:blipFill>
          <a:blip r:embed="rId4"/>
          <a:stretch>
            <a:fillRect/>
          </a:stretch>
        </p:blipFill>
        <p:spPr>
          <a:xfrm>
            <a:off x="5560649" y="4929713"/>
            <a:ext cx="235549" cy="235549"/>
          </a:xfrm>
          <a:prstGeom prst="rect">
            <a:avLst/>
          </a:prstGeom>
        </p:spPr>
      </p:pic>
      <p:sp>
        <p:nvSpPr>
          <p:cNvPr id="40" name="Text 34"/>
          <p:cNvSpPr txBox="1"/>
          <p:nvPr/>
        </p:nvSpPr>
        <p:spPr>
          <a:xfrm>
            <a:off x="6080760" y="4672584"/>
            <a:ext cx="2331720" cy="749808"/>
          </a:xfrm>
          <a:prstGeom prst="rect">
            <a:avLst/>
          </a:prstGeom>
          <a:noFill/>
          <a:ln/>
        </p:spPr>
        <p:txBody>
          <a:bodyPr wrap="square" lIns="0" tIns="0" rIns="0" bIns="0" rtlCol="0" anchor="ctr"/>
          <a:lstStyle/>
          <a:p>
            <a:pPr indent="0" marL="0">
              <a:buNone/>
            </a:pPr>
            <a:r>
              <a:rPr lang="en-US" sz="1600" b="1" dirty="0">
                <a:solidFill>
                  <a:schemeClr val="tx2"/>
                </a:solidFill>
              </a:rPr>
              <a:t>Cycle-by-cycle adaptation</a:t>
            </a:r>
            <a:endParaRPr lang="en-US" sz="1600" dirty="0"/>
          </a:p>
        </p:txBody>
      </p:sp>
      <p:sp>
        <p:nvSpPr>
          <p:cNvPr id="41" name="Shape 35"/>
          <p:cNvSpPr/>
          <p:nvPr/>
        </p:nvSpPr>
        <p:spPr>
          <a:xfrm>
            <a:off x="8385048" y="5047488"/>
            <a:ext cx="274320" cy="0"/>
          </a:xfrm>
          <a:prstGeom prst="line">
            <a:avLst/>
          </a:prstGeom>
          <a:noFill/>
          <a:ln w="22225">
            <a:solidFill>
              <a:schemeClr val="accent6"/>
            </a:solidFill>
            <a:prstDash val="solid"/>
            <a:tailEnd type="triangle"/>
          </a:ln>
        </p:spPr>
      </p:sp>
      <p:sp>
        <p:nvSpPr>
          <p:cNvPr id="42" name="Text 36"/>
          <p:cNvSpPr txBox="1"/>
          <p:nvPr/>
        </p:nvSpPr>
        <p:spPr>
          <a:xfrm>
            <a:off x="8778240" y="4672584"/>
            <a:ext cx="2727655" cy="749808"/>
          </a:xfrm>
          <a:prstGeom prst="rect">
            <a:avLst/>
          </a:prstGeom>
          <a:noFill/>
          <a:ln/>
        </p:spPr>
        <p:txBody>
          <a:bodyPr wrap="square" lIns="0" tIns="0" rIns="0" bIns="0" rtlCol="0" anchor="ctr"/>
          <a:lstStyle/>
          <a:p>
            <a:pPr indent="0" marL="0">
              <a:buNone/>
            </a:pPr>
            <a:r>
              <a:rPr lang="en-US" sz="1400" dirty="0">
                <a:solidFill>
                  <a:schemeClr val="tx1"/>
                </a:solidFill>
              </a:rPr>
              <a:t>Changing disease burden and treatment sensitivity</a:t>
            </a:r>
            <a:endParaRPr lang="en-US" sz="1400" dirty="0"/>
          </a:p>
        </p:txBody>
      </p:sp>
      <p:sp>
        <p:nvSpPr>
          <p:cNvPr id="43" name="Text 37"/>
          <p:cNvSpPr txBox="1"/>
          <p:nvPr/>
        </p:nvSpPr>
        <p:spPr>
          <a:xfrm>
            <a:off x="5257800" y="5577840"/>
            <a:ext cx="6385255" cy="320040"/>
          </a:xfrm>
          <a:prstGeom prst="rect">
            <a:avLst/>
          </a:prstGeom>
          <a:noFill/>
          <a:ln/>
        </p:spPr>
        <p:txBody>
          <a:bodyPr wrap="square" lIns="0" tIns="0" rIns="0" bIns="0" rtlCol="0" anchor="t"/>
          <a:lstStyle/>
          <a:p>
            <a:pPr indent="0" marL="0">
              <a:buNone/>
            </a:pPr>
            <a:r>
              <a:rPr lang="en-US" sz="1400" i="1" dirty="0">
                <a:solidFill>
                  <a:schemeClr val="accent3"/>
                </a:solidFill>
              </a:rPr>
              <a:t>Exploratory: circadian timing in preclinical models. All strategies require validation.</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400" b="1" dirty="0">
                <a:solidFill>
                  <a:schemeClr val="tx2"/>
                </a:solidFill>
              </a:rPr>
              <a:t>Virtual trials for agents and protocols</a:t>
            </a:r>
            <a:endParaRPr lang="en-US" sz="34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How does a candidate strategy behave across a population of plausible patients?</a:t>
            </a:r>
            <a:endParaRPr lang="en-US" sz="1600" dirty="0"/>
          </a:p>
        </p:txBody>
      </p:sp>
      <p:sp>
        <p:nvSpPr>
          <p:cNvPr id="4" name="Shape 2"/>
          <p:cNvSpPr/>
          <p:nvPr/>
        </p:nvSpPr>
        <p:spPr>
          <a:xfrm>
            <a:off x="548640" y="1645920"/>
            <a:ext cx="4434840" cy="1097280"/>
          </a:xfrm>
          <a:prstGeom prst="roundRect">
            <a:avLst>
              <a:gd name="adj" fmla="val 6667"/>
            </a:avLst>
          </a:prstGeom>
          <a:solidFill>
            <a:schemeClr val="bg2"/>
          </a:solidFill>
          <a:ln/>
        </p:spPr>
      </p:sp>
      <p:sp>
        <p:nvSpPr>
          <p:cNvPr id="5" name="Shape 3"/>
          <p:cNvSpPr/>
          <p:nvPr/>
        </p:nvSpPr>
        <p:spPr>
          <a:xfrm>
            <a:off x="749808" y="1874520"/>
            <a:ext cx="640080" cy="64008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922630" y="2047342"/>
            <a:ext cx="294437" cy="294437"/>
          </a:xfrm>
          <a:prstGeom prst="rect">
            <a:avLst/>
          </a:prstGeom>
        </p:spPr>
      </p:pic>
      <p:sp>
        <p:nvSpPr>
          <p:cNvPr id="7" name="Text 4"/>
          <p:cNvSpPr txBox="1"/>
          <p:nvPr/>
        </p:nvSpPr>
        <p:spPr>
          <a:xfrm>
            <a:off x="1600200" y="1755648"/>
            <a:ext cx="3246120" cy="347472"/>
          </a:xfrm>
          <a:prstGeom prst="rect">
            <a:avLst/>
          </a:prstGeom>
          <a:noFill/>
          <a:ln/>
        </p:spPr>
        <p:txBody>
          <a:bodyPr wrap="square" lIns="0" tIns="0" rIns="0" bIns="0" rtlCol="0" anchor="t"/>
          <a:lstStyle/>
          <a:p>
            <a:pPr indent="0" marL="0">
              <a:buNone/>
            </a:pPr>
            <a:r>
              <a:rPr lang="en-US" sz="1700" b="1" dirty="0">
                <a:solidFill>
                  <a:schemeClr val="tx2"/>
                </a:solidFill>
              </a:rPr>
              <a:t>Virtual population</a:t>
            </a:r>
            <a:endParaRPr lang="en-US" sz="1700" dirty="0"/>
          </a:p>
        </p:txBody>
      </p:sp>
      <p:sp>
        <p:nvSpPr>
          <p:cNvPr id="8" name="Text 5"/>
          <p:cNvSpPr txBox="1"/>
          <p:nvPr/>
        </p:nvSpPr>
        <p:spPr>
          <a:xfrm>
            <a:off x="1600200" y="2103120"/>
            <a:ext cx="3246120" cy="594360"/>
          </a:xfrm>
          <a:prstGeom prst="rect">
            <a:avLst/>
          </a:prstGeom>
          <a:noFill/>
          <a:ln/>
        </p:spPr>
        <p:txBody>
          <a:bodyPr wrap="square" lIns="0" tIns="0" rIns="0" bIns="0" rtlCol="0" anchor="t"/>
          <a:lstStyle/>
          <a:p>
            <a:pPr indent="0" marL="0">
              <a:buNone/>
            </a:pPr>
            <a:r>
              <a:rPr lang="en-US" sz="1400" dirty="0">
                <a:solidFill>
                  <a:schemeClr val="tx1"/>
                </a:solidFill>
              </a:rPr>
              <a:t>Imaging-informed variation in target expression, kinetics and organ sensitivity</a:t>
            </a:r>
            <a:endParaRPr lang="en-US" sz="1400" dirty="0"/>
          </a:p>
        </p:txBody>
      </p:sp>
      <p:sp>
        <p:nvSpPr>
          <p:cNvPr id="9" name="Shape 6"/>
          <p:cNvSpPr/>
          <p:nvPr/>
        </p:nvSpPr>
        <p:spPr>
          <a:xfrm>
            <a:off x="1069848" y="2743200"/>
            <a:ext cx="0" cy="201168"/>
          </a:xfrm>
          <a:prstGeom prst="line">
            <a:avLst/>
          </a:prstGeom>
          <a:noFill/>
          <a:ln w="22225">
            <a:solidFill>
              <a:schemeClr val="accent6"/>
            </a:solidFill>
            <a:prstDash val="solid"/>
            <a:tailEnd type="triangle"/>
          </a:ln>
        </p:spPr>
      </p:sp>
      <p:sp>
        <p:nvSpPr>
          <p:cNvPr id="10" name="Shape 7"/>
          <p:cNvSpPr/>
          <p:nvPr/>
        </p:nvSpPr>
        <p:spPr>
          <a:xfrm>
            <a:off x="548640" y="2944368"/>
            <a:ext cx="4434840" cy="1097280"/>
          </a:xfrm>
          <a:prstGeom prst="roundRect">
            <a:avLst>
              <a:gd name="adj" fmla="val 6667"/>
            </a:avLst>
          </a:prstGeom>
          <a:solidFill>
            <a:schemeClr val="bg2"/>
          </a:solidFill>
          <a:ln/>
        </p:spPr>
      </p:sp>
      <p:sp>
        <p:nvSpPr>
          <p:cNvPr id="11" name="Shape 8"/>
          <p:cNvSpPr/>
          <p:nvPr/>
        </p:nvSpPr>
        <p:spPr>
          <a:xfrm>
            <a:off x="749808" y="3172968"/>
            <a:ext cx="640080" cy="640080"/>
          </a:xfrm>
          <a:prstGeom prst="ellipse">
            <a:avLst/>
          </a:prstGeom>
          <a:solidFill>
            <a:schemeClr val="accent3"/>
          </a:solidFill>
          <a:ln/>
        </p:spPr>
      </p:sp>
      <p:pic>
        <p:nvPicPr>
          <p:cNvPr id="12" name="Image 1" descr="preencoded.png">    </p:cNvPr>
          <p:cNvPicPr>
            <a:picLocks noChangeAspect="1"/>
          </p:cNvPicPr>
          <p:nvPr/>
        </p:nvPicPr>
        <p:blipFill>
          <a:blip r:embed="rId2"/>
          <a:stretch>
            <a:fillRect/>
          </a:stretch>
        </p:blipFill>
        <p:spPr>
          <a:xfrm>
            <a:off x="922630" y="3345790"/>
            <a:ext cx="294437" cy="294437"/>
          </a:xfrm>
          <a:prstGeom prst="rect">
            <a:avLst/>
          </a:prstGeom>
        </p:spPr>
      </p:pic>
      <p:sp>
        <p:nvSpPr>
          <p:cNvPr id="13" name="Text 9"/>
          <p:cNvSpPr txBox="1"/>
          <p:nvPr/>
        </p:nvSpPr>
        <p:spPr>
          <a:xfrm>
            <a:off x="1600200" y="3054096"/>
            <a:ext cx="3246120" cy="347472"/>
          </a:xfrm>
          <a:prstGeom prst="rect">
            <a:avLst/>
          </a:prstGeom>
          <a:noFill/>
          <a:ln/>
        </p:spPr>
        <p:txBody>
          <a:bodyPr wrap="square" lIns="0" tIns="0" rIns="0" bIns="0" rtlCol="0" anchor="t"/>
          <a:lstStyle/>
          <a:p>
            <a:pPr indent="0" marL="0">
              <a:buNone/>
            </a:pPr>
            <a:r>
              <a:rPr lang="en-US" sz="1700" b="1" dirty="0">
                <a:solidFill>
                  <a:schemeClr val="tx2"/>
                </a:solidFill>
              </a:rPr>
              <a:t>Candidate strategies</a:t>
            </a:r>
            <a:endParaRPr lang="en-US" sz="1700" dirty="0"/>
          </a:p>
        </p:txBody>
      </p:sp>
      <p:sp>
        <p:nvSpPr>
          <p:cNvPr id="14" name="Text 10"/>
          <p:cNvSpPr txBox="1"/>
          <p:nvPr/>
        </p:nvSpPr>
        <p:spPr>
          <a:xfrm>
            <a:off x="1600200" y="3401568"/>
            <a:ext cx="3246120" cy="594360"/>
          </a:xfrm>
          <a:prstGeom prst="rect">
            <a:avLst/>
          </a:prstGeom>
          <a:noFill/>
          <a:ln/>
        </p:spPr>
        <p:txBody>
          <a:bodyPr wrap="square" lIns="0" tIns="0" rIns="0" bIns="0" rtlCol="0" anchor="t"/>
          <a:lstStyle/>
          <a:p>
            <a:pPr indent="0" marL="0">
              <a:buNone/>
            </a:pPr>
            <a:r>
              <a:rPr lang="en-US" sz="1400" dirty="0">
                <a:solidFill>
                  <a:schemeClr val="tx1"/>
                </a:solidFill>
              </a:rPr>
              <a:t>Alternative agents, activities, schedules and adaptation rules</a:t>
            </a:r>
            <a:endParaRPr lang="en-US" sz="1400" dirty="0"/>
          </a:p>
        </p:txBody>
      </p:sp>
      <p:sp>
        <p:nvSpPr>
          <p:cNvPr id="15" name="Shape 11"/>
          <p:cNvSpPr/>
          <p:nvPr/>
        </p:nvSpPr>
        <p:spPr>
          <a:xfrm>
            <a:off x="1069848" y="4041648"/>
            <a:ext cx="0" cy="201168"/>
          </a:xfrm>
          <a:prstGeom prst="line">
            <a:avLst/>
          </a:prstGeom>
          <a:noFill/>
          <a:ln w="22225">
            <a:solidFill>
              <a:schemeClr val="accent6"/>
            </a:solidFill>
            <a:prstDash val="solid"/>
            <a:tailEnd type="triangle"/>
          </a:ln>
        </p:spPr>
      </p:sp>
      <p:sp>
        <p:nvSpPr>
          <p:cNvPr id="16" name="Shape 12"/>
          <p:cNvSpPr/>
          <p:nvPr/>
        </p:nvSpPr>
        <p:spPr>
          <a:xfrm>
            <a:off x="548640" y="4242816"/>
            <a:ext cx="4434840" cy="1097280"/>
          </a:xfrm>
          <a:prstGeom prst="roundRect">
            <a:avLst>
              <a:gd name="adj" fmla="val 6667"/>
            </a:avLst>
          </a:prstGeom>
          <a:solidFill>
            <a:schemeClr val="bg2"/>
          </a:solidFill>
          <a:ln/>
        </p:spPr>
      </p:sp>
      <p:sp>
        <p:nvSpPr>
          <p:cNvPr id="17" name="Shape 13"/>
          <p:cNvSpPr/>
          <p:nvPr/>
        </p:nvSpPr>
        <p:spPr>
          <a:xfrm>
            <a:off x="749808" y="4471416"/>
            <a:ext cx="640080" cy="640080"/>
          </a:xfrm>
          <a:prstGeom prst="ellipse">
            <a:avLst/>
          </a:prstGeom>
          <a:solidFill>
            <a:schemeClr val="accent2"/>
          </a:solidFill>
          <a:ln/>
        </p:spPr>
      </p:sp>
      <p:pic>
        <p:nvPicPr>
          <p:cNvPr id="18" name="Image 2" descr="preencoded.png">    </p:cNvPr>
          <p:cNvPicPr>
            <a:picLocks noChangeAspect="1"/>
          </p:cNvPicPr>
          <p:nvPr/>
        </p:nvPicPr>
        <p:blipFill>
          <a:blip r:embed="rId3"/>
          <a:stretch>
            <a:fillRect/>
          </a:stretch>
        </p:blipFill>
        <p:spPr>
          <a:xfrm>
            <a:off x="922630" y="4644238"/>
            <a:ext cx="294437" cy="294437"/>
          </a:xfrm>
          <a:prstGeom prst="rect">
            <a:avLst/>
          </a:prstGeom>
        </p:spPr>
      </p:pic>
      <p:sp>
        <p:nvSpPr>
          <p:cNvPr id="19" name="Text 14"/>
          <p:cNvSpPr txBox="1"/>
          <p:nvPr/>
        </p:nvSpPr>
        <p:spPr>
          <a:xfrm>
            <a:off x="1600200" y="4352544"/>
            <a:ext cx="3246120" cy="347472"/>
          </a:xfrm>
          <a:prstGeom prst="rect">
            <a:avLst/>
          </a:prstGeom>
          <a:noFill/>
          <a:ln/>
        </p:spPr>
        <p:txBody>
          <a:bodyPr wrap="square" lIns="0" tIns="0" rIns="0" bIns="0" rtlCol="0" anchor="t"/>
          <a:lstStyle/>
          <a:p>
            <a:pPr indent="0" marL="0">
              <a:buNone/>
            </a:pPr>
            <a:r>
              <a:rPr lang="en-US" sz="1700" b="1" dirty="0">
                <a:solidFill>
                  <a:schemeClr val="tx2"/>
                </a:solidFill>
              </a:rPr>
              <a:t>Evidence for real trials</a:t>
            </a:r>
            <a:endParaRPr lang="en-US" sz="1700" dirty="0"/>
          </a:p>
        </p:txBody>
      </p:sp>
      <p:sp>
        <p:nvSpPr>
          <p:cNvPr id="20" name="Text 15"/>
          <p:cNvSpPr txBox="1"/>
          <p:nvPr/>
        </p:nvSpPr>
        <p:spPr>
          <a:xfrm>
            <a:off x="1600200" y="4700016"/>
            <a:ext cx="3246120" cy="594360"/>
          </a:xfrm>
          <a:prstGeom prst="rect">
            <a:avLst/>
          </a:prstGeom>
          <a:noFill/>
          <a:ln/>
        </p:spPr>
        <p:txBody>
          <a:bodyPr wrap="square" lIns="0" tIns="0" rIns="0" bIns="0" rtlCol="0" anchor="t"/>
          <a:lstStyle/>
          <a:p>
            <a:pPr indent="0" marL="0">
              <a:buNone/>
            </a:pPr>
            <a:r>
              <a:rPr lang="en-US" sz="1400" dirty="0">
                <a:solidFill>
                  <a:schemeClr val="tx1"/>
                </a:solidFill>
              </a:rPr>
              <a:t>Sensitivity analyses, prioritized protocols and the most informative measurements</a:t>
            </a:r>
            <a:endParaRPr lang="en-US" sz="1400" dirty="0"/>
          </a:p>
        </p:txBody>
      </p:sp>
      <p:pic>
        <p:nvPicPr>
          <p:cNvPr id="21" name="Image 3" descr="/tmp/claude-0/-home-user-habdollahin/757748ce-ce00-518f-b6e2-dec1c5e36469/scratchpad/build/figs/virtual.png">    </p:cNvPr>
          <p:cNvPicPr>
            <a:picLocks noChangeAspect="1"/>
          </p:cNvPicPr>
          <p:nvPr/>
        </p:nvPicPr>
        <p:blipFill>
          <a:blip r:embed="rId4"/>
          <a:stretch>
            <a:fillRect/>
          </a:stretch>
        </p:blipFill>
        <p:spPr>
          <a:xfrm>
            <a:off x="5349240" y="1554480"/>
            <a:ext cx="6291072" cy="3840480"/>
          </a:xfrm>
          <a:prstGeom prst="rect">
            <a:avLst/>
          </a:prstGeom>
        </p:spPr>
      </p:pic>
      <p:sp>
        <p:nvSpPr>
          <p:cNvPr id="22" name="Text 16"/>
          <p:cNvSpPr txBox="1"/>
          <p:nvPr/>
        </p:nvSpPr>
        <p:spPr>
          <a:xfrm>
            <a:off x="5440680" y="5394960"/>
            <a:ext cx="6199632" cy="274320"/>
          </a:xfrm>
          <a:prstGeom prst="rect">
            <a:avLst/>
          </a:prstGeom>
          <a:noFill/>
          <a:ln/>
        </p:spPr>
        <p:txBody>
          <a:bodyPr wrap="square" lIns="0" tIns="0" rIns="0" bIns="0" rtlCol="0" anchor="t"/>
          <a:lstStyle/>
          <a:p>
            <a:pPr algn="l" indent="0" marL="0">
              <a:buNone/>
            </a:pPr>
            <a:r>
              <a:rPr lang="en-US" sz="1000" i="1" dirty="0">
                <a:solidFill>
                  <a:schemeClr val="accent6"/>
                </a:solidFill>
              </a:rPr>
              <a:t>Schematic virtual cohort (n = 140); each dot is one simulated patient. Illustrates the comparison, not a result.</a:t>
            </a:r>
            <a:endParaRPr lang="en-US" sz="1000" dirty="0"/>
          </a:p>
        </p:txBody>
      </p:sp>
      <p:sp>
        <p:nvSpPr>
          <p:cNvPr id="23" name="Shape 17"/>
          <p:cNvSpPr/>
          <p:nvPr/>
        </p:nvSpPr>
        <p:spPr>
          <a:xfrm>
            <a:off x="548640" y="5760720"/>
            <a:ext cx="11094415" cy="502920"/>
          </a:xfrm>
          <a:prstGeom prst="roundRect">
            <a:avLst>
              <a:gd name="adj" fmla="val 14545"/>
            </a:avLst>
          </a:prstGeom>
          <a:solidFill>
            <a:schemeClr val="tx2"/>
          </a:solidFill>
          <a:ln/>
        </p:spPr>
      </p:sp>
      <p:sp>
        <p:nvSpPr>
          <p:cNvPr id="24" name="Text 18"/>
          <p:cNvSpPr txBox="1"/>
          <p:nvPr/>
        </p:nvSpPr>
        <p:spPr>
          <a:xfrm>
            <a:off x="822960" y="5760720"/>
            <a:ext cx="10545775" cy="502920"/>
          </a:xfrm>
          <a:prstGeom prst="rect">
            <a:avLst/>
          </a:prstGeom>
          <a:noFill/>
          <a:ln/>
        </p:spPr>
        <p:txBody>
          <a:bodyPr wrap="square" lIns="0" tIns="0" rIns="0" bIns="0" rtlCol="0" anchor="ctr"/>
          <a:lstStyle/>
          <a:p>
            <a:pPr indent="0" marL="0">
              <a:buNone/>
            </a:pPr>
            <a:r>
              <a:rPr lang="en-US" sz="1500" b="1" dirty="0">
                <a:solidFill>
                  <a:schemeClr val="bg1"/>
                </a:solidFill>
              </a:rPr>
              <a:t>Purpose: prioritize experiments and clinical studies using testable predictions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400" b="1" dirty="0">
                <a:solidFill>
                  <a:schemeClr val="tx2"/>
                </a:solidFill>
              </a:rPr>
              <a:t>Virtual trials across translation</a:t>
            </a:r>
            <a:endParaRPr lang="en-US" sz="34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Same loop at each stage: observations constrain the model, the model predicts, new evidence tests it</a:t>
            </a:r>
            <a:endParaRPr lang="en-US" sz="1600" dirty="0"/>
          </a:p>
        </p:txBody>
      </p:sp>
      <p:pic>
        <p:nvPicPr>
          <p:cNvPr id="4" name="Image 0" descr="Virtual preclinical (T0), translational (T1) and clinical (T2) trials">    </p:cNvPr>
          <p:cNvPicPr>
            <a:picLocks noChangeAspect="1"/>
          </p:cNvPicPr>
          <p:nvPr/>
        </p:nvPicPr>
        <p:blipFill>
          <a:blip r:embed="rId1"/>
          <a:stretch>
            <a:fillRect/>
          </a:stretch>
        </p:blipFill>
        <p:spPr>
          <a:xfrm>
            <a:off x="1478128" y="1536192"/>
            <a:ext cx="9235440" cy="4777141"/>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400" b="1" dirty="0">
                <a:solidFill>
                  <a:schemeClr val="tx2"/>
                </a:solidFill>
              </a:rPr>
              <a:t>Evidence before clinical use</a:t>
            </a:r>
            <a:endParaRPr lang="en-US" sz="34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Each component is validated against a reference appropriate to its intended use</a:t>
            </a:r>
            <a:endParaRPr lang="en-US" sz="1600" dirty="0"/>
          </a:p>
        </p:txBody>
      </p:sp>
      <p:sp>
        <p:nvSpPr>
          <p:cNvPr id="4" name="Shape 2"/>
          <p:cNvSpPr/>
          <p:nvPr/>
        </p:nvSpPr>
        <p:spPr>
          <a:xfrm>
            <a:off x="548640" y="3886200"/>
            <a:ext cx="3576218" cy="1645920"/>
          </a:xfrm>
          <a:prstGeom prst="roundRect">
            <a:avLst>
              <a:gd name="adj" fmla="val 4444"/>
            </a:avLst>
          </a:prstGeom>
          <a:solidFill>
            <a:schemeClr val="accent1">
              <a:alpha val="14000"/>
            </a:schemeClr>
          </a:solidFill>
          <a:ln/>
        </p:spPr>
      </p:sp>
      <p:sp>
        <p:nvSpPr>
          <p:cNvPr id="5" name="Shape 3"/>
          <p:cNvSpPr/>
          <p:nvPr/>
        </p:nvSpPr>
        <p:spPr>
          <a:xfrm>
            <a:off x="822960" y="4160520"/>
            <a:ext cx="640080" cy="64008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995782" y="4333342"/>
            <a:ext cx="294437" cy="294437"/>
          </a:xfrm>
          <a:prstGeom prst="rect">
            <a:avLst/>
          </a:prstGeom>
        </p:spPr>
      </p:pic>
      <p:sp>
        <p:nvSpPr>
          <p:cNvPr id="7" name="Text 4"/>
          <p:cNvSpPr txBox="1"/>
          <p:nvPr/>
        </p:nvSpPr>
        <p:spPr>
          <a:xfrm>
            <a:off x="1600200" y="4160520"/>
            <a:ext cx="2387498" cy="274320"/>
          </a:xfrm>
          <a:prstGeom prst="rect">
            <a:avLst/>
          </a:prstGeom>
          <a:noFill/>
          <a:ln/>
        </p:spPr>
        <p:txBody>
          <a:bodyPr wrap="square" lIns="0" tIns="0" rIns="0" bIns="0" rtlCol="0" anchor="t"/>
          <a:lstStyle/>
          <a:p>
            <a:pPr indent="0" marL="0">
              <a:buNone/>
            </a:pPr>
            <a:r>
              <a:rPr lang="en-US" sz="1200" b="1" dirty="0">
                <a:solidFill>
                  <a:schemeClr val="accent1"/>
                </a:solidFill>
              </a:rPr>
              <a:t>Step 1</a:t>
            </a:r>
            <a:endParaRPr lang="en-US" sz="1200" dirty="0"/>
          </a:p>
        </p:txBody>
      </p:sp>
      <p:sp>
        <p:nvSpPr>
          <p:cNvPr id="8" name="Text 5"/>
          <p:cNvSpPr txBox="1"/>
          <p:nvPr/>
        </p:nvSpPr>
        <p:spPr>
          <a:xfrm>
            <a:off x="1600200" y="4416552"/>
            <a:ext cx="2387498" cy="384048"/>
          </a:xfrm>
          <a:prstGeom prst="rect">
            <a:avLst/>
          </a:prstGeom>
          <a:noFill/>
          <a:ln/>
        </p:spPr>
        <p:txBody>
          <a:bodyPr wrap="square" lIns="0" tIns="0" rIns="0" bIns="0" rtlCol="0" anchor="t"/>
          <a:lstStyle/>
          <a:p>
            <a:pPr indent="0" marL="0">
              <a:buNone/>
            </a:pPr>
            <a:r>
              <a:rPr lang="en-US" sz="2000" b="1" dirty="0">
                <a:solidFill>
                  <a:schemeClr val="tx2"/>
                </a:solidFill>
              </a:rPr>
              <a:t>Measurement</a:t>
            </a:r>
            <a:endParaRPr lang="en-US" sz="2000" dirty="0"/>
          </a:p>
        </p:txBody>
      </p:sp>
      <p:sp>
        <p:nvSpPr>
          <p:cNvPr id="9" name="Text 6"/>
          <p:cNvSpPr txBox="1"/>
          <p:nvPr/>
        </p:nvSpPr>
        <p:spPr>
          <a:xfrm>
            <a:off x="822960" y="4937760"/>
            <a:ext cx="3027578" cy="685800"/>
          </a:xfrm>
          <a:prstGeom prst="rect">
            <a:avLst/>
          </a:prstGeom>
          <a:noFill/>
          <a:ln/>
        </p:spPr>
        <p:txBody>
          <a:bodyPr wrap="square" lIns="0" tIns="0" rIns="0" bIns="0" rtlCol="0" anchor="t"/>
          <a:lstStyle/>
          <a:p>
            <a:pPr indent="0" marL="0">
              <a:buNone/>
            </a:pPr>
            <a:r>
              <a:rPr lang="en-US" sz="1500" dirty="0">
                <a:solidFill>
                  <a:schemeClr val="tx1"/>
                </a:solidFill>
              </a:rPr>
              <a:t>Calibration, repeatability and protocol effects</a:t>
            </a:r>
            <a:endParaRPr lang="en-US" sz="1500" dirty="0"/>
          </a:p>
        </p:txBody>
      </p:sp>
      <p:sp>
        <p:nvSpPr>
          <p:cNvPr id="10" name="Shape 7"/>
          <p:cNvSpPr/>
          <p:nvPr/>
        </p:nvSpPr>
        <p:spPr>
          <a:xfrm>
            <a:off x="4307738" y="3017520"/>
            <a:ext cx="3576218" cy="2514600"/>
          </a:xfrm>
          <a:prstGeom prst="roundRect">
            <a:avLst>
              <a:gd name="adj" fmla="val 2909"/>
            </a:avLst>
          </a:prstGeom>
          <a:solidFill>
            <a:schemeClr val="accent3">
              <a:alpha val="14000"/>
            </a:schemeClr>
          </a:solidFill>
          <a:ln/>
        </p:spPr>
      </p:sp>
      <p:sp>
        <p:nvSpPr>
          <p:cNvPr id="11" name="Shape 8"/>
          <p:cNvSpPr/>
          <p:nvPr/>
        </p:nvSpPr>
        <p:spPr>
          <a:xfrm>
            <a:off x="4582058" y="3291840"/>
            <a:ext cx="640080" cy="640080"/>
          </a:xfrm>
          <a:prstGeom prst="ellipse">
            <a:avLst/>
          </a:prstGeom>
          <a:solidFill>
            <a:schemeClr val="accent3"/>
          </a:solidFill>
          <a:ln/>
        </p:spPr>
      </p:sp>
      <p:pic>
        <p:nvPicPr>
          <p:cNvPr id="12" name="Image 1" descr="preencoded.png">    </p:cNvPr>
          <p:cNvPicPr>
            <a:picLocks noChangeAspect="1"/>
          </p:cNvPicPr>
          <p:nvPr/>
        </p:nvPicPr>
        <p:blipFill>
          <a:blip r:embed="rId2"/>
          <a:stretch>
            <a:fillRect/>
          </a:stretch>
        </p:blipFill>
        <p:spPr>
          <a:xfrm>
            <a:off x="4754880" y="3464662"/>
            <a:ext cx="294437" cy="294437"/>
          </a:xfrm>
          <a:prstGeom prst="rect">
            <a:avLst/>
          </a:prstGeom>
        </p:spPr>
      </p:pic>
      <p:sp>
        <p:nvSpPr>
          <p:cNvPr id="13" name="Text 9"/>
          <p:cNvSpPr txBox="1"/>
          <p:nvPr/>
        </p:nvSpPr>
        <p:spPr>
          <a:xfrm>
            <a:off x="5359298" y="3291840"/>
            <a:ext cx="2387498" cy="274320"/>
          </a:xfrm>
          <a:prstGeom prst="rect">
            <a:avLst/>
          </a:prstGeom>
          <a:noFill/>
          <a:ln/>
        </p:spPr>
        <p:txBody>
          <a:bodyPr wrap="square" lIns="0" tIns="0" rIns="0" bIns="0" rtlCol="0" anchor="t"/>
          <a:lstStyle/>
          <a:p>
            <a:pPr indent="0" marL="0">
              <a:buNone/>
            </a:pPr>
            <a:r>
              <a:rPr lang="en-US" sz="1200" b="1" dirty="0">
                <a:solidFill>
                  <a:schemeClr val="accent3"/>
                </a:solidFill>
              </a:rPr>
              <a:t>Step 2</a:t>
            </a:r>
            <a:endParaRPr lang="en-US" sz="1200" dirty="0"/>
          </a:p>
        </p:txBody>
      </p:sp>
      <p:sp>
        <p:nvSpPr>
          <p:cNvPr id="14" name="Text 10"/>
          <p:cNvSpPr txBox="1"/>
          <p:nvPr/>
        </p:nvSpPr>
        <p:spPr>
          <a:xfrm>
            <a:off x="5359298" y="3547872"/>
            <a:ext cx="2387498" cy="384048"/>
          </a:xfrm>
          <a:prstGeom prst="rect">
            <a:avLst/>
          </a:prstGeom>
          <a:noFill/>
          <a:ln/>
        </p:spPr>
        <p:txBody>
          <a:bodyPr wrap="square" lIns="0" tIns="0" rIns="0" bIns="0" rtlCol="0" anchor="t"/>
          <a:lstStyle/>
          <a:p>
            <a:pPr indent="0" marL="0">
              <a:buNone/>
            </a:pPr>
            <a:r>
              <a:rPr lang="en-US" sz="2000" b="1" dirty="0">
                <a:solidFill>
                  <a:schemeClr val="tx2"/>
                </a:solidFill>
              </a:rPr>
              <a:t>Model prediction</a:t>
            </a:r>
            <a:endParaRPr lang="en-US" sz="2000" dirty="0"/>
          </a:p>
        </p:txBody>
      </p:sp>
      <p:sp>
        <p:nvSpPr>
          <p:cNvPr id="15" name="Text 11"/>
          <p:cNvSpPr txBox="1"/>
          <p:nvPr/>
        </p:nvSpPr>
        <p:spPr>
          <a:xfrm>
            <a:off x="4582058" y="4069080"/>
            <a:ext cx="3027578" cy="685800"/>
          </a:xfrm>
          <a:prstGeom prst="rect">
            <a:avLst/>
          </a:prstGeom>
          <a:noFill/>
          <a:ln/>
        </p:spPr>
        <p:txBody>
          <a:bodyPr wrap="square" lIns="0" tIns="0" rIns="0" bIns="0" rtlCol="0" anchor="t"/>
          <a:lstStyle/>
          <a:p>
            <a:pPr indent="0" marL="0">
              <a:buNone/>
            </a:pPr>
            <a:r>
              <a:rPr lang="en-US" sz="1500" dirty="0">
                <a:solidFill>
                  <a:schemeClr val="tx1"/>
                </a:solidFill>
              </a:rPr>
              <a:t>Independent dose or outcome prediction, with calibration</a:t>
            </a:r>
            <a:endParaRPr lang="en-US" sz="1500" dirty="0"/>
          </a:p>
        </p:txBody>
      </p:sp>
      <p:sp>
        <p:nvSpPr>
          <p:cNvPr id="16" name="Text 12"/>
          <p:cNvSpPr txBox="1"/>
          <p:nvPr/>
        </p:nvSpPr>
        <p:spPr>
          <a:xfrm>
            <a:off x="4582058" y="4800600"/>
            <a:ext cx="3027578" cy="548640"/>
          </a:xfrm>
          <a:prstGeom prst="rect">
            <a:avLst/>
          </a:prstGeom>
          <a:noFill/>
          <a:ln/>
        </p:spPr>
        <p:txBody>
          <a:bodyPr wrap="square" lIns="0" tIns="0" rIns="0" bIns="0" rtlCol="0" anchor="t"/>
          <a:lstStyle/>
          <a:p>
            <a:pPr indent="0" marL="0">
              <a:buNone/>
            </a:pPr>
            <a:r>
              <a:rPr lang="en-US" sz="1300" i="1" dirty="0">
                <a:solidFill>
                  <a:schemeClr val="accent6"/>
                </a:solidFill>
              </a:rPr>
              <a:t>Reference: Monte Carlo, serial imaging, held-out sites</a:t>
            </a:r>
            <a:endParaRPr lang="en-US" sz="1300" dirty="0"/>
          </a:p>
        </p:txBody>
      </p:sp>
      <p:sp>
        <p:nvSpPr>
          <p:cNvPr id="17" name="Shape 13"/>
          <p:cNvSpPr/>
          <p:nvPr/>
        </p:nvSpPr>
        <p:spPr>
          <a:xfrm>
            <a:off x="8066837" y="2148840"/>
            <a:ext cx="3576218" cy="3383280"/>
          </a:xfrm>
          <a:prstGeom prst="roundRect">
            <a:avLst>
              <a:gd name="adj" fmla="val 2162"/>
            </a:avLst>
          </a:prstGeom>
          <a:solidFill>
            <a:schemeClr val="accent2">
              <a:alpha val="14000"/>
            </a:schemeClr>
          </a:solidFill>
          <a:ln/>
        </p:spPr>
      </p:sp>
      <p:sp>
        <p:nvSpPr>
          <p:cNvPr id="18" name="Shape 14"/>
          <p:cNvSpPr/>
          <p:nvPr/>
        </p:nvSpPr>
        <p:spPr>
          <a:xfrm>
            <a:off x="8341157" y="2423160"/>
            <a:ext cx="640080" cy="640080"/>
          </a:xfrm>
          <a:prstGeom prst="ellipse">
            <a:avLst/>
          </a:prstGeom>
          <a:solidFill>
            <a:schemeClr val="accent2"/>
          </a:solidFill>
          <a:ln/>
        </p:spPr>
      </p:sp>
      <p:pic>
        <p:nvPicPr>
          <p:cNvPr id="19" name="Image 2" descr="preencoded.png">    </p:cNvPr>
          <p:cNvPicPr>
            <a:picLocks noChangeAspect="1"/>
          </p:cNvPicPr>
          <p:nvPr/>
        </p:nvPicPr>
        <p:blipFill>
          <a:blip r:embed="rId3"/>
          <a:stretch>
            <a:fillRect/>
          </a:stretch>
        </p:blipFill>
        <p:spPr>
          <a:xfrm>
            <a:off x="8513978" y="2595982"/>
            <a:ext cx="294437" cy="294437"/>
          </a:xfrm>
          <a:prstGeom prst="rect">
            <a:avLst/>
          </a:prstGeom>
        </p:spPr>
      </p:pic>
      <p:sp>
        <p:nvSpPr>
          <p:cNvPr id="20" name="Text 15"/>
          <p:cNvSpPr txBox="1"/>
          <p:nvPr/>
        </p:nvSpPr>
        <p:spPr>
          <a:xfrm>
            <a:off x="9118397" y="2423160"/>
            <a:ext cx="2387498" cy="274320"/>
          </a:xfrm>
          <a:prstGeom prst="rect">
            <a:avLst/>
          </a:prstGeom>
          <a:noFill/>
          <a:ln/>
        </p:spPr>
        <p:txBody>
          <a:bodyPr wrap="square" lIns="0" tIns="0" rIns="0" bIns="0" rtlCol="0" anchor="t"/>
          <a:lstStyle/>
          <a:p>
            <a:pPr indent="0" marL="0">
              <a:buNone/>
            </a:pPr>
            <a:r>
              <a:rPr lang="en-US" sz="1200" b="1" dirty="0">
                <a:solidFill>
                  <a:schemeClr val="accent2"/>
                </a:solidFill>
              </a:rPr>
              <a:t>Step 3</a:t>
            </a:r>
            <a:endParaRPr lang="en-US" sz="1200" dirty="0"/>
          </a:p>
        </p:txBody>
      </p:sp>
      <p:sp>
        <p:nvSpPr>
          <p:cNvPr id="21" name="Text 16"/>
          <p:cNvSpPr txBox="1"/>
          <p:nvPr/>
        </p:nvSpPr>
        <p:spPr>
          <a:xfrm>
            <a:off x="9118397" y="2679192"/>
            <a:ext cx="2387498" cy="384048"/>
          </a:xfrm>
          <a:prstGeom prst="rect">
            <a:avLst/>
          </a:prstGeom>
          <a:noFill/>
          <a:ln/>
        </p:spPr>
        <p:txBody>
          <a:bodyPr wrap="square" lIns="0" tIns="0" rIns="0" bIns="0" rtlCol="0" anchor="t"/>
          <a:lstStyle/>
          <a:p>
            <a:pPr indent="0" marL="0">
              <a:buNone/>
            </a:pPr>
            <a:r>
              <a:rPr lang="en-US" sz="2000" b="1" dirty="0">
                <a:solidFill>
                  <a:schemeClr val="tx2"/>
                </a:solidFill>
              </a:rPr>
              <a:t>Clinical evaluation</a:t>
            </a:r>
            <a:endParaRPr lang="en-US" sz="2000" dirty="0"/>
          </a:p>
        </p:txBody>
      </p:sp>
      <p:sp>
        <p:nvSpPr>
          <p:cNvPr id="22" name="Text 17"/>
          <p:cNvSpPr txBox="1"/>
          <p:nvPr/>
        </p:nvSpPr>
        <p:spPr>
          <a:xfrm>
            <a:off x="8341157" y="3200400"/>
            <a:ext cx="3027578" cy="685800"/>
          </a:xfrm>
          <a:prstGeom prst="rect">
            <a:avLst/>
          </a:prstGeom>
          <a:noFill/>
          <a:ln/>
        </p:spPr>
        <p:txBody>
          <a:bodyPr wrap="square" lIns="0" tIns="0" rIns="0" bIns="0" rtlCol="0" anchor="t"/>
          <a:lstStyle/>
          <a:p>
            <a:pPr indent="0" marL="0">
              <a:buNone/>
            </a:pPr>
            <a:r>
              <a:rPr lang="en-US" sz="1500" dirty="0">
                <a:solidFill>
                  <a:schemeClr val="tx1"/>
                </a:solidFill>
              </a:rPr>
              <a:t>Prospective feasibility and usefulness for a defined decision</a:t>
            </a:r>
            <a:endParaRPr lang="en-US" sz="1500" dirty="0"/>
          </a:p>
        </p:txBody>
      </p:sp>
      <p:sp>
        <p:nvSpPr>
          <p:cNvPr id="23" name="Text 18"/>
          <p:cNvSpPr txBox="1"/>
          <p:nvPr/>
        </p:nvSpPr>
        <p:spPr>
          <a:xfrm>
            <a:off x="8341157" y="3931920"/>
            <a:ext cx="3027578" cy="548640"/>
          </a:xfrm>
          <a:prstGeom prst="rect">
            <a:avLst/>
          </a:prstGeom>
          <a:noFill/>
          <a:ln/>
        </p:spPr>
        <p:txBody>
          <a:bodyPr wrap="square" lIns="0" tIns="0" rIns="0" bIns="0" rtlCol="0" anchor="t"/>
          <a:lstStyle/>
          <a:p>
            <a:pPr indent="0" marL="0">
              <a:buNone/>
            </a:pPr>
            <a:r>
              <a:rPr lang="en-US" sz="1300" i="1" dirty="0">
                <a:solidFill>
                  <a:schemeClr val="accent6"/>
                </a:solidFill>
              </a:rPr>
              <a:t>Reference: observed response and toxicity</a:t>
            </a:r>
            <a:endParaRPr lang="en-US" sz="1300" dirty="0"/>
          </a:p>
        </p:txBody>
      </p:sp>
      <p:sp>
        <p:nvSpPr>
          <p:cNvPr id="24" name="Shape 19"/>
          <p:cNvSpPr/>
          <p:nvPr/>
        </p:nvSpPr>
        <p:spPr>
          <a:xfrm>
            <a:off x="548640" y="1691640"/>
            <a:ext cx="548640" cy="548640"/>
          </a:xfrm>
          <a:prstGeom prst="ellipse">
            <a:avLst/>
          </a:prstGeom>
          <a:solidFill>
            <a:schemeClr val="tx2"/>
          </a:solidFill>
          <a:ln/>
        </p:spPr>
      </p:sp>
      <p:pic>
        <p:nvPicPr>
          <p:cNvPr id="25" name="Image 3" descr="preencoded.png">    </p:cNvPr>
          <p:cNvPicPr>
            <a:picLocks noChangeAspect="1"/>
          </p:cNvPicPr>
          <p:nvPr/>
        </p:nvPicPr>
        <p:blipFill>
          <a:blip r:embed="rId4"/>
          <a:stretch>
            <a:fillRect/>
          </a:stretch>
        </p:blipFill>
        <p:spPr>
          <a:xfrm>
            <a:off x="696773" y="1839773"/>
            <a:ext cx="252374" cy="252374"/>
          </a:xfrm>
          <a:prstGeom prst="rect">
            <a:avLst/>
          </a:prstGeom>
        </p:spPr>
      </p:pic>
      <p:sp>
        <p:nvSpPr>
          <p:cNvPr id="26" name="Text 20"/>
          <p:cNvSpPr txBox="1"/>
          <p:nvPr/>
        </p:nvSpPr>
        <p:spPr>
          <a:xfrm>
            <a:off x="1280160" y="1645920"/>
            <a:ext cx="3108960" cy="1097280"/>
          </a:xfrm>
          <a:prstGeom prst="rect">
            <a:avLst/>
          </a:prstGeom>
          <a:noFill/>
          <a:ln/>
        </p:spPr>
        <p:txBody>
          <a:bodyPr wrap="square" lIns="0" tIns="0" rIns="0" bIns="0" rtlCol="0" anchor="t"/>
          <a:lstStyle/>
          <a:p>
            <a:pPr indent="0" marL="0">
              <a:buNone/>
            </a:pPr>
            <a:r>
              <a:rPr lang="en-US" sz="1400" b="1" dirty="0">
                <a:solidFill>
                  <a:schemeClr val="tx2"/>
                </a:solidFill>
              </a:rPr>
              <a:t>Gate to each next step: added complexity must beat a simple comparator on a relevant endpoint</a:t>
            </a:r>
            <a:endParaRPr lang="en-US" sz="1400" dirty="0"/>
          </a:p>
        </p:txBody>
      </p:sp>
      <p:sp>
        <p:nvSpPr>
          <p:cNvPr id="27" name="Text 21"/>
          <p:cNvSpPr txBox="1"/>
          <p:nvPr/>
        </p:nvSpPr>
        <p:spPr>
          <a:xfrm>
            <a:off x="548640" y="3017520"/>
            <a:ext cx="3566160" cy="457200"/>
          </a:xfrm>
          <a:prstGeom prst="rect">
            <a:avLst/>
          </a:prstGeom>
          <a:noFill/>
          <a:ln/>
        </p:spPr>
        <p:txBody>
          <a:bodyPr wrap="square" lIns="0" tIns="0" rIns="0" bIns="0" rtlCol="0" anchor="t"/>
          <a:lstStyle/>
          <a:p>
            <a:pPr algn="l" indent="0" marL="0">
              <a:buNone/>
            </a:pPr>
            <a:r>
              <a:rPr lang="en-US" sz="1000" i="1" dirty="0">
                <a:solidFill>
                  <a:schemeClr val="accent6"/>
                </a:solidFill>
              </a:rPr>
              <a:t>Credibility framework: ASME V&amp;V 40; FDA 2023 guidance; EANM uncertainty guidance.</a:t>
            </a:r>
            <a:endParaRPr lang="en-US" sz="1000" dirty="0"/>
          </a:p>
        </p:txBody>
      </p:sp>
      <p:sp>
        <p:nvSpPr>
          <p:cNvPr id="28" name="Shape 22"/>
          <p:cNvSpPr/>
          <p:nvPr/>
        </p:nvSpPr>
        <p:spPr>
          <a:xfrm>
            <a:off x="548640" y="5715000"/>
            <a:ext cx="11094415" cy="502920"/>
          </a:xfrm>
          <a:prstGeom prst="roundRect">
            <a:avLst>
              <a:gd name="adj" fmla="val 14545"/>
            </a:avLst>
          </a:prstGeom>
          <a:solidFill>
            <a:schemeClr val="tx2"/>
          </a:solidFill>
          <a:ln/>
        </p:spPr>
      </p:sp>
      <p:sp>
        <p:nvSpPr>
          <p:cNvPr id="29" name="Text 23"/>
          <p:cNvSpPr txBox="1"/>
          <p:nvPr/>
        </p:nvSpPr>
        <p:spPr>
          <a:xfrm>
            <a:off x="822960" y="5715000"/>
            <a:ext cx="10545775" cy="502920"/>
          </a:xfrm>
          <a:prstGeom prst="rect">
            <a:avLst/>
          </a:prstGeom>
          <a:noFill/>
          <a:ln/>
        </p:spPr>
        <p:txBody>
          <a:bodyPr wrap="square" lIns="0" tIns="0" rIns="0" bIns="0" rtlCol="0" anchor="ctr"/>
          <a:lstStyle/>
          <a:p>
            <a:pPr indent="0" marL="0">
              <a:buNone/>
            </a:pPr>
            <a:r>
              <a:rPr lang="en-US" sz="1500" b="1" dirty="0">
                <a:solidFill>
                  <a:schemeClr val="bg1"/>
                </a:solidFill>
              </a:rPr>
              <a:t>Uncertainty, external evaluation and simple comparators run through every stage</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400" b="1" dirty="0">
                <a:solidFill>
                  <a:schemeClr val="tx2"/>
                </a:solidFill>
              </a:rPr>
              <a:t>A focused five-year roadmap</a:t>
            </a:r>
            <a:endParaRPr lang="en-US" sz="34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Overlapping workstreams with evidence gates, not rigid calendar boundaries</a:t>
            </a:r>
            <a:endParaRPr lang="en-US" sz="1600" dirty="0"/>
          </a:p>
        </p:txBody>
      </p:sp>
      <p:sp>
        <p:nvSpPr>
          <p:cNvPr id="4" name="Shape 2"/>
          <p:cNvSpPr/>
          <p:nvPr/>
        </p:nvSpPr>
        <p:spPr>
          <a:xfrm>
            <a:off x="2743200" y="1965960"/>
            <a:ext cx="0" cy="3291840"/>
          </a:xfrm>
          <a:prstGeom prst="line">
            <a:avLst/>
          </a:prstGeom>
          <a:noFill/>
          <a:ln w="12700">
            <a:solidFill>
              <a:srgbClr val="E5E7EB"/>
            </a:solidFill>
            <a:prstDash val="solid"/>
          </a:ln>
        </p:spPr>
      </p:sp>
      <p:sp>
        <p:nvSpPr>
          <p:cNvPr id="5" name="Shape 3"/>
          <p:cNvSpPr/>
          <p:nvPr/>
        </p:nvSpPr>
        <p:spPr>
          <a:xfrm>
            <a:off x="4523171" y="1965960"/>
            <a:ext cx="0" cy="3291840"/>
          </a:xfrm>
          <a:prstGeom prst="line">
            <a:avLst/>
          </a:prstGeom>
          <a:noFill/>
          <a:ln w="12700">
            <a:solidFill>
              <a:srgbClr val="E5E7EB"/>
            </a:solidFill>
            <a:prstDash val="solid"/>
          </a:ln>
        </p:spPr>
      </p:sp>
      <p:sp>
        <p:nvSpPr>
          <p:cNvPr id="6" name="Shape 4"/>
          <p:cNvSpPr/>
          <p:nvPr/>
        </p:nvSpPr>
        <p:spPr>
          <a:xfrm>
            <a:off x="6303142" y="1965960"/>
            <a:ext cx="0" cy="3291840"/>
          </a:xfrm>
          <a:prstGeom prst="line">
            <a:avLst/>
          </a:prstGeom>
          <a:noFill/>
          <a:ln w="12700">
            <a:solidFill>
              <a:srgbClr val="E5E7EB"/>
            </a:solidFill>
            <a:prstDash val="solid"/>
          </a:ln>
        </p:spPr>
      </p:sp>
      <p:sp>
        <p:nvSpPr>
          <p:cNvPr id="7" name="Shape 5"/>
          <p:cNvSpPr/>
          <p:nvPr/>
        </p:nvSpPr>
        <p:spPr>
          <a:xfrm>
            <a:off x="8083113" y="1965960"/>
            <a:ext cx="0" cy="3291840"/>
          </a:xfrm>
          <a:prstGeom prst="line">
            <a:avLst/>
          </a:prstGeom>
          <a:noFill/>
          <a:ln w="12700">
            <a:solidFill>
              <a:srgbClr val="E5E7EB"/>
            </a:solidFill>
            <a:prstDash val="solid"/>
          </a:ln>
        </p:spPr>
      </p:sp>
      <p:sp>
        <p:nvSpPr>
          <p:cNvPr id="8" name="Shape 6"/>
          <p:cNvSpPr/>
          <p:nvPr/>
        </p:nvSpPr>
        <p:spPr>
          <a:xfrm>
            <a:off x="9863084" y="1965960"/>
            <a:ext cx="0" cy="3291840"/>
          </a:xfrm>
          <a:prstGeom prst="line">
            <a:avLst/>
          </a:prstGeom>
          <a:noFill/>
          <a:ln w="12700">
            <a:solidFill>
              <a:srgbClr val="E5E7EB"/>
            </a:solidFill>
            <a:prstDash val="solid"/>
          </a:ln>
        </p:spPr>
      </p:sp>
      <p:sp>
        <p:nvSpPr>
          <p:cNvPr id="9" name="Shape 7"/>
          <p:cNvSpPr/>
          <p:nvPr/>
        </p:nvSpPr>
        <p:spPr>
          <a:xfrm>
            <a:off x="11643055" y="1965960"/>
            <a:ext cx="0" cy="3291840"/>
          </a:xfrm>
          <a:prstGeom prst="line">
            <a:avLst/>
          </a:prstGeom>
          <a:noFill/>
          <a:ln w="12700">
            <a:solidFill>
              <a:srgbClr val="E5E7EB"/>
            </a:solidFill>
            <a:prstDash val="solid"/>
          </a:ln>
        </p:spPr>
      </p:sp>
      <p:sp>
        <p:nvSpPr>
          <p:cNvPr id="10" name="Text 8"/>
          <p:cNvSpPr txBox="1"/>
          <p:nvPr/>
        </p:nvSpPr>
        <p:spPr>
          <a:xfrm>
            <a:off x="2743200" y="1645920"/>
            <a:ext cx="1779971" cy="274320"/>
          </a:xfrm>
          <a:prstGeom prst="rect">
            <a:avLst/>
          </a:prstGeom>
          <a:noFill/>
          <a:ln/>
        </p:spPr>
        <p:txBody>
          <a:bodyPr wrap="square" lIns="0" tIns="0" rIns="0" bIns="0" rtlCol="0" anchor="t"/>
          <a:lstStyle/>
          <a:p>
            <a:pPr algn="ctr" indent="0" marL="0">
              <a:buNone/>
            </a:pPr>
            <a:r>
              <a:rPr lang="en-US" sz="1300" b="1" dirty="0">
                <a:solidFill>
                  <a:schemeClr val="accent6"/>
                </a:solidFill>
              </a:rPr>
              <a:t>Year 1</a:t>
            </a:r>
            <a:endParaRPr lang="en-US" sz="1300" dirty="0"/>
          </a:p>
        </p:txBody>
      </p:sp>
      <p:sp>
        <p:nvSpPr>
          <p:cNvPr id="11" name="Text 9"/>
          <p:cNvSpPr txBox="1"/>
          <p:nvPr/>
        </p:nvSpPr>
        <p:spPr>
          <a:xfrm>
            <a:off x="4523171" y="1645920"/>
            <a:ext cx="1779971" cy="274320"/>
          </a:xfrm>
          <a:prstGeom prst="rect">
            <a:avLst/>
          </a:prstGeom>
          <a:noFill/>
          <a:ln/>
        </p:spPr>
        <p:txBody>
          <a:bodyPr wrap="square" lIns="0" tIns="0" rIns="0" bIns="0" rtlCol="0" anchor="t"/>
          <a:lstStyle/>
          <a:p>
            <a:pPr algn="ctr" indent="0" marL="0">
              <a:buNone/>
            </a:pPr>
            <a:r>
              <a:rPr lang="en-US" sz="1300" b="1" dirty="0">
                <a:solidFill>
                  <a:schemeClr val="accent6"/>
                </a:solidFill>
              </a:rPr>
              <a:t>Year 2</a:t>
            </a:r>
            <a:endParaRPr lang="en-US" sz="1300" dirty="0"/>
          </a:p>
        </p:txBody>
      </p:sp>
      <p:sp>
        <p:nvSpPr>
          <p:cNvPr id="12" name="Text 10"/>
          <p:cNvSpPr txBox="1"/>
          <p:nvPr/>
        </p:nvSpPr>
        <p:spPr>
          <a:xfrm>
            <a:off x="6303142" y="1645920"/>
            <a:ext cx="1779971" cy="274320"/>
          </a:xfrm>
          <a:prstGeom prst="rect">
            <a:avLst/>
          </a:prstGeom>
          <a:noFill/>
          <a:ln/>
        </p:spPr>
        <p:txBody>
          <a:bodyPr wrap="square" lIns="0" tIns="0" rIns="0" bIns="0" rtlCol="0" anchor="t"/>
          <a:lstStyle/>
          <a:p>
            <a:pPr algn="ctr" indent="0" marL="0">
              <a:buNone/>
            </a:pPr>
            <a:r>
              <a:rPr lang="en-US" sz="1300" b="1" dirty="0">
                <a:solidFill>
                  <a:schemeClr val="accent6"/>
                </a:solidFill>
              </a:rPr>
              <a:t>Year 3</a:t>
            </a:r>
            <a:endParaRPr lang="en-US" sz="1300" dirty="0"/>
          </a:p>
        </p:txBody>
      </p:sp>
      <p:sp>
        <p:nvSpPr>
          <p:cNvPr id="13" name="Text 11"/>
          <p:cNvSpPr txBox="1"/>
          <p:nvPr/>
        </p:nvSpPr>
        <p:spPr>
          <a:xfrm>
            <a:off x="8083113" y="1645920"/>
            <a:ext cx="1779971" cy="274320"/>
          </a:xfrm>
          <a:prstGeom prst="rect">
            <a:avLst/>
          </a:prstGeom>
          <a:noFill/>
          <a:ln/>
        </p:spPr>
        <p:txBody>
          <a:bodyPr wrap="square" lIns="0" tIns="0" rIns="0" bIns="0" rtlCol="0" anchor="t"/>
          <a:lstStyle/>
          <a:p>
            <a:pPr algn="ctr" indent="0" marL="0">
              <a:buNone/>
            </a:pPr>
            <a:r>
              <a:rPr lang="en-US" sz="1300" b="1" dirty="0">
                <a:solidFill>
                  <a:schemeClr val="accent6"/>
                </a:solidFill>
              </a:rPr>
              <a:t>Year 4</a:t>
            </a:r>
            <a:endParaRPr lang="en-US" sz="1300" dirty="0"/>
          </a:p>
        </p:txBody>
      </p:sp>
      <p:sp>
        <p:nvSpPr>
          <p:cNvPr id="14" name="Text 12"/>
          <p:cNvSpPr txBox="1"/>
          <p:nvPr/>
        </p:nvSpPr>
        <p:spPr>
          <a:xfrm>
            <a:off x="9863084" y="1645920"/>
            <a:ext cx="1779971" cy="274320"/>
          </a:xfrm>
          <a:prstGeom prst="rect">
            <a:avLst/>
          </a:prstGeom>
          <a:noFill/>
          <a:ln/>
        </p:spPr>
        <p:txBody>
          <a:bodyPr wrap="square" lIns="0" tIns="0" rIns="0" bIns="0" rtlCol="0" anchor="t"/>
          <a:lstStyle/>
          <a:p>
            <a:pPr algn="ctr" indent="0" marL="0">
              <a:buNone/>
            </a:pPr>
            <a:r>
              <a:rPr lang="en-US" sz="1300" b="1" dirty="0">
                <a:solidFill>
                  <a:schemeClr val="accent6"/>
                </a:solidFill>
              </a:rPr>
              <a:t>Year 5</a:t>
            </a:r>
            <a:endParaRPr lang="en-US" sz="1300" dirty="0"/>
          </a:p>
        </p:txBody>
      </p:sp>
      <p:sp>
        <p:nvSpPr>
          <p:cNvPr id="15" name="Shape 13"/>
          <p:cNvSpPr/>
          <p:nvPr/>
        </p:nvSpPr>
        <p:spPr>
          <a:xfrm>
            <a:off x="548640" y="2258568"/>
            <a:ext cx="548640" cy="548640"/>
          </a:xfrm>
          <a:prstGeom prst="ellipse">
            <a:avLst/>
          </a:prstGeom>
          <a:solidFill>
            <a:schemeClr val="accent1"/>
          </a:solidFill>
          <a:ln/>
        </p:spPr>
      </p:sp>
      <p:pic>
        <p:nvPicPr>
          <p:cNvPr id="16" name="Image 0" descr="preencoded.png">    </p:cNvPr>
          <p:cNvPicPr>
            <a:picLocks noChangeAspect="1"/>
          </p:cNvPicPr>
          <p:nvPr/>
        </p:nvPicPr>
        <p:blipFill>
          <a:blip r:embed="rId1"/>
          <a:stretch>
            <a:fillRect/>
          </a:stretch>
        </p:blipFill>
        <p:spPr>
          <a:xfrm>
            <a:off x="696773" y="2406701"/>
            <a:ext cx="252374" cy="252374"/>
          </a:xfrm>
          <a:prstGeom prst="rect">
            <a:avLst/>
          </a:prstGeom>
        </p:spPr>
      </p:pic>
      <p:sp>
        <p:nvSpPr>
          <p:cNvPr id="17" name="Text 14"/>
          <p:cNvSpPr txBox="1"/>
          <p:nvPr/>
        </p:nvSpPr>
        <p:spPr>
          <a:xfrm>
            <a:off x="1234440" y="2103120"/>
            <a:ext cx="1463040" cy="868680"/>
          </a:xfrm>
          <a:prstGeom prst="rect">
            <a:avLst/>
          </a:prstGeom>
          <a:noFill/>
          <a:ln/>
        </p:spPr>
        <p:txBody>
          <a:bodyPr wrap="square" lIns="0" tIns="0" rIns="0" bIns="0" rtlCol="0" anchor="ctr"/>
          <a:lstStyle/>
          <a:p>
            <a:pPr indent="0" marL="0">
              <a:buNone/>
            </a:pPr>
            <a:r>
              <a:rPr lang="en-US" sz="1700" b="1" dirty="0">
                <a:solidFill>
                  <a:schemeClr val="tx2"/>
                </a:solidFill>
              </a:rPr>
              <a:t>Foundation</a:t>
            </a:r>
            <a:endParaRPr lang="en-US" sz="1700" dirty="0"/>
          </a:p>
        </p:txBody>
      </p:sp>
      <p:sp>
        <p:nvSpPr>
          <p:cNvPr id="18" name="Shape 15"/>
          <p:cNvSpPr/>
          <p:nvPr/>
        </p:nvSpPr>
        <p:spPr>
          <a:xfrm>
            <a:off x="2779776" y="2103120"/>
            <a:ext cx="3842784" cy="868680"/>
          </a:xfrm>
          <a:prstGeom prst="roundRect">
            <a:avLst>
              <a:gd name="adj" fmla="val 8421"/>
            </a:avLst>
          </a:prstGeom>
          <a:solidFill>
            <a:schemeClr val="accent1"/>
          </a:solidFill>
          <a:ln/>
        </p:spPr>
      </p:sp>
      <p:sp>
        <p:nvSpPr>
          <p:cNvPr id="19" name="Text 16"/>
          <p:cNvSpPr txBox="1"/>
          <p:nvPr/>
        </p:nvSpPr>
        <p:spPr>
          <a:xfrm>
            <a:off x="2926080" y="2103120"/>
            <a:ext cx="3550176" cy="868680"/>
          </a:xfrm>
          <a:prstGeom prst="rect">
            <a:avLst/>
          </a:prstGeom>
          <a:noFill/>
          <a:ln/>
        </p:spPr>
        <p:txBody>
          <a:bodyPr wrap="square" lIns="0" tIns="0" rIns="0" bIns="0" rtlCol="0" anchor="ctr"/>
          <a:lstStyle/>
          <a:p>
            <a:pPr indent="0" marL="0">
              <a:buNone/>
            </a:pPr>
            <a:r>
              <a:rPr lang="en-US" sz="1400" b="1" dirty="0">
                <a:solidFill>
                  <a:schemeClr val="bg1"/>
                </a:solidFill>
              </a:rPr>
              <a:t>Cohort and imaging QA · biomarker pipeline · baseline kinetic models</a:t>
            </a:r>
            <a:endParaRPr lang="en-US" sz="1400" dirty="0"/>
          </a:p>
        </p:txBody>
      </p:sp>
      <p:sp>
        <p:nvSpPr>
          <p:cNvPr id="20" name="Shape 17"/>
          <p:cNvSpPr/>
          <p:nvPr/>
        </p:nvSpPr>
        <p:spPr>
          <a:xfrm>
            <a:off x="548640" y="3282696"/>
            <a:ext cx="548640" cy="548640"/>
          </a:xfrm>
          <a:prstGeom prst="ellipse">
            <a:avLst/>
          </a:prstGeom>
          <a:solidFill>
            <a:schemeClr val="accent3"/>
          </a:solidFill>
          <a:ln/>
        </p:spPr>
      </p:sp>
      <p:pic>
        <p:nvPicPr>
          <p:cNvPr id="21" name="Image 1" descr="preencoded.png">    </p:cNvPr>
          <p:cNvPicPr>
            <a:picLocks noChangeAspect="1"/>
          </p:cNvPicPr>
          <p:nvPr/>
        </p:nvPicPr>
        <p:blipFill>
          <a:blip r:embed="rId2"/>
          <a:stretch>
            <a:fillRect/>
          </a:stretch>
        </p:blipFill>
        <p:spPr>
          <a:xfrm>
            <a:off x="696773" y="3430829"/>
            <a:ext cx="252374" cy="252374"/>
          </a:xfrm>
          <a:prstGeom prst="rect">
            <a:avLst/>
          </a:prstGeom>
        </p:spPr>
      </p:pic>
      <p:sp>
        <p:nvSpPr>
          <p:cNvPr id="22" name="Text 18"/>
          <p:cNvSpPr txBox="1"/>
          <p:nvPr/>
        </p:nvSpPr>
        <p:spPr>
          <a:xfrm>
            <a:off x="1234440" y="3127248"/>
            <a:ext cx="1463040" cy="868680"/>
          </a:xfrm>
          <a:prstGeom prst="rect">
            <a:avLst/>
          </a:prstGeom>
          <a:noFill/>
          <a:ln/>
        </p:spPr>
        <p:txBody>
          <a:bodyPr wrap="square" lIns="0" tIns="0" rIns="0" bIns="0" rtlCol="0" anchor="ctr"/>
          <a:lstStyle/>
          <a:p>
            <a:pPr indent="0" marL="0">
              <a:buNone/>
            </a:pPr>
            <a:r>
              <a:rPr lang="en-US" sz="1700" b="1" dirty="0">
                <a:solidFill>
                  <a:schemeClr val="tx2"/>
                </a:solidFill>
              </a:rPr>
              <a:t>Prediction</a:t>
            </a:r>
            <a:endParaRPr lang="en-US" sz="1700" dirty="0"/>
          </a:p>
        </p:txBody>
      </p:sp>
      <p:sp>
        <p:nvSpPr>
          <p:cNvPr id="23" name="Shape 19"/>
          <p:cNvSpPr/>
          <p:nvPr/>
        </p:nvSpPr>
        <p:spPr>
          <a:xfrm>
            <a:off x="5627730" y="3127248"/>
            <a:ext cx="3486790" cy="868680"/>
          </a:xfrm>
          <a:prstGeom prst="roundRect">
            <a:avLst>
              <a:gd name="adj" fmla="val 8421"/>
            </a:avLst>
          </a:prstGeom>
          <a:solidFill>
            <a:schemeClr val="accent3"/>
          </a:solidFill>
          <a:ln/>
        </p:spPr>
      </p:sp>
      <p:sp>
        <p:nvSpPr>
          <p:cNvPr id="24" name="Text 20"/>
          <p:cNvSpPr txBox="1"/>
          <p:nvPr/>
        </p:nvSpPr>
        <p:spPr>
          <a:xfrm>
            <a:off x="5774034" y="3127248"/>
            <a:ext cx="3194182" cy="868680"/>
          </a:xfrm>
          <a:prstGeom prst="rect">
            <a:avLst/>
          </a:prstGeom>
          <a:noFill/>
          <a:ln/>
        </p:spPr>
        <p:txBody>
          <a:bodyPr wrap="square" lIns="0" tIns="0" rIns="0" bIns="0" rtlCol="0" anchor="ctr"/>
          <a:lstStyle/>
          <a:p>
            <a:pPr indent="0" marL="0">
              <a:buNone/>
            </a:pPr>
            <a:r>
              <a:rPr lang="en-US" sz="1400" b="1" dirty="0">
                <a:solidFill>
                  <a:schemeClr val="bg1"/>
                </a:solidFill>
              </a:rPr>
              <a:t>Patient-specific models · independent validation · calibrated uncertainty</a:t>
            </a:r>
            <a:endParaRPr lang="en-US" sz="1400" dirty="0"/>
          </a:p>
        </p:txBody>
      </p:sp>
      <p:sp>
        <p:nvSpPr>
          <p:cNvPr id="25" name="Shape 21"/>
          <p:cNvSpPr/>
          <p:nvPr/>
        </p:nvSpPr>
        <p:spPr>
          <a:xfrm>
            <a:off x="548640" y="4306824"/>
            <a:ext cx="548640" cy="548640"/>
          </a:xfrm>
          <a:prstGeom prst="ellipse">
            <a:avLst/>
          </a:prstGeom>
          <a:solidFill>
            <a:schemeClr val="accent2"/>
          </a:solidFill>
          <a:ln/>
        </p:spPr>
      </p:sp>
      <p:pic>
        <p:nvPicPr>
          <p:cNvPr id="26" name="Image 2" descr="preencoded.png">    </p:cNvPr>
          <p:cNvPicPr>
            <a:picLocks noChangeAspect="1"/>
          </p:cNvPicPr>
          <p:nvPr/>
        </p:nvPicPr>
        <p:blipFill>
          <a:blip r:embed="rId3"/>
          <a:stretch>
            <a:fillRect/>
          </a:stretch>
        </p:blipFill>
        <p:spPr>
          <a:xfrm>
            <a:off x="696773" y="4454957"/>
            <a:ext cx="252374" cy="252374"/>
          </a:xfrm>
          <a:prstGeom prst="rect">
            <a:avLst/>
          </a:prstGeom>
        </p:spPr>
      </p:pic>
      <p:sp>
        <p:nvSpPr>
          <p:cNvPr id="27" name="Text 22"/>
          <p:cNvSpPr txBox="1"/>
          <p:nvPr/>
        </p:nvSpPr>
        <p:spPr>
          <a:xfrm>
            <a:off x="1234440" y="4151376"/>
            <a:ext cx="1463040" cy="868680"/>
          </a:xfrm>
          <a:prstGeom prst="rect">
            <a:avLst/>
          </a:prstGeom>
          <a:noFill/>
          <a:ln/>
        </p:spPr>
        <p:txBody>
          <a:bodyPr wrap="square" lIns="0" tIns="0" rIns="0" bIns="0" rtlCol="0" anchor="ctr"/>
          <a:lstStyle/>
          <a:p>
            <a:pPr indent="0" marL="0">
              <a:buNone/>
            </a:pPr>
            <a:r>
              <a:rPr lang="en-US" sz="1700" b="1" dirty="0">
                <a:solidFill>
                  <a:schemeClr val="tx2"/>
                </a:solidFill>
              </a:rPr>
              <a:t>Evaluation</a:t>
            </a:r>
            <a:endParaRPr lang="en-US" sz="1700" dirty="0"/>
          </a:p>
        </p:txBody>
      </p:sp>
      <p:sp>
        <p:nvSpPr>
          <p:cNvPr id="28" name="Shape 23"/>
          <p:cNvSpPr/>
          <p:nvPr/>
        </p:nvSpPr>
        <p:spPr>
          <a:xfrm>
            <a:off x="7941692" y="4151376"/>
            <a:ext cx="3664787" cy="868680"/>
          </a:xfrm>
          <a:prstGeom prst="roundRect">
            <a:avLst>
              <a:gd name="adj" fmla="val 8421"/>
            </a:avLst>
          </a:prstGeom>
          <a:solidFill>
            <a:schemeClr val="accent2"/>
          </a:solidFill>
          <a:ln/>
        </p:spPr>
      </p:sp>
      <p:sp>
        <p:nvSpPr>
          <p:cNvPr id="29" name="Text 24"/>
          <p:cNvSpPr txBox="1"/>
          <p:nvPr/>
        </p:nvSpPr>
        <p:spPr>
          <a:xfrm>
            <a:off x="8087996" y="4151376"/>
            <a:ext cx="3372179" cy="868680"/>
          </a:xfrm>
          <a:prstGeom prst="rect">
            <a:avLst/>
          </a:prstGeom>
          <a:noFill/>
          <a:ln/>
        </p:spPr>
        <p:txBody>
          <a:bodyPr wrap="square" lIns="0" tIns="0" rIns="0" bIns="0" rtlCol="0" anchor="ctr"/>
          <a:lstStyle/>
          <a:p>
            <a:pPr indent="0" marL="0">
              <a:buNone/>
            </a:pPr>
            <a:r>
              <a:rPr lang="en-US" sz="1400" b="1" dirty="0">
                <a:solidFill>
                  <a:schemeClr val="bg1"/>
                </a:solidFill>
              </a:rPr>
              <a:t>Virtual protocol studies · prospective evaluation · next-stage trial design</a:t>
            </a:r>
            <a:endParaRPr lang="en-US" sz="1400" dirty="0"/>
          </a:p>
        </p:txBody>
      </p:sp>
      <p:sp>
        <p:nvSpPr>
          <p:cNvPr id="30" name="Shape 25"/>
          <p:cNvSpPr/>
          <p:nvPr/>
        </p:nvSpPr>
        <p:spPr>
          <a:xfrm>
            <a:off x="2743200" y="5440680"/>
            <a:ext cx="8899855" cy="0"/>
          </a:xfrm>
          <a:prstGeom prst="line">
            <a:avLst/>
          </a:prstGeom>
          <a:noFill/>
          <a:ln w="12700">
            <a:solidFill>
              <a:schemeClr val="accent6"/>
            </a:solidFill>
            <a:prstDash val="solid"/>
          </a:ln>
        </p:spPr>
      </p:sp>
      <p:sp>
        <p:nvSpPr>
          <p:cNvPr id="31" name="Shape 26"/>
          <p:cNvSpPr/>
          <p:nvPr/>
        </p:nvSpPr>
        <p:spPr>
          <a:xfrm>
            <a:off x="6147694" y="5285232"/>
            <a:ext cx="310896" cy="310896"/>
          </a:xfrm>
          <a:prstGeom prst="diamond">
            <a:avLst/>
          </a:prstGeom>
          <a:solidFill>
            <a:schemeClr val="tx2"/>
          </a:solidFill>
          <a:ln w="19050">
            <a:solidFill>
              <a:schemeClr val="bg1"/>
            </a:solidFill>
            <a:prstDash val="solid"/>
          </a:ln>
        </p:spPr>
      </p:sp>
      <p:sp>
        <p:nvSpPr>
          <p:cNvPr id="32" name="Text 27"/>
          <p:cNvSpPr txBox="1"/>
          <p:nvPr/>
        </p:nvSpPr>
        <p:spPr>
          <a:xfrm>
            <a:off x="4840102" y="5623560"/>
            <a:ext cx="2926080" cy="274320"/>
          </a:xfrm>
          <a:prstGeom prst="rect">
            <a:avLst/>
          </a:prstGeom>
          <a:noFill/>
          <a:ln/>
        </p:spPr>
        <p:txBody>
          <a:bodyPr wrap="square" lIns="0" tIns="0" rIns="0" bIns="0" rtlCol="0" anchor="t"/>
          <a:lstStyle/>
          <a:p>
            <a:pPr algn="ctr" indent="0" marL="0">
              <a:buNone/>
            </a:pPr>
            <a:r>
              <a:rPr lang="en-US" sz="1300" b="1" dirty="0">
                <a:solidFill>
                  <a:schemeClr val="tx2"/>
                </a:solidFill>
              </a:rPr>
              <a:t>Gate 1: reproducible measurements</a:t>
            </a:r>
            <a:endParaRPr lang="en-US" sz="1300" dirty="0"/>
          </a:p>
        </p:txBody>
      </p:sp>
      <p:sp>
        <p:nvSpPr>
          <p:cNvPr id="33" name="Shape 28"/>
          <p:cNvSpPr/>
          <p:nvPr/>
        </p:nvSpPr>
        <p:spPr>
          <a:xfrm>
            <a:off x="8817651" y="5285232"/>
            <a:ext cx="310896" cy="310896"/>
          </a:xfrm>
          <a:prstGeom prst="diamond">
            <a:avLst/>
          </a:prstGeom>
          <a:solidFill>
            <a:schemeClr val="tx2"/>
          </a:solidFill>
          <a:ln w="19050">
            <a:solidFill>
              <a:schemeClr val="bg1"/>
            </a:solidFill>
            <a:prstDash val="solid"/>
          </a:ln>
        </p:spPr>
      </p:sp>
      <p:sp>
        <p:nvSpPr>
          <p:cNvPr id="34" name="Text 29"/>
          <p:cNvSpPr txBox="1"/>
          <p:nvPr/>
        </p:nvSpPr>
        <p:spPr>
          <a:xfrm>
            <a:off x="7510059" y="5623560"/>
            <a:ext cx="2926080" cy="274320"/>
          </a:xfrm>
          <a:prstGeom prst="rect">
            <a:avLst/>
          </a:prstGeom>
          <a:noFill/>
          <a:ln/>
        </p:spPr>
        <p:txBody>
          <a:bodyPr wrap="square" lIns="0" tIns="0" rIns="0" bIns="0" rtlCol="0" anchor="t"/>
          <a:lstStyle/>
          <a:p>
            <a:pPr algn="ctr" indent="0" marL="0">
              <a:buNone/>
            </a:pPr>
            <a:r>
              <a:rPr lang="en-US" sz="1300" b="1" dirty="0">
                <a:solidFill>
                  <a:schemeClr val="tx2"/>
                </a:solidFill>
              </a:rPr>
              <a:t>Gate 2: independently validated predictions</a:t>
            </a:r>
            <a:endParaRPr lang="en-US" sz="1300" dirty="0"/>
          </a:p>
        </p:txBody>
      </p:sp>
      <p:sp>
        <p:nvSpPr>
          <p:cNvPr id="35" name="Text 30"/>
          <p:cNvSpPr txBox="1"/>
          <p:nvPr/>
        </p:nvSpPr>
        <p:spPr>
          <a:xfrm>
            <a:off x="548640" y="5989320"/>
            <a:ext cx="11094415" cy="292608"/>
          </a:xfrm>
          <a:prstGeom prst="rect">
            <a:avLst/>
          </a:prstGeom>
          <a:noFill/>
          <a:ln/>
        </p:spPr>
        <p:txBody>
          <a:bodyPr wrap="square" lIns="0" tIns="0" rIns="0" bIns="0" rtlCol="0" anchor="t"/>
          <a:lstStyle/>
          <a:p>
            <a:pPr indent="0" marL="0">
              <a:buNone/>
            </a:pPr>
            <a:r>
              <a:rPr lang="en-US" sz="1300" i="1" dirty="0">
                <a:solidFill>
                  <a:schemeClr val="accent6"/>
                </a:solidFill>
              </a:rPr>
              <a:t>Expansion follows validated performance and access to the required clinical resources.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400" b="1" dirty="0">
                <a:solidFill>
                  <a:schemeClr val="tx2"/>
                </a:solidFill>
              </a:rPr>
              <a:t>Independent leadership and training</a:t>
            </a:r>
            <a:endParaRPr lang="en-US" sz="3400" dirty="0"/>
          </a:p>
        </p:txBody>
      </p:sp>
      <p:sp>
        <p:nvSpPr>
          <p:cNvPr id="3" name="Text 1"/>
          <p:cNvSpPr txBox="1"/>
          <p:nvPr/>
        </p:nvSpPr>
        <p:spPr>
          <a:xfrm>
            <a:off x="548640" y="1234440"/>
            <a:ext cx="50292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MY CONTRIBUTION</a:t>
            </a:r>
            <a:endParaRPr lang="en-US" sz="1200" dirty="0"/>
          </a:p>
        </p:txBody>
      </p:sp>
      <p:sp>
        <p:nvSpPr>
          <p:cNvPr id="4" name="Text 2"/>
          <p:cNvSpPr txBox="1"/>
          <p:nvPr/>
        </p:nvSpPr>
        <p:spPr>
          <a:xfrm>
            <a:off x="548640" y="1554480"/>
            <a:ext cx="5120640" cy="1005840"/>
          </a:xfrm>
          <a:prstGeom prst="rect">
            <a:avLst/>
          </a:prstGeom>
          <a:noFill/>
          <a:ln/>
        </p:spPr>
        <p:txBody>
          <a:bodyPr wrap="square" lIns="0" tIns="0" rIns="0" bIns="0" rtlCol="0" anchor="t"/>
          <a:lstStyle/>
          <a:p>
            <a:pPr indent="0" marL="0">
              <a:buNone/>
            </a:pPr>
            <a:r>
              <a:rPr lang="en-US" sz="2600" b="1" dirty="0">
                <a:solidFill>
                  <a:schemeClr val="tx2"/>
                </a:solidFill>
              </a:rPr>
              <a:t>Linking quantitative imaging to mechanistic prediction of therapy</a:t>
            </a:r>
            <a:endParaRPr lang="en-US" sz="2600" dirty="0"/>
          </a:p>
        </p:txBody>
      </p:sp>
      <p:sp>
        <p:nvSpPr>
          <p:cNvPr id="5" name="Text 3"/>
          <p:cNvSpPr txBox="1"/>
          <p:nvPr/>
        </p:nvSpPr>
        <p:spPr>
          <a:xfrm>
            <a:off x="548640" y="2788920"/>
            <a:ext cx="5029200" cy="274320"/>
          </a:xfrm>
          <a:prstGeom prst="rect">
            <a:avLst/>
          </a:prstGeom>
          <a:noFill/>
          <a:ln/>
        </p:spPr>
        <p:txBody>
          <a:bodyPr wrap="square" lIns="0" tIns="0" rIns="0" bIns="0" rtlCol="0" anchor="t"/>
          <a:lstStyle/>
          <a:p>
            <a:pPr indent="0" marL="0">
              <a:buNone/>
            </a:pPr>
            <a:r>
              <a:rPr lang="en-US" sz="1200" b="1" spc="100" kern="0" dirty="0">
                <a:solidFill>
                  <a:schemeClr val="accent3"/>
                </a:solidFill>
              </a:rPr>
              <a:t>FOUNDATION: PUBLISHED WORK</a:t>
            </a:r>
            <a:endParaRPr lang="en-US" sz="1200" dirty="0"/>
          </a:p>
        </p:txBody>
      </p:sp>
      <p:sp>
        <p:nvSpPr>
          <p:cNvPr id="6" name="Shape 4"/>
          <p:cNvSpPr/>
          <p:nvPr/>
        </p:nvSpPr>
        <p:spPr>
          <a:xfrm>
            <a:off x="548640" y="3154680"/>
            <a:ext cx="5120640" cy="731520"/>
          </a:xfrm>
          <a:prstGeom prst="roundRect">
            <a:avLst>
              <a:gd name="adj" fmla="val 10000"/>
            </a:avLst>
          </a:prstGeom>
          <a:solidFill>
            <a:schemeClr val="bg2"/>
          </a:solidFill>
          <a:ln/>
        </p:spPr>
      </p:sp>
      <p:sp>
        <p:nvSpPr>
          <p:cNvPr id="7" name="Shape 5"/>
          <p:cNvSpPr/>
          <p:nvPr/>
        </p:nvSpPr>
        <p:spPr>
          <a:xfrm>
            <a:off x="685800" y="3291840"/>
            <a:ext cx="457200" cy="457200"/>
          </a:xfrm>
          <a:prstGeom prst="ellipse">
            <a:avLst/>
          </a:prstGeom>
          <a:solidFill>
            <a:schemeClr val="accent3"/>
          </a:solidFill>
          <a:ln/>
        </p:spPr>
      </p:sp>
      <p:pic>
        <p:nvPicPr>
          <p:cNvPr id="8" name="Image 0" descr="preencoded.png">    </p:cNvPr>
          <p:cNvPicPr>
            <a:picLocks noChangeAspect="1"/>
          </p:cNvPicPr>
          <p:nvPr/>
        </p:nvPicPr>
        <p:blipFill>
          <a:blip r:embed="rId1"/>
          <a:stretch>
            <a:fillRect/>
          </a:stretch>
        </p:blipFill>
        <p:spPr>
          <a:xfrm>
            <a:off x="809244" y="3415284"/>
            <a:ext cx="210312" cy="210312"/>
          </a:xfrm>
          <a:prstGeom prst="rect">
            <a:avLst/>
          </a:prstGeom>
        </p:spPr>
      </p:pic>
      <p:sp>
        <p:nvSpPr>
          <p:cNvPr id="9" name="Text 6"/>
          <p:cNvSpPr txBox="1"/>
          <p:nvPr/>
        </p:nvSpPr>
        <p:spPr>
          <a:xfrm>
            <a:off x="1280160" y="3209544"/>
            <a:ext cx="4297680" cy="640080"/>
          </a:xfrm>
          <a:prstGeom prst="rect">
            <a:avLst/>
          </a:prstGeom>
          <a:noFill/>
          <a:ln/>
        </p:spPr>
        <p:txBody>
          <a:bodyPr wrap="square" lIns="0" tIns="0" rIns="0" bIns="0" rtlCol="0" anchor="ctr"/>
          <a:lstStyle/>
          <a:p>
            <a:pPr indent="0" marL="0">
              <a:buNone/>
            </a:pPr>
            <a:r>
              <a:rPr lang="en-US" sz="1400" b="1" dirty="0">
                <a:solidFill>
                  <a:schemeClr val="tx2"/>
                </a:solidFill>
              </a:rPr>
              <a:t>Theranostic digital twins: concept, framework and roadmap</a:t>
            </a:r>
            <a:endParaRPr lang="en-US" sz="1400" dirty="0"/>
          </a:p>
          <a:p>
            <a:pPr indent="0" marL="0">
              <a:buNone/>
            </a:pPr>
            <a:r>
              <a:rPr lang="en-US" sz="1200" dirty="0">
                <a:solidFill>
                  <a:schemeClr val="accent6"/>
                </a:solidFill>
              </a:rPr>
              <a:t>Abdollahi et al., Theranostics 2024;14:3404–22</a:t>
            </a:r>
            <a:endParaRPr lang="en-US" sz="1400" dirty="0"/>
          </a:p>
        </p:txBody>
      </p:sp>
      <p:sp>
        <p:nvSpPr>
          <p:cNvPr id="10" name="Shape 7"/>
          <p:cNvSpPr/>
          <p:nvPr/>
        </p:nvSpPr>
        <p:spPr>
          <a:xfrm>
            <a:off x="548640" y="4023360"/>
            <a:ext cx="5120640" cy="731520"/>
          </a:xfrm>
          <a:prstGeom prst="roundRect">
            <a:avLst>
              <a:gd name="adj" fmla="val 10000"/>
            </a:avLst>
          </a:prstGeom>
          <a:solidFill>
            <a:schemeClr val="bg2"/>
          </a:solidFill>
          <a:ln/>
        </p:spPr>
      </p:sp>
      <p:sp>
        <p:nvSpPr>
          <p:cNvPr id="11" name="Shape 8"/>
          <p:cNvSpPr/>
          <p:nvPr/>
        </p:nvSpPr>
        <p:spPr>
          <a:xfrm>
            <a:off x="685800" y="4160520"/>
            <a:ext cx="457200" cy="457200"/>
          </a:xfrm>
          <a:prstGeom prst="ellipse">
            <a:avLst/>
          </a:prstGeom>
          <a:solidFill>
            <a:schemeClr val="accent3"/>
          </a:solidFill>
          <a:ln/>
        </p:spPr>
      </p:sp>
      <p:pic>
        <p:nvPicPr>
          <p:cNvPr id="12" name="Image 1" descr="preencoded.png">    </p:cNvPr>
          <p:cNvPicPr>
            <a:picLocks noChangeAspect="1"/>
          </p:cNvPicPr>
          <p:nvPr/>
        </p:nvPicPr>
        <p:blipFill>
          <a:blip r:embed="rId2"/>
          <a:stretch>
            <a:fillRect/>
          </a:stretch>
        </p:blipFill>
        <p:spPr>
          <a:xfrm>
            <a:off x="809244" y="4283964"/>
            <a:ext cx="210312" cy="210312"/>
          </a:xfrm>
          <a:prstGeom prst="rect">
            <a:avLst/>
          </a:prstGeom>
        </p:spPr>
      </p:pic>
      <p:sp>
        <p:nvSpPr>
          <p:cNvPr id="13" name="Text 9"/>
          <p:cNvSpPr txBox="1"/>
          <p:nvPr/>
        </p:nvSpPr>
        <p:spPr>
          <a:xfrm>
            <a:off x="1280160" y="4078224"/>
            <a:ext cx="4297680" cy="640080"/>
          </a:xfrm>
          <a:prstGeom prst="rect">
            <a:avLst/>
          </a:prstGeom>
          <a:noFill/>
          <a:ln/>
        </p:spPr>
        <p:txBody>
          <a:bodyPr wrap="square" lIns="0" tIns="0" rIns="0" bIns="0" rtlCol="0" anchor="ctr"/>
          <a:lstStyle/>
          <a:p>
            <a:pPr indent="0" marL="0">
              <a:buNone/>
            </a:pPr>
            <a:r>
              <a:rPr lang="en-US" sz="1400" b="1" dirty="0">
                <a:solidFill>
                  <a:schemeClr val="tx2"/>
                </a:solidFill>
              </a:rPr>
              <a:t>Model-informed RPT optimization: PBPK in 177Lu-PSMA therapy</a:t>
            </a:r>
            <a:endParaRPr lang="en-US" sz="1400" dirty="0"/>
          </a:p>
          <a:p>
            <a:pPr indent="0" marL="0">
              <a:buNone/>
            </a:pPr>
            <a:r>
              <a:rPr lang="en-US" sz="1200" dirty="0">
                <a:solidFill>
                  <a:schemeClr val="accent6"/>
                </a:solidFill>
              </a:rPr>
              <a:t>Abdollahi et al., Cancers 2024;16:3120</a:t>
            </a:r>
            <a:endParaRPr lang="en-US" sz="1400" dirty="0"/>
          </a:p>
        </p:txBody>
      </p:sp>
      <p:sp>
        <p:nvSpPr>
          <p:cNvPr id="14" name="Shape 10"/>
          <p:cNvSpPr/>
          <p:nvPr/>
        </p:nvSpPr>
        <p:spPr>
          <a:xfrm>
            <a:off x="548640" y="4892040"/>
            <a:ext cx="5120640" cy="731520"/>
          </a:xfrm>
          <a:prstGeom prst="roundRect">
            <a:avLst>
              <a:gd name="adj" fmla="val 10000"/>
            </a:avLst>
          </a:prstGeom>
          <a:solidFill>
            <a:schemeClr val="bg2"/>
          </a:solidFill>
          <a:ln/>
        </p:spPr>
      </p:sp>
      <p:sp>
        <p:nvSpPr>
          <p:cNvPr id="15" name="Shape 11"/>
          <p:cNvSpPr/>
          <p:nvPr/>
        </p:nvSpPr>
        <p:spPr>
          <a:xfrm>
            <a:off x="685800" y="5029200"/>
            <a:ext cx="457200" cy="457200"/>
          </a:xfrm>
          <a:prstGeom prst="ellipse">
            <a:avLst/>
          </a:prstGeom>
          <a:solidFill>
            <a:schemeClr val="accent3"/>
          </a:solidFill>
          <a:ln/>
        </p:spPr>
      </p:sp>
      <p:pic>
        <p:nvPicPr>
          <p:cNvPr id="16" name="Image 2" descr="preencoded.png">    </p:cNvPr>
          <p:cNvPicPr>
            <a:picLocks noChangeAspect="1"/>
          </p:cNvPicPr>
          <p:nvPr/>
        </p:nvPicPr>
        <p:blipFill>
          <a:blip r:embed="rId3"/>
          <a:stretch>
            <a:fillRect/>
          </a:stretch>
        </p:blipFill>
        <p:spPr>
          <a:xfrm>
            <a:off x="809244" y="5152644"/>
            <a:ext cx="210312" cy="210312"/>
          </a:xfrm>
          <a:prstGeom prst="rect">
            <a:avLst/>
          </a:prstGeom>
        </p:spPr>
      </p:pic>
      <p:sp>
        <p:nvSpPr>
          <p:cNvPr id="17" name="Text 12"/>
          <p:cNvSpPr txBox="1"/>
          <p:nvPr/>
        </p:nvSpPr>
        <p:spPr>
          <a:xfrm>
            <a:off x="1280160" y="4946904"/>
            <a:ext cx="4297680" cy="640080"/>
          </a:xfrm>
          <a:prstGeom prst="rect">
            <a:avLst/>
          </a:prstGeom>
          <a:noFill/>
          <a:ln/>
        </p:spPr>
        <p:txBody>
          <a:bodyPr wrap="square" lIns="0" tIns="0" rIns="0" bIns="0" rtlCol="0" anchor="ctr"/>
          <a:lstStyle/>
          <a:p>
            <a:pPr indent="0" marL="0">
              <a:buNone/>
            </a:pPr>
            <a:r>
              <a:rPr lang="en-US" sz="1400" b="1" dirty="0">
                <a:solidFill>
                  <a:schemeClr val="tx2"/>
                </a:solidFill>
              </a:rPr>
              <a:t>Low-dose-rate radiobiology in RPT: modelling and challenges</a:t>
            </a:r>
            <a:endParaRPr lang="en-US" sz="1400" dirty="0"/>
          </a:p>
          <a:p>
            <a:pPr indent="0" marL="0">
              <a:buNone/>
            </a:pPr>
            <a:r>
              <a:rPr lang="en-US" sz="1200" dirty="0">
                <a:solidFill>
                  <a:schemeClr val="accent6"/>
                </a:solidFill>
              </a:rPr>
              <a:t>Abdollahi et al., IEEE TRPMS 2025;9:843–56</a:t>
            </a:r>
            <a:endParaRPr lang="en-US" sz="1400" dirty="0"/>
          </a:p>
        </p:txBody>
      </p:sp>
      <p:sp>
        <p:nvSpPr>
          <p:cNvPr id="18" name="Shape 13"/>
          <p:cNvSpPr/>
          <p:nvPr/>
        </p:nvSpPr>
        <p:spPr>
          <a:xfrm>
            <a:off x="7269480" y="1874520"/>
            <a:ext cx="1572768" cy="1828800"/>
          </a:xfrm>
          <a:prstGeom prst="line">
            <a:avLst/>
          </a:prstGeom>
          <a:noFill/>
          <a:ln w="25400">
            <a:solidFill>
              <a:srgbClr val="CBD5E1"/>
            </a:solidFill>
            <a:prstDash val="solid"/>
          </a:ln>
        </p:spPr>
      </p:sp>
      <p:sp>
        <p:nvSpPr>
          <p:cNvPr id="19" name="Shape 14"/>
          <p:cNvSpPr/>
          <p:nvPr/>
        </p:nvSpPr>
        <p:spPr>
          <a:xfrm flipH="1">
            <a:off x="8842248" y="1874520"/>
            <a:ext cx="1609344" cy="1828800"/>
          </a:xfrm>
          <a:prstGeom prst="line">
            <a:avLst/>
          </a:prstGeom>
          <a:noFill/>
          <a:ln w="25400">
            <a:solidFill>
              <a:srgbClr val="CBD5E1"/>
            </a:solidFill>
            <a:prstDash val="solid"/>
          </a:ln>
        </p:spPr>
      </p:sp>
      <p:sp>
        <p:nvSpPr>
          <p:cNvPr id="20" name="Shape 15"/>
          <p:cNvSpPr/>
          <p:nvPr/>
        </p:nvSpPr>
        <p:spPr>
          <a:xfrm flipV="1">
            <a:off x="7269480" y="3703320"/>
            <a:ext cx="1572768" cy="1783080"/>
          </a:xfrm>
          <a:prstGeom prst="line">
            <a:avLst/>
          </a:prstGeom>
          <a:noFill/>
          <a:ln w="25400">
            <a:solidFill>
              <a:srgbClr val="CBD5E1"/>
            </a:solidFill>
            <a:prstDash val="solid"/>
          </a:ln>
        </p:spPr>
      </p:sp>
      <p:sp>
        <p:nvSpPr>
          <p:cNvPr id="21" name="Shape 16"/>
          <p:cNvSpPr/>
          <p:nvPr/>
        </p:nvSpPr>
        <p:spPr>
          <a:xfrm flipH="1" flipV="1">
            <a:off x="8842248" y="3703320"/>
            <a:ext cx="1609344" cy="1783080"/>
          </a:xfrm>
          <a:prstGeom prst="line">
            <a:avLst/>
          </a:prstGeom>
          <a:noFill/>
          <a:ln w="25400">
            <a:solidFill>
              <a:srgbClr val="CBD5E1"/>
            </a:solidFill>
            <a:prstDash val="solid"/>
          </a:ln>
        </p:spPr>
      </p:sp>
      <p:sp>
        <p:nvSpPr>
          <p:cNvPr id="22" name="Shape 17"/>
          <p:cNvSpPr/>
          <p:nvPr/>
        </p:nvSpPr>
        <p:spPr>
          <a:xfrm>
            <a:off x="7973568" y="2834640"/>
            <a:ext cx="1737360" cy="1737360"/>
          </a:xfrm>
          <a:prstGeom prst="ellipse">
            <a:avLst/>
          </a:prstGeom>
          <a:solidFill>
            <a:schemeClr val="tx2"/>
          </a:solidFill>
          <a:ln w="38100">
            <a:solidFill>
              <a:schemeClr val="bg1"/>
            </a:solidFill>
            <a:prstDash val="solid"/>
          </a:ln>
        </p:spPr>
      </p:sp>
      <p:sp>
        <p:nvSpPr>
          <p:cNvPr id="23" name="Text 18"/>
          <p:cNvSpPr txBox="1"/>
          <p:nvPr/>
        </p:nvSpPr>
        <p:spPr>
          <a:xfrm>
            <a:off x="8110728" y="2834640"/>
            <a:ext cx="1463040" cy="1737360"/>
          </a:xfrm>
          <a:prstGeom prst="rect">
            <a:avLst/>
          </a:prstGeom>
          <a:noFill/>
          <a:ln/>
        </p:spPr>
        <p:txBody>
          <a:bodyPr wrap="square" lIns="0" tIns="0" rIns="0" bIns="0" rtlCol="0" anchor="ctr"/>
          <a:lstStyle/>
          <a:p>
            <a:pPr algn="ctr" indent="0" marL="0">
              <a:buNone/>
            </a:pPr>
            <a:r>
              <a:rPr lang="en-US" sz="1600" b="1" dirty="0">
                <a:solidFill>
                  <a:schemeClr val="bg1"/>
                </a:solidFill>
              </a:rPr>
              <a:t>Shared, reproducible platform</a:t>
            </a:r>
            <a:endParaRPr lang="en-US" sz="1600" dirty="0"/>
          </a:p>
        </p:txBody>
      </p:sp>
      <p:sp>
        <p:nvSpPr>
          <p:cNvPr id="24" name="Shape 19"/>
          <p:cNvSpPr/>
          <p:nvPr/>
        </p:nvSpPr>
        <p:spPr>
          <a:xfrm>
            <a:off x="6080760" y="1371600"/>
            <a:ext cx="2377440" cy="1005840"/>
          </a:xfrm>
          <a:prstGeom prst="roundRect">
            <a:avLst>
              <a:gd name="adj" fmla="val 7273"/>
            </a:avLst>
          </a:prstGeom>
          <a:solidFill>
            <a:schemeClr val="bg2"/>
          </a:solidFill>
          <a:ln w="25400">
            <a:solidFill>
              <a:schemeClr val="bg1"/>
            </a:solidFill>
            <a:prstDash val="solid"/>
          </a:ln>
        </p:spPr>
      </p:sp>
      <p:sp>
        <p:nvSpPr>
          <p:cNvPr id="25" name="Shape 20"/>
          <p:cNvSpPr/>
          <p:nvPr/>
        </p:nvSpPr>
        <p:spPr>
          <a:xfrm>
            <a:off x="6217920" y="1508760"/>
            <a:ext cx="411480" cy="411480"/>
          </a:xfrm>
          <a:prstGeom prst="ellipse">
            <a:avLst/>
          </a:prstGeom>
          <a:solidFill>
            <a:schemeClr val="accent1"/>
          </a:solidFill>
          <a:ln/>
        </p:spPr>
      </p:sp>
      <p:pic>
        <p:nvPicPr>
          <p:cNvPr id="26" name="Image 3" descr="preencoded.png">    </p:cNvPr>
          <p:cNvPicPr>
            <a:picLocks noChangeAspect="1"/>
          </p:cNvPicPr>
          <p:nvPr/>
        </p:nvPicPr>
        <p:blipFill>
          <a:blip r:embed="rId4"/>
          <a:stretch>
            <a:fillRect/>
          </a:stretch>
        </p:blipFill>
        <p:spPr>
          <a:xfrm>
            <a:off x="6329020" y="1619860"/>
            <a:ext cx="189281" cy="189281"/>
          </a:xfrm>
          <a:prstGeom prst="rect">
            <a:avLst/>
          </a:prstGeom>
        </p:spPr>
      </p:pic>
      <p:sp>
        <p:nvSpPr>
          <p:cNvPr id="27" name="Text 21"/>
          <p:cNvSpPr txBox="1"/>
          <p:nvPr/>
        </p:nvSpPr>
        <p:spPr>
          <a:xfrm>
            <a:off x="6720840" y="1508760"/>
            <a:ext cx="1645920" cy="411480"/>
          </a:xfrm>
          <a:prstGeom prst="rect">
            <a:avLst/>
          </a:prstGeom>
          <a:noFill/>
          <a:ln/>
        </p:spPr>
        <p:txBody>
          <a:bodyPr wrap="square" lIns="0" tIns="0" rIns="0" bIns="0" rtlCol="0" anchor="ctr"/>
          <a:lstStyle/>
          <a:p>
            <a:pPr indent="0" marL="0">
              <a:buNone/>
            </a:pPr>
            <a:r>
              <a:rPr lang="en-US" sz="1600" b="1" dirty="0">
                <a:solidFill>
                  <a:schemeClr val="tx2"/>
                </a:solidFill>
              </a:rPr>
              <a:t>MSc</a:t>
            </a:r>
            <a:endParaRPr lang="en-US" sz="1600" dirty="0"/>
          </a:p>
        </p:txBody>
      </p:sp>
      <p:sp>
        <p:nvSpPr>
          <p:cNvPr id="28" name="Text 22"/>
          <p:cNvSpPr txBox="1"/>
          <p:nvPr/>
        </p:nvSpPr>
        <p:spPr>
          <a:xfrm>
            <a:off x="6217920" y="1938528"/>
            <a:ext cx="2148840" cy="411480"/>
          </a:xfrm>
          <a:prstGeom prst="rect">
            <a:avLst/>
          </a:prstGeom>
          <a:noFill/>
          <a:ln/>
        </p:spPr>
        <p:txBody>
          <a:bodyPr wrap="square" lIns="0" tIns="0" rIns="0" bIns="0" rtlCol="0" anchor="t"/>
          <a:lstStyle/>
          <a:p>
            <a:pPr indent="0" marL="0">
              <a:buNone/>
            </a:pPr>
            <a:r>
              <a:rPr lang="en-US" sz="1200" dirty="0">
                <a:solidFill>
                  <a:schemeClr val="tx1"/>
                </a:solidFill>
              </a:rPr>
              <a:t>Reliable measurements and biomarkers</a:t>
            </a:r>
            <a:endParaRPr lang="en-US" sz="1200" dirty="0"/>
          </a:p>
        </p:txBody>
      </p:sp>
      <p:sp>
        <p:nvSpPr>
          <p:cNvPr id="29" name="Shape 23"/>
          <p:cNvSpPr/>
          <p:nvPr/>
        </p:nvSpPr>
        <p:spPr>
          <a:xfrm>
            <a:off x="9262872" y="1371600"/>
            <a:ext cx="2377440" cy="1005840"/>
          </a:xfrm>
          <a:prstGeom prst="roundRect">
            <a:avLst>
              <a:gd name="adj" fmla="val 7273"/>
            </a:avLst>
          </a:prstGeom>
          <a:solidFill>
            <a:schemeClr val="bg2"/>
          </a:solidFill>
          <a:ln w="25400">
            <a:solidFill>
              <a:schemeClr val="bg1"/>
            </a:solidFill>
            <a:prstDash val="solid"/>
          </a:ln>
        </p:spPr>
      </p:sp>
      <p:sp>
        <p:nvSpPr>
          <p:cNvPr id="30" name="Shape 24"/>
          <p:cNvSpPr/>
          <p:nvPr/>
        </p:nvSpPr>
        <p:spPr>
          <a:xfrm>
            <a:off x="9400032" y="1508760"/>
            <a:ext cx="411480" cy="411480"/>
          </a:xfrm>
          <a:prstGeom prst="ellipse">
            <a:avLst/>
          </a:prstGeom>
          <a:solidFill>
            <a:schemeClr val="accent3"/>
          </a:solidFill>
          <a:ln/>
        </p:spPr>
      </p:sp>
      <p:pic>
        <p:nvPicPr>
          <p:cNvPr id="31" name="Image 4" descr="preencoded.png">    </p:cNvPr>
          <p:cNvPicPr>
            <a:picLocks noChangeAspect="1"/>
          </p:cNvPicPr>
          <p:nvPr/>
        </p:nvPicPr>
        <p:blipFill>
          <a:blip r:embed="rId5"/>
          <a:stretch>
            <a:fillRect/>
          </a:stretch>
        </p:blipFill>
        <p:spPr>
          <a:xfrm>
            <a:off x="9511132" y="1619860"/>
            <a:ext cx="189281" cy="189281"/>
          </a:xfrm>
          <a:prstGeom prst="rect">
            <a:avLst/>
          </a:prstGeom>
        </p:spPr>
      </p:pic>
      <p:sp>
        <p:nvSpPr>
          <p:cNvPr id="32" name="Text 25"/>
          <p:cNvSpPr txBox="1"/>
          <p:nvPr/>
        </p:nvSpPr>
        <p:spPr>
          <a:xfrm>
            <a:off x="9902952" y="1508760"/>
            <a:ext cx="1645920" cy="411480"/>
          </a:xfrm>
          <a:prstGeom prst="rect">
            <a:avLst/>
          </a:prstGeom>
          <a:noFill/>
          <a:ln/>
        </p:spPr>
        <p:txBody>
          <a:bodyPr wrap="square" lIns="0" tIns="0" rIns="0" bIns="0" rtlCol="0" anchor="ctr"/>
          <a:lstStyle/>
          <a:p>
            <a:pPr indent="0" marL="0">
              <a:buNone/>
            </a:pPr>
            <a:r>
              <a:rPr lang="en-US" sz="1600" b="1" dirty="0">
                <a:solidFill>
                  <a:schemeClr val="tx2"/>
                </a:solidFill>
              </a:rPr>
              <a:t>PhD</a:t>
            </a:r>
            <a:endParaRPr lang="en-US" sz="1600" dirty="0"/>
          </a:p>
        </p:txBody>
      </p:sp>
      <p:sp>
        <p:nvSpPr>
          <p:cNvPr id="33" name="Text 26"/>
          <p:cNvSpPr txBox="1"/>
          <p:nvPr/>
        </p:nvSpPr>
        <p:spPr>
          <a:xfrm>
            <a:off x="9400032" y="1938528"/>
            <a:ext cx="2148840" cy="411480"/>
          </a:xfrm>
          <a:prstGeom prst="rect">
            <a:avLst/>
          </a:prstGeom>
          <a:noFill/>
          <a:ln/>
        </p:spPr>
        <p:txBody>
          <a:bodyPr wrap="square" lIns="0" tIns="0" rIns="0" bIns="0" rtlCol="0" anchor="t"/>
          <a:lstStyle/>
          <a:p>
            <a:pPr indent="0" marL="0">
              <a:buNone/>
            </a:pPr>
            <a:r>
              <a:rPr lang="en-US" sz="1200" dirty="0">
                <a:solidFill>
                  <a:schemeClr val="tx1"/>
                </a:solidFill>
              </a:rPr>
              <a:t>Predictive models, uncertainty, optimization</a:t>
            </a:r>
            <a:endParaRPr lang="en-US" sz="1200" dirty="0"/>
          </a:p>
        </p:txBody>
      </p:sp>
      <p:sp>
        <p:nvSpPr>
          <p:cNvPr id="34" name="Shape 27"/>
          <p:cNvSpPr/>
          <p:nvPr/>
        </p:nvSpPr>
        <p:spPr>
          <a:xfrm>
            <a:off x="6080760" y="4983480"/>
            <a:ext cx="2377440" cy="1005840"/>
          </a:xfrm>
          <a:prstGeom prst="roundRect">
            <a:avLst>
              <a:gd name="adj" fmla="val 7273"/>
            </a:avLst>
          </a:prstGeom>
          <a:solidFill>
            <a:schemeClr val="bg2"/>
          </a:solidFill>
          <a:ln w="25400">
            <a:solidFill>
              <a:schemeClr val="bg1"/>
            </a:solidFill>
            <a:prstDash val="solid"/>
          </a:ln>
        </p:spPr>
      </p:sp>
      <p:sp>
        <p:nvSpPr>
          <p:cNvPr id="35" name="Shape 28"/>
          <p:cNvSpPr/>
          <p:nvPr/>
        </p:nvSpPr>
        <p:spPr>
          <a:xfrm>
            <a:off x="6217920" y="5120640"/>
            <a:ext cx="411480" cy="411480"/>
          </a:xfrm>
          <a:prstGeom prst="ellipse">
            <a:avLst/>
          </a:prstGeom>
          <a:solidFill>
            <a:schemeClr val="accent2"/>
          </a:solidFill>
          <a:ln/>
        </p:spPr>
      </p:sp>
      <p:pic>
        <p:nvPicPr>
          <p:cNvPr id="36" name="Image 5" descr="preencoded.png">    </p:cNvPr>
          <p:cNvPicPr>
            <a:picLocks noChangeAspect="1"/>
          </p:cNvPicPr>
          <p:nvPr/>
        </p:nvPicPr>
        <p:blipFill>
          <a:blip r:embed="rId6"/>
          <a:stretch>
            <a:fillRect/>
          </a:stretch>
        </p:blipFill>
        <p:spPr>
          <a:xfrm>
            <a:off x="6329020" y="5231740"/>
            <a:ext cx="189281" cy="189281"/>
          </a:xfrm>
          <a:prstGeom prst="rect">
            <a:avLst/>
          </a:prstGeom>
        </p:spPr>
      </p:pic>
      <p:sp>
        <p:nvSpPr>
          <p:cNvPr id="37" name="Text 29"/>
          <p:cNvSpPr txBox="1"/>
          <p:nvPr/>
        </p:nvSpPr>
        <p:spPr>
          <a:xfrm>
            <a:off x="6720840" y="5120640"/>
            <a:ext cx="1645920" cy="411480"/>
          </a:xfrm>
          <a:prstGeom prst="rect">
            <a:avLst/>
          </a:prstGeom>
          <a:noFill/>
          <a:ln/>
        </p:spPr>
        <p:txBody>
          <a:bodyPr wrap="square" lIns="0" tIns="0" rIns="0" bIns="0" rtlCol="0" anchor="ctr"/>
          <a:lstStyle/>
          <a:p>
            <a:pPr indent="0" marL="0">
              <a:buNone/>
            </a:pPr>
            <a:r>
              <a:rPr lang="en-US" sz="1600" b="1" dirty="0">
                <a:solidFill>
                  <a:schemeClr val="tx2"/>
                </a:solidFill>
              </a:rPr>
              <a:t>Partners</a:t>
            </a:r>
            <a:endParaRPr lang="en-US" sz="1600" dirty="0"/>
          </a:p>
        </p:txBody>
      </p:sp>
      <p:sp>
        <p:nvSpPr>
          <p:cNvPr id="38" name="Text 30"/>
          <p:cNvSpPr txBox="1"/>
          <p:nvPr/>
        </p:nvSpPr>
        <p:spPr>
          <a:xfrm>
            <a:off x="6217920" y="5550408"/>
            <a:ext cx="2148840" cy="411480"/>
          </a:xfrm>
          <a:prstGeom prst="rect">
            <a:avLst/>
          </a:prstGeom>
          <a:noFill/>
          <a:ln/>
        </p:spPr>
        <p:txBody>
          <a:bodyPr wrap="square" lIns="0" tIns="0" rIns="0" bIns="0" rtlCol="0" anchor="t"/>
          <a:lstStyle/>
          <a:p>
            <a:pPr indent="0" marL="0">
              <a:buNone/>
            </a:pPr>
            <a:r>
              <a:rPr lang="en-US" sz="1200" dirty="0">
                <a:solidFill>
                  <a:schemeClr val="tx1"/>
                </a:solidFill>
              </a:rPr>
              <a:t>Clinical, radiochemistry and computing</a:t>
            </a:r>
            <a:endParaRPr lang="en-US" sz="1200" dirty="0"/>
          </a:p>
        </p:txBody>
      </p:sp>
      <p:sp>
        <p:nvSpPr>
          <p:cNvPr id="39" name="Shape 31"/>
          <p:cNvSpPr/>
          <p:nvPr/>
        </p:nvSpPr>
        <p:spPr>
          <a:xfrm>
            <a:off x="9262872" y="4983480"/>
            <a:ext cx="2377440" cy="1005840"/>
          </a:xfrm>
          <a:prstGeom prst="roundRect">
            <a:avLst>
              <a:gd name="adj" fmla="val 7273"/>
            </a:avLst>
          </a:prstGeom>
          <a:solidFill>
            <a:schemeClr val="bg2"/>
          </a:solidFill>
          <a:ln w="25400">
            <a:solidFill>
              <a:schemeClr val="bg1"/>
            </a:solidFill>
            <a:prstDash val="solid"/>
          </a:ln>
        </p:spPr>
      </p:sp>
      <p:sp>
        <p:nvSpPr>
          <p:cNvPr id="40" name="Shape 32"/>
          <p:cNvSpPr/>
          <p:nvPr/>
        </p:nvSpPr>
        <p:spPr>
          <a:xfrm>
            <a:off x="9400032" y="5120640"/>
            <a:ext cx="411480" cy="411480"/>
          </a:xfrm>
          <a:prstGeom prst="ellipse">
            <a:avLst/>
          </a:prstGeom>
          <a:solidFill>
            <a:schemeClr val="accent4"/>
          </a:solidFill>
          <a:ln/>
        </p:spPr>
      </p:sp>
      <p:pic>
        <p:nvPicPr>
          <p:cNvPr id="41" name="Image 6" descr="preencoded.png">    </p:cNvPr>
          <p:cNvPicPr>
            <a:picLocks noChangeAspect="1"/>
          </p:cNvPicPr>
          <p:nvPr/>
        </p:nvPicPr>
        <p:blipFill>
          <a:blip r:embed="rId7"/>
          <a:stretch>
            <a:fillRect/>
          </a:stretch>
        </p:blipFill>
        <p:spPr>
          <a:xfrm>
            <a:off x="9511132" y="5231740"/>
            <a:ext cx="189281" cy="189281"/>
          </a:xfrm>
          <a:prstGeom prst="rect">
            <a:avLst/>
          </a:prstGeom>
        </p:spPr>
      </p:pic>
      <p:sp>
        <p:nvSpPr>
          <p:cNvPr id="42" name="Text 33"/>
          <p:cNvSpPr txBox="1"/>
          <p:nvPr/>
        </p:nvSpPr>
        <p:spPr>
          <a:xfrm>
            <a:off x="9902952" y="5120640"/>
            <a:ext cx="1645920" cy="411480"/>
          </a:xfrm>
          <a:prstGeom prst="rect">
            <a:avLst/>
          </a:prstGeom>
          <a:noFill/>
          <a:ln/>
        </p:spPr>
        <p:txBody>
          <a:bodyPr wrap="square" lIns="0" tIns="0" rIns="0" bIns="0" rtlCol="0" anchor="ctr"/>
          <a:lstStyle/>
          <a:p>
            <a:pPr indent="0" marL="0">
              <a:buNone/>
            </a:pPr>
            <a:r>
              <a:rPr lang="en-US" sz="1600" b="1" dirty="0">
                <a:solidFill>
                  <a:schemeClr val="tx2"/>
                </a:solidFill>
              </a:rPr>
              <a:t>Culture</a:t>
            </a:r>
            <a:endParaRPr lang="en-US" sz="1600" dirty="0"/>
          </a:p>
        </p:txBody>
      </p:sp>
      <p:sp>
        <p:nvSpPr>
          <p:cNvPr id="43" name="Text 34"/>
          <p:cNvSpPr txBox="1"/>
          <p:nvPr/>
        </p:nvSpPr>
        <p:spPr>
          <a:xfrm>
            <a:off x="9400032" y="5550408"/>
            <a:ext cx="2148840" cy="411480"/>
          </a:xfrm>
          <a:prstGeom prst="rect">
            <a:avLst/>
          </a:prstGeom>
          <a:noFill/>
          <a:ln/>
        </p:spPr>
        <p:txBody>
          <a:bodyPr wrap="square" lIns="0" tIns="0" rIns="0" bIns="0" rtlCol="0" anchor="t"/>
          <a:lstStyle/>
          <a:p>
            <a:pPr indent="0" marL="0">
              <a:buNone/>
            </a:pPr>
            <a:r>
              <a:rPr lang="en-US" sz="1200" dirty="0">
                <a:solidFill>
                  <a:schemeClr val="tx1"/>
                </a:solidFill>
              </a:rPr>
              <a:t>Inclusive mentoring and open methods</a:t>
            </a:r>
            <a:endParaRPr lang="en-US" sz="1200" dirty="0"/>
          </a:p>
        </p:txBody>
      </p:sp>
      <p:sp>
        <p:nvSpPr>
          <p:cNvPr id="45"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indent="0" marL="0">
              <a:buNone/>
            </a:pP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731520" y="822960"/>
            <a:ext cx="7315200" cy="320040"/>
          </a:xfrm>
          <a:prstGeom prst="rect">
            <a:avLst/>
          </a:prstGeom>
          <a:noFill/>
          <a:ln/>
        </p:spPr>
        <p:txBody>
          <a:bodyPr wrap="square" lIns="0" tIns="0" rIns="0" bIns="0" rtlCol="0" anchor="t"/>
          <a:lstStyle/>
          <a:p>
            <a:pPr indent="0" marL="0">
              <a:buNone/>
            </a:pPr>
            <a:r>
              <a:rPr lang="en-US" sz="1300" b="1" spc="200" kern="0" dirty="0">
                <a:solidFill>
                  <a:schemeClr val="accent1"/>
                </a:solidFill>
              </a:rPr>
              <a:t>THE RESEARCH VISION</a:t>
            </a:r>
            <a:endParaRPr lang="en-US" sz="1300" dirty="0"/>
          </a:p>
        </p:txBody>
      </p:sp>
      <p:sp>
        <p:nvSpPr>
          <p:cNvPr id="3" name="Text 1"/>
          <p:cNvSpPr txBox="1"/>
          <p:nvPr/>
        </p:nvSpPr>
        <p:spPr>
          <a:xfrm>
            <a:off x="731520" y="1234440"/>
            <a:ext cx="10515600" cy="1188720"/>
          </a:xfrm>
          <a:prstGeom prst="rect">
            <a:avLst/>
          </a:prstGeom>
          <a:noFill/>
          <a:ln/>
        </p:spPr>
        <p:txBody>
          <a:bodyPr wrap="square" lIns="0" tIns="0" rIns="0" bIns="0" rtlCol="0" anchor="t"/>
          <a:lstStyle/>
          <a:p>
            <a:pPr indent="0" marL="0">
              <a:buNone/>
            </a:pPr>
            <a:r>
              <a:rPr lang="en-US" sz="3800" b="1" dirty="0">
                <a:solidFill>
                  <a:schemeClr val="bg1"/>
                </a:solidFill>
              </a:rPr>
              <a:t>Molecular imaging that supports predictive treatment planning</a:t>
            </a:r>
            <a:endParaRPr lang="en-US" sz="3800" dirty="0"/>
          </a:p>
        </p:txBody>
      </p:sp>
      <p:sp>
        <p:nvSpPr>
          <p:cNvPr id="4" name="Shape 2"/>
          <p:cNvSpPr/>
          <p:nvPr/>
        </p:nvSpPr>
        <p:spPr>
          <a:xfrm>
            <a:off x="731520" y="2880360"/>
            <a:ext cx="731520" cy="73152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29030" y="3077870"/>
            <a:ext cx="336499" cy="336499"/>
          </a:xfrm>
          <a:prstGeom prst="rect">
            <a:avLst/>
          </a:prstGeom>
        </p:spPr>
      </p:pic>
      <p:sp>
        <p:nvSpPr>
          <p:cNvPr id="6" name="Text 3"/>
          <p:cNvSpPr txBox="1"/>
          <p:nvPr/>
        </p:nvSpPr>
        <p:spPr>
          <a:xfrm>
            <a:off x="731520" y="3749040"/>
            <a:ext cx="3332378" cy="411480"/>
          </a:xfrm>
          <a:prstGeom prst="rect">
            <a:avLst/>
          </a:prstGeom>
          <a:noFill/>
          <a:ln/>
        </p:spPr>
        <p:txBody>
          <a:bodyPr wrap="square" lIns="0" tIns="0" rIns="0" bIns="0" rtlCol="0" anchor="t"/>
          <a:lstStyle/>
          <a:p>
            <a:pPr indent="0" marL="0">
              <a:buNone/>
            </a:pPr>
            <a:r>
              <a:rPr lang="en-US" sz="2000" b="1" dirty="0">
                <a:solidFill>
                  <a:schemeClr val="bg1"/>
                </a:solidFill>
              </a:rPr>
              <a:t>Reliable measurements</a:t>
            </a:r>
            <a:endParaRPr lang="en-US" sz="2000" dirty="0"/>
          </a:p>
        </p:txBody>
      </p:sp>
      <p:sp>
        <p:nvSpPr>
          <p:cNvPr id="7" name="Text 4"/>
          <p:cNvSpPr txBox="1"/>
          <p:nvPr/>
        </p:nvSpPr>
        <p:spPr>
          <a:xfrm>
            <a:off x="731520" y="4160520"/>
            <a:ext cx="3332378" cy="548640"/>
          </a:xfrm>
          <a:prstGeom prst="rect">
            <a:avLst/>
          </a:prstGeom>
          <a:noFill/>
          <a:ln/>
        </p:spPr>
        <p:txBody>
          <a:bodyPr wrap="square" lIns="0" tIns="0" rIns="0" bIns="0" rtlCol="0" anchor="t"/>
          <a:lstStyle/>
          <a:p>
            <a:pPr indent="0" marL="0">
              <a:buNone/>
            </a:pPr>
            <a:r>
              <a:rPr lang="en-US" sz="1500" dirty="0">
                <a:solidFill>
                  <a:schemeClr val="bg2"/>
                </a:solidFill>
              </a:rPr>
              <a:t>Validated imaging pipeline and biomarker panel</a:t>
            </a:r>
            <a:endParaRPr lang="en-US" sz="1500" dirty="0"/>
          </a:p>
        </p:txBody>
      </p:sp>
      <p:sp>
        <p:nvSpPr>
          <p:cNvPr id="8" name="Shape 5"/>
          <p:cNvSpPr/>
          <p:nvPr/>
        </p:nvSpPr>
        <p:spPr>
          <a:xfrm>
            <a:off x="4429658" y="2880360"/>
            <a:ext cx="731520" cy="731520"/>
          </a:xfrm>
          <a:prstGeom prst="ellipse">
            <a:avLst/>
          </a:prstGeom>
          <a:solidFill>
            <a:schemeClr val="accent3"/>
          </a:solidFill>
          <a:ln/>
        </p:spPr>
      </p:sp>
      <p:pic>
        <p:nvPicPr>
          <p:cNvPr id="9" name="Image 1" descr="preencoded.png">    </p:cNvPr>
          <p:cNvPicPr>
            <a:picLocks noChangeAspect="1"/>
          </p:cNvPicPr>
          <p:nvPr/>
        </p:nvPicPr>
        <p:blipFill>
          <a:blip r:embed="rId2"/>
          <a:stretch>
            <a:fillRect/>
          </a:stretch>
        </p:blipFill>
        <p:spPr>
          <a:xfrm>
            <a:off x="4627169" y="3077870"/>
            <a:ext cx="336499" cy="336499"/>
          </a:xfrm>
          <a:prstGeom prst="rect">
            <a:avLst/>
          </a:prstGeom>
        </p:spPr>
      </p:pic>
      <p:sp>
        <p:nvSpPr>
          <p:cNvPr id="10" name="Text 6"/>
          <p:cNvSpPr txBox="1"/>
          <p:nvPr/>
        </p:nvSpPr>
        <p:spPr>
          <a:xfrm>
            <a:off x="4429658" y="3749040"/>
            <a:ext cx="3332378" cy="411480"/>
          </a:xfrm>
          <a:prstGeom prst="rect">
            <a:avLst/>
          </a:prstGeom>
          <a:noFill/>
          <a:ln/>
        </p:spPr>
        <p:txBody>
          <a:bodyPr wrap="square" lIns="0" tIns="0" rIns="0" bIns="0" rtlCol="0" anchor="t"/>
          <a:lstStyle/>
          <a:p>
            <a:pPr indent="0" marL="0">
              <a:buNone/>
            </a:pPr>
            <a:r>
              <a:rPr lang="en-US" sz="2000" b="1" dirty="0">
                <a:solidFill>
                  <a:schemeClr val="bg1"/>
                </a:solidFill>
              </a:rPr>
              <a:t>Patient-specific predictions</a:t>
            </a:r>
            <a:endParaRPr lang="en-US" sz="2000" dirty="0"/>
          </a:p>
        </p:txBody>
      </p:sp>
      <p:sp>
        <p:nvSpPr>
          <p:cNvPr id="11" name="Text 7"/>
          <p:cNvSpPr txBox="1"/>
          <p:nvPr/>
        </p:nvSpPr>
        <p:spPr>
          <a:xfrm>
            <a:off x="4429658" y="4160520"/>
            <a:ext cx="3332378" cy="548640"/>
          </a:xfrm>
          <a:prstGeom prst="rect">
            <a:avLst/>
          </a:prstGeom>
          <a:noFill/>
          <a:ln/>
        </p:spPr>
        <p:txBody>
          <a:bodyPr wrap="square" lIns="0" tIns="0" rIns="0" bIns="0" rtlCol="0" anchor="t"/>
          <a:lstStyle/>
          <a:p>
            <a:pPr indent="0" marL="0">
              <a:buNone/>
            </a:pPr>
            <a:r>
              <a:rPr lang="en-US" sz="1500" dirty="0">
                <a:solidFill>
                  <a:schemeClr val="bg2"/>
                </a:solidFill>
              </a:rPr>
              <a:t>Digital twins of exposure, dose and response</a:t>
            </a:r>
            <a:endParaRPr lang="en-US" sz="1500" dirty="0"/>
          </a:p>
        </p:txBody>
      </p:sp>
      <p:sp>
        <p:nvSpPr>
          <p:cNvPr id="12" name="Shape 8"/>
          <p:cNvSpPr/>
          <p:nvPr/>
        </p:nvSpPr>
        <p:spPr>
          <a:xfrm>
            <a:off x="8127797" y="2880360"/>
            <a:ext cx="731520" cy="731520"/>
          </a:xfrm>
          <a:prstGeom prst="ellipse">
            <a:avLst/>
          </a:prstGeom>
          <a:solidFill>
            <a:schemeClr val="accent2"/>
          </a:solidFill>
          <a:ln/>
        </p:spPr>
      </p:sp>
      <p:pic>
        <p:nvPicPr>
          <p:cNvPr id="13" name="Image 2" descr="preencoded.png">    </p:cNvPr>
          <p:cNvPicPr>
            <a:picLocks noChangeAspect="1"/>
          </p:cNvPicPr>
          <p:nvPr/>
        </p:nvPicPr>
        <p:blipFill>
          <a:blip r:embed="rId3"/>
          <a:stretch>
            <a:fillRect/>
          </a:stretch>
        </p:blipFill>
        <p:spPr>
          <a:xfrm>
            <a:off x="8325307" y="3077870"/>
            <a:ext cx="336499" cy="336499"/>
          </a:xfrm>
          <a:prstGeom prst="rect">
            <a:avLst/>
          </a:prstGeom>
        </p:spPr>
      </p:pic>
      <p:sp>
        <p:nvSpPr>
          <p:cNvPr id="14" name="Text 9"/>
          <p:cNvSpPr txBox="1"/>
          <p:nvPr/>
        </p:nvSpPr>
        <p:spPr>
          <a:xfrm>
            <a:off x="8127797" y="3749040"/>
            <a:ext cx="3332378" cy="411480"/>
          </a:xfrm>
          <a:prstGeom prst="rect">
            <a:avLst/>
          </a:prstGeom>
          <a:noFill/>
          <a:ln/>
        </p:spPr>
        <p:txBody>
          <a:bodyPr wrap="square" lIns="0" tIns="0" rIns="0" bIns="0" rtlCol="0" anchor="t"/>
          <a:lstStyle/>
          <a:p>
            <a:pPr indent="0" marL="0">
              <a:buNone/>
            </a:pPr>
            <a:r>
              <a:rPr lang="en-US" sz="2000" b="1" dirty="0">
                <a:solidFill>
                  <a:schemeClr val="bg1"/>
                </a:solidFill>
              </a:rPr>
              <a:t>Virtual trials</a:t>
            </a:r>
            <a:endParaRPr lang="en-US" sz="2000" dirty="0"/>
          </a:p>
        </p:txBody>
      </p:sp>
      <p:sp>
        <p:nvSpPr>
          <p:cNvPr id="15" name="Text 10"/>
          <p:cNvSpPr txBox="1"/>
          <p:nvPr/>
        </p:nvSpPr>
        <p:spPr>
          <a:xfrm>
            <a:off x="8127797" y="4160520"/>
            <a:ext cx="3332378" cy="548640"/>
          </a:xfrm>
          <a:prstGeom prst="rect">
            <a:avLst/>
          </a:prstGeom>
          <a:noFill/>
          <a:ln/>
        </p:spPr>
        <p:txBody>
          <a:bodyPr wrap="square" lIns="0" tIns="0" rIns="0" bIns="0" rtlCol="0" anchor="t"/>
          <a:lstStyle/>
          <a:p>
            <a:pPr indent="0" marL="0">
              <a:buNone/>
            </a:pPr>
            <a:r>
              <a:rPr lang="en-US" sz="1500" dirty="0">
                <a:solidFill>
                  <a:schemeClr val="bg2"/>
                </a:solidFill>
              </a:rPr>
              <a:t>That inform the next real study</a:t>
            </a:r>
            <a:endParaRPr lang="en-US" sz="1500" dirty="0"/>
          </a:p>
        </p:txBody>
      </p:sp>
      <p:sp>
        <p:nvSpPr>
          <p:cNvPr id="16" name="Shape 11"/>
          <p:cNvSpPr/>
          <p:nvPr/>
        </p:nvSpPr>
        <p:spPr>
          <a:xfrm>
            <a:off x="868680" y="5349240"/>
            <a:ext cx="3657600" cy="0"/>
          </a:xfrm>
          <a:prstGeom prst="line">
            <a:avLst/>
          </a:prstGeom>
          <a:noFill/>
          <a:ln w="19050">
            <a:solidFill>
              <a:schemeClr val="accent6"/>
            </a:solidFill>
            <a:prstDash val="solid"/>
          </a:ln>
        </p:spPr>
      </p:sp>
      <p:sp>
        <p:nvSpPr>
          <p:cNvPr id="17" name="Shape 12"/>
          <p:cNvSpPr/>
          <p:nvPr/>
        </p:nvSpPr>
        <p:spPr>
          <a:xfrm>
            <a:off x="731520" y="5120640"/>
            <a:ext cx="457200" cy="457200"/>
          </a:xfrm>
          <a:prstGeom prst="ellipse">
            <a:avLst/>
          </a:prstGeom>
          <a:solidFill>
            <a:schemeClr val="accent1"/>
          </a:solidFill>
          <a:ln w="25400">
            <a:solidFill>
              <a:schemeClr val="tx2"/>
            </a:solidFill>
            <a:prstDash val="solid"/>
          </a:ln>
        </p:spPr>
      </p:sp>
      <p:sp>
        <p:nvSpPr>
          <p:cNvPr id="18" name="Text 13"/>
          <p:cNvSpPr txBox="1"/>
          <p:nvPr/>
        </p:nvSpPr>
        <p:spPr>
          <a:xfrm>
            <a:off x="731520" y="5120640"/>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T0</a:t>
            </a:r>
            <a:endParaRPr lang="en-US" sz="1200" dirty="0"/>
          </a:p>
        </p:txBody>
      </p:sp>
      <p:sp>
        <p:nvSpPr>
          <p:cNvPr id="19" name="Shape 14"/>
          <p:cNvSpPr/>
          <p:nvPr/>
        </p:nvSpPr>
        <p:spPr>
          <a:xfrm>
            <a:off x="1645920" y="5120640"/>
            <a:ext cx="457200" cy="457200"/>
          </a:xfrm>
          <a:prstGeom prst="ellipse">
            <a:avLst/>
          </a:prstGeom>
          <a:solidFill>
            <a:schemeClr val="accent4"/>
          </a:solidFill>
          <a:ln w="25400">
            <a:solidFill>
              <a:schemeClr val="tx2"/>
            </a:solidFill>
            <a:prstDash val="solid"/>
          </a:ln>
        </p:spPr>
      </p:sp>
      <p:sp>
        <p:nvSpPr>
          <p:cNvPr id="20" name="Text 15"/>
          <p:cNvSpPr txBox="1"/>
          <p:nvPr/>
        </p:nvSpPr>
        <p:spPr>
          <a:xfrm>
            <a:off x="1645920" y="5120640"/>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T1</a:t>
            </a:r>
            <a:endParaRPr lang="en-US" sz="1200" dirty="0"/>
          </a:p>
        </p:txBody>
      </p:sp>
      <p:sp>
        <p:nvSpPr>
          <p:cNvPr id="21" name="Shape 16"/>
          <p:cNvSpPr/>
          <p:nvPr/>
        </p:nvSpPr>
        <p:spPr>
          <a:xfrm>
            <a:off x="2560320" y="5120640"/>
            <a:ext cx="457200" cy="457200"/>
          </a:xfrm>
          <a:prstGeom prst="ellipse">
            <a:avLst/>
          </a:prstGeom>
          <a:solidFill>
            <a:schemeClr val="accent3"/>
          </a:solidFill>
          <a:ln w="25400">
            <a:solidFill>
              <a:schemeClr val="tx2"/>
            </a:solidFill>
            <a:prstDash val="solid"/>
          </a:ln>
        </p:spPr>
      </p:sp>
      <p:sp>
        <p:nvSpPr>
          <p:cNvPr id="22" name="Text 17"/>
          <p:cNvSpPr txBox="1"/>
          <p:nvPr/>
        </p:nvSpPr>
        <p:spPr>
          <a:xfrm>
            <a:off x="2560320" y="5120640"/>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T2</a:t>
            </a:r>
            <a:endParaRPr lang="en-US" sz="1200" dirty="0"/>
          </a:p>
        </p:txBody>
      </p:sp>
      <p:sp>
        <p:nvSpPr>
          <p:cNvPr id="23" name="Shape 18"/>
          <p:cNvSpPr/>
          <p:nvPr/>
        </p:nvSpPr>
        <p:spPr>
          <a:xfrm>
            <a:off x="3474720" y="5120640"/>
            <a:ext cx="457200" cy="457200"/>
          </a:xfrm>
          <a:prstGeom prst="ellipse">
            <a:avLst/>
          </a:prstGeom>
          <a:solidFill>
            <a:schemeClr val="accent2"/>
          </a:solidFill>
          <a:ln w="25400">
            <a:solidFill>
              <a:schemeClr val="tx2"/>
            </a:solidFill>
            <a:prstDash val="solid"/>
          </a:ln>
        </p:spPr>
      </p:sp>
      <p:sp>
        <p:nvSpPr>
          <p:cNvPr id="24" name="Text 19"/>
          <p:cNvSpPr txBox="1"/>
          <p:nvPr/>
        </p:nvSpPr>
        <p:spPr>
          <a:xfrm>
            <a:off x="3474720" y="5120640"/>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T3</a:t>
            </a:r>
            <a:endParaRPr lang="en-US" sz="1200" dirty="0"/>
          </a:p>
        </p:txBody>
      </p:sp>
      <p:sp>
        <p:nvSpPr>
          <p:cNvPr id="25" name="Shape 20"/>
          <p:cNvSpPr/>
          <p:nvPr/>
        </p:nvSpPr>
        <p:spPr>
          <a:xfrm>
            <a:off x="4389120" y="5120640"/>
            <a:ext cx="457200" cy="457200"/>
          </a:xfrm>
          <a:prstGeom prst="ellipse">
            <a:avLst/>
          </a:prstGeom>
          <a:solidFill>
            <a:schemeClr val="accent5"/>
          </a:solidFill>
          <a:ln w="25400">
            <a:solidFill>
              <a:schemeClr val="tx2"/>
            </a:solidFill>
            <a:prstDash val="solid"/>
          </a:ln>
        </p:spPr>
      </p:sp>
      <p:sp>
        <p:nvSpPr>
          <p:cNvPr id="26" name="Text 21"/>
          <p:cNvSpPr txBox="1"/>
          <p:nvPr/>
        </p:nvSpPr>
        <p:spPr>
          <a:xfrm>
            <a:off x="4389120" y="5120640"/>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T4</a:t>
            </a:r>
            <a:endParaRPr lang="en-US" sz="1200" dirty="0"/>
          </a:p>
        </p:txBody>
      </p:sp>
      <p:sp>
        <p:nvSpPr>
          <p:cNvPr id="27" name="Text 22"/>
          <p:cNvSpPr txBox="1"/>
          <p:nvPr/>
        </p:nvSpPr>
        <p:spPr>
          <a:xfrm>
            <a:off x="5486400" y="5120640"/>
            <a:ext cx="5943600" cy="457200"/>
          </a:xfrm>
          <a:prstGeom prst="rect">
            <a:avLst/>
          </a:prstGeom>
          <a:noFill/>
          <a:ln/>
        </p:spPr>
        <p:txBody>
          <a:bodyPr wrap="square" lIns="0" tIns="0" rIns="0" bIns="0" rtlCol="0" anchor="ctr"/>
          <a:lstStyle/>
          <a:p>
            <a:pPr indent="0" marL="0">
              <a:buNone/>
            </a:pPr>
            <a:r>
              <a:rPr lang="en-US" sz="1500" i="1" dirty="0">
                <a:solidFill>
                  <a:schemeClr val="bg2"/>
                </a:solidFill>
              </a:rPr>
              <a:t>From bench to population, starting with radiopharmaceutical therapy</a:t>
            </a:r>
            <a:endParaRPr lang="en-US" sz="1500" dirty="0"/>
          </a:p>
        </p:txBody>
      </p:sp>
      <p:sp>
        <p:nvSpPr>
          <p:cNvPr id="28" name="Text 23"/>
          <p:cNvSpPr txBox="1"/>
          <p:nvPr/>
        </p:nvSpPr>
        <p:spPr>
          <a:xfrm>
            <a:off x="731520" y="5943600"/>
            <a:ext cx="5486400" cy="457200"/>
          </a:xfrm>
          <a:prstGeom prst="rect">
            <a:avLst/>
          </a:prstGeom>
          <a:noFill/>
          <a:ln/>
        </p:spPr>
        <p:txBody>
          <a:bodyPr wrap="square" lIns="0" tIns="0" rIns="0" bIns="0" rtlCol="0" anchor="t"/>
          <a:lstStyle/>
          <a:p>
            <a:pPr indent="0" marL="0">
              <a:buNone/>
            </a:pPr>
            <a:r>
              <a:rPr lang="en-US" sz="2200" b="1" dirty="0">
                <a:solidFill>
                  <a:schemeClr val="accent1"/>
                </a:solidFill>
              </a:rPr>
              <a:t>Thank you</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400" b="1" dirty="0">
                <a:solidFill>
                  <a:schemeClr val="tx2"/>
                </a:solidFill>
              </a:rPr>
              <a:t>Backup: proposed collaboration network</a:t>
            </a:r>
            <a:endParaRPr lang="en-US" sz="34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Partners span T0 to T3, from animal imaging to multicentre clinical data</a:t>
            </a:r>
            <a:endParaRPr lang="en-US" sz="1600" dirty="0"/>
          </a:p>
        </p:txBody>
      </p:sp>
      <p:sp>
        <p:nvSpPr>
          <p:cNvPr id="4" name="Shape 2"/>
          <p:cNvSpPr/>
          <p:nvPr/>
        </p:nvSpPr>
        <p:spPr>
          <a:xfrm>
            <a:off x="548640" y="1645920"/>
            <a:ext cx="11094415" cy="841248"/>
          </a:xfrm>
          <a:prstGeom prst="roundRect">
            <a:avLst>
              <a:gd name="adj" fmla="val 8696"/>
            </a:avLst>
          </a:prstGeom>
          <a:solidFill>
            <a:schemeClr val="bg2"/>
          </a:solidFill>
          <a:ln/>
        </p:spPr>
      </p:sp>
      <p:sp>
        <p:nvSpPr>
          <p:cNvPr id="5" name="Shape 3"/>
          <p:cNvSpPr/>
          <p:nvPr/>
        </p:nvSpPr>
        <p:spPr>
          <a:xfrm>
            <a:off x="685800" y="1737360"/>
            <a:ext cx="1828800" cy="658368"/>
          </a:xfrm>
          <a:prstGeom prst="roundRect">
            <a:avLst>
              <a:gd name="adj" fmla="val 11111"/>
            </a:avLst>
          </a:prstGeom>
          <a:solidFill>
            <a:schemeClr val="bg1"/>
          </a:solidFill>
          <a:ln/>
        </p:spPr>
      </p:sp>
      <p:pic>
        <p:nvPicPr>
          <p:cNvPr id="6" name="Image 0" descr="/tmp/claude-0/-home-user-habdollahin/757748ce-ce00-518f-b6e2-dec1c5e36469/scratchpad/build/figs/logo_qurit.png">    </p:cNvPr>
          <p:cNvPicPr>
            <a:picLocks noChangeAspect="1"/>
          </p:cNvPicPr>
          <p:nvPr/>
        </p:nvPicPr>
        <p:blipFill>
          <a:blip r:embed="rId1"/>
          <a:stretch>
            <a:fillRect/>
          </a:stretch>
        </p:blipFill>
        <p:spPr>
          <a:xfrm>
            <a:off x="1093763" y="1792224"/>
            <a:ext cx="1012874" cy="548640"/>
          </a:xfrm>
          <a:prstGeom prst="rect">
            <a:avLst/>
          </a:prstGeom>
        </p:spPr>
      </p:pic>
      <p:sp>
        <p:nvSpPr>
          <p:cNvPr id="7" name="Text 4"/>
          <p:cNvSpPr txBox="1"/>
          <p:nvPr/>
        </p:nvSpPr>
        <p:spPr>
          <a:xfrm>
            <a:off x="2788920" y="1645920"/>
            <a:ext cx="4206240" cy="841248"/>
          </a:xfrm>
          <a:prstGeom prst="rect">
            <a:avLst/>
          </a:prstGeom>
          <a:noFill/>
          <a:ln/>
        </p:spPr>
        <p:txBody>
          <a:bodyPr wrap="square" lIns="0" tIns="0" rIns="0" bIns="0" rtlCol="0" anchor="ctr"/>
          <a:lstStyle/>
          <a:p>
            <a:pPr indent="0" marL="0">
              <a:buNone/>
            </a:pPr>
            <a:r>
              <a:rPr lang="en-US" sz="1600" b="1" dirty="0">
                <a:solidFill>
                  <a:schemeClr val="tx2"/>
                </a:solidFill>
              </a:rPr>
              <a:t>QURIT lab · BC Cancer / UBC, Vancouver</a:t>
            </a:r>
            <a:endParaRPr lang="en-US" sz="1600" dirty="0"/>
          </a:p>
        </p:txBody>
      </p:sp>
      <p:sp>
        <p:nvSpPr>
          <p:cNvPr id="8" name="Text 5"/>
          <p:cNvSpPr txBox="1"/>
          <p:nvPr/>
        </p:nvSpPr>
        <p:spPr>
          <a:xfrm>
            <a:off x="7132320" y="1645920"/>
            <a:ext cx="4327855" cy="841248"/>
          </a:xfrm>
          <a:prstGeom prst="rect">
            <a:avLst/>
          </a:prstGeom>
          <a:noFill/>
          <a:ln/>
        </p:spPr>
        <p:txBody>
          <a:bodyPr wrap="square" lIns="0" tIns="0" rIns="0" bIns="0" rtlCol="0" anchor="ctr"/>
          <a:lstStyle/>
          <a:p>
            <a:pPr indent="0" marL="0">
              <a:buNone/>
            </a:pPr>
            <a:r>
              <a:rPr lang="en-US" sz="1400" dirty="0">
                <a:solidFill>
                  <a:schemeClr val="tx1"/>
                </a:solidFill>
              </a:rPr>
              <a:t>Digital twins, pharmacokinetics and quantitative imaging</a:t>
            </a:r>
            <a:endParaRPr lang="en-US" sz="1400" dirty="0"/>
          </a:p>
        </p:txBody>
      </p:sp>
      <p:sp>
        <p:nvSpPr>
          <p:cNvPr id="9" name="Shape 6"/>
          <p:cNvSpPr/>
          <p:nvPr/>
        </p:nvSpPr>
        <p:spPr>
          <a:xfrm>
            <a:off x="548640" y="2633472"/>
            <a:ext cx="11094415" cy="841248"/>
          </a:xfrm>
          <a:prstGeom prst="roundRect">
            <a:avLst>
              <a:gd name="adj" fmla="val 8696"/>
            </a:avLst>
          </a:prstGeom>
          <a:solidFill>
            <a:schemeClr val="bg2"/>
          </a:solidFill>
          <a:ln/>
        </p:spPr>
      </p:sp>
      <p:sp>
        <p:nvSpPr>
          <p:cNvPr id="10" name="Shape 7"/>
          <p:cNvSpPr/>
          <p:nvPr/>
        </p:nvSpPr>
        <p:spPr>
          <a:xfrm>
            <a:off x="685800" y="2724912"/>
            <a:ext cx="1828800" cy="658368"/>
          </a:xfrm>
          <a:prstGeom prst="roundRect">
            <a:avLst>
              <a:gd name="adj" fmla="val 11111"/>
            </a:avLst>
          </a:prstGeom>
          <a:solidFill>
            <a:schemeClr val="bg1"/>
          </a:solidFill>
          <a:ln/>
        </p:spPr>
      </p:sp>
      <p:pic>
        <p:nvPicPr>
          <p:cNvPr id="11" name="Image 1" descr="/tmp/claude-0/-home-user-habdollahin/757748ce-ce00-518f-b6e2-dec1c5e36469/scratchpad/build/figs/logo_pin.png">    </p:cNvPr>
          <p:cNvPicPr>
            <a:picLocks noChangeAspect="1"/>
          </p:cNvPicPr>
          <p:nvPr/>
        </p:nvPicPr>
        <p:blipFill>
          <a:blip r:embed="rId2"/>
          <a:stretch>
            <a:fillRect/>
          </a:stretch>
        </p:blipFill>
        <p:spPr>
          <a:xfrm>
            <a:off x="777240" y="2883828"/>
            <a:ext cx="1645920" cy="340535"/>
          </a:xfrm>
          <a:prstGeom prst="rect">
            <a:avLst/>
          </a:prstGeom>
        </p:spPr>
      </p:pic>
      <p:sp>
        <p:nvSpPr>
          <p:cNvPr id="12" name="Text 8"/>
          <p:cNvSpPr txBox="1"/>
          <p:nvPr/>
        </p:nvSpPr>
        <p:spPr>
          <a:xfrm>
            <a:off x="2788920" y="2633472"/>
            <a:ext cx="4206240" cy="841248"/>
          </a:xfrm>
          <a:prstGeom prst="rect">
            <a:avLst/>
          </a:prstGeom>
          <a:noFill/>
          <a:ln/>
        </p:spPr>
        <p:txBody>
          <a:bodyPr wrap="square" lIns="0" tIns="0" rIns="0" bIns="0" rtlCol="0" anchor="ctr"/>
          <a:lstStyle/>
          <a:p>
            <a:pPr indent="0" marL="0">
              <a:buNone/>
            </a:pPr>
            <a:r>
              <a:rPr lang="en-US" sz="1600" b="1" dirty="0">
                <a:solidFill>
                  <a:schemeClr val="tx2"/>
                </a:solidFill>
              </a:rPr>
              <a:t>PIN lab · Geneva University Hospital</a:t>
            </a:r>
            <a:endParaRPr lang="en-US" sz="1600" dirty="0"/>
          </a:p>
        </p:txBody>
      </p:sp>
      <p:sp>
        <p:nvSpPr>
          <p:cNvPr id="13" name="Text 9"/>
          <p:cNvSpPr txBox="1"/>
          <p:nvPr/>
        </p:nvSpPr>
        <p:spPr>
          <a:xfrm>
            <a:off x="7132320" y="2633472"/>
            <a:ext cx="4327855" cy="841248"/>
          </a:xfrm>
          <a:prstGeom prst="rect">
            <a:avLst/>
          </a:prstGeom>
          <a:noFill/>
          <a:ln/>
        </p:spPr>
        <p:txBody>
          <a:bodyPr wrap="square" lIns="0" tIns="0" rIns="0" bIns="0" rtlCol="0" anchor="ctr"/>
          <a:lstStyle/>
          <a:p>
            <a:pPr indent="0" marL="0">
              <a:buNone/>
            </a:pPr>
            <a:r>
              <a:rPr lang="en-US" sz="1400" dirty="0">
                <a:solidFill>
                  <a:schemeClr val="tx1"/>
                </a:solidFill>
              </a:rPr>
              <a:t>Imaging methods and computational dosimetry</a:t>
            </a:r>
            <a:endParaRPr lang="en-US" sz="1400" dirty="0"/>
          </a:p>
        </p:txBody>
      </p:sp>
      <p:sp>
        <p:nvSpPr>
          <p:cNvPr id="14" name="Shape 10"/>
          <p:cNvSpPr/>
          <p:nvPr/>
        </p:nvSpPr>
        <p:spPr>
          <a:xfrm>
            <a:off x="548640" y="3621024"/>
            <a:ext cx="11094415" cy="841248"/>
          </a:xfrm>
          <a:prstGeom prst="roundRect">
            <a:avLst>
              <a:gd name="adj" fmla="val 8696"/>
            </a:avLst>
          </a:prstGeom>
          <a:solidFill>
            <a:schemeClr val="bg2"/>
          </a:solidFill>
          <a:ln/>
        </p:spPr>
      </p:sp>
      <p:sp>
        <p:nvSpPr>
          <p:cNvPr id="15" name="Shape 11"/>
          <p:cNvSpPr/>
          <p:nvPr/>
        </p:nvSpPr>
        <p:spPr>
          <a:xfrm>
            <a:off x="685800" y="3712464"/>
            <a:ext cx="1828800" cy="658368"/>
          </a:xfrm>
          <a:prstGeom prst="roundRect">
            <a:avLst>
              <a:gd name="adj" fmla="val 11111"/>
            </a:avLst>
          </a:prstGeom>
          <a:solidFill>
            <a:schemeClr val="bg1"/>
          </a:solidFill>
          <a:ln/>
        </p:spPr>
      </p:sp>
      <p:pic>
        <p:nvPicPr>
          <p:cNvPr id="16" name="Image 2" descr="/tmp/claude-0/-home-user-habdollahin/757748ce-ce00-518f-b6e2-dec1c5e36469/scratchpad/build/figs/logo_ut.png">    </p:cNvPr>
          <p:cNvPicPr>
            <a:picLocks noChangeAspect="1"/>
          </p:cNvPicPr>
          <p:nvPr/>
        </p:nvPicPr>
        <p:blipFill>
          <a:blip r:embed="rId3"/>
          <a:stretch>
            <a:fillRect/>
          </a:stretch>
        </p:blipFill>
        <p:spPr>
          <a:xfrm>
            <a:off x="777240" y="3800856"/>
            <a:ext cx="1645920" cy="481584"/>
          </a:xfrm>
          <a:prstGeom prst="rect">
            <a:avLst/>
          </a:prstGeom>
        </p:spPr>
      </p:pic>
      <p:sp>
        <p:nvSpPr>
          <p:cNvPr id="17" name="Text 12"/>
          <p:cNvSpPr txBox="1"/>
          <p:nvPr/>
        </p:nvSpPr>
        <p:spPr>
          <a:xfrm>
            <a:off x="2788920" y="3621024"/>
            <a:ext cx="4206240" cy="841248"/>
          </a:xfrm>
          <a:prstGeom prst="rect">
            <a:avLst/>
          </a:prstGeom>
          <a:noFill/>
          <a:ln/>
        </p:spPr>
        <p:txBody>
          <a:bodyPr wrap="square" lIns="0" tIns="0" rIns="0" bIns="0" rtlCol="0" anchor="ctr"/>
          <a:lstStyle/>
          <a:p>
            <a:pPr indent="0" marL="0">
              <a:buNone/>
            </a:pPr>
            <a:r>
              <a:rPr lang="en-US" sz="1600" b="1" dirty="0">
                <a:solidFill>
                  <a:schemeClr val="tx2"/>
                </a:solidFill>
              </a:rPr>
              <a:t>Johns Hopkins University · United Theranostics</a:t>
            </a:r>
            <a:endParaRPr lang="en-US" sz="1600" dirty="0"/>
          </a:p>
        </p:txBody>
      </p:sp>
      <p:sp>
        <p:nvSpPr>
          <p:cNvPr id="18" name="Text 13"/>
          <p:cNvSpPr txBox="1"/>
          <p:nvPr/>
        </p:nvSpPr>
        <p:spPr>
          <a:xfrm>
            <a:off x="7132320" y="3621024"/>
            <a:ext cx="4327855" cy="841248"/>
          </a:xfrm>
          <a:prstGeom prst="rect">
            <a:avLst/>
          </a:prstGeom>
          <a:noFill/>
          <a:ln/>
        </p:spPr>
        <p:txBody>
          <a:bodyPr wrap="square" lIns="0" tIns="0" rIns="0" bIns="0" rtlCol="0" anchor="ctr"/>
          <a:lstStyle/>
          <a:p>
            <a:pPr indent="0" marL="0">
              <a:buNone/>
            </a:pPr>
            <a:r>
              <a:rPr lang="en-US" sz="1400" dirty="0">
                <a:solidFill>
                  <a:schemeClr val="tx1"/>
                </a:solidFill>
              </a:rPr>
              <a:t>Radiobiology and clinical translation</a:t>
            </a:r>
            <a:endParaRPr lang="en-US" sz="1400" dirty="0"/>
          </a:p>
        </p:txBody>
      </p:sp>
      <p:sp>
        <p:nvSpPr>
          <p:cNvPr id="19" name="Shape 14"/>
          <p:cNvSpPr/>
          <p:nvPr/>
        </p:nvSpPr>
        <p:spPr>
          <a:xfrm>
            <a:off x="548640" y="4608576"/>
            <a:ext cx="11094415" cy="841248"/>
          </a:xfrm>
          <a:prstGeom prst="roundRect">
            <a:avLst>
              <a:gd name="adj" fmla="val 8696"/>
            </a:avLst>
          </a:prstGeom>
          <a:solidFill>
            <a:schemeClr val="bg2"/>
          </a:solidFill>
          <a:ln/>
        </p:spPr>
      </p:sp>
      <p:sp>
        <p:nvSpPr>
          <p:cNvPr id="20" name="Shape 15"/>
          <p:cNvSpPr/>
          <p:nvPr/>
        </p:nvSpPr>
        <p:spPr>
          <a:xfrm>
            <a:off x="685800" y="4700016"/>
            <a:ext cx="1828800" cy="658368"/>
          </a:xfrm>
          <a:prstGeom prst="roundRect">
            <a:avLst>
              <a:gd name="adj" fmla="val 11111"/>
            </a:avLst>
          </a:prstGeom>
          <a:solidFill>
            <a:schemeClr val="bg1"/>
          </a:solidFill>
          <a:ln/>
        </p:spPr>
      </p:sp>
      <p:sp>
        <p:nvSpPr>
          <p:cNvPr id="21" name="Shape 16"/>
          <p:cNvSpPr/>
          <p:nvPr/>
        </p:nvSpPr>
        <p:spPr>
          <a:xfrm>
            <a:off x="1325880" y="4754880"/>
            <a:ext cx="548640" cy="548640"/>
          </a:xfrm>
          <a:prstGeom prst="ellipse">
            <a:avLst/>
          </a:prstGeom>
          <a:solidFill>
            <a:schemeClr val="accent1"/>
          </a:solidFill>
          <a:ln/>
        </p:spPr>
      </p:sp>
      <p:pic>
        <p:nvPicPr>
          <p:cNvPr id="22" name="Image 3" descr="preencoded.png">    </p:cNvPr>
          <p:cNvPicPr>
            <a:picLocks noChangeAspect="1"/>
          </p:cNvPicPr>
          <p:nvPr/>
        </p:nvPicPr>
        <p:blipFill>
          <a:blip r:embed="rId4"/>
          <a:stretch>
            <a:fillRect/>
          </a:stretch>
        </p:blipFill>
        <p:spPr>
          <a:xfrm>
            <a:off x="1474013" y="4903013"/>
            <a:ext cx="252374" cy="252374"/>
          </a:xfrm>
          <a:prstGeom prst="rect">
            <a:avLst/>
          </a:prstGeom>
        </p:spPr>
      </p:pic>
      <p:sp>
        <p:nvSpPr>
          <p:cNvPr id="23" name="Text 17"/>
          <p:cNvSpPr txBox="1"/>
          <p:nvPr/>
        </p:nvSpPr>
        <p:spPr>
          <a:xfrm>
            <a:off x="2788920" y="4608576"/>
            <a:ext cx="4206240" cy="841248"/>
          </a:xfrm>
          <a:prstGeom prst="rect">
            <a:avLst/>
          </a:prstGeom>
          <a:noFill/>
          <a:ln/>
        </p:spPr>
        <p:txBody>
          <a:bodyPr wrap="square" lIns="0" tIns="0" rIns="0" bIns="0" rtlCol="0" anchor="ctr"/>
          <a:lstStyle/>
          <a:p>
            <a:pPr indent="0" marL="0">
              <a:buNone/>
            </a:pPr>
            <a:r>
              <a:rPr lang="en-US" sz="1600" b="1" dirty="0">
                <a:solidFill>
                  <a:schemeClr val="tx2"/>
                </a:solidFill>
              </a:rPr>
              <a:t>Tehran, Iran and Bushehr Universities of Medical Sciences</a:t>
            </a:r>
            <a:endParaRPr lang="en-US" sz="1600" dirty="0"/>
          </a:p>
        </p:txBody>
      </p:sp>
      <p:sp>
        <p:nvSpPr>
          <p:cNvPr id="24" name="Text 18"/>
          <p:cNvSpPr txBox="1"/>
          <p:nvPr/>
        </p:nvSpPr>
        <p:spPr>
          <a:xfrm>
            <a:off x="7132320" y="4608576"/>
            <a:ext cx="4327855" cy="841248"/>
          </a:xfrm>
          <a:prstGeom prst="rect">
            <a:avLst/>
          </a:prstGeom>
          <a:noFill/>
          <a:ln/>
        </p:spPr>
        <p:txBody>
          <a:bodyPr wrap="square" lIns="0" tIns="0" rIns="0" bIns="0" rtlCol="0" anchor="ctr"/>
          <a:lstStyle/>
          <a:p>
            <a:pPr indent="0" marL="0">
              <a:buNone/>
            </a:pPr>
            <a:r>
              <a:rPr lang="en-US" sz="1400" dirty="0">
                <a:solidFill>
                  <a:schemeClr val="tx1"/>
                </a:solidFill>
              </a:rPr>
              <a:t>Clinical cohorts, dosimetry and preclinical research</a:t>
            </a:r>
            <a:endParaRPr lang="en-US" sz="1400" dirty="0"/>
          </a:p>
        </p:txBody>
      </p:sp>
      <p:sp>
        <p:nvSpPr>
          <p:cNvPr id="25" name="Text 19"/>
          <p:cNvSpPr txBox="1"/>
          <p:nvPr/>
        </p:nvSpPr>
        <p:spPr>
          <a:xfrm>
            <a:off x="548640" y="5715000"/>
            <a:ext cx="11094415" cy="320040"/>
          </a:xfrm>
          <a:prstGeom prst="rect">
            <a:avLst/>
          </a:prstGeom>
          <a:noFill/>
          <a:ln/>
        </p:spPr>
        <p:txBody>
          <a:bodyPr wrap="square" lIns="0" tIns="0" rIns="0" bIns="0" rtlCol="0" anchor="t"/>
          <a:lstStyle/>
          <a:p>
            <a:pPr indent="0" marL="0">
              <a:buNone/>
            </a:pPr>
            <a:r>
              <a:rPr lang="en-US" sz="1400" i="1" dirty="0">
                <a:solidFill>
                  <a:schemeClr val="accent1"/>
                </a:solidFill>
              </a:rPr>
              <a:t>Project-specific roles and data access depend on agreed collaborations.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400" b="1" dirty="0">
                <a:solidFill>
                  <a:schemeClr val="tx2"/>
                </a:solidFill>
              </a:rPr>
              <a:t>Backup: practice and population extensions</a:t>
            </a:r>
            <a:endParaRPr lang="en-US" sz="34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Longer-term T3–T4 extensions; findings feed back to T0–T2 models</a:t>
            </a:r>
            <a:endParaRPr lang="en-US" sz="1600" dirty="0"/>
          </a:p>
        </p:txBody>
      </p:sp>
      <p:pic>
        <p:nvPicPr>
          <p:cNvPr id="4" name="Image 0" descr="Virtual practice (T3) and population (T4) trials">    </p:cNvPr>
          <p:cNvPicPr>
            <a:picLocks noChangeAspect="1"/>
          </p:cNvPicPr>
          <p:nvPr/>
        </p:nvPicPr>
        <p:blipFill>
          <a:blip r:embed="rId1"/>
          <a:stretch>
            <a:fillRect/>
          </a:stretch>
        </p:blipFill>
        <p:spPr>
          <a:xfrm>
            <a:off x="1478128" y="1536192"/>
            <a:ext cx="9235440" cy="4777141"/>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400" b="1" dirty="0">
                <a:solidFill>
                  <a:schemeClr val="tx2"/>
                </a:solidFill>
              </a:rPr>
              <a:t>Backup: broader therapy integration</a:t>
            </a:r>
            <a:endParaRPr lang="en-US" sz="34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The same imaging, dosimetry and radiobiology models, applied beyond RPT</a:t>
            </a:r>
            <a:endParaRPr lang="en-US" sz="1600" dirty="0"/>
          </a:p>
        </p:txBody>
      </p:sp>
      <p:sp>
        <p:nvSpPr>
          <p:cNvPr id="4" name="Shape 2"/>
          <p:cNvSpPr/>
          <p:nvPr/>
        </p:nvSpPr>
        <p:spPr>
          <a:xfrm>
            <a:off x="548640" y="1737360"/>
            <a:ext cx="3515258" cy="3383280"/>
          </a:xfrm>
          <a:prstGeom prst="roundRect">
            <a:avLst>
              <a:gd name="adj" fmla="val 2162"/>
            </a:avLst>
          </a:prstGeom>
          <a:solidFill>
            <a:schemeClr val="bg2"/>
          </a:solidFill>
          <a:ln/>
        </p:spPr>
      </p:sp>
      <p:sp>
        <p:nvSpPr>
          <p:cNvPr id="5" name="Shape 3"/>
          <p:cNvSpPr/>
          <p:nvPr/>
        </p:nvSpPr>
        <p:spPr>
          <a:xfrm>
            <a:off x="1803349" y="2103120"/>
            <a:ext cx="1005840" cy="100584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2074926" y="2374697"/>
            <a:ext cx="462686" cy="462686"/>
          </a:xfrm>
          <a:prstGeom prst="rect">
            <a:avLst/>
          </a:prstGeom>
        </p:spPr>
      </p:pic>
      <p:sp>
        <p:nvSpPr>
          <p:cNvPr id="7" name="Text 4"/>
          <p:cNvSpPr txBox="1"/>
          <p:nvPr/>
        </p:nvSpPr>
        <p:spPr>
          <a:xfrm>
            <a:off x="822960" y="3337560"/>
            <a:ext cx="2966618" cy="685800"/>
          </a:xfrm>
          <a:prstGeom prst="rect">
            <a:avLst/>
          </a:prstGeom>
          <a:noFill/>
          <a:ln/>
        </p:spPr>
        <p:txBody>
          <a:bodyPr wrap="square" lIns="0" tIns="0" rIns="0" bIns="0" rtlCol="0" anchor="ctr"/>
          <a:lstStyle/>
          <a:p>
            <a:pPr algn="ctr" indent="0" marL="0">
              <a:buNone/>
            </a:pPr>
            <a:r>
              <a:rPr lang="en-US" sz="1800" b="1" dirty="0">
                <a:solidFill>
                  <a:schemeClr val="tx2"/>
                </a:solidFill>
              </a:rPr>
              <a:t>RPT with external-beam radiotherapy</a:t>
            </a:r>
            <a:endParaRPr lang="en-US" sz="1800" dirty="0"/>
          </a:p>
        </p:txBody>
      </p:sp>
      <p:sp>
        <p:nvSpPr>
          <p:cNvPr id="8" name="Text 5"/>
          <p:cNvSpPr txBox="1"/>
          <p:nvPr/>
        </p:nvSpPr>
        <p:spPr>
          <a:xfrm>
            <a:off x="822960" y="4069080"/>
            <a:ext cx="2966618" cy="822960"/>
          </a:xfrm>
          <a:prstGeom prst="rect">
            <a:avLst/>
          </a:prstGeom>
          <a:noFill/>
          <a:ln/>
        </p:spPr>
        <p:txBody>
          <a:bodyPr wrap="square" lIns="0" tIns="0" rIns="0" bIns="0" rtlCol="0" anchor="t"/>
          <a:lstStyle/>
          <a:p>
            <a:pPr algn="ctr" indent="0" marL="0">
              <a:buNone/>
            </a:pPr>
            <a:r>
              <a:rPr lang="en-US" sz="1500" dirty="0">
                <a:solidFill>
                  <a:schemeClr val="tx1"/>
                </a:solidFill>
              </a:rPr>
              <a:t>Can local treatment complement heterogeneous systemic exposure?</a:t>
            </a:r>
            <a:endParaRPr lang="en-US" sz="1500" dirty="0"/>
          </a:p>
        </p:txBody>
      </p:sp>
      <p:sp>
        <p:nvSpPr>
          <p:cNvPr id="9" name="Shape 6"/>
          <p:cNvSpPr/>
          <p:nvPr/>
        </p:nvSpPr>
        <p:spPr>
          <a:xfrm>
            <a:off x="4338218" y="1737360"/>
            <a:ext cx="3515258" cy="3383280"/>
          </a:xfrm>
          <a:prstGeom prst="roundRect">
            <a:avLst>
              <a:gd name="adj" fmla="val 2162"/>
            </a:avLst>
          </a:prstGeom>
          <a:solidFill>
            <a:schemeClr val="bg2"/>
          </a:solidFill>
          <a:ln/>
        </p:spPr>
      </p:sp>
      <p:sp>
        <p:nvSpPr>
          <p:cNvPr id="10" name="Shape 7"/>
          <p:cNvSpPr/>
          <p:nvPr/>
        </p:nvSpPr>
        <p:spPr>
          <a:xfrm>
            <a:off x="5592928" y="2103120"/>
            <a:ext cx="1005840" cy="1005840"/>
          </a:xfrm>
          <a:prstGeom prst="ellipse">
            <a:avLst/>
          </a:prstGeom>
          <a:solidFill>
            <a:schemeClr val="accent3"/>
          </a:solidFill>
          <a:ln/>
        </p:spPr>
      </p:sp>
      <p:pic>
        <p:nvPicPr>
          <p:cNvPr id="11" name="Image 1" descr="preencoded.png">    </p:cNvPr>
          <p:cNvPicPr>
            <a:picLocks noChangeAspect="1"/>
          </p:cNvPicPr>
          <p:nvPr/>
        </p:nvPicPr>
        <p:blipFill>
          <a:blip r:embed="rId2"/>
          <a:stretch>
            <a:fillRect/>
          </a:stretch>
        </p:blipFill>
        <p:spPr>
          <a:xfrm>
            <a:off x="5864504" y="2374697"/>
            <a:ext cx="462686" cy="462686"/>
          </a:xfrm>
          <a:prstGeom prst="rect">
            <a:avLst/>
          </a:prstGeom>
        </p:spPr>
      </p:pic>
      <p:sp>
        <p:nvSpPr>
          <p:cNvPr id="12" name="Text 8"/>
          <p:cNvSpPr txBox="1"/>
          <p:nvPr/>
        </p:nvSpPr>
        <p:spPr>
          <a:xfrm>
            <a:off x="4612538" y="3337560"/>
            <a:ext cx="2966618" cy="685800"/>
          </a:xfrm>
          <a:prstGeom prst="rect">
            <a:avLst/>
          </a:prstGeom>
          <a:noFill/>
          <a:ln/>
        </p:spPr>
        <p:txBody>
          <a:bodyPr wrap="square" lIns="0" tIns="0" rIns="0" bIns="0" rtlCol="0" anchor="ctr"/>
          <a:lstStyle/>
          <a:p>
            <a:pPr algn="ctr" indent="0" marL="0">
              <a:buNone/>
            </a:pPr>
            <a:r>
              <a:rPr lang="en-US" sz="1800" b="1" dirty="0">
                <a:solidFill>
                  <a:schemeClr val="tx2"/>
                </a:solidFill>
              </a:rPr>
              <a:t>Proton therapy with PET</a:t>
            </a:r>
            <a:endParaRPr lang="en-US" sz="1800" dirty="0"/>
          </a:p>
        </p:txBody>
      </p:sp>
      <p:sp>
        <p:nvSpPr>
          <p:cNvPr id="13" name="Text 9"/>
          <p:cNvSpPr txBox="1"/>
          <p:nvPr/>
        </p:nvSpPr>
        <p:spPr>
          <a:xfrm>
            <a:off x="4612538" y="4069080"/>
            <a:ext cx="2966618" cy="822960"/>
          </a:xfrm>
          <a:prstGeom prst="rect">
            <a:avLst/>
          </a:prstGeom>
          <a:noFill/>
          <a:ln/>
        </p:spPr>
        <p:txBody>
          <a:bodyPr wrap="square" lIns="0" tIns="0" rIns="0" bIns="0" rtlCol="0" anchor="t"/>
          <a:lstStyle/>
          <a:p>
            <a:pPr algn="ctr" indent="0" marL="0">
              <a:buNone/>
            </a:pPr>
            <a:r>
              <a:rPr lang="en-US" sz="1500" dirty="0">
                <a:solidFill>
                  <a:schemeClr val="tx1"/>
                </a:solidFill>
              </a:rPr>
              <a:t>How can measured activity inform range assessment?</a:t>
            </a:r>
            <a:endParaRPr lang="en-US" sz="1500" dirty="0"/>
          </a:p>
        </p:txBody>
      </p:sp>
      <p:sp>
        <p:nvSpPr>
          <p:cNvPr id="14" name="Shape 10"/>
          <p:cNvSpPr/>
          <p:nvPr/>
        </p:nvSpPr>
        <p:spPr>
          <a:xfrm>
            <a:off x="8127797" y="1737360"/>
            <a:ext cx="3515258" cy="3383280"/>
          </a:xfrm>
          <a:prstGeom prst="roundRect">
            <a:avLst>
              <a:gd name="adj" fmla="val 2162"/>
            </a:avLst>
          </a:prstGeom>
          <a:solidFill>
            <a:schemeClr val="bg2"/>
          </a:solidFill>
          <a:ln/>
        </p:spPr>
      </p:sp>
      <p:sp>
        <p:nvSpPr>
          <p:cNvPr id="15" name="Shape 11"/>
          <p:cNvSpPr/>
          <p:nvPr/>
        </p:nvSpPr>
        <p:spPr>
          <a:xfrm>
            <a:off x="9382506" y="2103120"/>
            <a:ext cx="1005840" cy="1005840"/>
          </a:xfrm>
          <a:prstGeom prst="ellipse">
            <a:avLst/>
          </a:prstGeom>
          <a:solidFill>
            <a:schemeClr val="accent2"/>
          </a:solidFill>
          <a:ln/>
        </p:spPr>
      </p:sp>
      <p:pic>
        <p:nvPicPr>
          <p:cNvPr id="16" name="Image 2" descr="preencoded.png">    </p:cNvPr>
          <p:cNvPicPr>
            <a:picLocks noChangeAspect="1"/>
          </p:cNvPicPr>
          <p:nvPr/>
        </p:nvPicPr>
        <p:blipFill>
          <a:blip r:embed="rId3"/>
          <a:stretch>
            <a:fillRect/>
          </a:stretch>
        </p:blipFill>
        <p:spPr>
          <a:xfrm>
            <a:off x="9654083" y="2374697"/>
            <a:ext cx="462686" cy="462686"/>
          </a:xfrm>
          <a:prstGeom prst="rect">
            <a:avLst/>
          </a:prstGeom>
        </p:spPr>
      </p:pic>
      <p:sp>
        <p:nvSpPr>
          <p:cNvPr id="17" name="Text 12"/>
          <p:cNvSpPr txBox="1"/>
          <p:nvPr/>
        </p:nvSpPr>
        <p:spPr>
          <a:xfrm>
            <a:off x="8402117" y="3337560"/>
            <a:ext cx="2966618" cy="685800"/>
          </a:xfrm>
          <a:prstGeom prst="rect">
            <a:avLst/>
          </a:prstGeom>
          <a:noFill/>
          <a:ln/>
        </p:spPr>
        <p:txBody>
          <a:bodyPr wrap="square" lIns="0" tIns="0" rIns="0" bIns="0" rtlCol="0" anchor="ctr"/>
          <a:lstStyle/>
          <a:p>
            <a:pPr algn="ctr" indent="0" marL="0">
              <a:buNone/>
            </a:pPr>
            <a:r>
              <a:rPr lang="en-US" sz="1800" b="1" dirty="0">
                <a:solidFill>
                  <a:schemeClr val="tx2"/>
                </a:solidFill>
              </a:rPr>
              <a:t>Biology-guided radiotherapy</a:t>
            </a:r>
            <a:endParaRPr lang="en-US" sz="1800" dirty="0"/>
          </a:p>
        </p:txBody>
      </p:sp>
      <p:sp>
        <p:nvSpPr>
          <p:cNvPr id="18" name="Text 13"/>
          <p:cNvSpPr txBox="1"/>
          <p:nvPr/>
        </p:nvSpPr>
        <p:spPr>
          <a:xfrm>
            <a:off x="8402117" y="4069080"/>
            <a:ext cx="2966618" cy="822960"/>
          </a:xfrm>
          <a:prstGeom prst="rect">
            <a:avLst/>
          </a:prstGeom>
          <a:noFill/>
          <a:ln/>
        </p:spPr>
        <p:txBody>
          <a:bodyPr wrap="square" lIns="0" tIns="0" rIns="0" bIns="0" rtlCol="0" anchor="t"/>
          <a:lstStyle/>
          <a:p>
            <a:pPr algn="ctr" indent="0" marL="0">
              <a:buNone/>
            </a:pPr>
            <a:r>
              <a:rPr lang="en-US" sz="1500" dirty="0">
                <a:solidFill>
                  <a:schemeClr val="tx1"/>
                </a:solidFill>
              </a:rPr>
              <a:t>How can molecular signals support treatment models?</a:t>
            </a:r>
            <a:endParaRPr lang="en-US" sz="1500" dirty="0"/>
          </a:p>
        </p:txBody>
      </p:sp>
      <p:sp>
        <p:nvSpPr>
          <p:cNvPr id="19" name="Shape 14"/>
          <p:cNvSpPr/>
          <p:nvPr/>
        </p:nvSpPr>
        <p:spPr>
          <a:xfrm>
            <a:off x="548640" y="5486400"/>
            <a:ext cx="11094415" cy="502920"/>
          </a:xfrm>
          <a:prstGeom prst="roundRect">
            <a:avLst>
              <a:gd name="adj" fmla="val 14545"/>
            </a:avLst>
          </a:prstGeom>
          <a:solidFill>
            <a:schemeClr val="tx2"/>
          </a:solidFill>
          <a:ln/>
        </p:spPr>
      </p:sp>
      <p:sp>
        <p:nvSpPr>
          <p:cNvPr id="20" name="Text 15"/>
          <p:cNvSpPr txBox="1"/>
          <p:nvPr/>
        </p:nvSpPr>
        <p:spPr>
          <a:xfrm>
            <a:off x="822960" y="5486400"/>
            <a:ext cx="10545775" cy="502920"/>
          </a:xfrm>
          <a:prstGeom prst="rect">
            <a:avLst/>
          </a:prstGeom>
          <a:noFill/>
          <a:ln/>
        </p:spPr>
        <p:txBody>
          <a:bodyPr wrap="square" lIns="0" tIns="0" rIns="0" bIns="0" rtlCol="0" anchor="ctr"/>
          <a:lstStyle/>
          <a:p>
            <a:pPr indent="0" marL="0">
              <a:buNone/>
            </a:pPr>
            <a:r>
              <a:rPr lang="en-US" sz="1500" b="1" dirty="0">
                <a:solidFill>
                  <a:schemeClr val="bg1"/>
                </a:solidFill>
              </a:rPr>
              <a:t>Each application needs its own data, partnerships and validation</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400" b="1" dirty="0">
                <a:solidFill>
                  <a:schemeClr val="tx2"/>
                </a:solidFill>
              </a:rPr>
              <a:t>Backup: risks and practical alternatives</a:t>
            </a:r>
            <a:endParaRPr lang="en-US" sz="3400" dirty="0"/>
          </a:p>
        </p:txBody>
      </p:sp>
      <p:sp>
        <p:nvSpPr>
          <p:cNvPr id="3" name="Text 1"/>
          <p:cNvSpPr txBox="1"/>
          <p:nvPr/>
        </p:nvSpPr>
        <p:spPr>
          <a:xfrm>
            <a:off x="1325880" y="1325880"/>
            <a:ext cx="3657600" cy="274320"/>
          </a:xfrm>
          <a:prstGeom prst="rect">
            <a:avLst/>
          </a:prstGeom>
          <a:noFill/>
          <a:ln/>
        </p:spPr>
        <p:txBody>
          <a:bodyPr wrap="square" lIns="0" tIns="0" rIns="0" bIns="0" rtlCol="0" anchor="t"/>
          <a:lstStyle/>
          <a:p>
            <a:pPr indent="0" marL="0">
              <a:buNone/>
            </a:pPr>
            <a:r>
              <a:rPr lang="en-US" sz="1200" b="1" spc="100" kern="0" dirty="0">
                <a:solidFill>
                  <a:schemeClr val="accent2"/>
                </a:solidFill>
              </a:rPr>
              <a:t>RISK</a:t>
            </a:r>
            <a:endParaRPr lang="en-US" sz="1200" dirty="0"/>
          </a:p>
        </p:txBody>
      </p:sp>
      <p:sp>
        <p:nvSpPr>
          <p:cNvPr id="4" name="Text 2"/>
          <p:cNvSpPr txBox="1"/>
          <p:nvPr/>
        </p:nvSpPr>
        <p:spPr>
          <a:xfrm>
            <a:off x="6720840" y="1325880"/>
            <a:ext cx="36576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RESPONSE</a:t>
            </a:r>
            <a:endParaRPr lang="en-US" sz="1200" dirty="0"/>
          </a:p>
        </p:txBody>
      </p:sp>
      <p:sp>
        <p:nvSpPr>
          <p:cNvPr id="5" name="Shape 3"/>
          <p:cNvSpPr/>
          <p:nvPr/>
        </p:nvSpPr>
        <p:spPr>
          <a:xfrm>
            <a:off x="548640" y="1691640"/>
            <a:ext cx="5212080" cy="841248"/>
          </a:xfrm>
          <a:prstGeom prst="roundRect">
            <a:avLst>
              <a:gd name="adj" fmla="val 8696"/>
            </a:avLst>
          </a:prstGeom>
          <a:solidFill>
            <a:schemeClr val="accent2">
              <a:alpha val="12000"/>
            </a:schemeClr>
          </a:solidFill>
          <a:ln/>
        </p:spPr>
      </p:sp>
      <p:sp>
        <p:nvSpPr>
          <p:cNvPr id="6" name="Shape 4"/>
          <p:cNvSpPr/>
          <p:nvPr/>
        </p:nvSpPr>
        <p:spPr>
          <a:xfrm>
            <a:off x="731520" y="1856232"/>
            <a:ext cx="512064" cy="512064"/>
          </a:xfrm>
          <a:prstGeom prst="ellipse">
            <a:avLst/>
          </a:prstGeom>
          <a:solidFill>
            <a:schemeClr val="accent2"/>
          </a:solidFill>
          <a:ln/>
        </p:spPr>
      </p:sp>
      <p:pic>
        <p:nvPicPr>
          <p:cNvPr id="7" name="Image 0" descr="preencoded.png">    </p:cNvPr>
          <p:cNvPicPr>
            <a:picLocks noChangeAspect="1"/>
          </p:cNvPicPr>
          <p:nvPr/>
        </p:nvPicPr>
        <p:blipFill>
          <a:blip r:embed="rId1"/>
          <a:stretch>
            <a:fillRect/>
          </a:stretch>
        </p:blipFill>
        <p:spPr>
          <a:xfrm>
            <a:off x="869777" y="1994489"/>
            <a:ext cx="235549" cy="235549"/>
          </a:xfrm>
          <a:prstGeom prst="rect">
            <a:avLst/>
          </a:prstGeom>
        </p:spPr>
      </p:pic>
      <p:sp>
        <p:nvSpPr>
          <p:cNvPr id="8" name="Text 5"/>
          <p:cNvSpPr txBox="1"/>
          <p:nvPr/>
        </p:nvSpPr>
        <p:spPr>
          <a:xfrm>
            <a:off x="1417320" y="1691640"/>
            <a:ext cx="4206240" cy="841248"/>
          </a:xfrm>
          <a:prstGeom prst="rect">
            <a:avLst/>
          </a:prstGeom>
          <a:noFill/>
          <a:ln/>
        </p:spPr>
        <p:txBody>
          <a:bodyPr wrap="square" lIns="0" tIns="0" rIns="0" bIns="0" rtlCol="0" anchor="ctr"/>
          <a:lstStyle/>
          <a:p>
            <a:pPr indent="0" marL="0">
              <a:buNone/>
            </a:pPr>
            <a:r>
              <a:rPr lang="en-US" sz="1600" b="1" dirty="0">
                <a:solidFill>
                  <a:schemeClr val="tx2"/>
                </a:solidFill>
              </a:rPr>
              <a:t>Sparse serial measurements</a:t>
            </a:r>
            <a:endParaRPr lang="en-US" sz="1600" dirty="0"/>
          </a:p>
        </p:txBody>
      </p:sp>
      <p:sp>
        <p:nvSpPr>
          <p:cNvPr id="9" name="Shape 6"/>
          <p:cNvSpPr/>
          <p:nvPr/>
        </p:nvSpPr>
        <p:spPr>
          <a:xfrm>
            <a:off x="5852160" y="2112264"/>
            <a:ext cx="228600" cy="0"/>
          </a:xfrm>
          <a:prstGeom prst="line">
            <a:avLst/>
          </a:prstGeom>
          <a:noFill/>
          <a:ln w="25400">
            <a:solidFill>
              <a:schemeClr val="accent6"/>
            </a:solidFill>
            <a:prstDash val="solid"/>
            <a:tailEnd type="triangle"/>
          </a:ln>
        </p:spPr>
      </p:sp>
      <p:sp>
        <p:nvSpPr>
          <p:cNvPr id="10" name="Shape 7"/>
          <p:cNvSpPr/>
          <p:nvPr/>
        </p:nvSpPr>
        <p:spPr>
          <a:xfrm>
            <a:off x="6172200" y="1691640"/>
            <a:ext cx="5470855" cy="841248"/>
          </a:xfrm>
          <a:prstGeom prst="roundRect">
            <a:avLst>
              <a:gd name="adj" fmla="val 8696"/>
            </a:avLst>
          </a:prstGeom>
          <a:solidFill>
            <a:schemeClr val="accent1">
              <a:alpha val="12000"/>
            </a:schemeClr>
          </a:solidFill>
          <a:ln/>
        </p:spPr>
      </p:sp>
      <p:sp>
        <p:nvSpPr>
          <p:cNvPr id="11" name="Shape 8"/>
          <p:cNvSpPr/>
          <p:nvPr/>
        </p:nvSpPr>
        <p:spPr>
          <a:xfrm>
            <a:off x="6355080" y="1856232"/>
            <a:ext cx="512064" cy="512064"/>
          </a:xfrm>
          <a:prstGeom prst="ellipse">
            <a:avLst/>
          </a:prstGeom>
          <a:solidFill>
            <a:schemeClr val="accent1"/>
          </a:solidFill>
          <a:ln/>
        </p:spPr>
      </p:sp>
      <p:pic>
        <p:nvPicPr>
          <p:cNvPr id="12" name="Image 1" descr="preencoded.png">    </p:cNvPr>
          <p:cNvPicPr>
            <a:picLocks noChangeAspect="1"/>
          </p:cNvPicPr>
          <p:nvPr/>
        </p:nvPicPr>
        <p:blipFill>
          <a:blip r:embed="rId2"/>
          <a:stretch>
            <a:fillRect/>
          </a:stretch>
        </p:blipFill>
        <p:spPr>
          <a:xfrm>
            <a:off x="6493337" y="1994489"/>
            <a:ext cx="235549" cy="235549"/>
          </a:xfrm>
          <a:prstGeom prst="rect">
            <a:avLst/>
          </a:prstGeom>
        </p:spPr>
      </p:pic>
      <p:sp>
        <p:nvSpPr>
          <p:cNvPr id="13" name="Text 9"/>
          <p:cNvSpPr txBox="1"/>
          <p:nvPr/>
        </p:nvSpPr>
        <p:spPr>
          <a:xfrm>
            <a:off x="7040880" y="1691640"/>
            <a:ext cx="4465015" cy="841248"/>
          </a:xfrm>
          <a:prstGeom prst="rect">
            <a:avLst/>
          </a:prstGeom>
          <a:noFill/>
          <a:ln/>
        </p:spPr>
        <p:txBody>
          <a:bodyPr wrap="square" lIns="0" tIns="0" rIns="0" bIns="0" rtlCol="0" anchor="ctr"/>
          <a:lstStyle/>
          <a:p>
            <a:pPr indent="0" marL="0">
              <a:buNone/>
            </a:pPr>
            <a:r>
              <a:rPr lang="en-US" sz="1500" dirty="0">
                <a:solidFill>
                  <a:schemeClr val="tx1"/>
                </a:solidFill>
              </a:rPr>
              <a:t>Simplify the model and optimize sampling</a:t>
            </a:r>
            <a:endParaRPr lang="en-US" sz="1500" dirty="0"/>
          </a:p>
        </p:txBody>
      </p:sp>
      <p:sp>
        <p:nvSpPr>
          <p:cNvPr id="14" name="Shape 10"/>
          <p:cNvSpPr/>
          <p:nvPr/>
        </p:nvSpPr>
        <p:spPr>
          <a:xfrm>
            <a:off x="548640" y="2715768"/>
            <a:ext cx="5212080" cy="841248"/>
          </a:xfrm>
          <a:prstGeom prst="roundRect">
            <a:avLst>
              <a:gd name="adj" fmla="val 8696"/>
            </a:avLst>
          </a:prstGeom>
          <a:solidFill>
            <a:schemeClr val="accent2">
              <a:alpha val="12000"/>
            </a:schemeClr>
          </a:solidFill>
          <a:ln/>
        </p:spPr>
      </p:sp>
      <p:sp>
        <p:nvSpPr>
          <p:cNvPr id="15" name="Shape 11"/>
          <p:cNvSpPr/>
          <p:nvPr/>
        </p:nvSpPr>
        <p:spPr>
          <a:xfrm>
            <a:off x="731520" y="2880360"/>
            <a:ext cx="512064" cy="512064"/>
          </a:xfrm>
          <a:prstGeom prst="ellipse">
            <a:avLst/>
          </a:prstGeom>
          <a:solidFill>
            <a:schemeClr val="accent2"/>
          </a:solidFill>
          <a:ln/>
        </p:spPr>
      </p:sp>
      <p:pic>
        <p:nvPicPr>
          <p:cNvPr id="16" name="Image 2" descr="preencoded.png">    </p:cNvPr>
          <p:cNvPicPr>
            <a:picLocks noChangeAspect="1"/>
          </p:cNvPicPr>
          <p:nvPr/>
        </p:nvPicPr>
        <p:blipFill>
          <a:blip r:embed="rId3"/>
          <a:stretch>
            <a:fillRect/>
          </a:stretch>
        </p:blipFill>
        <p:spPr>
          <a:xfrm>
            <a:off x="869777" y="3018617"/>
            <a:ext cx="235549" cy="235549"/>
          </a:xfrm>
          <a:prstGeom prst="rect">
            <a:avLst/>
          </a:prstGeom>
        </p:spPr>
      </p:pic>
      <p:sp>
        <p:nvSpPr>
          <p:cNvPr id="17" name="Text 12"/>
          <p:cNvSpPr txBox="1"/>
          <p:nvPr/>
        </p:nvSpPr>
        <p:spPr>
          <a:xfrm>
            <a:off x="1417320" y="2715768"/>
            <a:ext cx="4206240" cy="841248"/>
          </a:xfrm>
          <a:prstGeom prst="rect">
            <a:avLst/>
          </a:prstGeom>
          <a:noFill/>
          <a:ln/>
        </p:spPr>
        <p:txBody>
          <a:bodyPr wrap="square" lIns="0" tIns="0" rIns="0" bIns="0" rtlCol="0" anchor="ctr"/>
          <a:lstStyle/>
          <a:p>
            <a:pPr indent="0" marL="0">
              <a:buNone/>
            </a:pPr>
            <a:r>
              <a:rPr lang="en-US" sz="1600" b="1" dirty="0">
                <a:solidFill>
                  <a:schemeClr val="tx2"/>
                </a:solidFill>
              </a:rPr>
              <a:t>Poor transfer between sites</a:t>
            </a:r>
            <a:endParaRPr lang="en-US" sz="1600" dirty="0"/>
          </a:p>
        </p:txBody>
      </p:sp>
      <p:sp>
        <p:nvSpPr>
          <p:cNvPr id="18" name="Shape 13"/>
          <p:cNvSpPr/>
          <p:nvPr/>
        </p:nvSpPr>
        <p:spPr>
          <a:xfrm>
            <a:off x="5852160" y="3136392"/>
            <a:ext cx="228600" cy="0"/>
          </a:xfrm>
          <a:prstGeom prst="line">
            <a:avLst/>
          </a:prstGeom>
          <a:noFill/>
          <a:ln w="25400">
            <a:solidFill>
              <a:schemeClr val="accent6"/>
            </a:solidFill>
            <a:prstDash val="solid"/>
            <a:tailEnd type="triangle"/>
          </a:ln>
        </p:spPr>
      </p:sp>
      <p:sp>
        <p:nvSpPr>
          <p:cNvPr id="19" name="Shape 14"/>
          <p:cNvSpPr/>
          <p:nvPr/>
        </p:nvSpPr>
        <p:spPr>
          <a:xfrm>
            <a:off x="6172200" y="2715768"/>
            <a:ext cx="5470855" cy="841248"/>
          </a:xfrm>
          <a:prstGeom prst="roundRect">
            <a:avLst>
              <a:gd name="adj" fmla="val 8696"/>
            </a:avLst>
          </a:prstGeom>
          <a:solidFill>
            <a:schemeClr val="accent1">
              <a:alpha val="12000"/>
            </a:schemeClr>
          </a:solidFill>
          <a:ln/>
        </p:spPr>
      </p:sp>
      <p:sp>
        <p:nvSpPr>
          <p:cNvPr id="20" name="Shape 15"/>
          <p:cNvSpPr/>
          <p:nvPr/>
        </p:nvSpPr>
        <p:spPr>
          <a:xfrm>
            <a:off x="6355080" y="2880360"/>
            <a:ext cx="512064" cy="512064"/>
          </a:xfrm>
          <a:prstGeom prst="ellipse">
            <a:avLst/>
          </a:prstGeom>
          <a:solidFill>
            <a:schemeClr val="accent1"/>
          </a:solidFill>
          <a:ln/>
        </p:spPr>
      </p:sp>
      <p:pic>
        <p:nvPicPr>
          <p:cNvPr id="21" name="Image 3" descr="preencoded.png">    </p:cNvPr>
          <p:cNvPicPr>
            <a:picLocks noChangeAspect="1"/>
          </p:cNvPicPr>
          <p:nvPr/>
        </p:nvPicPr>
        <p:blipFill>
          <a:blip r:embed="rId4"/>
          <a:stretch>
            <a:fillRect/>
          </a:stretch>
        </p:blipFill>
        <p:spPr>
          <a:xfrm>
            <a:off x="6493337" y="3018617"/>
            <a:ext cx="235549" cy="235549"/>
          </a:xfrm>
          <a:prstGeom prst="rect">
            <a:avLst/>
          </a:prstGeom>
        </p:spPr>
      </p:pic>
      <p:sp>
        <p:nvSpPr>
          <p:cNvPr id="22" name="Text 16"/>
          <p:cNvSpPr txBox="1"/>
          <p:nvPr/>
        </p:nvSpPr>
        <p:spPr>
          <a:xfrm>
            <a:off x="7040880" y="2715768"/>
            <a:ext cx="4465015" cy="841248"/>
          </a:xfrm>
          <a:prstGeom prst="rect">
            <a:avLst/>
          </a:prstGeom>
          <a:noFill/>
          <a:ln/>
        </p:spPr>
        <p:txBody>
          <a:bodyPr wrap="square" lIns="0" tIns="0" rIns="0" bIns="0" rtlCol="0" anchor="ctr"/>
          <a:lstStyle/>
          <a:p>
            <a:pPr indent="0" marL="0">
              <a:buNone/>
            </a:pPr>
            <a:r>
              <a:rPr lang="en-US" sz="1500" dirty="0">
                <a:solidFill>
                  <a:schemeClr val="tx1"/>
                </a:solidFill>
              </a:rPr>
              <a:t>Study protocol effects and retain robust baselines</a:t>
            </a:r>
            <a:endParaRPr lang="en-US" sz="1500" dirty="0"/>
          </a:p>
        </p:txBody>
      </p:sp>
      <p:sp>
        <p:nvSpPr>
          <p:cNvPr id="23" name="Shape 17"/>
          <p:cNvSpPr/>
          <p:nvPr/>
        </p:nvSpPr>
        <p:spPr>
          <a:xfrm>
            <a:off x="548640" y="3739896"/>
            <a:ext cx="5212080" cy="841248"/>
          </a:xfrm>
          <a:prstGeom prst="roundRect">
            <a:avLst>
              <a:gd name="adj" fmla="val 8696"/>
            </a:avLst>
          </a:prstGeom>
          <a:solidFill>
            <a:schemeClr val="accent2">
              <a:alpha val="12000"/>
            </a:schemeClr>
          </a:solidFill>
          <a:ln/>
        </p:spPr>
      </p:sp>
      <p:sp>
        <p:nvSpPr>
          <p:cNvPr id="24" name="Shape 18"/>
          <p:cNvSpPr/>
          <p:nvPr/>
        </p:nvSpPr>
        <p:spPr>
          <a:xfrm>
            <a:off x="731520" y="3904488"/>
            <a:ext cx="512064" cy="512064"/>
          </a:xfrm>
          <a:prstGeom prst="ellipse">
            <a:avLst/>
          </a:prstGeom>
          <a:solidFill>
            <a:schemeClr val="accent2"/>
          </a:solidFill>
          <a:ln/>
        </p:spPr>
      </p:sp>
      <p:pic>
        <p:nvPicPr>
          <p:cNvPr id="25" name="Image 4" descr="preencoded.png">    </p:cNvPr>
          <p:cNvPicPr>
            <a:picLocks noChangeAspect="1"/>
          </p:cNvPicPr>
          <p:nvPr/>
        </p:nvPicPr>
        <p:blipFill>
          <a:blip r:embed="rId5"/>
          <a:stretch>
            <a:fillRect/>
          </a:stretch>
        </p:blipFill>
        <p:spPr>
          <a:xfrm>
            <a:off x="869777" y="4042745"/>
            <a:ext cx="235549" cy="235549"/>
          </a:xfrm>
          <a:prstGeom prst="rect">
            <a:avLst/>
          </a:prstGeom>
        </p:spPr>
      </p:pic>
      <p:sp>
        <p:nvSpPr>
          <p:cNvPr id="26" name="Text 19"/>
          <p:cNvSpPr txBox="1"/>
          <p:nvPr/>
        </p:nvSpPr>
        <p:spPr>
          <a:xfrm>
            <a:off x="1417320" y="3739896"/>
            <a:ext cx="4206240" cy="841248"/>
          </a:xfrm>
          <a:prstGeom prst="rect">
            <a:avLst/>
          </a:prstGeom>
          <a:noFill/>
          <a:ln/>
        </p:spPr>
        <p:txBody>
          <a:bodyPr wrap="square" lIns="0" tIns="0" rIns="0" bIns="0" rtlCol="0" anchor="ctr"/>
          <a:lstStyle/>
          <a:p>
            <a:pPr indent="0" marL="0">
              <a:buNone/>
            </a:pPr>
            <a:r>
              <a:rPr lang="en-US" sz="1600" b="1" dirty="0">
                <a:solidFill>
                  <a:schemeClr val="tx2"/>
                </a:solidFill>
              </a:rPr>
              <a:t>Uncertain dose–response relation</a:t>
            </a:r>
            <a:endParaRPr lang="en-US" sz="1600" dirty="0"/>
          </a:p>
        </p:txBody>
      </p:sp>
      <p:sp>
        <p:nvSpPr>
          <p:cNvPr id="27" name="Shape 20"/>
          <p:cNvSpPr/>
          <p:nvPr/>
        </p:nvSpPr>
        <p:spPr>
          <a:xfrm>
            <a:off x="5852160" y="4160520"/>
            <a:ext cx="228600" cy="0"/>
          </a:xfrm>
          <a:prstGeom prst="line">
            <a:avLst/>
          </a:prstGeom>
          <a:noFill/>
          <a:ln w="25400">
            <a:solidFill>
              <a:schemeClr val="accent6"/>
            </a:solidFill>
            <a:prstDash val="solid"/>
            <a:tailEnd type="triangle"/>
          </a:ln>
        </p:spPr>
      </p:sp>
      <p:sp>
        <p:nvSpPr>
          <p:cNvPr id="28" name="Shape 21"/>
          <p:cNvSpPr/>
          <p:nvPr/>
        </p:nvSpPr>
        <p:spPr>
          <a:xfrm>
            <a:off x="6172200" y="3739896"/>
            <a:ext cx="5470855" cy="841248"/>
          </a:xfrm>
          <a:prstGeom prst="roundRect">
            <a:avLst>
              <a:gd name="adj" fmla="val 8696"/>
            </a:avLst>
          </a:prstGeom>
          <a:solidFill>
            <a:schemeClr val="accent1">
              <a:alpha val="12000"/>
            </a:schemeClr>
          </a:solidFill>
          <a:ln/>
        </p:spPr>
      </p:sp>
      <p:sp>
        <p:nvSpPr>
          <p:cNvPr id="29" name="Shape 22"/>
          <p:cNvSpPr/>
          <p:nvPr/>
        </p:nvSpPr>
        <p:spPr>
          <a:xfrm>
            <a:off x="6355080" y="3904488"/>
            <a:ext cx="512064" cy="512064"/>
          </a:xfrm>
          <a:prstGeom prst="ellipse">
            <a:avLst/>
          </a:prstGeom>
          <a:solidFill>
            <a:schemeClr val="accent1"/>
          </a:solidFill>
          <a:ln/>
        </p:spPr>
      </p:sp>
      <p:pic>
        <p:nvPicPr>
          <p:cNvPr id="30" name="Image 5" descr="preencoded.png">    </p:cNvPr>
          <p:cNvPicPr>
            <a:picLocks noChangeAspect="1"/>
          </p:cNvPicPr>
          <p:nvPr/>
        </p:nvPicPr>
        <p:blipFill>
          <a:blip r:embed="rId6"/>
          <a:stretch>
            <a:fillRect/>
          </a:stretch>
        </p:blipFill>
        <p:spPr>
          <a:xfrm>
            <a:off x="6493337" y="4042745"/>
            <a:ext cx="235549" cy="235549"/>
          </a:xfrm>
          <a:prstGeom prst="rect">
            <a:avLst/>
          </a:prstGeom>
        </p:spPr>
      </p:pic>
      <p:sp>
        <p:nvSpPr>
          <p:cNvPr id="31" name="Text 23"/>
          <p:cNvSpPr txBox="1"/>
          <p:nvPr/>
        </p:nvSpPr>
        <p:spPr>
          <a:xfrm>
            <a:off x="7040880" y="3739896"/>
            <a:ext cx="4465015" cy="841248"/>
          </a:xfrm>
          <a:prstGeom prst="rect">
            <a:avLst/>
          </a:prstGeom>
          <a:noFill/>
          <a:ln/>
        </p:spPr>
        <p:txBody>
          <a:bodyPr wrap="square" lIns="0" tIns="0" rIns="0" bIns="0" rtlCol="0" anchor="ctr"/>
          <a:lstStyle/>
          <a:p>
            <a:pPr indent="0" marL="0">
              <a:buNone/>
            </a:pPr>
            <a:r>
              <a:rPr lang="en-US" sz="1500" dirty="0">
                <a:solidFill>
                  <a:schemeClr val="tx1"/>
                </a:solidFill>
              </a:rPr>
              <a:t>Validate dosimetry before claiming response prediction</a:t>
            </a:r>
            <a:endParaRPr lang="en-US" sz="1500" dirty="0"/>
          </a:p>
        </p:txBody>
      </p:sp>
      <p:sp>
        <p:nvSpPr>
          <p:cNvPr id="32" name="Shape 24"/>
          <p:cNvSpPr/>
          <p:nvPr/>
        </p:nvSpPr>
        <p:spPr>
          <a:xfrm>
            <a:off x="548640" y="4764024"/>
            <a:ext cx="5212080" cy="841248"/>
          </a:xfrm>
          <a:prstGeom prst="roundRect">
            <a:avLst>
              <a:gd name="adj" fmla="val 8696"/>
            </a:avLst>
          </a:prstGeom>
          <a:solidFill>
            <a:schemeClr val="accent2">
              <a:alpha val="12000"/>
            </a:schemeClr>
          </a:solidFill>
          <a:ln/>
        </p:spPr>
      </p:sp>
      <p:sp>
        <p:nvSpPr>
          <p:cNvPr id="33" name="Shape 25"/>
          <p:cNvSpPr/>
          <p:nvPr/>
        </p:nvSpPr>
        <p:spPr>
          <a:xfrm>
            <a:off x="731520" y="4928616"/>
            <a:ext cx="512064" cy="512064"/>
          </a:xfrm>
          <a:prstGeom prst="ellipse">
            <a:avLst/>
          </a:prstGeom>
          <a:solidFill>
            <a:schemeClr val="accent2"/>
          </a:solidFill>
          <a:ln/>
        </p:spPr>
      </p:sp>
      <p:pic>
        <p:nvPicPr>
          <p:cNvPr id="34" name="Image 6" descr="preencoded.png">    </p:cNvPr>
          <p:cNvPicPr>
            <a:picLocks noChangeAspect="1"/>
          </p:cNvPicPr>
          <p:nvPr/>
        </p:nvPicPr>
        <p:blipFill>
          <a:blip r:embed="rId7"/>
          <a:stretch>
            <a:fillRect/>
          </a:stretch>
        </p:blipFill>
        <p:spPr>
          <a:xfrm>
            <a:off x="869777" y="5066873"/>
            <a:ext cx="235549" cy="235549"/>
          </a:xfrm>
          <a:prstGeom prst="rect">
            <a:avLst/>
          </a:prstGeom>
        </p:spPr>
      </p:pic>
      <p:sp>
        <p:nvSpPr>
          <p:cNvPr id="35" name="Text 26"/>
          <p:cNvSpPr txBox="1"/>
          <p:nvPr/>
        </p:nvSpPr>
        <p:spPr>
          <a:xfrm>
            <a:off x="1417320" y="4764024"/>
            <a:ext cx="4206240" cy="841248"/>
          </a:xfrm>
          <a:prstGeom prst="rect">
            <a:avLst/>
          </a:prstGeom>
          <a:noFill/>
          <a:ln/>
        </p:spPr>
        <p:txBody>
          <a:bodyPr wrap="square" lIns="0" tIns="0" rIns="0" bIns="0" rtlCol="0" anchor="ctr"/>
          <a:lstStyle/>
          <a:p>
            <a:pPr indent="0" marL="0">
              <a:buNone/>
            </a:pPr>
            <a:r>
              <a:rPr lang="en-US" sz="1600" b="1" dirty="0">
                <a:solidFill>
                  <a:schemeClr val="tx2"/>
                </a:solidFill>
              </a:rPr>
              <a:t>Limited access to new technologies</a:t>
            </a:r>
            <a:endParaRPr lang="en-US" sz="1600" dirty="0"/>
          </a:p>
        </p:txBody>
      </p:sp>
      <p:sp>
        <p:nvSpPr>
          <p:cNvPr id="36" name="Shape 27"/>
          <p:cNvSpPr/>
          <p:nvPr/>
        </p:nvSpPr>
        <p:spPr>
          <a:xfrm>
            <a:off x="5852160" y="5184648"/>
            <a:ext cx="228600" cy="0"/>
          </a:xfrm>
          <a:prstGeom prst="line">
            <a:avLst/>
          </a:prstGeom>
          <a:noFill/>
          <a:ln w="25400">
            <a:solidFill>
              <a:schemeClr val="accent6"/>
            </a:solidFill>
            <a:prstDash val="solid"/>
            <a:tailEnd type="triangle"/>
          </a:ln>
        </p:spPr>
      </p:sp>
      <p:sp>
        <p:nvSpPr>
          <p:cNvPr id="37" name="Shape 28"/>
          <p:cNvSpPr/>
          <p:nvPr/>
        </p:nvSpPr>
        <p:spPr>
          <a:xfrm>
            <a:off x="6172200" y="4764024"/>
            <a:ext cx="5470855" cy="841248"/>
          </a:xfrm>
          <a:prstGeom prst="roundRect">
            <a:avLst>
              <a:gd name="adj" fmla="val 8696"/>
            </a:avLst>
          </a:prstGeom>
          <a:solidFill>
            <a:schemeClr val="accent1">
              <a:alpha val="12000"/>
            </a:schemeClr>
          </a:solidFill>
          <a:ln/>
        </p:spPr>
      </p:sp>
      <p:sp>
        <p:nvSpPr>
          <p:cNvPr id="38" name="Shape 29"/>
          <p:cNvSpPr/>
          <p:nvPr/>
        </p:nvSpPr>
        <p:spPr>
          <a:xfrm>
            <a:off x="6355080" y="4928616"/>
            <a:ext cx="512064" cy="512064"/>
          </a:xfrm>
          <a:prstGeom prst="ellipse">
            <a:avLst/>
          </a:prstGeom>
          <a:solidFill>
            <a:schemeClr val="accent1"/>
          </a:solidFill>
          <a:ln/>
        </p:spPr>
      </p:sp>
      <p:pic>
        <p:nvPicPr>
          <p:cNvPr id="39" name="Image 7" descr="preencoded.png">    </p:cNvPr>
          <p:cNvPicPr>
            <a:picLocks noChangeAspect="1"/>
          </p:cNvPicPr>
          <p:nvPr/>
        </p:nvPicPr>
        <p:blipFill>
          <a:blip r:embed="rId8"/>
          <a:stretch>
            <a:fillRect/>
          </a:stretch>
        </p:blipFill>
        <p:spPr>
          <a:xfrm>
            <a:off x="6493337" y="5066873"/>
            <a:ext cx="235549" cy="235549"/>
          </a:xfrm>
          <a:prstGeom prst="rect">
            <a:avLst/>
          </a:prstGeom>
        </p:spPr>
      </p:pic>
      <p:sp>
        <p:nvSpPr>
          <p:cNvPr id="40" name="Text 30"/>
          <p:cNvSpPr txBox="1"/>
          <p:nvPr/>
        </p:nvSpPr>
        <p:spPr>
          <a:xfrm>
            <a:off x="7040880" y="4764024"/>
            <a:ext cx="4465015" cy="841248"/>
          </a:xfrm>
          <a:prstGeom prst="rect">
            <a:avLst/>
          </a:prstGeom>
          <a:noFill/>
          <a:ln/>
        </p:spPr>
        <p:txBody>
          <a:bodyPr wrap="square" lIns="0" tIns="0" rIns="0" bIns="0" rtlCol="0" anchor="ctr"/>
          <a:lstStyle/>
          <a:p>
            <a:pPr indent="0" marL="0">
              <a:buNone/>
            </a:pPr>
            <a:r>
              <a:rPr lang="en-US" sz="1500" dirty="0">
                <a:solidFill>
                  <a:schemeClr val="tx1"/>
                </a:solidFill>
              </a:rPr>
              <a:t>Prioritize available RPT cohorts and staged partnerships</a:t>
            </a:r>
            <a:endParaRPr lang="en-US" sz="1500" dirty="0"/>
          </a:p>
        </p:txBody>
      </p:sp>
      <p:sp>
        <p:nvSpPr>
          <p:cNvPr id="42"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indent="0" marL="0">
              <a:buNone/>
            </a:pP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Predictive Imaging">
  <a:themeElements>
    <a:clrScheme name="Predictive Imaging">
      <a:dk1>
        <a:srgbClr val="1F2937"/>
      </a:dk1>
      <a:lt1>
        <a:srgbClr val="FFFFFF"/>
      </a:lt1>
      <a:dk2>
        <a:srgbClr val="12263F"/>
      </a:dk2>
      <a:lt2>
        <a:srgbClr val="F1F5F9"/>
      </a:lt2>
      <a:accent1>
        <a:srgbClr val="1A9AA0"/>
      </a:accent1>
      <a:accent2>
        <a:srgbClr val="D97526"/>
      </a:accent2>
      <a:accent3>
        <a:srgbClr val="7048C8"/>
      </a:accent3>
      <a:accent4>
        <a:srgbClr val="2F6BD6"/>
      </a:accent4>
      <a:accent5>
        <a:srgbClr val="B42318"/>
      </a:accent5>
      <a:accent6>
        <a:srgbClr val="6B7280"/>
      </a:accent6>
      <a:hlink>
        <a:srgbClr val="2F6BD6"/>
      </a:hlink>
      <a:folHlink>
        <a:srgbClr val="7048C8"/>
      </a:folHlink>
    </a:clrScheme>
    <a:fontScheme name="Predictive Imaging">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Predictive Molecular Imaging &amp; Virtual Theranostic Trials</dc:title>
  <dc:subject>PptxGenJS Presentation</dc:subject>
  <dc:creator>Hamid Abdollahi</dc:creator>
  <cp:lastModifiedBy>Hamid Abdollahi</cp:lastModifiedBy>
  <cp:revision>1</cp:revision>
  <dcterms:created xsi:type="dcterms:W3CDTF">2026-10-11T22:53:19Z</dcterms:created>
  <dcterms:modified xsi:type="dcterms:W3CDTF">2026-10-11T22:53:19Z</dcterms:modified>
</cp:coreProperties>
</file>