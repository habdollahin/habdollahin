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charts/chart3.xml" ContentType="application/vnd.openxmlformats-officedocument.drawingml.chart+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baa251d2-a656-c36e-ff06-399662c76bd0}">
          <p14:sldIdLst>
            <p14:sldId id="256"/>
            <p14:sldId id="257"/>
            <p14:sldId id="258"/>
          </p14:sldIdLst>
        </p14:section>
        <p14:section name="Part I · Mathematical models" id="{da218f81-9cba-87b1-cef8-d515ff26543c}">
          <p14:sldIdLst>
            <p14:sldId id="259"/>
            <p14:sldId id="260"/>
            <p14:sldId id="261"/>
            <p14:sldId id="262"/>
            <p14:sldId id="263"/>
            <p14:sldId id="264"/>
            <p14:sldId id="265"/>
            <p14:sldId id="266"/>
            <p14:sldId id="267"/>
            <p14:sldId id="268"/>
            <p14:sldId id="269"/>
            <p14:sldId id="270"/>
            <p14:sldId id="271"/>
            <p14:sldId id="272"/>
          </p14:sldIdLst>
        </p14:section>
        <p14:section name="Part II · AI for digital twins" id="{93499408-5783-1669-5645-953887a7e15d}">
          <p14:sldIdLst>
            <p14:sldId id="273"/>
            <p14:sldId id="274"/>
            <p14:sldId id="275"/>
            <p14:sldId id="276"/>
            <p14:sldId id="277"/>
            <p14:sldId id="278"/>
            <p14:sldId id="279"/>
            <p14:sldId id="280"/>
            <p14:sldId id="281"/>
          </p14:sldIdLst>
        </p14:section>
        <p14:section name="Part III · The combined model" id="{90c896c3-a84e-0837-4a93-dece87c52abc}">
          <p14:sldIdLst>
            <p14:sldId id="282"/>
            <p14:sldId id="283"/>
            <p14:sldId id="284"/>
            <p14:sldId id="285"/>
            <p14:sldId id="286"/>
            <p14:sldId id="287"/>
            <p14:sldId id="288"/>
          </p14:sldIdLst>
        </p14:section>
        <p14:section name="Conclusion" id="{59a5ae62-d866-b0d7-93fc-fbbb074f4403}">
          <p14:sldIdLst>
            <p14:sldId id="289"/>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Illustrative ¹⁷⁷Lu-PSMA curves (% injected activity)</a:t>
            </a:r>
          </a:p>
        </c:rich>
      </c:tx>
      <c:layout/>
      <c:overlay val="0"/>
    </c:title>
    <c:autoTitleDeleted val="0"/>
    <c:plotArea>
      <c:layout/>
      <c:scatterChart>
        <c:scatterStyle val="lineMarker"/>
        <c:varyColors val="0"/>
        <c:ser>
          <c:idx val="0"/>
          <c:order val="0"/>
          <c:tx>
            <c:strRef>
              <c:f>Sheet1!$B$1</c:f>
              <c:strCache>
                <c:ptCount val="1"/>
                <c:pt idx="0">
                  <c:v>Kidney (T_eff 35 h)</c:v>
                </c:pt>
              </c:strCache>
            </c:strRef>
          </c:tx>
          <c:spPr>
            <a:solidFill>
              <a:srgbClr val="1F7A70"/>
            </a:solidFill>
            <a:ln w="31750" cap="flat">
              <a:solidFill>
                <a:srgbClr val="1F7A70"/>
              </a:solidFill>
              <a:prstDash val="solid"/>
              <a:round/>
            </a:ln>
            <a:effectLst/>
          </c:spPr>
          <c:marker>
            <c:symbol val="none"/>
            <c:size val="6"/>
            <c:spPr>
              <a:solidFill>
                <a:srgbClr val="1F7A70"/>
              </a:solidFill>
              <a:ln w="9525" cap="flat">
                <a:solidFill>
                  <a:srgbClr val="1F7A70"/>
                </a:solidFill>
                <a:prstDash val="solid"/>
                <a:round/>
              </a:ln>
              <a:effectLst/>
            </c:spPr>
          </c:marker>
          <c:xVal>
            <c:numRef>
              <c:f>Sheet1!$A$2:$A$44</c:f>
              <c:numCache>
                <c:formatCode>General</c:formatCode>
                <c:ptCount val="43"/>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pt idx="20">
                  <c:v>80</c:v>
                </c:pt>
                <c:pt idx="21">
                  <c:v>84</c:v>
                </c:pt>
                <c:pt idx="22">
                  <c:v>88</c:v>
                </c:pt>
                <c:pt idx="23">
                  <c:v>92</c:v>
                </c:pt>
                <c:pt idx="24">
                  <c:v>96</c:v>
                </c:pt>
                <c:pt idx="25">
                  <c:v>100</c:v>
                </c:pt>
                <c:pt idx="26">
                  <c:v>104</c:v>
                </c:pt>
                <c:pt idx="27">
                  <c:v>108</c:v>
                </c:pt>
                <c:pt idx="28">
                  <c:v>112</c:v>
                </c:pt>
                <c:pt idx="29">
                  <c:v>116</c:v>
                </c:pt>
                <c:pt idx="30">
                  <c:v>120</c:v>
                </c:pt>
                <c:pt idx="31">
                  <c:v>124</c:v>
                </c:pt>
                <c:pt idx="32">
                  <c:v>128</c:v>
                </c:pt>
                <c:pt idx="33">
                  <c:v>132</c:v>
                </c:pt>
                <c:pt idx="34">
                  <c:v>136</c:v>
                </c:pt>
                <c:pt idx="35">
                  <c:v>140</c:v>
                </c:pt>
                <c:pt idx="36">
                  <c:v>144</c:v>
                </c:pt>
                <c:pt idx="37">
                  <c:v>148</c:v>
                </c:pt>
                <c:pt idx="38">
                  <c:v>152</c:v>
                </c:pt>
                <c:pt idx="39">
                  <c:v>156</c:v>
                </c:pt>
                <c:pt idx="40">
                  <c:v>160</c:v>
                </c:pt>
                <c:pt idx="41">
                  <c:v>164</c:v>
                </c:pt>
                <c:pt idx="42">
                  <c:v>168</c:v>
                </c:pt>
              </c:numCache>
            </c:numRef>
          </c:xVal>
          <c:yVal>
            <c:numRef>
              <c:f>Sheet1!$B$2:$B$44</c:f>
              <c:numCache>
                <c:formatCode>General</c:formatCode>
                <c:ptCount val="43"/>
                <c:pt idx="0">
                  <c:v>4</c:v>
                </c:pt>
                <c:pt idx="1">
                  <c:v>3.695</c:v>
                </c:pt>
                <c:pt idx="2">
                  <c:v>3.414</c:v>
                </c:pt>
                <c:pt idx="3">
                  <c:v>3.154</c:v>
                </c:pt>
                <c:pt idx="4">
                  <c:v>2.914</c:v>
                </c:pt>
                <c:pt idx="5">
                  <c:v>2.692</c:v>
                </c:pt>
                <c:pt idx="6">
                  <c:v>2.487</c:v>
                </c:pt>
                <c:pt idx="7">
                  <c:v>2.297</c:v>
                </c:pt>
                <c:pt idx="8">
                  <c:v>2.122</c:v>
                </c:pt>
                <c:pt idx="9">
                  <c:v>1.961</c:v>
                </c:pt>
                <c:pt idx="10">
                  <c:v>1.811</c:v>
                </c:pt>
                <c:pt idx="11">
                  <c:v>1.673</c:v>
                </c:pt>
                <c:pt idx="12">
                  <c:v>1.546</c:v>
                </c:pt>
                <c:pt idx="13">
                  <c:v>1.428</c:v>
                </c:pt>
                <c:pt idx="14">
                  <c:v>1.32</c:v>
                </c:pt>
                <c:pt idx="15">
                  <c:v>1.219</c:v>
                </c:pt>
                <c:pt idx="16">
                  <c:v>1.126</c:v>
                </c:pt>
                <c:pt idx="17">
                  <c:v>1.04</c:v>
                </c:pt>
                <c:pt idx="18">
                  <c:v>0.961</c:v>
                </c:pt>
                <c:pt idx="19">
                  <c:v>0.888</c:v>
                </c:pt>
                <c:pt idx="20">
                  <c:v>0.82</c:v>
                </c:pt>
                <c:pt idx="21">
                  <c:v>0.758</c:v>
                </c:pt>
                <c:pt idx="22">
                  <c:v>0.7</c:v>
                </c:pt>
                <c:pt idx="23">
                  <c:v>0.647</c:v>
                </c:pt>
                <c:pt idx="24">
                  <c:v>0.598</c:v>
                </c:pt>
                <c:pt idx="25">
                  <c:v>0.552</c:v>
                </c:pt>
                <c:pt idx="26">
                  <c:v>0.51</c:v>
                </c:pt>
                <c:pt idx="27">
                  <c:v>0.471</c:v>
                </c:pt>
                <c:pt idx="28">
                  <c:v>0.435</c:v>
                </c:pt>
                <c:pt idx="29">
                  <c:v>0.402</c:v>
                </c:pt>
                <c:pt idx="30">
                  <c:v>0.371</c:v>
                </c:pt>
                <c:pt idx="31">
                  <c:v>0.343</c:v>
                </c:pt>
                <c:pt idx="32">
                  <c:v>0.317</c:v>
                </c:pt>
                <c:pt idx="33">
                  <c:v>0.293</c:v>
                </c:pt>
                <c:pt idx="34">
                  <c:v>0.271</c:v>
                </c:pt>
                <c:pt idx="35">
                  <c:v>0.25</c:v>
                </c:pt>
                <c:pt idx="36">
                  <c:v>0.231</c:v>
                </c:pt>
                <c:pt idx="37">
                  <c:v>0.213</c:v>
                </c:pt>
                <c:pt idx="38">
                  <c:v>0.197</c:v>
                </c:pt>
                <c:pt idx="39">
                  <c:v>0.182</c:v>
                </c:pt>
                <c:pt idx="40">
                  <c:v>0.168</c:v>
                </c:pt>
                <c:pt idx="41">
                  <c:v>0.155</c:v>
                </c:pt>
                <c:pt idx="42">
                  <c:v>0.144</c:v>
                </c:pt>
              </c:numCache>
            </c:numRef>
          </c:yVal>
          <c:smooth val="0"/>
        </c:ser>
        <c:ser>
          <c:idx val="1"/>
          <c:order val="1"/>
          <c:tx>
            <c:strRef>
              <c:f>Sheet1!$C$1</c:f>
              <c:strCache>
                <c:ptCount val="1"/>
                <c:pt idx="0">
                  <c:v>Tumour (T_eff 70 h)</c:v>
                </c:pt>
              </c:strCache>
            </c:strRef>
          </c:tx>
          <c:spPr>
            <a:solidFill>
              <a:srgbClr val="E76F51"/>
            </a:solidFill>
            <a:ln w="31750" cap="flat">
              <a:solidFill>
                <a:srgbClr val="E76F51"/>
              </a:solidFill>
              <a:prstDash val="solid"/>
              <a:round/>
            </a:ln>
            <a:effectLst/>
          </c:spPr>
          <c:marker>
            <c:symbol val="none"/>
            <c:size val="6"/>
            <c:spPr>
              <a:solidFill>
                <a:srgbClr val="E76F51"/>
              </a:solidFill>
              <a:ln w="9525" cap="flat">
                <a:solidFill>
                  <a:srgbClr val="E76F51"/>
                </a:solidFill>
                <a:prstDash val="solid"/>
                <a:round/>
              </a:ln>
              <a:effectLst/>
            </c:spPr>
          </c:marker>
          <c:xVal>
            <c:numRef>
              <c:f>Sheet1!$A$2:$A$44</c:f>
              <c:numCache>
                <c:formatCode>General</c:formatCode>
                <c:ptCount val="43"/>
                <c:pt idx="0">
                  <c:v>0</c:v>
                </c:pt>
                <c:pt idx="1">
                  <c:v>4</c:v>
                </c:pt>
                <c:pt idx="2">
                  <c:v>8</c:v>
                </c:pt>
                <c:pt idx="3">
                  <c:v>12</c:v>
                </c:pt>
                <c:pt idx="4">
                  <c:v>16</c:v>
                </c:pt>
                <c:pt idx="5">
                  <c:v>20</c:v>
                </c:pt>
                <c:pt idx="6">
                  <c:v>24</c:v>
                </c:pt>
                <c:pt idx="7">
                  <c:v>28</c:v>
                </c:pt>
                <c:pt idx="8">
                  <c:v>32</c:v>
                </c:pt>
                <c:pt idx="9">
                  <c:v>36</c:v>
                </c:pt>
                <c:pt idx="10">
                  <c:v>40</c:v>
                </c:pt>
                <c:pt idx="11">
                  <c:v>44</c:v>
                </c:pt>
                <c:pt idx="12">
                  <c:v>48</c:v>
                </c:pt>
                <c:pt idx="13">
                  <c:v>52</c:v>
                </c:pt>
                <c:pt idx="14">
                  <c:v>56</c:v>
                </c:pt>
                <c:pt idx="15">
                  <c:v>60</c:v>
                </c:pt>
                <c:pt idx="16">
                  <c:v>64</c:v>
                </c:pt>
                <c:pt idx="17">
                  <c:v>68</c:v>
                </c:pt>
                <c:pt idx="18">
                  <c:v>72</c:v>
                </c:pt>
                <c:pt idx="19">
                  <c:v>76</c:v>
                </c:pt>
                <c:pt idx="20">
                  <c:v>80</c:v>
                </c:pt>
                <c:pt idx="21">
                  <c:v>84</c:v>
                </c:pt>
                <c:pt idx="22">
                  <c:v>88</c:v>
                </c:pt>
                <c:pt idx="23">
                  <c:v>92</c:v>
                </c:pt>
                <c:pt idx="24">
                  <c:v>96</c:v>
                </c:pt>
                <c:pt idx="25">
                  <c:v>100</c:v>
                </c:pt>
                <c:pt idx="26">
                  <c:v>104</c:v>
                </c:pt>
                <c:pt idx="27">
                  <c:v>108</c:v>
                </c:pt>
                <c:pt idx="28">
                  <c:v>112</c:v>
                </c:pt>
                <c:pt idx="29">
                  <c:v>116</c:v>
                </c:pt>
                <c:pt idx="30">
                  <c:v>120</c:v>
                </c:pt>
                <c:pt idx="31">
                  <c:v>124</c:v>
                </c:pt>
                <c:pt idx="32">
                  <c:v>128</c:v>
                </c:pt>
                <c:pt idx="33">
                  <c:v>132</c:v>
                </c:pt>
                <c:pt idx="34">
                  <c:v>136</c:v>
                </c:pt>
                <c:pt idx="35">
                  <c:v>140</c:v>
                </c:pt>
                <c:pt idx="36">
                  <c:v>144</c:v>
                </c:pt>
                <c:pt idx="37">
                  <c:v>148</c:v>
                </c:pt>
                <c:pt idx="38">
                  <c:v>152</c:v>
                </c:pt>
                <c:pt idx="39">
                  <c:v>156</c:v>
                </c:pt>
                <c:pt idx="40">
                  <c:v>160</c:v>
                </c:pt>
                <c:pt idx="41">
                  <c:v>164</c:v>
                </c:pt>
                <c:pt idx="42">
                  <c:v>168</c:v>
                </c:pt>
              </c:numCache>
            </c:numRef>
          </c:xVal>
          <c:yVal>
            <c:numRef>
              <c:f>Sheet1!$C$2:$C$44</c:f>
              <c:numCache>
                <c:formatCode>General</c:formatCode>
                <c:ptCount val="43"/>
                <c:pt idx="0">
                  <c:v>3</c:v>
                </c:pt>
                <c:pt idx="1">
                  <c:v>2.883</c:v>
                </c:pt>
                <c:pt idx="2">
                  <c:v>2.772</c:v>
                </c:pt>
                <c:pt idx="3">
                  <c:v>2.664</c:v>
                </c:pt>
                <c:pt idx="4">
                  <c:v>2.56</c:v>
                </c:pt>
                <c:pt idx="5">
                  <c:v>2.461</c:v>
                </c:pt>
                <c:pt idx="6">
                  <c:v>2.365</c:v>
                </c:pt>
                <c:pt idx="7">
                  <c:v>2.274</c:v>
                </c:pt>
                <c:pt idx="8">
                  <c:v>2.185</c:v>
                </c:pt>
                <c:pt idx="9">
                  <c:v>2.1</c:v>
                </c:pt>
                <c:pt idx="10">
                  <c:v>2.019</c:v>
                </c:pt>
                <c:pt idx="11">
                  <c:v>1.94</c:v>
                </c:pt>
                <c:pt idx="12">
                  <c:v>1.865</c:v>
                </c:pt>
                <c:pt idx="13">
                  <c:v>1.793</c:v>
                </c:pt>
                <c:pt idx="14">
                  <c:v>1.723</c:v>
                </c:pt>
                <c:pt idx="15">
                  <c:v>1.656</c:v>
                </c:pt>
                <c:pt idx="16">
                  <c:v>1.592</c:v>
                </c:pt>
                <c:pt idx="17">
                  <c:v>1.53</c:v>
                </c:pt>
                <c:pt idx="18">
                  <c:v>1.471</c:v>
                </c:pt>
                <c:pt idx="19">
                  <c:v>1.413</c:v>
                </c:pt>
                <c:pt idx="20">
                  <c:v>1.359</c:v>
                </c:pt>
                <c:pt idx="21">
                  <c:v>1.306</c:v>
                </c:pt>
                <c:pt idx="22">
                  <c:v>1.255</c:v>
                </c:pt>
                <c:pt idx="23">
                  <c:v>1.206</c:v>
                </c:pt>
                <c:pt idx="24">
                  <c:v>1.16</c:v>
                </c:pt>
                <c:pt idx="25">
                  <c:v>1.114</c:v>
                </c:pt>
                <c:pt idx="26">
                  <c:v>1.071</c:v>
                </c:pt>
                <c:pt idx="27">
                  <c:v>1.03</c:v>
                </c:pt>
                <c:pt idx="28">
                  <c:v>0.99</c:v>
                </c:pt>
                <c:pt idx="29">
                  <c:v>0.951</c:v>
                </c:pt>
                <c:pt idx="30">
                  <c:v>0.914</c:v>
                </c:pt>
                <c:pt idx="31">
                  <c:v>0.879</c:v>
                </c:pt>
                <c:pt idx="32">
                  <c:v>0.845</c:v>
                </c:pt>
                <c:pt idx="33">
                  <c:v>0.812</c:v>
                </c:pt>
                <c:pt idx="34">
                  <c:v>0.78</c:v>
                </c:pt>
                <c:pt idx="35">
                  <c:v>0.75</c:v>
                </c:pt>
                <c:pt idx="36">
                  <c:v>0.721</c:v>
                </c:pt>
                <c:pt idx="37">
                  <c:v>0.693</c:v>
                </c:pt>
                <c:pt idx="38">
                  <c:v>0.666</c:v>
                </c:pt>
                <c:pt idx="39">
                  <c:v>0.64</c:v>
                </c:pt>
                <c:pt idx="40">
                  <c:v>0.615</c:v>
                </c:pt>
                <c:pt idx="41">
                  <c:v>0.591</c:v>
                </c:pt>
                <c:pt idx="42">
                  <c:v>0.568</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168"/>
          <c:min val="0"/>
        </c:scaling>
        <c:delete val="0"/>
        <c:axPos val="b"/>
        <c:title>
          <c:tx>
            <c:rich>
              <a:bodyPr/>
              <a:lstStyle/>
              <a:p>
                <a:pPr>
                  <a:defRPr sz="1100" b="0" i="0" u="none" strike="noStrike">
                    <a:solidFill>
                      <a:srgbClr val="5F6B76"/>
                    </a:solidFill>
                    <a:latin typeface="+mn-lt"/>
                  </a:defRPr>
                </a:pPr>
                <a:r>
                  <a:rPr sz="1100" b="0" i="0" u="none" strike="noStrike">
                    <a:solidFill>
                      <a:srgbClr val="5F6B76"/>
                    </a:solidFill>
                    <a:latin typeface="+mn-lt"/>
                  </a:rPr>
                  <a:t>Hours after injection</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2"/>
        <c:crosses val="autoZero"/>
        <c:auto val="1"/>
        <c:lblAlgn val="ctr"/>
        <c:noMultiLvlLbl val="1"/>
        <c:majorUnit val="24"/>
      </c:valAx>
      <c:valAx>
        <c:axId val="2094734552"/>
        <c:scaling>
          <c:orientation val="minMax"/>
        </c:scaling>
        <c:delete val="0"/>
        <c:axPos val="l"/>
        <c:majorGridlines>
          <c:spPr>
            <a:ln w="9525" cap="flat">
              <a:solidFill>
                <a:srgbClr val="E3E8EA"/>
              </a:solidFill>
              <a:prstDash val="solid"/>
              <a:round/>
            </a:ln>
          </c:spPr>
        </c:majorGridlines>
        <c:title>
          <c:tx>
            <c:rich>
              <a:bodyPr/>
              <a:lstStyle/>
              <a:p>
                <a:pPr>
                  <a:defRPr sz="1100" b="0" i="0" u="none" strike="noStrike">
                    <a:solidFill>
                      <a:srgbClr val="5F6B76"/>
                    </a:solidFill>
                    <a:latin typeface="+mn-lt"/>
                  </a:defRPr>
                </a:pPr>
                <a:r>
                  <a:rPr sz="1100" b="0" i="0" u="none" strike="noStrike">
                    <a:solidFill>
                      <a:srgbClr val="5F6B76"/>
                    </a:solidFill>
                    <a:latin typeface="+mn-lt"/>
                  </a:rPr>
                  <a:t>%IA</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Illustrative curves vs BED (Gy)</a:t>
            </a:r>
          </a:p>
        </c:rich>
      </c:tx>
      <c:layout/>
      <c:overlay val="0"/>
    </c:title>
    <c:autoTitleDeleted val="0"/>
    <c:plotArea>
      <c:layout/>
      <c:lineChart>
        <c:varyColors val="0"/>
        <c:ser>
          <c:idx val="0"/>
          <c:order val="0"/>
          <c:tx>
            <c:strRef>
              <c:f>Sheet1!$B$1</c:f>
              <c:strCache>
                <c:ptCount val="1"/>
                <c:pt idx="0">
                  <c:v>TCP (tumour)</c:v>
                </c:pt>
              </c:strCache>
            </c:strRef>
          </c:tx>
          <c:spPr>
            <a:solidFill>
              <a:srgbClr val="1F7A70"/>
            </a:solidFill>
            <a:ln w="38100" cap="flat">
              <a:solidFill>
                <a:srgbClr val="1F7A7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1F7A70"/>
              </a:solidFill>
              <a:ln w="9525" cap="flat">
                <a:solidFill>
                  <a:srgbClr val="1F7A70"/>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Sheet1!$B$2:$B$26</c:f>
              <c:numCache>
                <c:formatCode>General</c:formatCode>
                <c:ptCount val="25"/>
                <c:pt idx="0">
                  <c:v>0</c:v>
                </c:pt>
                <c:pt idx="1">
                  <c:v>0</c:v>
                </c:pt>
                <c:pt idx="2">
                  <c:v>0</c:v>
                </c:pt>
                <c:pt idx="3">
                  <c:v>0</c:v>
                </c:pt>
                <c:pt idx="4">
                  <c:v>0</c:v>
                </c:pt>
                <c:pt idx="5">
                  <c:v>0</c:v>
                </c:pt>
                <c:pt idx="6">
                  <c:v>0</c:v>
                </c:pt>
                <c:pt idx="7">
                  <c:v>0</c:v>
                </c:pt>
                <c:pt idx="8">
                  <c:v>0</c:v>
                </c:pt>
                <c:pt idx="9">
                  <c:v>0.001</c:v>
                </c:pt>
                <c:pt idx="10">
                  <c:v>0.045</c:v>
                </c:pt>
                <c:pt idx="11">
                  <c:v>0.231</c:v>
                </c:pt>
                <c:pt idx="12">
                  <c:v>0.5</c:v>
                </c:pt>
                <c:pt idx="13">
                  <c:v>0.721</c:v>
                </c:pt>
                <c:pt idx="14">
                  <c:v>0.857</c:v>
                </c:pt>
                <c:pt idx="15">
                  <c:v>0.93</c:v>
                </c:pt>
                <c:pt idx="16">
                  <c:v>0.966</c:v>
                </c:pt>
                <c:pt idx="17">
                  <c:v>0.984</c:v>
                </c:pt>
                <c:pt idx="18">
                  <c:v>0.992</c:v>
                </c:pt>
                <c:pt idx="19">
                  <c:v>0.996</c:v>
                </c:pt>
                <c:pt idx="20">
                  <c:v>0.998</c:v>
                </c:pt>
                <c:pt idx="21">
                  <c:v>0.999</c:v>
                </c:pt>
                <c:pt idx="22">
                  <c:v>1</c:v>
                </c:pt>
                <c:pt idx="23">
                  <c:v>1</c:v>
                </c:pt>
                <c:pt idx="24">
                  <c:v>1</c:v>
                </c:pt>
              </c:numCache>
            </c:numRef>
          </c:val>
          <c:smooth val="0"/>
        </c:ser>
        <c:ser>
          <c:idx val="1"/>
          <c:order val="1"/>
          <c:tx>
            <c:strRef>
              <c:f>Sheet1!$C$1</c:f>
              <c:strCache>
                <c:ptCount val="1"/>
                <c:pt idx="0">
                  <c:v>NTCP (organ at risk)</c:v>
                </c:pt>
              </c:strCache>
            </c:strRef>
          </c:tx>
          <c:spPr>
            <a:solidFill>
              <a:srgbClr val="E76F51"/>
            </a:solidFill>
            <a:ln w="38100" cap="flat">
              <a:solidFill>
                <a:srgbClr val="E76F5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E76F51"/>
              </a:solidFill>
              <a:ln w="9525" cap="flat">
                <a:solidFill>
                  <a:srgbClr val="E76F51"/>
                </a:solidFill>
                <a:prstDash val="solid"/>
                <a:round/>
              </a:ln>
              <a:effectLst/>
            </c:spPr>
          </c:marker>
          <c:cat>
            <c:multiLvlStrRef>
              <c:f>Sheet1!$A$2:$A$26</c:f>
              <c:multiLvlStrCache>
                <c:ptCount val="25"/>
                <c:lvl>
                  <c:pt idx="0">
                    <c:v>0</c:v>
                  </c:pt>
                  <c:pt idx="1">
                    <c:v>5</c:v>
                  </c:pt>
                  <c:pt idx="2">
                    <c:v>10</c:v>
                  </c:pt>
                  <c:pt idx="3">
                    <c:v>15</c:v>
                  </c:pt>
                  <c:pt idx="4">
                    <c:v>20</c:v>
                  </c:pt>
                  <c:pt idx="5">
                    <c:v>25</c:v>
                  </c:pt>
                  <c:pt idx="6">
                    <c:v>30</c:v>
                  </c:pt>
                  <c:pt idx="7">
                    <c:v>35</c:v>
                  </c:pt>
                  <c:pt idx="8">
                    <c:v>40</c:v>
                  </c:pt>
                  <c:pt idx="9">
                    <c:v>45</c:v>
                  </c:pt>
                  <c:pt idx="10">
                    <c:v>50</c:v>
                  </c:pt>
                  <c:pt idx="11">
                    <c:v>55</c:v>
                  </c:pt>
                  <c:pt idx="12">
                    <c:v>60</c:v>
                  </c:pt>
                  <c:pt idx="13">
                    <c:v>65</c:v>
                  </c:pt>
                  <c:pt idx="14">
                    <c:v>70</c:v>
                  </c:pt>
                  <c:pt idx="15">
                    <c:v>75</c:v>
                  </c:pt>
                  <c:pt idx="16">
                    <c:v>80</c:v>
                  </c:pt>
                  <c:pt idx="17">
                    <c:v>85</c:v>
                  </c:pt>
                  <c:pt idx="18">
                    <c:v>90</c:v>
                  </c:pt>
                  <c:pt idx="19">
                    <c:v>95</c:v>
                  </c:pt>
                  <c:pt idx="20">
                    <c:v>100</c:v>
                  </c:pt>
                  <c:pt idx="21">
                    <c:v>105</c:v>
                  </c:pt>
                  <c:pt idx="22">
                    <c:v>110</c:v>
                  </c:pt>
                  <c:pt idx="23">
                    <c:v>115</c:v>
                  </c:pt>
                  <c:pt idx="24">
                    <c:v>120</c:v>
                  </c:pt>
                </c:lvl>
              </c:multiLvlStrCache>
            </c:multiLvlStrRef>
          </c:cat>
          <c:val>
            <c:numRef>
              <c:f>Sheet1!$C$2:$C$26</c:f>
              <c:numCache>
                <c:formatCode>General</c:formatCode>
                <c:ptCount val="25"/>
                <c:pt idx="0">
                  <c:v>0</c:v>
                </c:pt>
                <c:pt idx="1">
                  <c:v>0</c:v>
                </c:pt>
                <c:pt idx="2">
                  <c:v>0</c:v>
                </c:pt>
                <c:pt idx="3">
                  <c:v>0</c:v>
                </c:pt>
                <c:pt idx="4">
                  <c:v>0</c:v>
                </c:pt>
                <c:pt idx="5">
                  <c:v>0</c:v>
                </c:pt>
                <c:pt idx="6">
                  <c:v>0</c:v>
                </c:pt>
                <c:pt idx="7">
                  <c:v>0.001</c:v>
                </c:pt>
                <c:pt idx="8">
                  <c:v>0.003</c:v>
                </c:pt>
                <c:pt idx="9">
                  <c:v>0.006</c:v>
                </c:pt>
                <c:pt idx="10">
                  <c:v>0.013</c:v>
                </c:pt>
                <c:pt idx="11">
                  <c:v>0.026</c:v>
                </c:pt>
                <c:pt idx="12">
                  <c:v>0.048</c:v>
                </c:pt>
                <c:pt idx="13">
                  <c:v>0.082</c:v>
                </c:pt>
                <c:pt idx="14">
                  <c:v>0.133</c:v>
                </c:pt>
                <c:pt idx="15">
                  <c:v>0.202</c:v>
                </c:pt>
                <c:pt idx="16">
                  <c:v>0.289</c:v>
                </c:pt>
                <c:pt idx="17">
                  <c:v>0.391</c:v>
                </c:pt>
                <c:pt idx="18">
                  <c:v>0.5</c:v>
                </c:pt>
                <c:pt idx="19">
                  <c:v>0.609</c:v>
                </c:pt>
                <c:pt idx="20">
                  <c:v>0.711</c:v>
                </c:pt>
                <c:pt idx="21">
                  <c:v>0.798</c:v>
                </c:pt>
                <c:pt idx="22">
                  <c:v>0.867</c:v>
                </c:pt>
                <c:pt idx="23">
                  <c:v>0.918</c:v>
                </c:pt>
                <c:pt idx="24">
                  <c:v>0.952</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2"/>
        <c:crosses val="autoZero"/>
        <c:auto val="1"/>
        <c:lblAlgn val="ctr"/>
        <c:noMultiLvlLbl val="1"/>
        <c:tickLblSkip val="2"/>
      </c:catAx>
      <c:valAx>
        <c:axId val="2094734552"/>
        <c:scaling>
          <c:orientation val="minMax"/>
          <c:max val="1"/>
          <c:min val="0"/>
        </c:scaling>
        <c:delete val="0"/>
        <c:axPos val="l"/>
        <c:majorGridlines>
          <c:spPr>
            <a:ln w="9525" cap="flat">
              <a:solidFill>
                <a:srgbClr val="E3E8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B7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B2430"/>
                </a:solidFill>
                <a:latin typeface="+mn-lt"/>
              </a:defRPr>
            </a:pPr>
            <a:r>
              <a:rPr sz="1300" b="0" i="0" u="none" strike="noStrike">
                <a:solidFill>
                  <a:srgbClr val="1B2430"/>
                </a:solidFill>
                <a:latin typeface="+mn-lt"/>
              </a:rPr>
              <a:t>Percent of virtual patients / mean probability</a:t>
            </a:r>
          </a:p>
        </c:rich>
      </c:tx>
      <c:layout/>
      <c:overlay val="0"/>
    </c:title>
    <c:autoTitleDeleted val="0"/>
    <c:plotArea>
      <c:layout/>
      <c:barChart>
        <c:barDir val="col"/>
        <c:grouping val="clustered"/>
        <c:varyColors val="0"/>
        <c:ser>
          <c:idx val="0"/>
          <c:order val="0"/>
          <c:tx>
            <c:strRef>
              <c:f>Sheet1!$B$1</c:f>
              <c:strCache>
                <c:ptCount val="1"/>
                <c:pt idx="0">
                  <c:v>Fixed 7.4 GBq × 4</c:v>
                </c:pt>
              </c:strCache>
            </c:strRef>
          </c:tx>
          <c:spPr>
            <a:solidFill>
              <a:srgbClr val="5F6B76"/>
            </a:solidFill>
            <a:effectLst/>
          </c:spPr>
          <c:invertIfNegative val="0"/>
          <c:dLbls>
            <c:numFmt formatCode="0&quot;%&quot;"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Over kidney limit</c:v>
                  </c:pt>
                  <c:pt idx="1">
                    <c:v>Far below limit (&lt;60 %)</c:v>
                  </c:pt>
                  <c:pt idx="2">
                    <c:v>Mean TCP</c:v>
                  </c:pt>
                  <c:pt idx="3">
                    <c:v>Mean P⁺</c:v>
                  </c:pt>
                </c:lvl>
              </c:multiLvlStrCache>
            </c:multiLvlStrRef>
          </c:cat>
          <c:val>
            <c:numRef>
              <c:f>Sheet1!$B$2:$B$5</c:f>
              <c:numCache>
                <c:formatCode>General</c:formatCode>
                <c:ptCount val="4"/>
                <c:pt idx="0">
                  <c:v>10.7</c:v>
                </c:pt>
                <c:pt idx="1">
                  <c:v>57.9</c:v>
                </c:pt>
                <c:pt idx="2">
                  <c:v>56.6</c:v>
                </c:pt>
                <c:pt idx="3">
                  <c:v>55.5</c:v>
                </c:pt>
              </c:numCache>
            </c:numRef>
          </c:val>
        </c:ser>
        <c:ser>
          <c:idx val="1"/>
          <c:order val="1"/>
          <c:tx>
            <c:strRef>
              <c:f>Sheet1!$C$1</c:f>
              <c:strCache>
                <c:ptCount val="1"/>
                <c:pt idx="0">
                  <c:v>Model-guided × 4</c:v>
                </c:pt>
              </c:strCache>
            </c:strRef>
          </c:tx>
          <c:spPr>
            <a:solidFill>
              <a:srgbClr val="1F7A70"/>
            </a:solidFill>
            <a:effectLst/>
          </c:spPr>
          <c:invertIfNegative val="0"/>
          <c:dLbls>
            <c:numFmt formatCode="0&quot;%&quot;"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cat>
            <c:multiLvlStrRef>
              <c:f>Sheet1!$A$2:$A$5</c:f>
              <c:multiLvlStrCache>
                <c:ptCount val="4"/>
                <c:lvl>
                  <c:pt idx="0">
                    <c:v>Over kidney limit</c:v>
                  </c:pt>
                  <c:pt idx="1">
                    <c:v>Far below limit (&lt;60 %)</c:v>
                  </c:pt>
                  <c:pt idx="2">
                    <c:v>Mean TCP</c:v>
                  </c:pt>
                  <c:pt idx="3">
                    <c:v>Mean P⁺</c:v>
                  </c:pt>
                </c:lvl>
              </c:multiLvlStrCache>
            </c:multiLvlStrRef>
          </c:cat>
          <c:val>
            <c:numRef>
              <c:f>Sheet1!$C$2:$C$5</c:f>
              <c:numCache>
                <c:formatCode>General</c:formatCode>
                <c:ptCount val="4"/>
                <c:pt idx="0">
                  <c:v>0</c:v>
                </c:pt>
                <c:pt idx="1">
                  <c:v>9.3</c:v>
                </c:pt>
                <c:pt idx="2">
                  <c:v>77.6</c:v>
                </c:pt>
                <c:pt idx="3">
                  <c:v>76.3</c:v>
                </c:pt>
              </c:numCache>
            </c:numRef>
          </c:val>
        </c:ser>
        <c:dLbls>
          <c:numFmt formatCode="0&quot;%&quot;" sourceLinked="0"/>
          <c:txPr>
            <a:bodyPr/>
            <a:lstStyle/>
            <a:p>
              <a:pPr>
                <a:defRPr b="0" i="0" strike="noStrike" sz="1100" u="none">
                  <a:solidFill>
                    <a:srgbClr val="1B243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B2430"/>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B2430"/>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collects every mathematical model in my recent work: the DoseVLM dose-prediction code, the radiomics pipeline, the virtual-trials review and the research-vision talk. Part I explains each model with its equation and use. Part II recommends the best AI methods for building each layer of a digital twin. Status tags show whether a model is already in code, discussed in talks or the review, or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III combines all eight layers into one model. The engine has eight layers. Layers 1 to 4 are the mechanistic chain from patient to biological effect. Layer 5 makes it a twin: it is updated with each patient's measurements and used to choose treatment. Layer 6 replaces slow simulations with learned surrogates. Layers 7 and 8 supply imaging inputs and prove the whole thing is credible.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chain left to right. Images build the virtual patient; PBPK turns activity into time-activity curves; dosimetry turns those into absorbed dose; radiobiology turns dose into biological effect; TCP and NTCP turn effect into outcome probabilities; the decision layer picks activity and cycles. The amber loop is what makes it a digital twin rather than a one-off model: it is updated with each new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 walks through the eight layers. Each slide gives the governing equation and a one-line explanation you can use when presenting or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ways to populate a virtual trial. The first two are statistical; the phantom is geometric and is already implemented for testing; the growth model adds time, so the twin can evolve between scans. In practice you combine them: sample parameters from the mixed-effects model, attach them to real or synthetic anatomy, and let tumours evolve.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PBPK is the core of the theranostic twin. Each organ has free, receptor-bound and internalised compartments, all decaying physically. Because hot and cold peptide compete for the same receptors, the model captures peptide amount effects and the tumour sink effect. Parameters come from literature plus patient imaging; patient-specific ones like receptor density are estimated from pre-therapy PET.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Imaging gives activity at a few time points. Fitting an exponential gives the effective half-life, and the area under the curve is the time-integrated activity, the quantity dosimetry needs. The single-time-point method is a practical shortcut when only one post-therapy scan is available. The curves are illustrative, not patient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levels of dosimetry, from organ-level MIRD to full Monte Carlo. The trade-off is accuracy against time. For a twin that must run thousands of virtual patients, AI surrogates trained on Monte Carlo give near-reference accuracy in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external-beam models already implemented in DoseVLM. The fluence projection gives the network explicit beam geometry. DVH metrics and gamma are the clinical yardsticks for whether a predicted dose matches the real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Radiobiology converts absorbed dose to effect. The key RPT-specific idea is the G factor: because dose is delivered slowly and decays, cells repair during irradiation, so the quadratic term shrinks. This is the subject of my IEEE TRPMS 2025 paper. Parameter values here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TCP and NTCP turn biological dose into probabilities of cure and of harm. Their separation is the therapeutic window. A twin shifts both curves per patient, using that patient's kinetics and anatomy, which is why fixed activity can under-treat one patient and harm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layer is what makes a model a digital twin. After each cycle the patient's parameters are re-estimated from new measurements, and the next cycle is optimised. The three activities are from my research-vision talk, after Yazdani et al. 2026, and are illustrative, not recommendations.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DoseVLM is the working example of a learned surrogate in my repo. It predicts 3-D VMAT dose from CT, structures and the plan, reading the plan both as images and as text. In a virtual trial you change the plan text or arcs and re-predict dose in seconds. It is research use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Radiomics supplies imaging inputs to the twin, such as heterogeneity and endocrine-organ signatures. Before modelling, features are standardised by IBSI discretisation and filtered for robustness so that small contouring changes do not drive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that sees labels lives inside one pipeline that is refitted in each fold, so no information leaks from test to training. The PSMA-negative endocrine study is the applied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questions: does the model separate classes (AUC), are its probabilities honest (calibration), and does using it beat simple strategies (net benefit). Calibration matters most for a twin, because its probabilities feed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virtual trial is only as trustworthy as its weakest model. Paired designs make virtual trials statistically efficient. Uncertainty must be propagated end to end. The V&amp;V 40 framework scales the validation effort to how much the decision depends on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 is a practical guide. There is no single best AI model for digital twins. The best choice depends on the layer, how much mechanism you know, and how much data you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you know the physics or physiology. Bottom row: you do not. Left column: little data per patient or few patients. Right column: lots of data or a simulator that can generate it. Theranostic twins mostly start top-left and use the top-right to accelerate.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twin layer. The next slides go through each family in detail: what it is, how it works mathematically, where it fits in a theranostic twin, and its main caveat.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Scientific machine learning keeps the physics and lets a network learn what the physics misses. For theranostics, a universal differential equation is the most natural fit: the PBPK structure stays interpretable, and the network learns only a correction term. Neural operators are the best way to replace Monte Carlo dosimetry once enough simulations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Garbage in, garbage out: the twin is only as good as its activity maps and contours. nnU-Net and TotalSegmentator give reliable contours; promptable foundation models speed up correction. AI denoising shortens scans, but must preserve quantitative accuracy, which is the point of my Aim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Dosimetry AI removes the Monte Carlo bottleneck. Generative models scale the cohort, but realism must be shown, not assumed: compare distributions, check that downstream predictions behave the same, and test privacy.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methods turn a predictive model into a decision tool. Simulation-based inference makes per-patient calibration instant. Conformal prediction gives honest uncertainty. Bayesian optimisation and reinforcement learning search the design space, but any recommendation stays decision support with explicit uncertainty.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outcomes, start simple and earn complexity: Cox and logistic baselines first, then tree ensembles and TabPFN, then multimodal deep fusion when data allow. Large language models are best used as engineering and research accelerators, as I did to build DoseVLM and the radiomics pipeline, with every output 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maps Part II onto the five aims of my research program. Each aim gets a concrete, open-source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III combines every model from Parts I and II into one working digital twin. It shows the chain as equations, the objective, the Bayesian update, an illustrative virtual trial run with the combined model, and the hybrid AI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whole twin on one slide. Read top to bottom: a patient's parameters drive kinetics, kinetics give integrated activity, that gives dose, dose gives biological dose, that gives outcome probabilities. After each cycle the parameters are updated, and the next activity is chosen to maximise uncomplicated tumour control. The last two columns say which data and which AI method improve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objective joins the radiobiology layer to the decision layer. P plus is the probability of tumour control without complication. Optimising its expectation over the posterior means the twin is cautious when it is uncertain and bolder once measurements narrow the posterior. The last card links the external-beam work, DoseVLM, to the RPT twin.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worked example of the update step. Before treatment, the population model says a patient's kidney dose per GBq is only known to within about a factor of two. One SPECT-based dosimetry measurement after cycle 1 shrinks that to about plus or minus 30 percent. That is what lets later cycles be personalised. Values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combined model run as a paired virtual trial: the same 140 virtual patients get both arms. With fixed activity, about one in ten exceeds the kidney limit while more than half are far below it. Model-guided activity moves everyone up to their own limit, raising tumour BED and the probability of uncomplicated control. This mirrors the schematic in my research-vision talk, now computed. All parameters are illustrative.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recommended architecture for the combined twin. The top row is the mechanistic chain. Under each step is the AI method that best accelerates or corrects it. Three rules keep it credible: the backbone stays interpretable, each module is validated on its own, and uncertainty is carried all the way to the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new modules complete the combined model in code. The rest already exists in the repo. The simulation on the virtual-trial slide is a first sketch of virtual_trial.py.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three messages. Much of the stack already exists. The missing pieces are the kinetic and radiobiological layers, uncertainty propagation and a first pilot virtual trial.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references for each model and AI family. Check bibliographic details before citing.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1874520"/>
            <a:ext cx="10698480" cy="155448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3611880"/>
            <a:ext cx="9601200" cy="10058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5" name="Text 0"/>
          <p:cNvSpPr/>
          <p:nvPr>
            <p:ph idx="103" type="body" hasCustomPrompt="1"/>
          </p:nvPr>
        </p:nvSpPr>
        <p:spPr>
          <a:xfrm>
            <a:off x="731520" y="5257800"/>
            <a:ext cx="10698480" cy="457200"/>
          </a:xfrm>
          <a:prstGeom prst="rect">
            <a:avLst/>
          </a:prstGeom>
          <a:noFill/>
          <a:ln/>
        </p:spPr>
        <p:txBody>
          <a:bodyPr wrap="square" rtlCol="0"/>
          <a:lstStyle>
            <a:lvl1pPr indent="0" marL="0">
              <a:buNone/>
              <a:defRPr lang="en-US" sz="1600" dirty="0">
                <a:solidFill>
                  <a:schemeClr val="accent1"/>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lstStyle>
            <a:lvl1pPr indent="0" marL="0">
              <a:buNone/>
              <a:defRPr lang="en-US" sz="1600" b="1" dirty="0">
                <a:solidFill>
                  <a:schemeClr val="accent1"/>
                </a:solidFill>
              </a:defRPr>
            </a:lvl1pPr>
          </a:lstStyle>
          <a:p>
            <a:pPr indent="0" marL="0">
              <a:buNone/>
            </a:pP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rtlCol="0"/>
          <a:lstStyle>
            <a:lvl1pPr indent="0" marL="0">
              <a:buNone/>
              <a:defRPr lang="en-US" sz="1300" b="1" dirty="0">
                <a:solidFill>
                  <a:schemeClr val="accent2"/>
                </a:solidFill>
              </a:defRPr>
            </a:lvl1pPr>
          </a:lstStyle>
          <a:p>
            <a:pPr indent="0" marL="0">
              <a:buNone/>
            </a:pP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4"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Digital twins &amp; virtual trials  ·  the combined model</a:t>
            </a:r>
            <a:endParaRPr lang="en-US" sz="10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slideLayout" Target="../slideLayouts/slideLayout4.xml"/><Relationship Id="rId1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4.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10698480" cy="411480"/>
          </a:xfrm>
          <a:prstGeom prst="rect">
            <a:avLst/>
          </a:prstGeom>
          <a:noFill/>
          <a:ln/>
        </p:spPr>
        <p:txBody>
          <a:bodyPr wrap="square" rtlCol="0" anchor="t"/>
          <a:lstStyle/>
          <a:p>
            <a:pPr indent="0" marL="0">
              <a:buNone/>
            </a:pPr>
            <a:r>
              <a:rPr lang="en-US" sz="1600" b="1" dirty="0">
                <a:solidFill>
                  <a:schemeClr val="accent1"/>
                </a:solidFill>
              </a:rPr>
              <a:t>FINAL DECK  ·  OCTOBER 2026</a:t>
            </a:r>
            <a:endParaRPr lang="en-US" sz="1600" dirty="0"/>
          </a:p>
        </p:txBody>
      </p:sp>
      <p:sp>
        <p:nvSpPr>
          <p:cNvPr id="3" name="Text 0"/>
          <p:cNvSpPr/>
          <p:nvPr>
            <p:ph idx="101" type="title" hasCustomPrompt="1"/>
          </p:nvPr>
        </p:nvSpPr>
        <p:spPr>
          <a:xfrm>
            <a:off x="731520" y="1874520"/>
            <a:ext cx="10698480" cy="1554480"/>
          </a:xfrm>
          <a:prstGeom prst="rect">
            <a:avLst/>
          </a:prstGeom>
          <a:noFill/>
          <a:ln/>
        </p:spPr>
        <p:txBody>
          <a:bodyPr wrap="square" rtlCol="0" anchor="t"/>
          <a:lstStyle/>
          <a:p>
            <a:pPr algn="l" indent="0" marL="0">
              <a:buNone/>
            </a:pPr>
            <a:r>
              <a:rPr lang="en-US" sz="4400" b="1" dirty="0">
                <a:solidFill>
                  <a:schemeClr val="bg1"/>
                </a:solidFill>
              </a:rPr>
              <a:t>The Combined Model: Digital Twins and Virtual Trials</a:t>
            </a:r>
            <a:endParaRPr lang="en-US" sz="4400" dirty="0"/>
          </a:p>
        </p:txBody>
      </p:sp>
      <p:sp>
        <p:nvSpPr>
          <p:cNvPr id="4" name="Text 0"/>
          <p:cNvSpPr/>
          <p:nvPr>
            <p:ph idx="102" type="body" hasCustomPrompt="1"/>
          </p:nvPr>
        </p:nvSpPr>
        <p:spPr>
          <a:xfrm>
            <a:off x="731520" y="3611880"/>
            <a:ext cx="9601200" cy="1005840"/>
          </a:xfrm>
          <a:prstGeom prst="rect">
            <a:avLst/>
          </a:prstGeom>
          <a:noFill/>
          <a:ln/>
        </p:spPr>
        <p:txBody>
          <a:bodyPr wrap="square" rtlCol="0" anchor="t"/>
          <a:lstStyle/>
          <a:p>
            <a:pPr indent="0" marL="0">
              <a:buNone/>
            </a:pPr>
            <a:r>
              <a:rPr lang="en-US" sz="1800" dirty="0">
                <a:solidFill>
                  <a:schemeClr val="bg2"/>
                </a:solidFill>
              </a:rPr>
              <a:t>Every mathematical model, the best AI methods for each layer, and how they combine into one predictive twin tested in a virtual trial</a:t>
            </a:r>
            <a:endParaRPr lang="en-US" sz="1800" dirty="0"/>
          </a:p>
        </p:txBody>
      </p:sp>
      <p:sp>
        <p:nvSpPr>
          <p:cNvPr id="5" name="Text 0"/>
          <p:cNvSpPr/>
          <p:nvPr>
            <p:ph idx="103" type="body" hasCustomPrompt="1"/>
          </p:nvPr>
        </p:nvSpPr>
        <p:spPr>
          <a:xfrm>
            <a:off x="731520" y="5257800"/>
            <a:ext cx="10698480" cy="457200"/>
          </a:xfrm>
          <a:prstGeom prst="rect">
            <a:avLst/>
          </a:prstGeom>
          <a:noFill/>
          <a:ln/>
        </p:spPr>
        <p:txBody>
          <a:bodyPr wrap="square" rtlCol="0" anchor="t"/>
          <a:lstStyle/>
          <a:p>
            <a:pPr indent="0" marL="0">
              <a:buNone/>
            </a:pPr>
            <a:r>
              <a:rPr lang="en-US" sz="1600" dirty="0">
                <a:solidFill>
                  <a:schemeClr val="accent1"/>
                </a:solidFill>
              </a:rPr>
              <a:t>Hamid Abdollahi, PhD  ·  Medical physics · quantitative imaging · AI · radiopharmaceutical therapy</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EXECUTIVE SUMMARY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Eight model layers make one predictive engine</a:t>
            </a:r>
            <a:endParaRPr lang="en-US" sz="3600" dirty="0"/>
          </a:p>
        </p:txBody>
      </p:sp>
      <p:sp>
        <p:nvSpPr>
          <p:cNvPr id="4" name="icon circle"/>
          <p:cNvSpPr/>
          <p:nvPr/>
        </p:nvSpPr>
        <p:spPr>
          <a:xfrm>
            <a:off x="548640" y="1673352"/>
            <a:ext cx="566928" cy="566928"/>
          </a:xfrm>
          <a:prstGeom prst="ellipse">
            <a:avLst/>
          </a:prstGeom>
          <a:solidFill>
            <a:schemeClr val="accent2"/>
          </a:solidFill>
          <a:ln w="12700">
            <a:solidFill>
              <a:schemeClr val="accent2"/>
            </a:solidFill>
            <a:prstDash val="solid"/>
          </a:ln>
        </p:spPr>
      </p:sp>
      <p:pic>
        <p:nvPicPr>
          <p:cNvPr id="5" name="icon" descr="preencoded.png">    </p:cNvPr>
          <p:cNvPicPr>
            <a:picLocks noChangeAspect="1"/>
          </p:cNvPicPr>
          <p:nvPr/>
        </p:nvPicPr>
        <p:blipFill>
          <a:blip r:embed="rId1"/>
          <a:stretch>
            <a:fillRect/>
          </a:stretch>
        </p:blipFill>
        <p:spPr>
          <a:xfrm>
            <a:off x="673364" y="1798076"/>
            <a:ext cx="317480" cy="317480"/>
          </a:xfrm>
          <a:prstGeom prst="rect">
            <a:avLst/>
          </a:prstGeom>
        </p:spPr>
      </p:pic>
      <p:sp>
        <p:nvSpPr>
          <p:cNvPr id="6" name="Text 3"/>
          <p:cNvSpPr txBox="1"/>
          <p:nvPr/>
        </p:nvSpPr>
        <p:spPr>
          <a:xfrm>
            <a:off x="1298448" y="1600200"/>
            <a:ext cx="4663440" cy="365760"/>
          </a:xfrm>
          <a:prstGeom prst="rect">
            <a:avLst/>
          </a:prstGeom>
          <a:noFill/>
          <a:ln/>
        </p:spPr>
        <p:txBody>
          <a:bodyPr wrap="square" lIns="0" tIns="0" rIns="0" bIns="0" rtlCol="0" anchor="t"/>
          <a:lstStyle/>
          <a:p>
            <a:pPr indent="0" marL="0">
              <a:buNone/>
            </a:pPr>
            <a:r>
              <a:rPr lang="en-US" sz="1700" b="1" dirty="0">
                <a:solidFill>
                  <a:schemeClr val="tx2"/>
                </a:solidFill>
              </a:rPr>
              <a:t>1 · Virtual patients</a:t>
            </a:r>
            <a:endParaRPr lang="en-US" sz="1700" dirty="0"/>
          </a:p>
        </p:txBody>
      </p:sp>
      <p:sp>
        <p:nvSpPr>
          <p:cNvPr id="7" name="Text 4"/>
          <p:cNvSpPr txBox="1"/>
          <p:nvPr/>
        </p:nvSpPr>
        <p:spPr>
          <a:xfrm>
            <a:off x="1298448" y="1984248"/>
            <a:ext cx="4663440" cy="457200"/>
          </a:xfrm>
          <a:prstGeom prst="rect">
            <a:avLst/>
          </a:prstGeom>
          <a:noFill/>
          <a:ln/>
        </p:spPr>
        <p:txBody>
          <a:bodyPr wrap="square" lIns="0" tIns="0" rIns="0" bIns="0" rtlCol="0" anchor="t"/>
          <a:lstStyle/>
          <a:p>
            <a:pPr indent="0" marL="0">
              <a:buNone/>
            </a:pPr>
            <a:r>
              <a:rPr lang="en-US" sz="1400" dirty="0">
                <a:solidFill>
                  <a:schemeClr val="tx1"/>
                </a:solidFill>
              </a:rPr>
              <a:t>Who is in the trial: sampled cohorts, phantoms, growth</a:t>
            </a:r>
            <a:endParaRPr lang="en-US" sz="1400" dirty="0"/>
          </a:p>
        </p:txBody>
      </p:sp>
      <p:sp>
        <p:nvSpPr>
          <p:cNvPr id="8" name="icon circle"/>
          <p:cNvSpPr/>
          <p:nvPr/>
        </p:nvSpPr>
        <p:spPr>
          <a:xfrm>
            <a:off x="6217920" y="1673352"/>
            <a:ext cx="566928" cy="566928"/>
          </a:xfrm>
          <a:prstGeom prst="ellipse">
            <a:avLst/>
          </a:prstGeom>
          <a:solidFill>
            <a:schemeClr val="accent2"/>
          </a:solidFill>
          <a:ln w="12700">
            <a:solidFill>
              <a:schemeClr val="accent2"/>
            </a:solidFill>
            <a:prstDash val="solid"/>
          </a:ln>
        </p:spPr>
      </p:sp>
      <p:pic>
        <p:nvPicPr>
          <p:cNvPr id="9" name="icon" descr="preencoded.png">    </p:cNvPr>
          <p:cNvPicPr>
            <a:picLocks noChangeAspect="1"/>
          </p:cNvPicPr>
          <p:nvPr/>
        </p:nvPicPr>
        <p:blipFill>
          <a:blip r:embed="rId2"/>
          <a:stretch>
            <a:fillRect/>
          </a:stretch>
        </p:blipFill>
        <p:spPr>
          <a:xfrm>
            <a:off x="6342644" y="1798076"/>
            <a:ext cx="317480" cy="317480"/>
          </a:xfrm>
          <a:prstGeom prst="rect">
            <a:avLst/>
          </a:prstGeom>
        </p:spPr>
      </p:pic>
      <p:sp>
        <p:nvSpPr>
          <p:cNvPr id="10" name="Text 6"/>
          <p:cNvSpPr txBox="1"/>
          <p:nvPr/>
        </p:nvSpPr>
        <p:spPr>
          <a:xfrm>
            <a:off x="6967728" y="1600200"/>
            <a:ext cx="4663440" cy="365760"/>
          </a:xfrm>
          <a:prstGeom prst="rect">
            <a:avLst/>
          </a:prstGeom>
          <a:noFill/>
          <a:ln/>
        </p:spPr>
        <p:txBody>
          <a:bodyPr wrap="square" lIns="0" tIns="0" rIns="0" bIns="0" rtlCol="0" anchor="t"/>
          <a:lstStyle/>
          <a:p>
            <a:pPr indent="0" marL="0">
              <a:buNone/>
            </a:pPr>
            <a:r>
              <a:rPr lang="en-US" sz="1700" b="1" dirty="0">
                <a:solidFill>
                  <a:schemeClr val="tx2"/>
                </a:solidFill>
              </a:rPr>
              <a:t>2 · Pharmacokinetics</a:t>
            </a:r>
            <a:endParaRPr lang="en-US" sz="1700" dirty="0"/>
          </a:p>
        </p:txBody>
      </p:sp>
      <p:sp>
        <p:nvSpPr>
          <p:cNvPr id="11" name="Text 7"/>
          <p:cNvSpPr txBox="1"/>
          <p:nvPr/>
        </p:nvSpPr>
        <p:spPr>
          <a:xfrm>
            <a:off x="6967728" y="1984248"/>
            <a:ext cx="4663440" cy="457200"/>
          </a:xfrm>
          <a:prstGeom prst="rect">
            <a:avLst/>
          </a:prstGeom>
          <a:noFill/>
          <a:ln/>
        </p:spPr>
        <p:txBody>
          <a:bodyPr wrap="square" lIns="0" tIns="0" rIns="0" bIns="0" rtlCol="0" anchor="t"/>
          <a:lstStyle/>
          <a:p>
            <a:pPr indent="0" marL="0">
              <a:buNone/>
            </a:pPr>
            <a:r>
              <a:rPr lang="en-US" sz="1400" dirty="0">
                <a:solidFill>
                  <a:schemeClr val="tx1"/>
                </a:solidFill>
              </a:rPr>
              <a:t>Where the drug goes: PBPK ODEs, TACs, SUV</a:t>
            </a:r>
            <a:endParaRPr lang="en-US" sz="1400" dirty="0"/>
          </a:p>
        </p:txBody>
      </p:sp>
      <p:sp>
        <p:nvSpPr>
          <p:cNvPr id="12" name="icon circle"/>
          <p:cNvSpPr/>
          <p:nvPr/>
        </p:nvSpPr>
        <p:spPr>
          <a:xfrm>
            <a:off x="548640" y="2697480"/>
            <a:ext cx="566928" cy="566928"/>
          </a:xfrm>
          <a:prstGeom prst="ellipse">
            <a:avLst/>
          </a:prstGeom>
          <a:solidFill>
            <a:schemeClr val="accent2"/>
          </a:solidFill>
          <a:ln w="12700">
            <a:solidFill>
              <a:schemeClr val="accent2"/>
            </a:solidFill>
            <a:prstDash val="solid"/>
          </a:ln>
        </p:spPr>
      </p:sp>
      <p:pic>
        <p:nvPicPr>
          <p:cNvPr id="13" name="icon" descr="preencoded.png">    </p:cNvPr>
          <p:cNvPicPr>
            <a:picLocks noChangeAspect="1"/>
          </p:cNvPicPr>
          <p:nvPr/>
        </p:nvPicPr>
        <p:blipFill>
          <a:blip r:embed="rId3"/>
          <a:stretch>
            <a:fillRect/>
          </a:stretch>
        </p:blipFill>
        <p:spPr>
          <a:xfrm>
            <a:off x="673364" y="2822204"/>
            <a:ext cx="317480" cy="317480"/>
          </a:xfrm>
          <a:prstGeom prst="rect">
            <a:avLst/>
          </a:prstGeom>
        </p:spPr>
      </p:pic>
      <p:sp>
        <p:nvSpPr>
          <p:cNvPr id="14" name="Text 9"/>
          <p:cNvSpPr txBox="1"/>
          <p:nvPr/>
        </p:nvSpPr>
        <p:spPr>
          <a:xfrm>
            <a:off x="1298448" y="2624328"/>
            <a:ext cx="4663440" cy="365760"/>
          </a:xfrm>
          <a:prstGeom prst="rect">
            <a:avLst/>
          </a:prstGeom>
          <a:noFill/>
          <a:ln/>
        </p:spPr>
        <p:txBody>
          <a:bodyPr wrap="square" lIns="0" tIns="0" rIns="0" bIns="0" rtlCol="0" anchor="t"/>
          <a:lstStyle/>
          <a:p>
            <a:pPr indent="0" marL="0">
              <a:buNone/>
            </a:pPr>
            <a:r>
              <a:rPr lang="en-US" sz="1700" b="1" dirty="0">
                <a:solidFill>
                  <a:schemeClr val="tx2"/>
                </a:solidFill>
              </a:rPr>
              <a:t>3 · Dosimetry</a:t>
            </a:r>
            <a:endParaRPr lang="en-US" sz="1700" dirty="0"/>
          </a:p>
        </p:txBody>
      </p:sp>
      <p:sp>
        <p:nvSpPr>
          <p:cNvPr id="15" name="Text 10"/>
          <p:cNvSpPr txBox="1"/>
          <p:nvPr/>
        </p:nvSpPr>
        <p:spPr>
          <a:xfrm>
            <a:off x="1298448" y="3008376"/>
            <a:ext cx="4663440" cy="457200"/>
          </a:xfrm>
          <a:prstGeom prst="rect">
            <a:avLst/>
          </a:prstGeom>
          <a:noFill/>
          <a:ln/>
        </p:spPr>
        <p:txBody>
          <a:bodyPr wrap="square" lIns="0" tIns="0" rIns="0" bIns="0" rtlCol="0" anchor="t"/>
          <a:lstStyle/>
          <a:p>
            <a:pPr indent="0" marL="0">
              <a:buNone/>
            </a:pPr>
            <a:r>
              <a:rPr lang="en-US" sz="1400" dirty="0">
                <a:solidFill>
                  <a:schemeClr val="tx1"/>
                </a:solidFill>
              </a:rPr>
              <a:t>How much energy is absorbed: MIRD, voxel, EBRT</a:t>
            </a:r>
            <a:endParaRPr lang="en-US" sz="1400" dirty="0"/>
          </a:p>
        </p:txBody>
      </p:sp>
      <p:sp>
        <p:nvSpPr>
          <p:cNvPr id="16" name="icon circle"/>
          <p:cNvSpPr/>
          <p:nvPr/>
        </p:nvSpPr>
        <p:spPr>
          <a:xfrm>
            <a:off x="6217920" y="2697480"/>
            <a:ext cx="566928" cy="566928"/>
          </a:xfrm>
          <a:prstGeom prst="ellipse">
            <a:avLst/>
          </a:prstGeom>
          <a:solidFill>
            <a:schemeClr val="accent2"/>
          </a:solidFill>
          <a:ln w="12700">
            <a:solidFill>
              <a:schemeClr val="accent2"/>
            </a:solidFill>
            <a:prstDash val="solid"/>
          </a:ln>
        </p:spPr>
      </p:sp>
      <p:pic>
        <p:nvPicPr>
          <p:cNvPr id="17" name="icon" descr="preencoded.png">    </p:cNvPr>
          <p:cNvPicPr>
            <a:picLocks noChangeAspect="1"/>
          </p:cNvPicPr>
          <p:nvPr/>
        </p:nvPicPr>
        <p:blipFill>
          <a:blip r:embed="rId4"/>
          <a:stretch>
            <a:fillRect/>
          </a:stretch>
        </p:blipFill>
        <p:spPr>
          <a:xfrm>
            <a:off x="6342644" y="2822204"/>
            <a:ext cx="317480" cy="317480"/>
          </a:xfrm>
          <a:prstGeom prst="rect">
            <a:avLst/>
          </a:prstGeom>
        </p:spPr>
      </p:pic>
      <p:sp>
        <p:nvSpPr>
          <p:cNvPr id="18" name="Text 12"/>
          <p:cNvSpPr txBox="1"/>
          <p:nvPr/>
        </p:nvSpPr>
        <p:spPr>
          <a:xfrm>
            <a:off x="6967728" y="2624328"/>
            <a:ext cx="4663440" cy="365760"/>
          </a:xfrm>
          <a:prstGeom prst="rect">
            <a:avLst/>
          </a:prstGeom>
          <a:noFill/>
          <a:ln/>
        </p:spPr>
        <p:txBody>
          <a:bodyPr wrap="square" lIns="0" tIns="0" rIns="0" bIns="0" rtlCol="0" anchor="t"/>
          <a:lstStyle/>
          <a:p>
            <a:pPr indent="0" marL="0">
              <a:buNone/>
            </a:pPr>
            <a:r>
              <a:rPr lang="en-US" sz="1700" b="1" dirty="0">
                <a:solidFill>
                  <a:schemeClr val="tx2"/>
                </a:solidFill>
              </a:rPr>
              <a:t>4 · Radiobiology</a:t>
            </a:r>
            <a:endParaRPr lang="en-US" sz="1700" dirty="0"/>
          </a:p>
        </p:txBody>
      </p:sp>
      <p:sp>
        <p:nvSpPr>
          <p:cNvPr id="19" name="Text 13"/>
          <p:cNvSpPr txBox="1"/>
          <p:nvPr/>
        </p:nvSpPr>
        <p:spPr>
          <a:xfrm>
            <a:off x="6967728" y="3008376"/>
            <a:ext cx="4663440" cy="457200"/>
          </a:xfrm>
          <a:prstGeom prst="rect">
            <a:avLst/>
          </a:prstGeom>
          <a:noFill/>
          <a:ln/>
        </p:spPr>
        <p:txBody>
          <a:bodyPr wrap="square" lIns="0" tIns="0" rIns="0" bIns="0" rtlCol="0" anchor="t"/>
          <a:lstStyle/>
          <a:p>
            <a:pPr indent="0" marL="0">
              <a:buNone/>
            </a:pPr>
            <a:r>
              <a:rPr lang="en-US" sz="1400" dirty="0">
                <a:solidFill>
                  <a:schemeClr val="tx1"/>
                </a:solidFill>
              </a:rPr>
              <a:t>What dose does: LQ, BED with G factor, TCP, NTCP</a:t>
            </a:r>
            <a:endParaRPr lang="en-US" sz="1400" dirty="0"/>
          </a:p>
        </p:txBody>
      </p:sp>
      <p:sp>
        <p:nvSpPr>
          <p:cNvPr id="20" name="icon circle"/>
          <p:cNvSpPr/>
          <p:nvPr/>
        </p:nvSpPr>
        <p:spPr>
          <a:xfrm>
            <a:off x="548640" y="3721608"/>
            <a:ext cx="566928" cy="566928"/>
          </a:xfrm>
          <a:prstGeom prst="ellipse">
            <a:avLst/>
          </a:prstGeom>
          <a:solidFill>
            <a:schemeClr val="accent2"/>
          </a:solidFill>
          <a:ln w="12700">
            <a:solidFill>
              <a:schemeClr val="accent2"/>
            </a:solidFill>
            <a:prstDash val="solid"/>
          </a:ln>
        </p:spPr>
      </p:sp>
      <p:pic>
        <p:nvPicPr>
          <p:cNvPr id="21" name="icon" descr="preencoded.png">    </p:cNvPr>
          <p:cNvPicPr>
            <a:picLocks noChangeAspect="1"/>
          </p:cNvPicPr>
          <p:nvPr/>
        </p:nvPicPr>
        <p:blipFill>
          <a:blip r:embed="rId5"/>
          <a:stretch>
            <a:fillRect/>
          </a:stretch>
        </p:blipFill>
        <p:spPr>
          <a:xfrm>
            <a:off x="673364" y="3846332"/>
            <a:ext cx="317480" cy="317480"/>
          </a:xfrm>
          <a:prstGeom prst="rect">
            <a:avLst/>
          </a:prstGeom>
        </p:spPr>
      </p:pic>
      <p:sp>
        <p:nvSpPr>
          <p:cNvPr id="22" name="Text 15"/>
          <p:cNvSpPr txBox="1"/>
          <p:nvPr/>
        </p:nvSpPr>
        <p:spPr>
          <a:xfrm>
            <a:off x="1298448" y="3648456"/>
            <a:ext cx="4663440" cy="365760"/>
          </a:xfrm>
          <a:prstGeom prst="rect">
            <a:avLst/>
          </a:prstGeom>
          <a:noFill/>
          <a:ln/>
        </p:spPr>
        <p:txBody>
          <a:bodyPr wrap="square" lIns="0" tIns="0" rIns="0" bIns="0" rtlCol="0" anchor="t"/>
          <a:lstStyle/>
          <a:p>
            <a:pPr indent="0" marL="0">
              <a:buNone/>
            </a:pPr>
            <a:r>
              <a:rPr lang="en-US" sz="1700" b="1" dirty="0">
                <a:solidFill>
                  <a:schemeClr val="tx2"/>
                </a:solidFill>
              </a:rPr>
              <a:t>5 · Updating and optimisation</a:t>
            </a:r>
            <a:endParaRPr lang="en-US" sz="1700" dirty="0"/>
          </a:p>
        </p:txBody>
      </p:sp>
      <p:sp>
        <p:nvSpPr>
          <p:cNvPr id="23" name="Text 16"/>
          <p:cNvSpPr txBox="1"/>
          <p:nvPr/>
        </p:nvSpPr>
        <p:spPr>
          <a:xfrm>
            <a:off x="1298448" y="4032504"/>
            <a:ext cx="4663440" cy="457200"/>
          </a:xfrm>
          <a:prstGeom prst="rect">
            <a:avLst/>
          </a:prstGeom>
          <a:noFill/>
          <a:ln/>
        </p:spPr>
        <p:txBody>
          <a:bodyPr wrap="square" lIns="0" tIns="0" rIns="0" bIns="0" rtlCol="0" anchor="t"/>
          <a:lstStyle/>
          <a:p>
            <a:pPr indent="0" marL="0">
              <a:buNone/>
            </a:pPr>
            <a:r>
              <a:rPr lang="en-US" sz="1400" dirty="0">
                <a:solidFill>
                  <a:schemeClr val="tx1"/>
                </a:solidFill>
              </a:rPr>
              <a:t>Bayesian updates per cycle; choose activity</a:t>
            </a:r>
            <a:endParaRPr lang="en-US" sz="1400" dirty="0"/>
          </a:p>
        </p:txBody>
      </p:sp>
      <p:sp>
        <p:nvSpPr>
          <p:cNvPr id="24" name="icon circle"/>
          <p:cNvSpPr/>
          <p:nvPr/>
        </p:nvSpPr>
        <p:spPr>
          <a:xfrm>
            <a:off x="6217920" y="3721608"/>
            <a:ext cx="566928" cy="566928"/>
          </a:xfrm>
          <a:prstGeom prst="ellipse">
            <a:avLst/>
          </a:prstGeom>
          <a:solidFill>
            <a:schemeClr val="accent2"/>
          </a:solidFill>
          <a:ln w="12700">
            <a:solidFill>
              <a:schemeClr val="accent2"/>
            </a:solidFill>
            <a:prstDash val="solid"/>
          </a:ln>
        </p:spPr>
      </p:sp>
      <p:pic>
        <p:nvPicPr>
          <p:cNvPr id="25" name="icon" descr="preencoded.png">    </p:cNvPr>
          <p:cNvPicPr>
            <a:picLocks noChangeAspect="1"/>
          </p:cNvPicPr>
          <p:nvPr/>
        </p:nvPicPr>
        <p:blipFill>
          <a:blip r:embed="rId6"/>
          <a:stretch>
            <a:fillRect/>
          </a:stretch>
        </p:blipFill>
        <p:spPr>
          <a:xfrm>
            <a:off x="6342644" y="3846332"/>
            <a:ext cx="317480" cy="317480"/>
          </a:xfrm>
          <a:prstGeom prst="rect">
            <a:avLst/>
          </a:prstGeom>
        </p:spPr>
      </p:pic>
      <p:sp>
        <p:nvSpPr>
          <p:cNvPr id="26" name="Text 18"/>
          <p:cNvSpPr txBox="1"/>
          <p:nvPr/>
        </p:nvSpPr>
        <p:spPr>
          <a:xfrm>
            <a:off x="6967728" y="3648456"/>
            <a:ext cx="4663440" cy="365760"/>
          </a:xfrm>
          <a:prstGeom prst="rect">
            <a:avLst/>
          </a:prstGeom>
          <a:noFill/>
          <a:ln/>
        </p:spPr>
        <p:txBody>
          <a:bodyPr wrap="square" lIns="0" tIns="0" rIns="0" bIns="0" rtlCol="0" anchor="t"/>
          <a:lstStyle/>
          <a:p>
            <a:pPr indent="0" marL="0">
              <a:buNone/>
            </a:pPr>
            <a:r>
              <a:rPr lang="en-US" sz="1700" b="1" dirty="0">
                <a:solidFill>
                  <a:schemeClr val="tx2"/>
                </a:solidFill>
              </a:rPr>
              <a:t>6 · Learned surrogates</a:t>
            </a:r>
            <a:endParaRPr lang="en-US" sz="1700" dirty="0"/>
          </a:p>
        </p:txBody>
      </p:sp>
      <p:sp>
        <p:nvSpPr>
          <p:cNvPr id="27" name="Text 19"/>
          <p:cNvSpPr txBox="1"/>
          <p:nvPr/>
        </p:nvSpPr>
        <p:spPr>
          <a:xfrm>
            <a:off x="6967728" y="4032504"/>
            <a:ext cx="4663440" cy="457200"/>
          </a:xfrm>
          <a:prstGeom prst="rect">
            <a:avLst/>
          </a:prstGeom>
          <a:noFill/>
          <a:ln/>
        </p:spPr>
        <p:txBody>
          <a:bodyPr wrap="square" lIns="0" tIns="0" rIns="0" bIns="0" rtlCol="0" anchor="t"/>
          <a:lstStyle/>
          <a:p>
            <a:pPr indent="0" marL="0">
              <a:buNone/>
            </a:pPr>
            <a:r>
              <a:rPr lang="en-US" sz="1400" dirty="0">
                <a:solidFill>
                  <a:schemeClr val="tx1"/>
                </a:solidFill>
              </a:rPr>
              <a:t>DoseVLM: seconds instead of hours of simulation</a:t>
            </a:r>
            <a:endParaRPr lang="en-US" sz="1400" dirty="0"/>
          </a:p>
        </p:txBody>
      </p:sp>
      <p:sp>
        <p:nvSpPr>
          <p:cNvPr id="28" name="icon circle"/>
          <p:cNvSpPr/>
          <p:nvPr/>
        </p:nvSpPr>
        <p:spPr>
          <a:xfrm>
            <a:off x="548640" y="4745736"/>
            <a:ext cx="566928" cy="566928"/>
          </a:xfrm>
          <a:prstGeom prst="ellipse">
            <a:avLst/>
          </a:prstGeom>
          <a:solidFill>
            <a:schemeClr val="accent2"/>
          </a:solidFill>
          <a:ln w="12700">
            <a:solidFill>
              <a:schemeClr val="accent2"/>
            </a:solidFill>
            <a:prstDash val="solid"/>
          </a:ln>
        </p:spPr>
      </p:sp>
      <p:pic>
        <p:nvPicPr>
          <p:cNvPr id="29" name="icon" descr="preencoded.png">    </p:cNvPr>
          <p:cNvPicPr>
            <a:picLocks noChangeAspect="1"/>
          </p:cNvPicPr>
          <p:nvPr/>
        </p:nvPicPr>
        <p:blipFill>
          <a:blip r:embed="rId7"/>
          <a:stretch>
            <a:fillRect/>
          </a:stretch>
        </p:blipFill>
        <p:spPr>
          <a:xfrm>
            <a:off x="673364" y="4870460"/>
            <a:ext cx="317480" cy="317480"/>
          </a:xfrm>
          <a:prstGeom prst="rect">
            <a:avLst/>
          </a:prstGeom>
        </p:spPr>
      </p:pic>
      <p:sp>
        <p:nvSpPr>
          <p:cNvPr id="30" name="Text 21"/>
          <p:cNvSpPr txBox="1"/>
          <p:nvPr/>
        </p:nvSpPr>
        <p:spPr>
          <a:xfrm>
            <a:off x="1298448" y="4672584"/>
            <a:ext cx="4663440" cy="365760"/>
          </a:xfrm>
          <a:prstGeom prst="rect">
            <a:avLst/>
          </a:prstGeom>
          <a:noFill/>
          <a:ln/>
        </p:spPr>
        <p:txBody>
          <a:bodyPr wrap="square" lIns="0" tIns="0" rIns="0" bIns="0" rtlCol="0" anchor="t"/>
          <a:lstStyle/>
          <a:p>
            <a:pPr indent="0" marL="0">
              <a:buNone/>
            </a:pPr>
            <a:r>
              <a:rPr lang="en-US" sz="1700" b="1" dirty="0">
                <a:solidFill>
                  <a:schemeClr val="tx2"/>
                </a:solidFill>
              </a:rPr>
              <a:t>7 · Imaging biomarkers</a:t>
            </a:r>
            <a:endParaRPr lang="en-US" sz="1700" dirty="0"/>
          </a:p>
        </p:txBody>
      </p:sp>
      <p:sp>
        <p:nvSpPr>
          <p:cNvPr id="31" name="Text 22"/>
          <p:cNvSpPr txBox="1"/>
          <p:nvPr/>
        </p:nvSpPr>
        <p:spPr>
          <a:xfrm>
            <a:off x="1298448" y="5056632"/>
            <a:ext cx="4663440" cy="457200"/>
          </a:xfrm>
          <a:prstGeom prst="rect">
            <a:avLst/>
          </a:prstGeom>
          <a:noFill/>
          <a:ln/>
        </p:spPr>
        <p:txBody>
          <a:bodyPr wrap="square" lIns="0" tIns="0" rIns="0" bIns="0" rtlCol="0" anchor="t"/>
          <a:lstStyle/>
          <a:p>
            <a:pPr indent="0" marL="0">
              <a:buNone/>
            </a:pPr>
            <a:r>
              <a:rPr lang="en-US" sz="1400" dirty="0">
                <a:solidFill>
                  <a:schemeClr val="tx1"/>
                </a:solidFill>
              </a:rPr>
              <a:t>Radiomics: features, selection, classifiers</a:t>
            </a:r>
            <a:endParaRPr lang="en-US" sz="1400" dirty="0"/>
          </a:p>
        </p:txBody>
      </p:sp>
      <p:sp>
        <p:nvSpPr>
          <p:cNvPr id="32" name="icon circle"/>
          <p:cNvSpPr/>
          <p:nvPr/>
        </p:nvSpPr>
        <p:spPr>
          <a:xfrm>
            <a:off x="6217920" y="4745736"/>
            <a:ext cx="566928" cy="566928"/>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8"/>
          <a:stretch>
            <a:fillRect/>
          </a:stretch>
        </p:blipFill>
        <p:spPr>
          <a:xfrm>
            <a:off x="6342644" y="4870460"/>
            <a:ext cx="317480" cy="317480"/>
          </a:xfrm>
          <a:prstGeom prst="rect">
            <a:avLst/>
          </a:prstGeom>
        </p:spPr>
      </p:pic>
      <p:sp>
        <p:nvSpPr>
          <p:cNvPr id="34" name="Text 24"/>
          <p:cNvSpPr txBox="1"/>
          <p:nvPr/>
        </p:nvSpPr>
        <p:spPr>
          <a:xfrm>
            <a:off x="6967728" y="4672584"/>
            <a:ext cx="4663440" cy="365760"/>
          </a:xfrm>
          <a:prstGeom prst="rect">
            <a:avLst/>
          </a:prstGeom>
          <a:noFill/>
          <a:ln/>
        </p:spPr>
        <p:txBody>
          <a:bodyPr wrap="square" lIns="0" tIns="0" rIns="0" bIns="0" rtlCol="0" anchor="t"/>
          <a:lstStyle/>
          <a:p>
            <a:pPr indent="0" marL="0">
              <a:buNone/>
            </a:pPr>
            <a:r>
              <a:rPr lang="en-US" sz="1700" b="1" dirty="0">
                <a:solidFill>
                  <a:schemeClr val="tx2"/>
                </a:solidFill>
              </a:rPr>
              <a:t>8 · Evaluation and credibility</a:t>
            </a:r>
            <a:endParaRPr lang="en-US" sz="1700" dirty="0"/>
          </a:p>
        </p:txBody>
      </p:sp>
      <p:sp>
        <p:nvSpPr>
          <p:cNvPr id="35" name="Text 25"/>
          <p:cNvSpPr txBox="1"/>
          <p:nvPr/>
        </p:nvSpPr>
        <p:spPr>
          <a:xfrm>
            <a:off x="6967728" y="5056632"/>
            <a:ext cx="4663440" cy="457200"/>
          </a:xfrm>
          <a:prstGeom prst="rect">
            <a:avLst/>
          </a:prstGeom>
          <a:noFill/>
          <a:ln/>
        </p:spPr>
        <p:txBody>
          <a:bodyPr wrap="square" lIns="0" tIns="0" rIns="0" bIns="0" rtlCol="0" anchor="t"/>
          <a:lstStyle/>
          <a:p>
            <a:pPr indent="0" marL="0">
              <a:buNone/>
            </a:pPr>
            <a:r>
              <a:rPr lang="en-US" sz="1400" dirty="0">
                <a:solidFill>
                  <a:schemeClr val="tx1"/>
                </a:solidFill>
              </a:rPr>
              <a:t>AUC, calibration, gamma, V&amp;V 40, trial statistics</a:t>
            </a:r>
            <a:endParaRPr lang="en-US" sz="1400" dirty="0"/>
          </a:p>
        </p:txBody>
      </p:sp>
      <p:sp>
        <p:nvSpPr>
          <p:cNvPr id="36" name="Text 26"/>
          <p:cNvSpPr txBox="1"/>
          <p:nvPr/>
        </p:nvSpPr>
        <p:spPr>
          <a:xfrm>
            <a:off x="548640" y="5833872"/>
            <a:ext cx="1920240" cy="274320"/>
          </a:xfrm>
          <a:prstGeom prst="rect">
            <a:avLst/>
          </a:prstGeom>
          <a:noFill/>
          <a:ln/>
        </p:spPr>
        <p:txBody>
          <a:bodyPr wrap="square" lIns="0" tIns="0" rIns="0" bIns="0" rtlCol="0" anchor="ctr"/>
          <a:lstStyle/>
          <a:p>
            <a:pPr indent="0" marL="0">
              <a:buNone/>
            </a:pPr>
            <a:r>
              <a:rPr lang="en-US" sz="1200" dirty="0">
                <a:solidFill>
                  <a:schemeClr val="accent6"/>
                </a:solidFill>
              </a:rPr>
              <a:t>Status of each model:</a:t>
            </a:r>
            <a:endParaRPr lang="en-US" sz="1200" dirty="0"/>
          </a:p>
        </p:txBody>
      </p:sp>
      <p:sp>
        <p:nvSpPr>
          <p:cNvPr id="37" name="tag IN CODE"/>
          <p:cNvSpPr txBox="1"/>
          <p:nvPr/>
        </p:nvSpPr>
        <p:spPr>
          <a:xfrm>
            <a:off x="2423160" y="5843016"/>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38" name="tag IN TALKS"/>
          <p:cNvSpPr txBox="1"/>
          <p:nvPr/>
        </p:nvSpPr>
        <p:spPr>
          <a:xfrm>
            <a:off x="3520440" y="5843016"/>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39" name="tag IN REVIEW"/>
          <p:cNvSpPr txBox="1"/>
          <p:nvPr/>
        </p:nvSpPr>
        <p:spPr>
          <a:xfrm>
            <a:off x="4617720" y="5843016"/>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40" name="tag PROPOSED"/>
          <p:cNvSpPr txBox="1"/>
          <p:nvPr/>
        </p:nvSpPr>
        <p:spPr>
          <a:xfrm>
            <a:off x="5715000" y="5843016"/>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41" name="Text 31"/>
          <p:cNvSpPr txBox="1"/>
          <p:nvPr/>
        </p:nvSpPr>
        <p:spPr>
          <a:xfrm>
            <a:off x="6812280" y="5788152"/>
            <a:ext cx="4846320" cy="384048"/>
          </a:xfrm>
          <a:prstGeom prst="rect">
            <a:avLst/>
          </a:prstGeom>
          <a:noFill/>
          <a:ln/>
        </p:spPr>
        <p:txBody>
          <a:bodyPr wrap="square" lIns="0" tIns="0" rIns="0" bIns="0" rtlCol="0" anchor="ctr"/>
          <a:lstStyle/>
          <a:p>
            <a:pPr indent="0" marL="0">
              <a:buNone/>
            </a:pPr>
            <a:r>
              <a:rPr lang="en-US" sz="1100" dirty="0">
                <a:solidFill>
                  <a:schemeClr val="accent6"/>
                </a:solidFill>
              </a:rPr>
              <a:t>code = implemented in the repo  ·  talks = research-vision slides  ·  review = virtual-trials review  ·  proposed = next step</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HOW THE LAYERS CONNECT</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A virtual trial is a chain of models</a:t>
            </a:r>
            <a:endParaRPr lang="en-US" sz="3600" dirty="0"/>
          </a:p>
        </p:txBody>
      </p:sp>
      <p:sp>
        <p:nvSpPr>
          <p:cNvPr id="4" name="step PET / SPECT / CT"/>
          <p:cNvSpPr txBox="1"/>
          <p:nvPr/>
        </p:nvSpPr>
        <p:spPr>
          <a:xfrm>
            <a:off x="548640"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PET / SPECT / CT</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imaging input</a:t>
            </a:r>
            <a:endParaRPr lang="en-US" sz="1400" dirty="0"/>
          </a:p>
        </p:txBody>
      </p:sp>
      <p:sp>
        <p:nvSpPr>
          <p:cNvPr id="5" name="arrow"/>
          <p:cNvSpPr/>
          <p:nvPr/>
        </p:nvSpPr>
        <p:spPr>
          <a:xfrm>
            <a:off x="1975104" y="2263140"/>
            <a:ext cx="173736" cy="0"/>
          </a:xfrm>
          <a:prstGeom prst="line">
            <a:avLst/>
          </a:prstGeom>
          <a:noFill/>
          <a:ln w="19050">
            <a:solidFill>
              <a:schemeClr val="accent6"/>
            </a:solidFill>
            <a:prstDash val="solid"/>
            <a:tailEnd type="triangle"/>
          </a:ln>
        </p:spPr>
      </p:sp>
      <p:sp>
        <p:nvSpPr>
          <p:cNvPr id="6" name="step Virtual cohort"/>
          <p:cNvSpPr txBox="1"/>
          <p:nvPr/>
        </p:nvSpPr>
        <p:spPr>
          <a:xfrm>
            <a:off x="2157984"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Virtual cohort</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θᵢ ~ p(θ | x)</a:t>
            </a:r>
            <a:endParaRPr lang="en-US" sz="1400" dirty="0"/>
          </a:p>
        </p:txBody>
      </p:sp>
      <p:sp>
        <p:nvSpPr>
          <p:cNvPr id="7" name="arrow"/>
          <p:cNvSpPr/>
          <p:nvPr/>
        </p:nvSpPr>
        <p:spPr>
          <a:xfrm>
            <a:off x="3584448" y="2263140"/>
            <a:ext cx="173736" cy="0"/>
          </a:xfrm>
          <a:prstGeom prst="line">
            <a:avLst/>
          </a:prstGeom>
          <a:noFill/>
          <a:ln w="19050">
            <a:solidFill>
              <a:schemeClr val="accent6"/>
            </a:solidFill>
            <a:prstDash val="solid"/>
            <a:tailEnd type="triangle"/>
          </a:ln>
        </p:spPr>
      </p:sp>
      <p:sp>
        <p:nvSpPr>
          <p:cNvPr id="8" name="step PBPK kinetics"/>
          <p:cNvSpPr txBox="1"/>
          <p:nvPr/>
        </p:nvSpPr>
        <p:spPr>
          <a:xfrm>
            <a:off x="3767328"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PBPK kinetics</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A(t) per organ</a:t>
            </a:r>
            <a:endParaRPr lang="en-US" sz="1400" dirty="0"/>
          </a:p>
        </p:txBody>
      </p:sp>
      <p:sp>
        <p:nvSpPr>
          <p:cNvPr id="9" name="arrow"/>
          <p:cNvSpPr/>
          <p:nvPr/>
        </p:nvSpPr>
        <p:spPr>
          <a:xfrm>
            <a:off x="5193792" y="2263140"/>
            <a:ext cx="173736" cy="0"/>
          </a:xfrm>
          <a:prstGeom prst="line">
            <a:avLst/>
          </a:prstGeom>
          <a:noFill/>
          <a:ln w="19050">
            <a:solidFill>
              <a:schemeClr val="accent6"/>
            </a:solidFill>
            <a:prstDash val="solid"/>
            <a:tailEnd type="triangle"/>
          </a:ln>
        </p:spPr>
      </p:sp>
      <p:sp>
        <p:nvSpPr>
          <p:cNvPr id="10" name="step Voxel dosimetry"/>
          <p:cNvSpPr txBox="1"/>
          <p:nvPr/>
        </p:nvSpPr>
        <p:spPr>
          <a:xfrm>
            <a:off x="5376672"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Voxel dosimetry</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D = Ã ⊛ DVK</a:t>
            </a:r>
            <a:endParaRPr lang="en-US" sz="1400" dirty="0"/>
          </a:p>
        </p:txBody>
      </p:sp>
      <p:sp>
        <p:nvSpPr>
          <p:cNvPr id="11" name="arrow"/>
          <p:cNvSpPr/>
          <p:nvPr/>
        </p:nvSpPr>
        <p:spPr>
          <a:xfrm>
            <a:off x="6803136" y="2263140"/>
            <a:ext cx="173736" cy="0"/>
          </a:xfrm>
          <a:prstGeom prst="line">
            <a:avLst/>
          </a:prstGeom>
          <a:noFill/>
          <a:ln w="19050">
            <a:solidFill>
              <a:schemeClr val="accent6"/>
            </a:solidFill>
            <a:prstDash val="solid"/>
            <a:tailEnd type="triangle"/>
          </a:ln>
        </p:spPr>
      </p:sp>
      <p:sp>
        <p:nvSpPr>
          <p:cNvPr id="12" name="step Radiobiology"/>
          <p:cNvSpPr txBox="1"/>
          <p:nvPr/>
        </p:nvSpPr>
        <p:spPr>
          <a:xfrm>
            <a:off x="6986016"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Radiobiology</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BED, EQD2</a:t>
            </a:r>
            <a:endParaRPr lang="en-US" sz="1400" dirty="0"/>
          </a:p>
        </p:txBody>
      </p:sp>
      <p:sp>
        <p:nvSpPr>
          <p:cNvPr id="13" name="arrow"/>
          <p:cNvSpPr/>
          <p:nvPr/>
        </p:nvSpPr>
        <p:spPr>
          <a:xfrm>
            <a:off x="8412480" y="2263140"/>
            <a:ext cx="173736" cy="0"/>
          </a:xfrm>
          <a:prstGeom prst="line">
            <a:avLst/>
          </a:prstGeom>
          <a:noFill/>
          <a:ln w="19050">
            <a:solidFill>
              <a:schemeClr val="accent6"/>
            </a:solidFill>
            <a:prstDash val="solid"/>
            <a:tailEnd type="triangle"/>
          </a:ln>
        </p:spPr>
      </p:sp>
      <p:sp>
        <p:nvSpPr>
          <p:cNvPr id="14" name="step TCP / NTCP"/>
          <p:cNvSpPr txBox="1"/>
          <p:nvPr/>
        </p:nvSpPr>
        <p:spPr>
          <a:xfrm>
            <a:off x="8595360" y="1691640"/>
            <a:ext cx="1417320" cy="1143000"/>
          </a:xfrm>
          <a:prstGeom prst="roundRect">
            <a:avLst>
              <a:gd name="adj" fmla="val 8000"/>
            </a:avLst>
          </a:prstGeom>
          <a:solidFill>
            <a:schemeClr val="tx2"/>
          </a:solidFill>
          <a:ln/>
        </p:spPr>
        <p:txBody>
          <a:bodyPr wrap="square" lIns="635" tIns="635" rIns="635" bIns="635" rtlCol="0" anchor="ctr"/>
          <a:lstStyle/>
          <a:p>
            <a:pPr algn="ctr" indent="0" marL="0">
              <a:buNone/>
            </a:pPr>
            <a:r>
              <a:rPr lang="en-US" sz="1400" b="1" dirty="0">
                <a:solidFill>
                  <a:schemeClr val="bg1"/>
                </a:solidFill>
              </a:rPr>
              <a:t>TCP / NTCP</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outcome</a:t>
            </a:r>
            <a:endParaRPr lang="en-US" sz="1400" dirty="0"/>
          </a:p>
        </p:txBody>
      </p:sp>
      <p:sp>
        <p:nvSpPr>
          <p:cNvPr id="15" name="arrow"/>
          <p:cNvSpPr/>
          <p:nvPr/>
        </p:nvSpPr>
        <p:spPr>
          <a:xfrm>
            <a:off x="10021824" y="2263140"/>
            <a:ext cx="173736" cy="0"/>
          </a:xfrm>
          <a:prstGeom prst="line">
            <a:avLst/>
          </a:prstGeom>
          <a:noFill/>
          <a:ln w="19050">
            <a:solidFill>
              <a:schemeClr val="accent6"/>
            </a:solidFill>
            <a:prstDash val="solid"/>
            <a:tailEnd type="triangle"/>
          </a:ln>
        </p:spPr>
      </p:sp>
      <p:sp>
        <p:nvSpPr>
          <p:cNvPr id="16" name="step Decision"/>
          <p:cNvSpPr txBox="1"/>
          <p:nvPr/>
        </p:nvSpPr>
        <p:spPr>
          <a:xfrm>
            <a:off x="10204704" y="1691640"/>
            <a:ext cx="1417320" cy="1143000"/>
          </a:xfrm>
          <a:prstGeom prst="roundRect">
            <a:avLst>
              <a:gd name="adj" fmla="val 8000"/>
            </a:avLst>
          </a:prstGeom>
          <a:solidFill>
            <a:schemeClr val="accent2"/>
          </a:solidFill>
          <a:ln/>
        </p:spPr>
        <p:txBody>
          <a:bodyPr wrap="square" lIns="635" tIns="635" rIns="635" bIns="635" rtlCol="0" anchor="ctr"/>
          <a:lstStyle/>
          <a:p>
            <a:pPr algn="ctr" indent="0" marL="0">
              <a:buNone/>
            </a:pPr>
            <a:r>
              <a:rPr lang="en-US" sz="1400" b="1" dirty="0">
                <a:solidFill>
                  <a:schemeClr val="bg1"/>
                </a:solidFill>
              </a:rPr>
              <a:t>Decision</a:t>
            </a:r>
            <a:endParaRPr lang="en-US" sz="1400" dirty="0"/>
          </a:p>
          <a:p>
            <a:pPr algn="ctr" indent="0" marL="0">
              <a:buNone/>
            </a:pPr>
            <a:r>
              <a:rPr lang="en-US" sz="1200" dirty="0">
                <a:solidFill>
                  <a:schemeClr val="bg2"/>
                </a:solidFill>
                <a:latin typeface="+mj-lt" pitchFamily="34" charset="0"/>
                <a:ea typeface="+mj-lt" pitchFamily="34" charset="-122"/>
                <a:cs typeface="+mj-lt" pitchFamily="34" charset="-120"/>
              </a:rPr>
              <a:t>activity, cycles</a:t>
            </a:r>
            <a:endParaRPr lang="en-US" sz="1400" dirty="0"/>
          </a:p>
        </p:txBody>
      </p:sp>
      <p:sp>
        <p:nvSpPr>
          <p:cNvPr id="17" name="loop down"/>
          <p:cNvSpPr/>
          <p:nvPr/>
        </p:nvSpPr>
        <p:spPr>
          <a:xfrm>
            <a:off x="10515600" y="2852928"/>
            <a:ext cx="0" cy="411480"/>
          </a:xfrm>
          <a:prstGeom prst="line">
            <a:avLst/>
          </a:prstGeom>
          <a:noFill/>
          <a:ln w="25400">
            <a:solidFill>
              <a:schemeClr val="accent1"/>
            </a:solidFill>
            <a:prstDash val="solid"/>
          </a:ln>
        </p:spPr>
      </p:sp>
      <p:sp>
        <p:nvSpPr>
          <p:cNvPr id="18" name="loop across"/>
          <p:cNvSpPr/>
          <p:nvPr/>
        </p:nvSpPr>
        <p:spPr>
          <a:xfrm>
            <a:off x="3794760" y="3264408"/>
            <a:ext cx="6720840" cy="0"/>
          </a:xfrm>
          <a:prstGeom prst="line">
            <a:avLst/>
          </a:prstGeom>
          <a:noFill/>
          <a:ln w="25400">
            <a:solidFill>
              <a:schemeClr val="accent1"/>
            </a:solidFill>
            <a:prstDash val="solid"/>
          </a:ln>
        </p:spPr>
      </p:sp>
      <p:sp>
        <p:nvSpPr>
          <p:cNvPr id="19" name="loop up"/>
          <p:cNvSpPr/>
          <p:nvPr/>
        </p:nvSpPr>
        <p:spPr>
          <a:xfrm>
            <a:off x="3794760" y="2852928"/>
            <a:ext cx="0" cy="411480"/>
          </a:xfrm>
          <a:prstGeom prst="line">
            <a:avLst/>
          </a:prstGeom>
          <a:noFill/>
          <a:ln w="25400">
            <a:solidFill>
              <a:schemeClr val="accent1"/>
            </a:solidFill>
            <a:prstDash val="solid"/>
            <a:headEnd type="triangle"/>
          </a:ln>
        </p:spPr>
      </p:sp>
      <p:sp>
        <p:nvSpPr>
          <p:cNvPr id="20" name="Text 18"/>
          <p:cNvSpPr txBox="1"/>
          <p:nvPr/>
        </p:nvSpPr>
        <p:spPr>
          <a:xfrm>
            <a:off x="2377440" y="3337560"/>
            <a:ext cx="9235440" cy="320040"/>
          </a:xfrm>
          <a:prstGeom prst="rect">
            <a:avLst/>
          </a:prstGeom>
          <a:noFill/>
          <a:ln/>
        </p:spPr>
        <p:txBody>
          <a:bodyPr wrap="square" lIns="0" tIns="0" rIns="0" bIns="0" rtlCol="0" anchor="ctr"/>
          <a:lstStyle/>
          <a:p>
            <a:pPr algn="ctr" indent="0" marL="0">
              <a:buNone/>
            </a:pPr>
            <a:r>
              <a:rPr lang="en-US" sz="1400" i="1" dirty="0">
                <a:solidFill>
                  <a:schemeClr val="tx1"/>
                </a:solidFill>
              </a:rPr>
              <a:t>Every cycle: post-therapy SPECT/PET → Bayesian update of patient parameters → re-plan the next cycle</a:t>
            </a:r>
            <a:endParaRPr lang="en-US" sz="1400" dirty="0"/>
          </a:p>
        </p:txBody>
      </p:sp>
      <p:sp>
        <p:nvSpPr>
          <p:cNvPr id="21" name="card Virtual trial"/>
          <p:cNvSpPr/>
          <p:nvPr/>
        </p:nvSpPr>
        <p:spPr>
          <a:xfrm>
            <a:off x="548640" y="3977640"/>
            <a:ext cx="3520440" cy="2103120"/>
          </a:xfrm>
          <a:prstGeom prst="roundRect">
            <a:avLst>
              <a:gd name="adj" fmla="val 3478"/>
            </a:avLst>
          </a:prstGeom>
          <a:solidFill>
            <a:schemeClr val="bg2"/>
          </a:solidFill>
          <a:ln w="12700">
            <a:solidFill>
              <a:schemeClr val="bg2"/>
            </a:solidFill>
            <a:prstDash val="solid"/>
          </a:ln>
        </p:spPr>
      </p:sp>
      <p:sp>
        <p:nvSpPr>
          <p:cNvPr id="22" name="icon circle"/>
          <p:cNvSpPr/>
          <p:nvPr/>
        </p:nvSpPr>
        <p:spPr>
          <a:xfrm>
            <a:off x="749808" y="4160520"/>
            <a:ext cx="502920" cy="502920"/>
          </a:xfrm>
          <a:prstGeom prst="ellipse">
            <a:avLst/>
          </a:prstGeom>
          <a:solidFill>
            <a:schemeClr val="accent2"/>
          </a:solidFill>
          <a:ln w="12700">
            <a:solidFill>
              <a:schemeClr val="accent2"/>
            </a:solidFill>
            <a:prstDash val="solid"/>
          </a:ln>
        </p:spPr>
      </p:sp>
      <p:pic>
        <p:nvPicPr>
          <p:cNvPr id="23" name="icon" descr="preencoded.png">    </p:cNvPr>
          <p:cNvPicPr>
            <a:picLocks noChangeAspect="1"/>
          </p:cNvPicPr>
          <p:nvPr/>
        </p:nvPicPr>
        <p:blipFill>
          <a:blip r:embed="rId1"/>
          <a:stretch>
            <a:fillRect/>
          </a:stretch>
        </p:blipFill>
        <p:spPr>
          <a:xfrm>
            <a:off x="860450" y="4271162"/>
            <a:ext cx="281635" cy="281635"/>
          </a:xfrm>
          <a:prstGeom prst="rect">
            <a:avLst/>
          </a:prstGeom>
        </p:spPr>
      </p:pic>
      <p:sp>
        <p:nvSpPr>
          <p:cNvPr id="24" name="Text 21"/>
          <p:cNvSpPr txBox="1"/>
          <p:nvPr/>
        </p:nvSpPr>
        <p:spPr>
          <a:xfrm>
            <a:off x="1371600" y="420624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Virtual trial</a:t>
            </a:r>
            <a:endParaRPr lang="en-US" sz="1700" dirty="0"/>
          </a:p>
        </p:txBody>
      </p:sp>
      <p:sp>
        <p:nvSpPr>
          <p:cNvPr id="25" name="Text 22"/>
          <p:cNvSpPr txBox="1"/>
          <p:nvPr/>
        </p:nvSpPr>
        <p:spPr>
          <a:xfrm>
            <a:off x="749808" y="4800600"/>
            <a:ext cx="3154680" cy="1188720"/>
          </a:xfrm>
          <a:prstGeom prst="rect">
            <a:avLst/>
          </a:prstGeom>
          <a:noFill/>
          <a:ln/>
        </p:spPr>
        <p:txBody>
          <a:bodyPr wrap="square" lIns="0" tIns="0" rIns="0" bIns="0" rtlCol="0" anchor="t"/>
          <a:lstStyle/>
          <a:p>
            <a:pPr indent="0" marL="0">
              <a:buNone/>
            </a:pPr>
            <a:r>
              <a:rPr lang="en-US" sz="1400" dirty="0">
                <a:solidFill>
                  <a:schemeClr val="tx1"/>
                </a:solidFill>
              </a:rPr>
              <a:t>Run every arm (e.g. fixed 7.4 GBq vs model-guided activity) on the same virtual patients: a perfectly paired design.</a:t>
            </a:r>
            <a:endParaRPr lang="en-US" sz="1400" dirty="0"/>
          </a:p>
        </p:txBody>
      </p:sp>
      <p:sp>
        <p:nvSpPr>
          <p:cNvPr id="26" name="card Learned surrogates"/>
          <p:cNvSpPr/>
          <p:nvPr/>
        </p:nvSpPr>
        <p:spPr>
          <a:xfrm>
            <a:off x="4297680" y="3977640"/>
            <a:ext cx="3520440" cy="2103120"/>
          </a:xfrm>
          <a:prstGeom prst="roundRect">
            <a:avLst>
              <a:gd name="adj" fmla="val 3478"/>
            </a:avLst>
          </a:prstGeom>
          <a:solidFill>
            <a:schemeClr val="bg2"/>
          </a:solidFill>
          <a:ln w="12700">
            <a:solidFill>
              <a:schemeClr val="bg2"/>
            </a:solidFill>
            <a:prstDash val="solid"/>
          </a:ln>
        </p:spPr>
      </p:sp>
      <p:sp>
        <p:nvSpPr>
          <p:cNvPr id="27" name="icon circle"/>
          <p:cNvSpPr/>
          <p:nvPr/>
        </p:nvSpPr>
        <p:spPr>
          <a:xfrm>
            <a:off x="4498848" y="4160520"/>
            <a:ext cx="502920" cy="502920"/>
          </a:xfrm>
          <a:prstGeom prst="ellipse">
            <a:avLst/>
          </a:prstGeom>
          <a:solidFill>
            <a:schemeClr val="accent2"/>
          </a:solidFill>
          <a:ln w="12700">
            <a:solidFill>
              <a:schemeClr val="accent2"/>
            </a:solidFill>
            <a:prstDash val="solid"/>
          </a:ln>
        </p:spPr>
      </p:sp>
      <p:pic>
        <p:nvPicPr>
          <p:cNvPr id="28" name="icon" descr="preencoded.png">    </p:cNvPr>
          <p:cNvPicPr>
            <a:picLocks noChangeAspect="1"/>
          </p:cNvPicPr>
          <p:nvPr/>
        </p:nvPicPr>
        <p:blipFill>
          <a:blip r:embed="rId2"/>
          <a:stretch>
            <a:fillRect/>
          </a:stretch>
        </p:blipFill>
        <p:spPr>
          <a:xfrm>
            <a:off x="4609490" y="4271162"/>
            <a:ext cx="281635" cy="281635"/>
          </a:xfrm>
          <a:prstGeom prst="rect">
            <a:avLst/>
          </a:prstGeom>
        </p:spPr>
      </p:pic>
      <p:sp>
        <p:nvSpPr>
          <p:cNvPr id="29" name="Text 25"/>
          <p:cNvSpPr txBox="1"/>
          <p:nvPr/>
        </p:nvSpPr>
        <p:spPr>
          <a:xfrm>
            <a:off x="5120640" y="420624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Learned surrogates</a:t>
            </a:r>
            <a:endParaRPr lang="en-US" sz="1700" dirty="0"/>
          </a:p>
        </p:txBody>
      </p:sp>
      <p:sp>
        <p:nvSpPr>
          <p:cNvPr id="30" name="Text 26"/>
          <p:cNvSpPr txBox="1"/>
          <p:nvPr/>
        </p:nvSpPr>
        <p:spPr>
          <a:xfrm>
            <a:off x="4498848" y="4800600"/>
            <a:ext cx="3154680" cy="1188720"/>
          </a:xfrm>
          <a:prstGeom prst="rect">
            <a:avLst/>
          </a:prstGeom>
          <a:noFill/>
          <a:ln/>
        </p:spPr>
        <p:txBody>
          <a:bodyPr wrap="square" lIns="0" tIns="0" rIns="0" bIns="0" rtlCol="0" anchor="t"/>
          <a:lstStyle/>
          <a:p>
            <a:pPr indent="0" marL="0">
              <a:buNone/>
            </a:pPr>
            <a:r>
              <a:rPr lang="en-US" sz="1400" dirty="0">
                <a:solidFill>
                  <a:schemeClr val="tx1"/>
                </a:solidFill>
              </a:rPr>
              <a:t>Replace slow links (Monte Carlo dose, PBPK solves) with networks such as DoseVLM, so thousands of patients run in minutes.</a:t>
            </a:r>
            <a:endParaRPr lang="en-US" sz="1400" dirty="0"/>
          </a:p>
        </p:txBody>
      </p:sp>
      <p:sp>
        <p:nvSpPr>
          <p:cNvPr id="31" name="card Credibility"/>
          <p:cNvSpPr/>
          <p:nvPr/>
        </p:nvSpPr>
        <p:spPr>
          <a:xfrm>
            <a:off x="8046720" y="3977640"/>
            <a:ext cx="3520440" cy="2103120"/>
          </a:xfrm>
          <a:prstGeom prst="roundRect">
            <a:avLst>
              <a:gd name="adj" fmla="val 3478"/>
            </a:avLst>
          </a:prstGeom>
          <a:solidFill>
            <a:schemeClr val="bg2"/>
          </a:solidFill>
          <a:ln w="12700">
            <a:solidFill>
              <a:schemeClr val="bg2"/>
            </a:solidFill>
            <a:prstDash val="solid"/>
          </a:ln>
        </p:spPr>
      </p:sp>
      <p:sp>
        <p:nvSpPr>
          <p:cNvPr id="32" name="icon circle"/>
          <p:cNvSpPr/>
          <p:nvPr/>
        </p:nvSpPr>
        <p:spPr>
          <a:xfrm>
            <a:off x="8247888" y="4160520"/>
            <a:ext cx="502920" cy="502920"/>
          </a:xfrm>
          <a:prstGeom prst="ellipse">
            <a:avLst/>
          </a:prstGeom>
          <a:solidFill>
            <a:schemeClr val="accent2"/>
          </a:solidFill>
          <a:ln w="12700">
            <a:solidFill>
              <a:schemeClr val="accent2"/>
            </a:solidFill>
            <a:prstDash val="solid"/>
          </a:ln>
        </p:spPr>
      </p:sp>
      <p:pic>
        <p:nvPicPr>
          <p:cNvPr id="33" name="icon" descr="preencoded.png">    </p:cNvPr>
          <p:cNvPicPr>
            <a:picLocks noChangeAspect="1"/>
          </p:cNvPicPr>
          <p:nvPr/>
        </p:nvPicPr>
        <p:blipFill>
          <a:blip r:embed="rId3"/>
          <a:stretch>
            <a:fillRect/>
          </a:stretch>
        </p:blipFill>
        <p:spPr>
          <a:xfrm>
            <a:off x="8358530" y="4271162"/>
            <a:ext cx="281635" cy="281635"/>
          </a:xfrm>
          <a:prstGeom prst="rect">
            <a:avLst/>
          </a:prstGeom>
        </p:spPr>
      </p:pic>
      <p:sp>
        <p:nvSpPr>
          <p:cNvPr id="34" name="Text 29"/>
          <p:cNvSpPr txBox="1"/>
          <p:nvPr/>
        </p:nvSpPr>
        <p:spPr>
          <a:xfrm>
            <a:off x="8869680" y="4206240"/>
            <a:ext cx="2560320" cy="411480"/>
          </a:xfrm>
          <a:prstGeom prst="rect">
            <a:avLst/>
          </a:prstGeom>
          <a:noFill/>
          <a:ln/>
        </p:spPr>
        <p:txBody>
          <a:bodyPr wrap="square" lIns="0" tIns="0" rIns="0" bIns="0" rtlCol="0" anchor="ctr"/>
          <a:lstStyle/>
          <a:p>
            <a:pPr indent="0" marL="0">
              <a:buNone/>
            </a:pPr>
            <a:r>
              <a:rPr lang="en-US" sz="1700" b="1" dirty="0">
                <a:solidFill>
                  <a:schemeClr val="tx2"/>
                </a:solidFill>
              </a:rPr>
              <a:t>Credibility</a:t>
            </a:r>
            <a:endParaRPr lang="en-US" sz="1700" dirty="0"/>
          </a:p>
        </p:txBody>
      </p:sp>
      <p:sp>
        <p:nvSpPr>
          <p:cNvPr id="35" name="Text 30"/>
          <p:cNvSpPr txBox="1"/>
          <p:nvPr/>
        </p:nvSpPr>
        <p:spPr>
          <a:xfrm>
            <a:off x="8247888" y="4800600"/>
            <a:ext cx="3154680" cy="1188720"/>
          </a:xfrm>
          <a:prstGeom prst="rect">
            <a:avLst/>
          </a:prstGeom>
          <a:noFill/>
          <a:ln/>
        </p:spPr>
        <p:txBody>
          <a:bodyPr wrap="square" lIns="0" tIns="0" rIns="0" bIns="0" rtlCol="0" anchor="t"/>
          <a:lstStyle/>
          <a:p>
            <a:pPr indent="0" marL="0">
              <a:buNone/>
            </a:pPr>
            <a:r>
              <a:rPr lang="en-US" sz="1400" dirty="0">
                <a:solidFill>
                  <a:schemeClr val="tx1"/>
                </a:solidFill>
              </a:rPr>
              <a:t>Step 1 technical fidelity · Step 2 external testing · Step 3 prospective evaluation, scaled to risk (ASME V&amp;V 40).</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The mathematical models, layer by layer</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For each model: the equation, what each term means, where it is used, and whether it is already in code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1 · VIRTUAL PATIENTS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Who is in the virtual trial</a:t>
            </a:r>
            <a:endParaRPr lang="en-US" sz="3600" dirty="0"/>
          </a:p>
        </p:txBody>
      </p:sp>
      <p:sp>
        <p:nvSpPr>
          <p:cNvPr id="4" name="card Parametric virtual popul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Parametric virtual popul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Parametric virtual population</a:t>
            </a:r>
            <a:endParaRPr lang="en-US" sz="1600" dirty="0"/>
          </a:p>
        </p:txBody>
      </p:sp>
      <p:sp>
        <p:nvSpPr>
          <p:cNvPr id="6" name="tag Parametric virtual population"/>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Parametric virtual populati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θᵢ ~ p(θ | xᵢ),   xᵢ = (age, weight, eGFR, SUV, …)</a:t>
            </a:r>
            <a:endParaRPr lang="en-US" sz="1600" dirty="0"/>
          </a:p>
        </p:txBody>
      </p:sp>
      <p:sp>
        <p:nvSpPr>
          <p:cNvPr id="8" name="desc Parametric virtual populati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Sample N = 1,000–10,000 patients from published covariate distributions. Use it to explore heterogeneity and enrich rare subgroups.</a:t>
            </a:r>
            <a:endParaRPr lang="en-US" sz="1400" dirty="0"/>
          </a:p>
        </p:txBody>
      </p:sp>
      <p:sp>
        <p:nvSpPr>
          <p:cNvPr id="9" name="card Mixed-effects (population) prior"/>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Mixed-effects (population) prior"/>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Mixed-effects (population) prior</a:t>
            </a:r>
            <a:endParaRPr lang="en-US" sz="1600" dirty="0"/>
          </a:p>
        </p:txBody>
      </p:sp>
      <p:sp>
        <p:nvSpPr>
          <p:cNvPr id="11" name="tag Mixed-effects (population) prior"/>
          <p:cNvSpPr txBox="1"/>
          <p:nvPr/>
        </p:nvSpPr>
        <p:spPr>
          <a:xfrm>
            <a:off x="104515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Mixed-effects (population) prior"/>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θᵢ = θ_pop · exp(ηᵢ),   ηᵢ ~ N(0, Ω)</a:t>
            </a:r>
            <a:endParaRPr lang="en-US" sz="1600" dirty="0"/>
          </a:p>
        </p:txBody>
      </p:sp>
      <p:sp>
        <p:nvSpPr>
          <p:cNvPr id="13" name="desc Mixed-effects (population) prior"/>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Typical value θ_pop plus log-normal between-patient variability Ω. It is also the prior for the per-patient Bayesian update (Layer 5).</a:t>
            </a:r>
            <a:endParaRPr lang="en-US" sz="1400" dirty="0"/>
          </a:p>
        </p:txBody>
      </p:sp>
      <p:sp>
        <p:nvSpPr>
          <p:cNvPr id="14" name="card Computational phantom"/>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Computational phantom"/>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Computational phantom</a:t>
            </a:r>
            <a:endParaRPr lang="en-US" sz="1600" dirty="0"/>
          </a:p>
        </p:txBody>
      </p:sp>
      <p:sp>
        <p:nvSpPr>
          <p:cNvPr id="16" name="tag Computational phantom"/>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Computational phantom"/>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(x/a)² + (y/b)² ≤ 1;   PTV: ‖(x − c)/r‖ ≤ 1</a:t>
            </a:r>
            <a:endParaRPr lang="en-US" sz="1600" dirty="0"/>
          </a:p>
        </p:txBody>
      </p:sp>
      <p:sp>
        <p:nvSpPr>
          <p:cNvPr id="18" name="desc Computational phantom"/>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dosevlm/synthetic.py: random body, PTV ellipsoid, cord and parotids, random Rx and arcs. Known ground truth for testing the pipeline.</a:t>
            </a:r>
            <a:endParaRPr lang="en-US" sz="1400" dirty="0"/>
          </a:p>
        </p:txBody>
      </p:sp>
      <p:sp>
        <p:nvSpPr>
          <p:cNvPr id="19" name="card Mechanistic tumour growth"/>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Mechanistic tumour growth"/>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Mechanistic tumour growth</a:t>
            </a:r>
            <a:endParaRPr lang="en-US" sz="1600" dirty="0"/>
          </a:p>
        </p:txBody>
      </p:sp>
      <p:sp>
        <p:nvSpPr>
          <p:cNvPr id="21" name="tag Mechanistic tumour growth"/>
          <p:cNvSpPr txBox="1"/>
          <p:nvPr/>
        </p:nvSpPr>
        <p:spPr>
          <a:xfrm>
            <a:off x="10451592" y="418795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22" name="equation Mechanistic tumour growth"/>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∂N/∂t = ∇·(D∇N) + k N (1 − N/θ) − R(D)</a:t>
            </a:r>
            <a:endParaRPr lang="en-US" sz="1600" dirty="0"/>
          </a:p>
        </p:txBody>
      </p:sp>
      <p:sp>
        <p:nvSpPr>
          <p:cNvPr id="23" name="desc Mechanistic tumour growth"/>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Reaction–diffusion: cell density N spreads (D) and grows logistically (k, capacity θ); R(D) kills cells. Calibrated to serial imaging.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2 · PHARMACOKINETICS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PBPK: where the radioligand goes</a:t>
            </a:r>
            <a:endParaRPr lang="en-US" sz="3600" dirty="0"/>
          </a:p>
        </p:txBody>
      </p:sp>
      <p:sp>
        <p:nvSpPr>
          <p:cNvPr id="4" name="pbpk card"/>
          <p:cNvSpPr/>
          <p:nvPr/>
        </p:nvSpPr>
        <p:spPr>
          <a:xfrm>
            <a:off x="548640" y="1554480"/>
            <a:ext cx="6400800" cy="4526280"/>
          </a:xfrm>
          <a:prstGeom prst="roundRect">
            <a:avLst>
              <a:gd name="adj" fmla="val 1616"/>
            </a:avLst>
          </a:prstGeom>
          <a:solidFill>
            <a:schemeClr val="bg2"/>
          </a:solidFill>
          <a:ln w="12700">
            <a:solidFill>
              <a:schemeClr val="bg2"/>
            </a:solidFill>
            <a:prstDash val="solid"/>
          </a:ln>
        </p:spPr>
      </p:sp>
      <p:sp>
        <p:nvSpPr>
          <p:cNvPr id="5" name="Text 3"/>
          <p:cNvSpPr txBox="1"/>
          <p:nvPr/>
        </p:nvSpPr>
        <p:spPr>
          <a:xfrm>
            <a:off x="777240" y="1691640"/>
            <a:ext cx="4754880" cy="365760"/>
          </a:xfrm>
          <a:prstGeom prst="rect">
            <a:avLst/>
          </a:prstGeom>
          <a:noFill/>
          <a:ln/>
        </p:spPr>
        <p:txBody>
          <a:bodyPr wrap="square" lIns="0" tIns="0" rIns="0" bIns="0" rtlCol="0" anchor="ctr"/>
          <a:lstStyle/>
          <a:p>
            <a:pPr indent="0" marL="0">
              <a:buNone/>
            </a:pPr>
            <a:r>
              <a:rPr lang="en-US" sz="1600" b="1" dirty="0">
                <a:solidFill>
                  <a:schemeClr val="tx2"/>
                </a:solidFill>
              </a:rPr>
              <a:t>Per organ i (¹⁷⁷Lu-PSMA, Cancers 2024)</a:t>
            </a:r>
            <a:endParaRPr lang="en-US" sz="1600" dirty="0"/>
          </a:p>
        </p:txBody>
      </p:sp>
      <p:sp>
        <p:nvSpPr>
          <p:cNvPr id="6" name="tag IN TALKS"/>
          <p:cNvSpPr txBox="1"/>
          <p:nvPr/>
        </p:nvSpPr>
        <p:spPr>
          <a:xfrm>
            <a:off x="5760720" y="1737360"/>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Text 5"/>
          <p:cNvSpPr txBox="1"/>
          <p:nvPr/>
        </p:nvSpPr>
        <p:spPr>
          <a:xfrm>
            <a:off x="777240" y="2194560"/>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Free ligand</a:t>
            </a:r>
            <a:endParaRPr lang="en-US" sz="1300" dirty="0"/>
          </a:p>
        </p:txBody>
      </p:sp>
      <p:sp>
        <p:nvSpPr>
          <p:cNvPr id="8" name="Text 6"/>
          <p:cNvSpPr txBox="1"/>
          <p:nvPr/>
        </p:nvSpPr>
        <p:spPr>
          <a:xfrm>
            <a:off x="777240" y="2468880"/>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Vᵢ dCᵢ/dt = Qᵢ (C_art − Cᵢ/Pᵢ) − k_on Rᵢ Cᵢ + k_off Bᵢ − λ_phys Cᵢ</a:t>
            </a:r>
            <a:endParaRPr lang="en-US" sz="1500" dirty="0"/>
          </a:p>
        </p:txBody>
      </p:sp>
      <p:sp>
        <p:nvSpPr>
          <p:cNvPr id="9" name="Text 7"/>
          <p:cNvSpPr txBox="1"/>
          <p:nvPr/>
        </p:nvSpPr>
        <p:spPr>
          <a:xfrm>
            <a:off x="777240" y="2953512"/>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Receptor-bound</a:t>
            </a:r>
            <a:endParaRPr lang="en-US" sz="1300" dirty="0"/>
          </a:p>
        </p:txBody>
      </p:sp>
      <p:sp>
        <p:nvSpPr>
          <p:cNvPr id="10" name="Text 8"/>
          <p:cNvSpPr txBox="1"/>
          <p:nvPr/>
        </p:nvSpPr>
        <p:spPr>
          <a:xfrm>
            <a:off x="777240" y="3227832"/>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dBᵢ/dt = k_on Rᵢ Cᵢ − (k_off + λ_int + λ_phys) Bᵢ</a:t>
            </a:r>
            <a:endParaRPr lang="en-US" sz="1500" dirty="0"/>
          </a:p>
        </p:txBody>
      </p:sp>
      <p:sp>
        <p:nvSpPr>
          <p:cNvPr id="11" name="Text 9"/>
          <p:cNvSpPr txBox="1"/>
          <p:nvPr/>
        </p:nvSpPr>
        <p:spPr>
          <a:xfrm>
            <a:off x="777240" y="3712464"/>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Internalised</a:t>
            </a:r>
            <a:endParaRPr lang="en-US" sz="1300" dirty="0"/>
          </a:p>
        </p:txBody>
      </p:sp>
      <p:sp>
        <p:nvSpPr>
          <p:cNvPr id="12" name="Text 10"/>
          <p:cNvSpPr txBox="1"/>
          <p:nvPr/>
        </p:nvSpPr>
        <p:spPr>
          <a:xfrm>
            <a:off x="777240" y="3986784"/>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dIᵢ/dt = λ_int Bᵢ − (λ_rel + λ_phys) Iᵢ</a:t>
            </a:r>
            <a:endParaRPr lang="en-US" sz="1500" dirty="0"/>
          </a:p>
        </p:txBody>
      </p:sp>
      <p:sp>
        <p:nvSpPr>
          <p:cNvPr id="13" name="Text 11"/>
          <p:cNvSpPr txBox="1"/>
          <p:nvPr/>
        </p:nvSpPr>
        <p:spPr>
          <a:xfrm>
            <a:off x="777240" y="4471416"/>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Free receptors</a:t>
            </a:r>
            <a:endParaRPr lang="en-US" sz="1300" dirty="0"/>
          </a:p>
        </p:txBody>
      </p:sp>
      <p:sp>
        <p:nvSpPr>
          <p:cNvPr id="14" name="Text 12"/>
          <p:cNvSpPr txBox="1"/>
          <p:nvPr/>
        </p:nvSpPr>
        <p:spPr>
          <a:xfrm>
            <a:off x="777240" y="4745736"/>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Rᵢ = R_tot,i − Bᵢ   (hot + cold ligand share Rᵢ)</a:t>
            </a:r>
            <a:endParaRPr lang="en-US" sz="1500" dirty="0"/>
          </a:p>
        </p:txBody>
      </p:sp>
      <p:sp>
        <p:nvSpPr>
          <p:cNvPr id="15" name="Text 13"/>
          <p:cNvSpPr txBox="1"/>
          <p:nvPr/>
        </p:nvSpPr>
        <p:spPr>
          <a:xfrm>
            <a:off x="777240" y="5230368"/>
            <a:ext cx="5943600" cy="274320"/>
          </a:xfrm>
          <a:prstGeom prst="rect">
            <a:avLst/>
          </a:prstGeom>
          <a:noFill/>
          <a:ln/>
        </p:spPr>
        <p:txBody>
          <a:bodyPr wrap="square" lIns="0" tIns="0" rIns="0" bIns="0" rtlCol="0" anchor="ctr"/>
          <a:lstStyle/>
          <a:p>
            <a:pPr indent="0" marL="0">
              <a:buNone/>
            </a:pPr>
            <a:r>
              <a:rPr lang="en-US" sz="1300" b="1" dirty="0">
                <a:solidFill>
                  <a:schemeClr val="accent2"/>
                </a:solidFill>
              </a:rPr>
              <a:t>Kidney excretion</a:t>
            </a:r>
            <a:endParaRPr lang="en-US" sz="1300" dirty="0"/>
          </a:p>
        </p:txBody>
      </p:sp>
      <p:sp>
        <p:nvSpPr>
          <p:cNvPr id="16" name="Text 14"/>
          <p:cNvSpPr txBox="1"/>
          <p:nvPr/>
        </p:nvSpPr>
        <p:spPr>
          <a:xfrm>
            <a:off x="777240" y="5504688"/>
            <a:ext cx="5943600" cy="41148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extra term − CL_R · C_art in the kidney balance</a:t>
            </a:r>
            <a:endParaRPr lang="en-US" sz="1500" dirty="0"/>
          </a:p>
        </p:txBody>
      </p:sp>
      <p:sp>
        <p:nvSpPr>
          <p:cNvPr id="17" name="Text 15"/>
          <p:cNvSpPr txBox="1"/>
          <p:nvPr/>
        </p:nvSpPr>
        <p:spPr>
          <a:xfrm>
            <a:off x="7315200" y="1554480"/>
            <a:ext cx="4297680" cy="365760"/>
          </a:xfrm>
          <a:prstGeom prst="rect">
            <a:avLst/>
          </a:prstGeom>
          <a:noFill/>
          <a:ln/>
        </p:spPr>
        <p:txBody>
          <a:bodyPr wrap="square" lIns="0" tIns="0" rIns="0" bIns="0" rtlCol="0" anchor="ctr"/>
          <a:lstStyle/>
          <a:p>
            <a:pPr indent="0" marL="0">
              <a:buNone/>
            </a:pPr>
            <a:r>
              <a:rPr lang="en-US" sz="1800" b="1" dirty="0">
                <a:solidFill>
                  <a:schemeClr val="tx2"/>
                </a:solidFill>
              </a:rPr>
              <a:t>Parameters</a:t>
            </a:r>
            <a:endParaRPr lang="en-US" sz="1800" dirty="0"/>
          </a:p>
        </p:txBody>
      </p:sp>
      <p:sp>
        <p:nvSpPr>
          <p:cNvPr id="18" name="Text 16"/>
          <p:cNvSpPr txBox="1"/>
          <p:nvPr/>
        </p:nvSpPr>
        <p:spPr>
          <a:xfrm>
            <a:off x="7315200" y="1965960"/>
            <a:ext cx="4297680" cy="24688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Q: organ blood flow · P: tissue/blood partition</a:t>
            </a:r>
            <a:endParaRPr lang="en-US" sz="1400" dirty="0"/>
          </a:p>
          <a:p>
            <a:pPr marL="342900" indent="-342900">
              <a:spcAft>
                <a:spcPts val="600"/>
              </a:spcAft>
              <a:buSzPct val="100000"/>
              <a:buChar char="•"/>
            </a:pPr>
            <a:r>
              <a:rPr lang="en-US" sz="1400" dirty="0">
                <a:solidFill>
                  <a:schemeClr val="tx1"/>
                </a:solidFill>
              </a:rPr>
              <a:t>R_tot: receptor density (PSMA expression)</a:t>
            </a:r>
            <a:endParaRPr lang="en-US" sz="1400" dirty="0"/>
          </a:p>
          <a:p>
            <a:pPr marL="342900" indent="-342900">
              <a:spcAft>
                <a:spcPts val="600"/>
              </a:spcAft>
              <a:buSzPct val="100000"/>
              <a:buChar char="•"/>
            </a:pPr>
            <a:r>
              <a:rPr lang="en-US" sz="1400" dirty="0">
                <a:solidFill>
                  <a:schemeClr val="tx1"/>
                </a:solidFill>
              </a:rPr>
              <a:t>k_on, k_off: binding and unbinding rates</a:t>
            </a:r>
            <a:endParaRPr lang="en-US" sz="1400" dirty="0"/>
          </a:p>
          <a:p>
            <a:pPr marL="342900" indent="-342900">
              <a:spcAft>
                <a:spcPts val="600"/>
              </a:spcAft>
              <a:buSzPct val="100000"/>
              <a:buChar char="•"/>
            </a:pPr>
            <a:r>
              <a:rPr lang="en-US" sz="1400" dirty="0">
                <a:solidFill>
                  <a:schemeClr val="tx1"/>
                </a:solidFill>
              </a:rPr>
              <a:t>λ_int, λ_rel: internalisation and release</a:t>
            </a:r>
            <a:endParaRPr lang="en-US" sz="1400" dirty="0"/>
          </a:p>
          <a:p>
            <a:pPr marL="342900" indent="-342900">
              <a:spcAft>
                <a:spcPts val="600"/>
              </a:spcAft>
              <a:buSzPct val="100000"/>
              <a:buChar char="•"/>
            </a:pPr>
            <a:r>
              <a:rPr lang="en-US" sz="1400" dirty="0">
                <a:solidFill>
                  <a:schemeClr val="tx1"/>
                </a:solidFill>
              </a:rPr>
              <a:t>λ_phys = ln2 / 6.65 d for ¹⁷⁷Lu</a:t>
            </a:r>
            <a:endParaRPr lang="en-US" sz="1400" dirty="0"/>
          </a:p>
          <a:p>
            <a:pPr marL="342900" indent="-342900">
              <a:spcAft>
                <a:spcPts val="600"/>
              </a:spcAft>
              <a:buSzPct val="100000"/>
              <a:buChar char="•"/>
            </a:pPr>
            <a:r>
              <a:rPr lang="en-US" sz="1400" dirty="0">
                <a:solidFill>
                  <a:schemeClr val="tx1"/>
                </a:solidFill>
              </a:rPr>
              <a:t>CL_R: renal clearance (eGFR-linked)</a:t>
            </a:r>
            <a:endParaRPr lang="en-US" sz="1400" dirty="0"/>
          </a:p>
        </p:txBody>
      </p:sp>
      <p:sp>
        <p:nvSpPr>
          <p:cNvPr id="19" name="sink callout"/>
          <p:cNvSpPr txBox="1"/>
          <p:nvPr/>
        </p:nvSpPr>
        <p:spPr>
          <a:xfrm>
            <a:off x="7315200" y="4526280"/>
            <a:ext cx="4297680" cy="1554480"/>
          </a:xfrm>
          <a:prstGeom prst="rect">
            <a:avLst/>
          </a:prstGeom>
          <a:solidFill>
            <a:schemeClr val="bg2"/>
          </a:solidFill>
          <a:ln/>
        </p:spPr>
        <p:txBody>
          <a:bodyPr wrap="square" lIns="1905" tIns="1905" rIns="1905" bIns="1905" rtlCol="0" anchor="ctr"/>
          <a:lstStyle/>
          <a:p>
            <a:pPr indent="0" marL="0">
              <a:buNone/>
            </a:pPr>
            <a:r>
              <a:rPr lang="en-US" sz="1400" b="1" dirty="0">
                <a:solidFill>
                  <a:schemeClr val="tx1"/>
                </a:solidFill>
              </a:rPr>
              <a:t>Tumour sink effect. </a:t>
            </a:r>
            <a:pPr indent="0" marL="0">
              <a:buNone/>
            </a:pPr>
            <a:r>
              <a:rPr lang="en-US" sz="1400" dirty="0">
                <a:solidFill>
                  <a:schemeClr val="tx1"/>
                </a:solidFill>
              </a:rPr>
              <a:t>Large tumour burden binds more ligand, so less reaches kidneys and salivary glands. Only a mechanistic model with shared receptors predicts this.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2 · FROM IMAGES TO ACTIVITY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Time–activity curves and integrated activity</a:t>
            </a:r>
            <a:endParaRPr lang="en-US" sz="3600" dirty="0"/>
          </a:p>
        </p:txBody>
      </p:sp>
      <p:sp>
        <p:nvSpPr>
          <p:cNvPr id="4" name="card SUV (body weight)"/>
          <p:cNvSpPr/>
          <p:nvPr/>
        </p:nvSpPr>
        <p:spPr>
          <a:xfrm>
            <a:off x="548640" y="1554480"/>
            <a:ext cx="5577840" cy="1508760"/>
          </a:xfrm>
          <a:prstGeom prst="roundRect">
            <a:avLst>
              <a:gd name="adj" fmla="val 4848"/>
            </a:avLst>
          </a:prstGeom>
          <a:solidFill>
            <a:schemeClr val="bg2"/>
          </a:solidFill>
          <a:ln w="12700">
            <a:solidFill>
              <a:schemeClr val="bg2"/>
            </a:solidFill>
            <a:prstDash val="solid"/>
          </a:ln>
        </p:spPr>
      </p:sp>
      <p:sp>
        <p:nvSpPr>
          <p:cNvPr id="5" name="card title SUV (body weight)"/>
          <p:cNvSpPr txBox="1"/>
          <p:nvPr/>
        </p:nvSpPr>
        <p:spPr>
          <a:xfrm>
            <a:off x="749808" y="1691640"/>
            <a:ext cx="4114800" cy="347472"/>
          </a:xfrm>
          <a:prstGeom prst="rect">
            <a:avLst/>
          </a:prstGeom>
          <a:noFill/>
          <a:ln/>
        </p:spPr>
        <p:txBody>
          <a:bodyPr wrap="square" lIns="0" tIns="0" rIns="0" bIns="0" rtlCol="0" anchor="t"/>
          <a:lstStyle/>
          <a:p>
            <a:pPr indent="0" marL="0">
              <a:buNone/>
            </a:pPr>
            <a:r>
              <a:rPr lang="en-US" sz="1600" b="1" dirty="0">
                <a:solidFill>
                  <a:schemeClr val="tx2"/>
                </a:solidFill>
              </a:rPr>
              <a:t>SUV (body weight)</a:t>
            </a:r>
            <a:endParaRPr lang="en-US" sz="1600" dirty="0"/>
          </a:p>
        </p:txBody>
      </p:sp>
      <p:sp>
        <p:nvSpPr>
          <p:cNvPr id="6" name="tag SUV (body weight)"/>
          <p:cNvSpPr txBox="1"/>
          <p:nvPr/>
        </p:nvSpPr>
        <p:spPr>
          <a:xfrm>
            <a:off x="49651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SUV (body weight)"/>
          <p:cNvSpPr txBox="1"/>
          <p:nvPr/>
        </p:nvSpPr>
        <p:spPr>
          <a:xfrm>
            <a:off x="749808" y="2103120"/>
            <a:ext cx="5175504" cy="41148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SUV = C · BW / (A_inj · e^(−λΔt))</a:t>
            </a:r>
            <a:endParaRPr lang="en-US" sz="1400" dirty="0"/>
          </a:p>
        </p:txBody>
      </p:sp>
      <p:sp>
        <p:nvSpPr>
          <p:cNvPr id="8" name="desc SUV (body weight)"/>
          <p:cNvSpPr txBox="1"/>
          <p:nvPr/>
        </p:nvSpPr>
        <p:spPr>
          <a:xfrm>
            <a:off x="749808" y="2606040"/>
            <a:ext cx="5175504" cy="347472"/>
          </a:xfrm>
          <a:prstGeom prst="rect">
            <a:avLst/>
          </a:prstGeom>
          <a:noFill/>
          <a:ln/>
        </p:spPr>
        <p:txBody>
          <a:bodyPr wrap="square" lIns="0" tIns="0" rIns="0" bIns="0" rtlCol="0" anchor="t"/>
          <a:lstStyle/>
          <a:p>
            <a:pPr indent="0" marL="0">
              <a:buNone/>
            </a:pPr>
            <a:r>
              <a:rPr lang="en-US" sz="1300" dirty="0">
                <a:solidFill>
                  <a:schemeClr val="tx1"/>
                </a:solidFill>
              </a:rPr>
              <a:t>Decay-corrected uptake per injected activity and body weight.</a:t>
            </a:r>
            <a:endParaRPr lang="en-US" sz="1300" dirty="0"/>
          </a:p>
        </p:txBody>
      </p:sp>
      <p:sp>
        <p:nvSpPr>
          <p:cNvPr id="9" name="card Time–activity fit"/>
          <p:cNvSpPr/>
          <p:nvPr/>
        </p:nvSpPr>
        <p:spPr>
          <a:xfrm>
            <a:off x="548640" y="3154680"/>
            <a:ext cx="5577840" cy="1508760"/>
          </a:xfrm>
          <a:prstGeom prst="roundRect">
            <a:avLst>
              <a:gd name="adj" fmla="val 4848"/>
            </a:avLst>
          </a:prstGeom>
          <a:solidFill>
            <a:schemeClr val="bg2"/>
          </a:solidFill>
          <a:ln w="12700">
            <a:solidFill>
              <a:schemeClr val="bg2"/>
            </a:solidFill>
            <a:prstDash val="solid"/>
          </a:ln>
        </p:spPr>
      </p:sp>
      <p:sp>
        <p:nvSpPr>
          <p:cNvPr id="10" name="card title Time–activity fit"/>
          <p:cNvSpPr txBox="1"/>
          <p:nvPr/>
        </p:nvSpPr>
        <p:spPr>
          <a:xfrm>
            <a:off x="749808" y="3291840"/>
            <a:ext cx="4114800" cy="347472"/>
          </a:xfrm>
          <a:prstGeom prst="rect">
            <a:avLst/>
          </a:prstGeom>
          <a:noFill/>
          <a:ln/>
        </p:spPr>
        <p:txBody>
          <a:bodyPr wrap="square" lIns="0" tIns="0" rIns="0" bIns="0" rtlCol="0" anchor="t"/>
          <a:lstStyle/>
          <a:p>
            <a:pPr indent="0" marL="0">
              <a:buNone/>
            </a:pPr>
            <a:r>
              <a:rPr lang="en-US" sz="1600" b="1" dirty="0">
                <a:solidFill>
                  <a:schemeClr val="tx2"/>
                </a:solidFill>
              </a:rPr>
              <a:t>Time–activity fit</a:t>
            </a:r>
            <a:endParaRPr lang="en-US" sz="1600" dirty="0"/>
          </a:p>
        </p:txBody>
      </p:sp>
      <p:sp>
        <p:nvSpPr>
          <p:cNvPr id="11" name="tag Time–activity fit"/>
          <p:cNvSpPr txBox="1"/>
          <p:nvPr/>
        </p:nvSpPr>
        <p:spPr>
          <a:xfrm>
            <a:off x="4965192" y="33192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Time–activity fit"/>
          <p:cNvSpPr txBox="1"/>
          <p:nvPr/>
        </p:nvSpPr>
        <p:spPr>
          <a:xfrm>
            <a:off x="749808" y="3703320"/>
            <a:ext cx="5175504" cy="5943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A(t) = A₀ e^(−λ_eff t)</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λ_eff = λ_phys + λ_bio,  T_eff = ln2 / λ_eff</a:t>
            </a:r>
            <a:endParaRPr lang="en-US" sz="1400" dirty="0"/>
          </a:p>
        </p:txBody>
      </p:sp>
      <p:sp>
        <p:nvSpPr>
          <p:cNvPr id="13" name="desc Time–activity fit"/>
          <p:cNvSpPr txBox="1"/>
          <p:nvPr/>
        </p:nvSpPr>
        <p:spPr>
          <a:xfrm>
            <a:off x="749808" y="4389120"/>
            <a:ext cx="5175504" cy="164592"/>
          </a:xfrm>
          <a:prstGeom prst="rect">
            <a:avLst/>
          </a:prstGeom>
          <a:noFill/>
          <a:ln/>
        </p:spPr>
        <p:txBody>
          <a:bodyPr wrap="square" lIns="0" tIns="0" rIns="0" bIns="0" rtlCol="0" anchor="t"/>
          <a:lstStyle/>
          <a:p>
            <a:pPr indent="0" marL="0">
              <a:buNone/>
            </a:pPr>
            <a:r>
              <a:rPr lang="en-US" sz="1300" dirty="0">
                <a:solidFill>
                  <a:schemeClr val="tx1"/>
                </a:solidFill>
              </a:rPr>
              <a:t>Mono- or bi-exponential fit to 3–4 scans over 4–7 days.</a:t>
            </a:r>
            <a:endParaRPr lang="en-US" sz="1300" dirty="0"/>
          </a:p>
        </p:txBody>
      </p:sp>
      <p:sp>
        <p:nvSpPr>
          <p:cNvPr id="14" name="card Time-integrated activity"/>
          <p:cNvSpPr/>
          <p:nvPr/>
        </p:nvSpPr>
        <p:spPr>
          <a:xfrm>
            <a:off x="548640" y="4754880"/>
            <a:ext cx="5577840" cy="1508760"/>
          </a:xfrm>
          <a:prstGeom prst="roundRect">
            <a:avLst>
              <a:gd name="adj" fmla="val 4848"/>
            </a:avLst>
          </a:prstGeom>
          <a:solidFill>
            <a:schemeClr val="bg2"/>
          </a:solidFill>
          <a:ln w="12700">
            <a:solidFill>
              <a:schemeClr val="bg2"/>
            </a:solidFill>
            <a:prstDash val="solid"/>
          </a:ln>
        </p:spPr>
      </p:sp>
      <p:sp>
        <p:nvSpPr>
          <p:cNvPr id="15" name="card title Time-integrated activity"/>
          <p:cNvSpPr txBox="1"/>
          <p:nvPr/>
        </p:nvSpPr>
        <p:spPr>
          <a:xfrm>
            <a:off x="749808" y="4892040"/>
            <a:ext cx="4114800" cy="347472"/>
          </a:xfrm>
          <a:prstGeom prst="rect">
            <a:avLst/>
          </a:prstGeom>
          <a:noFill/>
          <a:ln/>
        </p:spPr>
        <p:txBody>
          <a:bodyPr wrap="square" lIns="0" tIns="0" rIns="0" bIns="0" rtlCol="0" anchor="t"/>
          <a:lstStyle/>
          <a:p>
            <a:pPr indent="0" marL="0">
              <a:buNone/>
            </a:pPr>
            <a:r>
              <a:rPr lang="en-US" sz="1600" b="1" dirty="0">
                <a:solidFill>
                  <a:schemeClr val="tx2"/>
                </a:solidFill>
              </a:rPr>
              <a:t>Time-integrated activity</a:t>
            </a:r>
            <a:endParaRPr lang="en-US" sz="1600" dirty="0"/>
          </a:p>
        </p:txBody>
      </p:sp>
      <p:sp>
        <p:nvSpPr>
          <p:cNvPr id="16" name="tag Time-integrated activity"/>
          <p:cNvSpPr txBox="1"/>
          <p:nvPr/>
        </p:nvSpPr>
        <p:spPr>
          <a:xfrm>
            <a:off x="4965192" y="49194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7" name="equation Time-integrated activity"/>
          <p:cNvSpPr txBox="1"/>
          <p:nvPr/>
        </p:nvSpPr>
        <p:spPr>
          <a:xfrm>
            <a:off x="749808" y="5303520"/>
            <a:ext cx="5175504" cy="59436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Ã = ∫₀^∞ A(t) dt = A₀ / λ_eff</a:t>
            </a:r>
            <a:endParaRPr lang="en-US" sz="1400" dirty="0"/>
          </a:p>
          <a:p>
            <a:pPr indent="0" marL="0">
              <a:buNone/>
            </a:pPr>
            <a:r>
              <a:rPr lang="en-US" sz="1400" dirty="0">
                <a:solidFill>
                  <a:schemeClr val="accent4"/>
                </a:solidFill>
                <a:latin typeface="+mj-lt" pitchFamily="34" charset="0"/>
                <a:ea typeface="+mj-lt" pitchFamily="34" charset="-122"/>
                <a:cs typeface="+mj-lt" pitchFamily="34" charset="-120"/>
              </a:rPr>
              <a:t>1 time point:  Ã ≈ A(t) · 2t / ln2</a:t>
            </a:r>
            <a:endParaRPr lang="en-US" sz="1400" dirty="0"/>
          </a:p>
        </p:txBody>
      </p:sp>
      <p:sp>
        <p:nvSpPr>
          <p:cNvPr id="18" name="desc Time-integrated activity"/>
          <p:cNvSpPr txBox="1"/>
          <p:nvPr/>
        </p:nvSpPr>
        <p:spPr>
          <a:xfrm>
            <a:off x="749808" y="5989320"/>
            <a:ext cx="5175504" cy="164592"/>
          </a:xfrm>
          <a:prstGeom prst="rect">
            <a:avLst/>
          </a:prstGeom>
          <a:noFill/>
          <a:ln/>
        </p:spPr>
        <p:txBody>
          <a:bodyPr wrap="square" lIns="0" tIns="0" rIns="0" bIns="0" rtlCol="0" anchor="t"/>
          <a:lstStyle/>
          <a:p>
            <a:pPr indent="0" marL="0">
              <a:buNone/>
            </a:pPr>
            <a:r>
              <a:rPr lang="en-US" sz="1300" dirty="0">
                <a:solidFill>
                  <a:schemeClr val="tx1"/>
                </a:solidFill>
              </a:rPr>
              <a:t>Hänscheid single-time-point estimate: one scan near t ≈ T_eff.</a:t>
            </a:r>
            <a:endParaRPr lang="en-US" sz="1300" dirty="0"/>
          </a:p>
        </p:txBody>
      </p:sp>
      <p:graphicFrame>
        <p:nvGraphicFramePr>
          <p:cNvPr id="19" name="TAC chart" descr=""/>
          <p:cNvGraphicFramePr/>
          <p:nvPr/>
        </p:nvGraphicFramePr>
        <p:xfrm>
          <a:off x="6400800" y="1554480"/>
          <a:ext cx="5212080" cy="4206240"/>
        </p:xfrm>
        <a:graphic xmlns:a="http://schemas.openxmlformats.org/drawingml/2006/main">
          <a:graphicData uri="http://schemas.openxmlformats.org/drawingml/2006/chart">
            <c:chart xmlns:c="http://schemas.openxmlformats.org/drawingml/2006/chart" r:id="rId1"/>
          </a:graphicData>
        </a:graphic>
      </p:graphicFrame>
      <p:sp>
        <p:nvSpPr>
          <p:cNvPr id="20" name="Text 17"/>
          <p:cNvSpPr txBox="1"/>
          <p:nvPr/>
        </p:nvSpPr>
        <p:spPr>
          <a:xfrm>
            <a:off x="6400800" y="5806440"/>
            <a:ext cx="5212080" cy="457200"/>
          </a:xfrm>
          <a:prstGeom prst="rect">
            <a:avLst/>
          </a:prstGeom>
          <a:noFill/>
          <a:ln/>
        </p:spPr>
        <p:txBody>
          <a:bodyPr wrap="square" lIns="0" tIns="0" rIns="0" bIns="0" rtlCol="0" anchor="ctr"/>
          <a:lstStyle/>
          <a:p>
            <a:pPr indent="0" marL="0">
              <a:buNone/>
            </a:pPr>
            <a:r>
              <a:rPr lang="en-US" sz="1200" i="1" dirty="0">
                <a:solidFill>
                  <a:schemeClr val="accent6"/>
                </a:solidFill>
              </a:rPr>
              <a:t>Area under each curve = Ã. Longer tumour retention gives tumour more dose per GBq than kidney.</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3 · DOSIMETRY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From integrated activity to absorbed dose</a:t>
            </a:r>
            <a:endParaRPr lang="en-US" sz="3600" dirty="0"/>
          </a:p>
        </p:txBody>
      </p:sp>
      <p:sp>
        <p:nvSpPr>
          <p:cNvPr id="4" name="card MIRD organ dosimetry"/>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MIRD organ dosimetry"/>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MIRD organ dosimetry</a:t>
            </a:r>
            <a:endParaRPr lang="en-US" sz="1600" dirty="0"/>
          </a:p>
        </p:txBody>
      </p:sp>
      <p:sp>
        <p:nvSpPr>
          <p:cNvPr id="6" name="tag MIRD organ dosimetry"/>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MIRD organ dosimetry"/>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D(r_T) = Σ_S Ã(r_S) · S(r_T ← r_S)</a:t>
            </a:r>
            <a:endParaRPr lang="en-US" sz="1600" dirty="0"/>
          </a:p>
        </p:txBody>
      </p:sp>
      <p:sp>
        <p:nvSpPr>
          <p:cNvPr id="8" name="desc MIRD organ dosimetry"/>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S-values give dose to target per decay in source, from reference phantoms. Fast, but organ-level only and assumes uniform uptake.</a:t>
            </a:r>
            <a:endParaRPr lang="en-US" sz="1400" dirty="0"/>
          </a:p>
        </p:txBody>
      </p:sp>
      <p:sp>
        <p:nvSpPr>
          <p:cNvPr id="9" name="card Voxel dosimetry (DVK)"/>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Voxel dosimetry (DVK)"/>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Voxel dosimetry (DVK)</a:t>
            </a:r>
            <a:endParaRPr lang="en-US" sz="1600" dirty="0"/>
          </a:p>
        </p:txBody>
      </p:sp>
      <p:sp>
        <p:nvSpPr>
          <p:cNvPr id="11" name="tag Voxel dosimetry (DVK)"/>
          <p:cNvSpPr txBox="1"/>
          <p:nvPr/>
        </p:nvSpPr>
        <p:spPr>
          <a:xfrm>
            <a:off x="104515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Voxel dosimetry (DVK)"/>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D(v) = (Ã ⊛ DVK)(v)</a:t>
            </a:r>
            <a:endParaRPr lang="en-US" sz="1600" dirty="0"/>
          </a:p>
        </p:txBody>
      </p:sp>
      <p:sp>
        <p:nvSpPr>
          <p:cNvPr id="13" name="desc Voxel dosimetry (DVK)"/>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Convolve the voxel Ã map with a dose-voxel kernel. Captures heterogeneity; assumes homogeneous tissue around each voxel.</a:t>
            </a:r>
            <a:endParaRPr lang="en-US" sz="1400" dirty="0"/>
          </a:p>
        </p:txBody>
      </p:sp>
      <p:sp>
        <p:nvSpPr>
          <p:cNvPr id="14" name="card Local energy deposi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Local energy deposi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Local energy deposition</a:t>
            </a:r>
            <a:endParaRPr lang="en-US" sz="1600" dirty="0"/>
          </a:p>
        </p:txBody>
      </p:sp>
      <p:sp>
        <p:nvSpPr>
          <p:cNvPr id="16" name="tag Local energy deposition"/>
          <p:cNvSpPr txBox="1"/>
          <p:nvPr/>
        </p:nvSpPr>
        <p:spPr>
          <a:xfrm>
            <a:off x="478231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7" name="equation Local energy deposition"/>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D(v) = Ã(v) · Ē / m(v)</a:t>
            </a:r>
            <a:endParaRPr lang="en-US" sz="1600" dirty="0"/>
          </a:p>
        </p:txBody>
      </p:sp>
      <p:sp>
        <p:nvSpPr>
          <p:cNvPr id="18" name="desc Local energy deposition"/>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For β emitters whose range is below the voxel size (¹⁷⁷Lu): all energy stays in the voxel. Simple and surprisingly accurate.</a:t>
            </a:r>
            <a:endParaRPr lang="en-US" sz="1400" dirty="0"/>
          </a:p>
        </p:txBody>
      </p:sp>
      <p:sp>
        <p:nvSpPr>
          <p:cNvPr id="19" name="card Monte Carlo and AI surrogate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Monte Carlo and AI surrogate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Monte Carlo and AI surrogates</a:t>
            </a:r>
            <a:endParaRPr lang="en-US" sz="1600" dirty="0"/>
          </a:p>
        </p:txBody>
      </p:sp>
      <p:sp>
        <p:nvSpPr>
          <p:cNvPr id="21" name="tag Monte Carlo and AI surrogates"/>
          <p:cNvSpPr txBox="1"/>
          <p:nvPr/>
        </p:nvSpPr>
        <p:spPr>
          <a:xfrm>
            <a:off x="1045159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22" name="equation Monte Carlo and AI surrogates"/>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D = MC(Ã, ρ_CT)  ≈  f_θ(Ã, CT)</a:t>
            </a:r>
            <a:endParaRPr lang="en-US" sz="1600" dirty="0"/>
          </a:p>
        </p:txBody>
      </p:sp>
      <p:sp>
        <p:nvSpPr>
          <p:cNvPr id="23" name="desc Monte Carlo and AI surrogates"/>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Monte Carlo (e.g. GATE) is the reference but takes hours; a trained network f_θ approximates it in about 3 s (Layer 6).</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3 · EXTERNAL-BEAM GEOMETRY AND PLAN QUALITY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Beam physics and dose metrics in DoseVLM</a:t>
            </a:r>
            <a:endParaRPr lang="en-US" sz="3600" dirty="0"/>
          </a:p>
        </p:txBody>
      </p:sp>
      <p:sp>
        <p:nvSpPr>
          <p:cNvPr id="4" name="card Divergent fluence projec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Divergent fluence projec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Divergent fluence projection</a:t>
            </a:r>
            <a:endParaRPr lang="en-US" sz="1600" dirty="0"/>
          </a:p>
        </p:txBody>
      </p:sp>
      <p:sp>
        <p:nvSpPr>
          <p:cNvPr id="6" name="tag Divergent fluence projec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Divergent fluence projecti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Φ(v) = Σ_seg MU · 𝟙[v ∈ aperture] · (SAD / (SAD − z))²</a:t>
            </a:r>
            <a:endParaRPr lang="en-US" sz="1500" dirty="0"/>
          </a:p>
        </p:txBody>
      </p:sp>
      <p:sp>
        <p:nvSpPr>
          <p:cNvPr id="8" name="desc Divergent fluence projecti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IEC 61217 couch, gantry and collimator rotations; jaw + MLC aperture test; inverse-square weight (rtplan.py).</a:t>
            </a:r>
            <a:endParaRPr lang="en-US" sz="1400" dirty="0"/>
          </a:p>
        </p:txBody>
      </p:sp>
      <p:sp>
        <p:nvSpPr>
          <p:cNvPr id="9" name="card Pencil-beam dose (synthetic)"/>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Pencil-beam dose (synthetic)"/>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Pencil-beam dose (synthetic)</a:t>
            </a:r>
            <a:endParaRPr lang="en-US" sz="1600" dirty="0"/>
          </a:p>
        </p:txBody>
      </p:sp>
      <p:sp>
        <p:nvSpPr>
          <p:cNvPr id="11" name="tag Pencil-beam dose (synthetic)"/>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Pencil-beam dose (synthetic)"/>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 = G_σ ⊛ (Φ · e^(−μ d)),   μ = 0.004 mm⁻¹</a:t>
            </a:r>
            <a:endParaRPr lang="en-US" sz="1500" dirty="0"/>
          </a:p>
        </p:txBody>
      </p:sp>
      <p:sp>
        <p:nvSpPr>
          <p:cNvPr id="13" name="desc Pencil-beam dose (synthetic)"/>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Exponential attenuation with depth d plus Gaussian scatter blur. Used only to make learnable synthetic data.</a:t>
            </a:r>
            <a:endParaRPr lang="en-US" sz="1400" dirty="0"/>
          </a:p>
        </p:txBody>
      </p:sp>
      <p:sp>
        <p:nvSpPr>
          <p:cNvPr id="14" name="card Dose–volume histogram metric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Dose–volume histogram metric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Dose–volume histogram metrics</a:t>
            </a:r>
            <a:endParaRPr lang="en-US" sz="1600" dirty="0"/>
          </a:p>
        </p:txBody>
      </p:sp>
      <p:sp>
        <p:nvSpPr>
          <p:cNvPr id="16" name="tag Dose–volume histogram metrics"/>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Dose–volume histogram metrics"/>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D_x = dose to hottest x %;   V_x = % volume ≥ x Gy</a:t>
            </a:r>
            <a:endParaRPr lang="en-US" sz="1500" dirty="0"/>
          </a:p>
        </p:txBody>
      </p:sp>
      <p:sp>
        <p:nvSpPr>
          <p:cNvPr id="18" name="desc Dose–volume histogram metrics"/>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PTV: D99, D95, D1, Dmean. OAR: Dmean, D0.1cc (metrics.py and the plain-Python dvh_tool.py).</a:t>
            </a:r>
            <a:endParaRPr lang="en-US" sz="1400" dirty="0"/>
          </a:p>
        </p:txBody>
      </p:sp>
      <p:sp>
        <p:nvSpPr>
          <p:cNvPr id="19" name="card 3-D gamma index"/>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3-D gamma index"/>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3-D gamma index</a:t>
            </a:r>
            <a:endParaRPr lang="en-US" sz="1600" dirty="0"/>
          </a:p>
        </p:txBody>
      </p:sp>
      <p:sp>
        <p:nvSpPr>
          <p:cNvPr id="21" name="tag 3-D gamma index"/>
          <p:cNvSpPr txBox="1"/>
          <p:nvPr/>
        </p:nvSpPr>
        <p:spPr>
          <a:xfrm>
            <a:off x="1045159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3-D gamma index"/>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γ = min_r′ √( ΔD²/(δ·D_max)² + |r′ − r|²/DTA² )</a:t>
            </a:r>
            <a:endParaRPr lang="en-US" sz="1500" dirty="0"/>
          </a:p>
        </p:txBody>
      </p:sp>
      <p:sp>
        <p:nvSpPr>
          <p:cNvPr id="23" name="desc 3-D gamma index"/>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A voxel passes if γ ≤ 1 at 3 % / 3 mm with a 10 % low-dose threshold. Pass rate compares predicted with clinical dose.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4 · RADIOBIOLOGY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From physical dose to biological effect</a:t>
            </a:r>
            <a:endParaRPr lang="en-US" sz="3600" dirty="0"/>
          </a:p>
        </p:txBody>
      </p:sp>
      <p:sp>
        <p:nvSpPr>
          <p:cNvPr id="4" name="card Linear-quadratic survival"/>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Linear-quadratic survival"/>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Linear-quadratic survival</a:t>
            </a:r>
            <a:endParaRPr lang="en-US" sz="1600" dirty="0"/>
          </a:p>
        </p:txBody>
      </p:sp>
      <p:sp>
        <p:nvSpPr>
          <p:cNvPr id="6" name="tag Linear-quadratic survival"/>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Linear-quadratic survival"/>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S = exp(−αD − βD²)</a:t>
            </a:r>
            <a:endParaRPr lang="en-US" sz="1600" dirty="0"/>
          </a:p>
        </p:txBody>
      </p:sp>
      <p:sp>
        <p:nvSpPr>
          <p:cNvPr id="8" name="desc Linear-quadratic survival"/>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Fraction of cells surviving dose D. α/β sets fractionation sensitivity: low for late-responding tissue and prostate.</a:t>
            </a:r>
            <a:endParaRPr lang="en-US" sz="1400" dirty="0"/>
          </a:p>
        </p:txBody>
      </p:sp>
      <p:sp>
        <p:nvSpPr>
          <p:cNvPr id="9" name="card BED for external beam"/>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BED for external beam"/>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BED for external beam</a:t>
            </a:r>
            <a:endParaRPr lang="en-US" sz="1600" dirty="0"/>
          </a:p>
        </p:txBody>
      </p:sp>
      <p:sp>
        <p:nvSpPr>
          <p:cNvPr id="11" name="tag BED for external beam"/>
          <p:cNvSpPr txBox="1"/>
          <p:nvPr/>
        </p:nvSpPr>
        <p:spPr>
          <a:xfrm>
            <a:off x="104515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BED for external beam"/>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BED = n d (1 + d / (α/β))</a:t>
            </a:r>
            <a:endParaRPr lang="en-US" sz="1600" dirty="0"/>
          </a:p>
        </p:txBody>
      </p:sp>
      <p:sp>
        <p:nvSpPr>
          <p:cNvPr id="13" name="desc BED for external beam"/>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n fractions of d Gy. Lets different schedules be compared on one biological scale.</a:t>
            </a:r>
            <a:endParaRPr lang="en-US" sz="1400" dirty="0"/>
          </a:p>
        </p:txBody>
      </p:sp>
      <p:sp>
        <p:nvSpPr>
          <p:cNvPr id="14" name="card BED for RPT (dose-rate G factor)"/>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BED for RPT (dose-rate G factor)"/>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BED for RPT (dose-rate G factor)</a:t>
            </a:r>
            <a:endParaRPr lang="en-US" sz="1600" dirty="0"/>
          </a:p>
        </p:txBody>
      </p:sp>
      <p:sp>
        <p:nvSpPr>
          <p:cNvPr id="16" name="tag BED for RPT (dose-rate G factor)"/>
          <p:cNvSpPr txBox="1"/>
          <p:nvPr/>
        </p:nvSpPr>
        <p:spPr>
          <a:xfrm>
            <a:off x="478231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7" name="equation BED for RPT (dose-rate G factor)"/>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BED = D (1 + G · D / (α/β))</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G = λ_eff / (λ_eff + μ)</a:t>
            </a:r>
            <a:endParaRPr lang="en-US" sz="1600" dirty="0"/>
          </a:p>
        </p:txBody>
      </p:sp>
      <p:sp>
        <p:nvSpPr>
          <p:cNvPr id="18" name="desc BED for RPT (dose-rate G factor)"/>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Continuous, decaying dose rate allows repair (rate μ). Example kidney: T_eff 30 h, T_rep 2.8 h → G ≈ 0.085.</a:t>
            </a:r>
            <a:endParaRPr lang="en-US" sz="1400" dirty="0"/>
          </a:p>
        </p:txBody>
      </p:sp>
      <p:sp>
        <p:nvSpPr>
          <p:cNvPr id="19" name="card EQD2"/>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EQD2"/>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EQD2</a:t>
            </a:r>
            <a:endParaRPr lang="en-US" sz="1600" dirty="0"/>
          </a:p>
        </p:txBody>
      </p:sp>
      <p:sp>
        <p:nvSpPr>
          <p:cNvPr id="21" name="tag EQD2"/>
          <p:cNvSpPr txBox="1"/>
          <p:nvPr/>
        </p:nvSpPr>
        <p:spPr>
          <a:xfrm>
            <a:off x="10451592" y="418795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22" name="equation EQD2"/>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EQD2 = BED / (1 + 2 / (α/β))</a:t>
            </a:r>
            <a:endParaRPr lang="en-US" sz="1600" dirty="0"/>
          </a:p>
        </p:txBody>
      </p:sp>
      <p:sp>
        <p:nvSpPr>
          <p:cNvPr id="23" name="desc EQD2"/>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Dose in 2 Gy fractions with the same effect, so RPT and external-beam limits can be added and compared.</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4 · OUTCOME PROBABILITY</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TCP and NTCP define the therapeutic window</a:t>
            </a:r>
            <a:endParaRPr lang="en-US" sz="3600" dirty="0"/>
          </a:p>
        </p:txBody>
      </p:sp>
      <p:sp>
        <p:nvSpPr>
          <p:cNvPr id="4" name="card Tumour control (Poisson)"/>
          <p:cNvSpPr/>
          <p:nvPr/>
        </p:nvSpPr>
        <p:spPr>
          <a:xfrm>
            <a:off x="548640" y="1554480"/>
            <a:ext cx="5120640" cy="2148840"/>
          </a:xfrm>
          <a:prstGeom prst="roundRect">
            <a:avLst>
              <a:gd name="adj" fmla="val 3404"/>
            </a:avLst>
          </a:prstGeom>
          <a:solidFill>
            <a:schemeClr val="bg2"/>
          </a:solidFill>
          <a:ln w="12700">
            <a:solidFill>
              <a:schemeClr val="bg2"/>
            </a:solidFill>
            <a:prstDash val="solid"/>
          </a:ln>
        </p:spPr>
      </p:sp>
      <p:sp>
        <p:nvSpPr>
          <p:cNvPr id="5" name="card title Tumour control (Poisson)"/>
          <p:cNvSpPr txBox="1"/>
          <p:nvPr/>
        </p:nvSpPr>
        <p:spPr>
          <a:xfrm>
            <a:off x="749808" y="1691640"/>
            <a:ext cx="3657600" cy="347472"/>
          </a:xfrm>
          <a:prstGeom prst="rect">
            <a:avLst/>
          </a:prstGeom>
          <a:noFill/>
          <a:ln/>
        </p:spPr>
        <p:txBody>
          <a:bodyPr wrap="square" lIns="0" tIns="0" rIns="0" bIns="0" rtlCol="0" anchor="t"/>
          <a:lstStyle/>
          <a:p>
            <a:pPr indent="0" marL="0">
              <a:buNone/>
            </a:pPr>
            <a:r>
              <a:rPr lang="en-US" sz="1600" b="1" dirty="0">
                <a:solidFill>
                  <a:schemeClr val="tx2"/>
                </a:solidFill>
              </a:rPr>
              <a:t>Tumour control (Poisson)</a:t>
            </a:r>
            <a:endParaRPr lang="en-US" sz="1600" dirty="0"/>
          </a:p>
        </p:txBody>
      </p:sp>
      <p:sp>
        <p:nvSpPr>
          <p:cNvPr id="6" name="tag Tumour control (Poisson)"/>
          <p:cNvSpPr txBox="1"/>
          <p:nvPr/>
        </p:nvSpPr>
        <p:spPr>
          <a:xfrm>
            <a:off x="450799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Tumour control (Poisson)"/>
          <p:cNvSpPr txBox="1"/>
          <p:nvPr/>
        </p:nvSpPr>
        <p:spPr>
          <a:xfrm>
            <a:off x="749808" y="2103120"/>
            <a:ext cx="471830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TCP = exp(−N₀ · e^(−α · BED))</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N₀ = ρ · V  clonogens</a:t>
            </a:r>
            <a:endParaRPr lang="en-US" sz="1600" dirty="0"/>
          </a:p>
        </p:txBody>
      </p:sp>
      <p:sp>
        <p:nvSpPr>
          <p:cNvPr id="8" name="desc Tumour control (Poisson)"/>
          <p:cNvSpPr txBox="1"/>
          <p:nvPr/>
        </p:nvSpPr>
        <p:spPr>
          <a:xfrm>
            <a:off x="749808" y="3017520"/>
            <a:ext cx="4718304" cy="576072"/>
          </a:xfrm>
          <a:prstGeom prst="rect">
            <a:avLst/>
          </a:prstGeom>
          <a:noFill/>
          <a:ln/>
        </p:spPr>
        <p:txBody>
          <a:bodyPr wrap="square" lIns="0" tIns="0" rIns="0" bIns="0" rtlCol="0" anchor="t"/>
          <a:lstStyle/>
          <a:p>
            <a:pPr indent="0" marL="0">
              <a:buNone/>
            </a:pPr>
            <a:r>
              <a:rPr lang="en-US" sz="1400" dirty="0">
                <a:solidFill>
                  <a:schemeClr val="tx1"/>
                </a:solidFill>
              </a:rPr>
              <a:t>Probability that no clonogenic cell survives. Steep sigmoid in BED.</a:t>
            </a:r>
            <a:endParaRPr lang="en-US" sz="1400" dirty="0"/>
          </a:p>
        </p:txBody>
      </p:sp>
      <p:sp>
        <p:nvSpPr>
          <p:cNvPr id="9" name="card Normal-tissue complication (LKB)"/>
          <p:cNvSpPr/>
          <p:nvPr/>
        </p:nvSpPr>
        <p:spPr>
          <a:xfrm>
            <a:off x="548640" y="3931920"/>
            <a:ext cx="5120640" cy="2148840"/>
          </a:xfrm>
          <a:prstGeom prst="roundRect">
            <a:avLst>
              <a:gd name="adj" fmla="val 3404"/>
            </a:avLst>
          </a:prstGeom>
          <a:solidFill>
            <a:schemeClr val="bg2"/>
          </a:solidFill>
          <a:ln w="12700">
            <a:solidFill>
              <a:schemeClr val="bg2"/>
            </a:solidFill>
            <a:prstDash val="solid"/>
          </a:ln>
        </p:spPr>
      </p:sp>
      <p:sp>
        <p:nvSpPr>
          <p:cNvPr id="10" name="card title Normal-tissue complication (LKB)"/>
          <p:cNvSpPr txBox="1"/>
          <p:nvPr/>
        </p:nvSpPr>
        <p:spPr>
          <a:xfrm>
            <a:off x="749808" y="4069080"/>
            <a:ext cx="3657600" cy="347472"/>
          </a:xfrm>
          <a:prstGeom prst="rect">
            <a:avLst/>
          </a:prstGeom>
          <a:noFill/>
          <a:ln/>
        </p:spPr>
        <p:txBody>
          <a:bodyPr wrap="square" lIns="0" tIns="0" rIns="0" bIns="0" rtlCol="0" anchor="t"/>
          <a:lstStyle/>
          <a:p>
            <a:pPr indent="0" marL="0">
              <a:buNone/>
            </a:pPr>
            <a:r>
              <a:rPr lang="en-US" sz="1600" b="1" dirty="0">
                <a:solidFill>
                  <a:schemeClr val="tx2"/>
                </a:solidFill>
              </a:rPr>
              <a:t>Normal-tissue complication (LKB)</a:t>
            </a:r>
            <a:endParaRPr lang="en-US" sz="1600" dirty="0"/>
          </a:p>
        </p:txBody>
      </p:sp>
      <p:sp>
        <p:nvSpPr>
          <p:cNvPr id="11" name="tag Normal-tissue complication (LKB)"/>
          <p:cNvSpPr txBox="1"/>
          <p:nvPr/>
        </p:nvSpPr>
        <p:spPr>
          <a:xfrm>
            <a:off x="4507992" y="409651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12" name="equation Normal-tissue complication (LKB)"/>
          <p:cNvSpPr txBox="1"/>
          <p:nvPr/>
        </p:nvSpPr>
        <p:spPr>
          <a:xfrm>
            <a:off x="749808" y="4480560"/>
            <a:ext cx="471830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NTCP = Φ((gEUD − TD₅₀) / (m · TD₅₀))</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gEUD = (Σ vᵢ Dᵢ^(1/n))ⁿ</a:t>
            </a:r>
            <a:endParaRPr lang="en-US" sz="1600" dirty="0"/>
          </a:p>
        </p:txBody>
      </p:sp>
      <p:sp>
        <p:nvSpPr>
          <p:cNvPr id="13" name="desc Normal-tissue complication (LKB)"/>
          <p:cNvSpPr txBox="1"/>
          <p:nvPr/>
        </p:nvSpPr>
        <p:spPr>
          <a:xfrm>
            <a:off x="749808" y="5394960"/>
            <a:ext cx="4718304" cy="576072"/>
          </a:xfrm>
          <a:prstGeom prst="rect">
            <a:avLst/>
          </a:prstGeom>
          <a:noFill/>
          <a:ln/>
        </p:spPr>
        <p:txBody>
          <a:bodyPr wrap="square" lIns="0" tIns="0" rIns="0" bIns="0" rtlCol="0" anchor="t"/>
          <a:lstStyle/>
          <a:p>
            <a:pPr indent="0" marL="0">
              <a:buNone/>
            </a:pPr>
            <a:r>
              <a:rPr lang="en-US" sz="1400" dirty="0">
                <a:solidFill>
                  <a:schemeClr val="tx1"/>
                </a:solidFill>
              </a:rPr>
              <a:t>n = volume effect (n → 1 parallel, n → 0 serial organ); m = slope.</a:t>
            </a:r>
            <a:endParaRPr lang="en-US" sz="1400" dirty="0"/>
          </a:p>
        </p:txBody>
      </p:sp>
      <p:graphicFrame>
        <p:nvGraphicFramePr>
          <p:cNvPr id="14" name="TCP NTCP chart" descr=""/>
          <p:cNvGraphicFramePr/>
          <p:nvPr/>
        </p:nvGraphicFramePr>
        <p:xfrm>
          <a:off x="5943600" y="1554480"/>
          <a:ext cx="5669280" cy="4160520"/>
        </p:xfrm>
        <a:graphic xmlns:a="http://schemas.openxmlformats.org/drawingml/2006/main">
          <a:graphicData uri="http://schemas.openxmlformats.org/drawingml/2006/chart">
            <c:chart xmlns:c="http://schemas.openxmlformats.org/drawingml/2006/chart" r:id="rId1"/>
          </a:graphicData>
        </a:graphic>
      </p:graphicFrame>
      <p:sp>
        <p:nvSpPr>
          <p:cNvPr id="15" name="Text 12"/>
          <p:cNvSpPr txBox="1"/>
          <p:nvPr/>
        </p:nvSpPr>
        <p:spPr>
          <a:xfrm>
            <a:off x="5943600" y="5715000"/>
            <a:ext cx="5669280" cy="548640"/>
          </a:xfrm>
          <a:prstGeom prst="rect">
            <a:avLst/>
          </a:prstGeom>
          <a:noFill/>
          <a:ln/>
        </p:spPr>
        <p:txBody>
          <a:bodyPr wrap="square" lIns="0" tIns="0" rIns="0" bIns="0" rtlCol="0" anchor="ctr"/>
          <a:lstStyle/>
          <a:p>
            <a:pPr indent="0" marL="0">
              <a:buNone/>
            </a:pPr>
            <a:r>
              <a:rPr lang="en-US" sz="1200" i="1" dirty="0">
                <a:solidFill>
                  <a:schemeClr val="accent6"/>
                </a:solidFill>
              </a:rPr>
              <a:t>Parameters illustrative: TCP₅₀ = 60 Gy, α = 0.15 Gy⁻¹; TD₅₀ = 90 Gy, m = 0.2. The gap between curves is the window a twin tries to exploit per patient.</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5 · TWIN UPDATING AND OPTIMISATION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Learn each patient, then choose the treatment</a:t>
            </a:r>
            <a:endParaRPr lang="en-US" sz="3600" dirty="0"/>
          </a:p>
        </p:txBody>
      </p:sp>
      <p:sp>
        <p:nvSpPr>
          <p:cNvPr id="4" name="card Bayesian update across cycles"/>
          <p:cNvSpPr/>
          <p:nvPr/>
        </p:nvSpPr>
        <p:spPr>
          <a:xfrm>
            <a:off x="548640" y="1554480"/>
            <a:ext cx="5394960" cy="2194560"/>
          </a:xfrm>
          <a:prstGeom prst="roundRect">
            <a:avLst>
              <a:gd name="adj" fmla="val 3333"/>
            </a:avLst>
          </a:prstGeom>
          <a:solidFill>
            <a:schemeClr val="bg2"/>
          </a:solidFill>
          <a:ln w="12700">
            <a:solidFill>
              <a:schemeClr val="bg2"/>
            </a:solidFill>
            <a:prstDash val="solid"/>
          </a:ln>
        </p:spPr>
      </p:sp>
      <p:sp>
        <p:nvSpPr>
          <p:cNvPr id="5" name="card title Bayesian update across cycle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update across cycles</a:t>
            </a:r>
            <a:endParaRPr lang="en-US" sz="1600" dirty="0"/>
          </a:p>
        </p:txBody>
      </p:sp>
      <p:sp>
        <p:nvSpPr>
          <p:cNvPr id="6" name="tag Bayesian update across cycles"/>
          <p:cNvSpPr txBox="1"/>
          <p:nvPr/>
        </p:nvSpPr>
        <p:spPr>
          <a:xfrm>
            <a:off x="4782312" y="171907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7" name="equation Bayesian update across cycles"/>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p(θ | y₁…ₖ) ∝ p(yₖ | θ) · p(θ | y₁…ₖ₋₁)</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θ̂_MAP = argmax_θ p(θ | y)</a:t>
            </a:r>
            <a:endParaRPr lang="en-US" sz="1600" dirty="0"/>
          </a:p>
        </p:txBody>
      </p:sp>
      <p:sp>
        <p:nvSpPr>
          <p:cNvPr id="8" name="desc Bayesian update across cycles"/>
          <p:cNvSpPr txBox="1"/>
          <p:nvPr/>
        </p:nvSpPr>
        <p:spPr>
          <a:xfrm>
            <a:off x="749808" y="3017520"/>
            <a:ext cx="4992624" cy="621792"/>
          </a:xfrm>
          <a:prstGeom prst="rect">
            <a:avLst/>
          </a:prstGeom>
          <a:noFill/>
          <a:ln/>
        </p:spPr>
        <p:txBody>
          <a:bodyPr wrap="square" lIns="0" tIns="0" rIns="0" bIns="0" rtlCol="0" anchor="t"/>
          <a:lstStyle/>
          <a:p>
            <a:pPr indent="0" marL="0">
              <a:buNone/>
            </a:pPr>
            <a:r>
              <a:rPr lang="en-US" sz="1400" dirty="0">
                <a:solidFill>
                  <a:schemeClr val="tx1"/>
                </a:solidFill>
              </a:rPr>
              <a:t>Population prior + sparse post-therapy SPECT. The prediction band narrows from cycle 1 to cycle 2.</a:t>
            </a:r>
            <a:endParaRPr lang="en-US" sz="1400" dirty="0"/>
          </a:p>
        </p:txBody>
      </p:sp>
      <p:sp>
        <p:nvSpPr>
          <p:cNvPr id="9" name="card Activity optimisation"/>
          <p:cNvSpPr/>
          <p:nvPr/>
        </p:nvSpPr>
        <p:spPr>
          <a:xfrm>
            <a:off x="548640" y="3931920"/>
            <a:ext cx="5394960" cy="2194560"/>
          </a:xfrm>
          <a:prstGeom prst="roundRect">
            <a:avLst>
              <a:gd name="adj" fmla="val 3333"/>
            </a:avLst>
          </a:prstGeom>
          <a:solidFill>
            <a:schemeClr val="bg2"/>
          </a:solidFill>
          <a:ln w="12700">
            <a:solidFill>
              <a:schemeClr val="bg2"/>
            </a:solidFill>
            <a:prstDash val="solid"/>
          </a:ln>
        </p:spPr>
      </p:sp>
      <p:sp>
        <p:nvSpPr>
          <p:cNvPr id="10" name="card title Activity optimisation"/>
          <p:cNvSpPr txBox="1"/>
          <p:nvPr/>
        </p:nvSpPr>
        <p:spPr>
          <a:xfrm>
            <a:off x="749808" y="406908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Activity optimisation</a:t>
            </a:r>
            <a:endParaRPr lang="en-US" sz="1600" dirty="0"/>
          </a:p>
        </p:txBody>
      </p:sp>
      <p:sp>
        <p:nvSpPr>
          <p:cNvPr id="11" name="tag Activity optimisation"/>
          <p:cNvSpPr txBox="1"/>
          <p:nvPr/>
        </p:nvSpPr>
        <p:spPr>
          <a:xfrm>
            <a:off x="4782312" y="4096512"/>
            <a:ext cx="960120" cy="256032"/>
          </a:xfrm>
          <a:prstGeom prst="roundRect">
            <a:avLst>
              <a:gd name="adj" fmla="val 21429"/>
            </a:avLst>
          </a:prstGeom>
          <a:solidFill>
            <a:schemeClr val="accent1"/>
          </a:solidFill>
          <a:ln/>
        </p:spPr>
        <p:txBody>
          <a:bodyPr wrap="square" lIns="0" tIns="0" rIns="0" bIns="0" rtlCol="0" anchor="ctr"/>
          <a:lstStyle/>
          <a:p>
            <a:pPr algn="ctr" indent="0" marL="0">
              <a:buNone/>
            </a:pPr>
            <a:r>
              <a:rPr lang="en-US" sz="1000" b="1" dirty="0">
                <a:solidFill>
                  <a:schemeClr val="tx1"/>
                </a:solidFill>
              </a:rPr>
              <a:t>IN TALKS</a:t>
            </a:r>
            <a:endParaRPr lang="en-US" sz="1000" dirty="0"/>
          </a:p>
        </p:txBody>
      </p:sp>
      <p:sp>
        <p:nvSpPr>
          <p:cNvPr id="12" name="equation Activity optimisation"/>
          <p:cNvSpPr txBox="1"/>
          <p:nvPr/>
        </p:nvSpPr>
        <p:spPr>
          <a:xfrm>
            <a:off x="749808" y="448056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A* = max A  s.t.  BED_OAR(A) ≤ L</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linear case: A* = A_ref · D_lim / D(A_ref)</a:t>
            </a:r>
            <a:endParaRPr lang="en-US" sz="1600" dirty="0"/>
          </a:p>
        </p:txBody>
      </p:sp>
      <p:sp>
        <p:nvSpPr>
          <p:cNvPr id="13" name="desc Activity optimisation"/>
          <p:cNvSpPr txBox="1"/>
          <p:nvPr/>
        </p:nvSpPr>
        <p:spPr>
          <a:xfrm>
            <a:off x="749808" y="5394960"/>
            <a:ext cx="4992624" cy="621792"/>
          </a:xfrm>
          <a:prstGeom prst="rect">
            <a:avLst/>
          </a:prstGeom>
          <a:noFill/>
          <a:ln/>
        </p:spPr>
        <p:txBody>
          <a:bodyPr wrap="square" lIns="0" tIns="0" rIns="0" bIns="0" rtlCol="0" anchor="t"/>
          <a:lstStyle/>
          <a:p>
            <a:pPr indent="0" marL="0">
              <a:buNone/>
            </a:pPr>
            <a:r>
              <a:rPr lang="en-US" sz="1400" dirty="0">
                <a:solidFill>
                  <a:schemeClr val="tx1"/>
                </a:solidFill>
              </a:rPr>
              <a:t>e.g. kidney limit. Tumour sink and saturation make D(A) nonlinear, so the PBPK twin is needed.</a:t>
            </a:r>
            <a:endParaRPr lang="en-US" sz="1400" dirty="0"/>
          </a:p>
        </p:txBody>
      </p:sp>
      <p:sp>
        <p:nvSpPr>
          <p:cNvPr id="14" name="Text 12"/>
          <p:cNvSpPr txBox="1"/>
          <p:nvPr/>
        </p:nvSpPr>
        <p:spPr>
          <a:xfrm>
            <a:off x="6309360" y="1554480"/>
            <a:ext cx="5303520" cy="365760"/>
          </a:xfrm>
          <a:prstGeom prst="rect">
            <a:avLst/>
          </a:prstGeom>
          <a:noFill/>
          <a:ln/>
        </p:spPr>
        <p:txBody>
          <a:bodyPr wrap="square" lIns="0" tIns="0" rIns="0" bIns="0" rtlCol="0" anchor="ctr"/>
          <a:lstStyle/>
          <a:p>
            <a:pPr indent="0" marL="0">
              <a:buNone/>
            </a:pPr>
            <a:r>
              <a:rPr lang="en-US" sz="1600" b="1" dirty="0">
                <a:solidFill>
                  <a:schemeClr val="tx2"/>
                </a:solidFill>
              </a:rPr>
              <a:t>Illustrative ¹⁷⁷Lu-PSMA twin: activity alone changes the outcome</a:t>
            </a:r>
            <a:endParaRPr lang="en-US" sz="1600" dirty="0"/>
          </a:p>
        </p:txBody>
      </p:sp>
      <p:sp>
        <p:nvSpPr>
          <p:cNvPr id="15" name="Text 13"/>
          <p:cNvSpPr txBox="1"/>
          <p:nvPr/>
        </p:nvSpPr>
        <p:spPr>
          <a:xfrm>
            <a:off x="6309360" y="2057400"/>
            <a:ext cx="2103120" cy="822960"/>
          </a:xfrm>
          <a:prstGeom prst="rect">
            <a:avLst/>
          </a:prstGeom>
          <a:noFill/>
          <a:ln/>
        </p:spPr>
        <p:txBody>
          <a:bodyPr wrap="square" lIns="0" tIns="0" rIns="0" bIns="0" rtlCol="0" anchor="ctr"/>
          <a:lstStyle/>
          <a:p>
            <a:pPr indent="0" marL="0">
              <a:buNone/>
            </a:pPr>
            <a:r>
              <a:rPr lang="en-US" sz="4000" b="1" dirty="0">
                <a:solidFill>
                  <a:schemeClr val="accent6"/>
                </a:solidFill>
                <a:latin typeface="+mj-lt" pitchFamily="34" charset="0"/>
                <a:ea typeface="+mj-lt" pitchFamily="34" charset="-122"/>
                <a:cs typeface="+mj-lt" pitchFamily="34" charset="-120"/>
              </a:rPr>
              <a:t>7.4</a:t>
            </a:r>
            <a:pPr indent="0" marL="0">
              <a:buNone/>
            </a:pPr>
            <a:r>
              <a:rPr lang="en-US" sz="1600" dirty="0">
                <a:solidFill>
                  <a:schemeClr val="tx1"/>
                </a:solidFill>
                <a:latin typeface="+mj-lt" pitchFamily="34" charset="0"/>
                <a:ea typeface="+mj-lt" pitchFamily="34" charset="-122"/>
                <a:cs typeface="+mj-lt" pitchFamily="34" charset="-120"/>
              </a:rPr>
              <a:t> GBq</a:t>
            </a:r>
            <a:endParaRPr lang="en-US" sz="4000" dirty="0"/>
          </a:p>
        </p:txBody>
      </p:sp>
      <p:sp>
        <p:nvSpPr>
          <p:cNvPr id="16" name="Text 14"/>
          <p:cNvSpPr txBox="1"/>
          <p:nvPr/>
        </p:nvSpPr>
        <p:spPr>
          <a:xfrm>
            <a:off x="8503920" y="2057400"/>
            <a:ext cx="3108960" cy="822960"/>
          </a:xfrm>
          <a:prstGeom prst="rect">
            <a:avLst/>
          </a:prstGeom>
          <a:noFill/>
          <a:ln/>
        </p:spPr>
        <p:txBody>
          <a:bodyPr wrap="square" lIns="0" tIns="0" rIns="0" bIns="0" rtlCol="0" anchor="ctr"/>
          <a:lstStyle/>
          <a:p>
            <a:pPr indent="0" marL="0">
              <a:buNone/>
            </a:pPr>
            <a:r>
              <a:rPr lang="en-US" sz="1500" dirty="0">
                <a:solidFill>
                  <a:schemeClr val="tx1"/>
                </a:solidFill>
              </a:rPr>
              <a:t>Organs safe · tumour refractory</a:t>
            </a:r>
            <a:endParaRPr lang="en-US" sz="1500" dirty="0"/>
          </a:p>
        </p:txBody>
      </p:sp>
      <p:sp>
        <p:nvSpPr>
          <p:cNvPr id="17" name="Text 15"/>
          <p:cNvSpPr txBox="1"/>
          <p:nvPr/>
        </p:nvSpPr>
        <p:spPr>
          <a:xfrm>
            <a:off x="6309360" y="3044952"/>
            <a:ext cx="2103120" cy="822960"/>
          </a:xfrm>
          <a:prstGeom prst="rect">
            <a:avLst/>
          </a:prstGeom>
          <a:noFill/>
          <a:ln/>
        </p:spPr>
        <p:txBody>
          <a:bodyPr wrap="square" lIns="0" tIns="0" rIns="0" bIns="0" rtlCol="0" anchor="ctr"/>
          <a:lstStyle/>
          <a:p>
            <a:pPr indent="0" marL="0">
              <a:buNone/>
            </a:pPr>
            <a:r>
              <a:rPr lang="en-US" sz="4000" b="1" dirty="0">
                <a:solidFill>
                  <a:schemeClr val="accent2"/>
                </a:solidFill>
                <a:latin typeface="+mj-lt" pitchFamily="34" charset="0"/>
                <a:ea typeface="+mj-lt" pitchFamily="34" charset="-122"/>
                <a:cs typeface="+mj-lt" pitchFamily="34" charset="-120"/>
              </a:rPr>
              <a:t>8.3</a:t>
            </a:r>
            <a:pPr indent="0" marL="0">
              <a:buNone/>
            </a:pPr>
            <a:r>
              <a:rPr lang="en-US" sz="1600" dirty="0">
                <a:solidFill>
                  <a:schemeClr val="tx1"/>
                </a:solidFill>
                <a:latin typeface="+mj-lt" pitchFamily="34" charset="0"/>
                <a:ea typeface="+mj-lt" pitchFamily="34" charset="-122"/>
                <a:cs typeface="+mj-lt" pitchFamily="34" charset="-120"/>
              </a:rPr>
              <a:t> GBq</a:t>
            </a:r>
            <a:endParaRPr lang="en-US" sz="4000" dirty="0"/>
          </a:p>
        </p:txBody>
      </p:sp>
      <p:sp>
        <p:nvSpPr>
          <p:cNvPr id="18" name="Text 16"/>
          <p:cNvSpPr txBox="1"/>
          <p:nvPr/>
        </p:nvSpPr>
        <p:spPr>
          <a:xfrm>
            <a:off x="8503920" y="3044952"/>
            <a:ext cx="3108960" cy="822960"/>
          </a:xfrm>
          <a:prstGeom prst="rect">
            <a:avLst/>
          </a:prstGeom>
          <a:noFill/>
          <a:ln/>
        </p:spPr>
        <p:txBody>
          <a:bodyPr wrap="square" lIns="0" tIns="0" rIns="0" bIns="0" rtlCol="0" anchor="ctr"/>
          <a:lstStyle/>
          <a:p>
            <a:pPr indent="0" marL="0">
              <a:buNone/>
            </a:pPr>
            <a:r>
              <a:rPr lang="en-US" sz="1500" dirty="0">
                <a:solidFill>
                  <a:schemeClr val="tx1"/>
                </a:solidFill>
              </a:rPr>
              <a:t>Organs safe · tumour responds</a:t>
            </a:r>
            <a:endParaRPr lang="en-US" sz="1500" dirty="0"/>
          </a:p>
        </p:txBody>
      </p:sp>
      <p:sp>
        <p:nvSpPr>
          <p:cNvPr id="19" name="Text 17"/>
          <p:cNvSpPr txBox="1"/>
          <p:nvPr/>
        </p:nvSpPr>
        <p:spPr>
          <a:xfrm>
            <a:off x="6309360" y="4032504"/>
            <a:ext cx="2103120" cy="822960"/>
          </a:xfrm>
          <a:prstGeom prst="rect">
            <a:avLst/>
          </a:prstGeom>
          <a:noFill/>
          <a:ln/>
        </p:spPr>
        <p:txBody>
          <a:bodyPr wrap="square" lIns="0" tIns="0" rIns="0" bIns="0" rtlCol="0" anchor="ctr"/>
          <a:lstStyle/>
          <a:p>
            <a:pPr indent="0" marL="0">
              <a:buNone/>
            </a:pPr>
            <a:r>
              <a:rPr lang="en-US" sz="4000" b="1" dirty="0">
                <a:solidFill>
                  <a:schemeClr val="accent3"/>
                </a:solidFill>
                <a:latin typeface="+mj-lt" pitchFamily="34" charset="0"/>
                <a:ea typeface="+mj-lt" pitchFamily="34" charset="-122"/>
                <a:cs typeface="+mj-lt" pitchFamily="34" charset="-120"/>
              </a:rPr>
              <a:t>10</a:t>
            </a:r>
            <a:pPr indent="0" marL="0">
              <a:buNone/>
            </a:pPr>
            <a:r>
              <a:rPr lang="en-US" sz="1600" dirty="0">
                <a:solidFill>
                  <a:schemeClr val="tx1"/>
                </a:solidFill>
                <a:latin typeface="+mj-lt" pitchFamily="34" charset="0"/>
                <a:ea typeface="+mj-lt" pitchFamily="34" charset="-122"/>
                <a:cs typeface="+mj-lt" pitchFamily="34" charset="-120"/>
              </a:rPr>
              <a:t> GBq</a:t>
            </a:r>
            <a:endParaRPr lang="en-US" sz="4000" dirty="0"/>
          </a:p>
        </p:txBody>
      </p:sp>
      <p:sp>
        <p:nvSpPr>
          <p:cNvPr id="20" name="Text 18"/>
          <p:cNvSpPr txBox="1"/>
          <p:nvPr/>
        </p:nvSpPr>
        <p:spPr>
          <a:xfrm>
            <a:off x="8503920" y="4032504"/>
            <a:ext cx="3108960" cy="822960"/>
          </a:xfrm>
          <a:prstGeom prst="rect">
            <a:avLst/>
          </a:prstGeom>
          <a:noFill/>
          <a:ln/>
        </p:spPr>
        <p:txBody>
          <a:bodyPr wrap="square" lIns="0" tIns="0" rIns="0" bIns="0" rtlCol="0" anchor="ctr"/>
          <a:lstStyle/>
          <a:p>
            <a:pPr indent="0" marL="0">
              <a:buNone/>
            </a:pPr>
            <a:r>
              <a:rPr lang="en-US" sz="1500" dirty="0">
                <a:solidFill>
                  <a:schemeClr val="tx1"/>
                </a:solidFill>
              </a:rPr>
              <a:t>Tumour responds · organ toxicity</a:t>
            </a:r>
            <a:endParaRPr lang="en-US" sz="1500" dirty="0"/>
          </a:p>
        </p:txBody>
      </p:sp>
      <p:sp>
        <p:nvSpPr>
          <p:cNvPr id="21" name="Text 19"/>
          <p:cNvSpPr txBox="1"/>
          <p:nvPr/>
        </p:nvSpPr>
        <p:spPr>
          <a:xfrm>
            <a:off x="6309360" y="5074920"/>
            <a:ext cx="5303520" cy="1051560"/>
          </a:xfrm>
          <a:prstGeom prst="rect">
            <a:avLst/>
          </a:prstGeom>
          <a:solidFill>
            <a:schemeClr val="bg2"/>
          </a:solidFill>
          <a:ln/>
        </p:spPr>
        <p:txBody>
          <a:bodyPr wrap="square" lIns="1905" tIns="1905" rIns="1905" bIns="1905" rtlCol="0" anchor="ctr"/>
          <a:lstStyle/>
          <a:p>
            <a:pPr indent="0" marL="0">
              <a:buNone/>
            </a:pPr>
            <a:r>
              <a:rPr lang="en-US" sz="1400" b="1" dirty="0">
                <a:solidFill>
                  <a:schemeClr val="tx1"/>
                </a:solidFill>
              </a:rPr>
              <a:t>Design space to optimise: </a:t>
            </a:r>
            <a:pPr indent="0" marL="0">
              <a:buNone/>
            </a:pPr>
            <a:r>
              <a:rPr lang="en-US" sz="1400" dirty="0">
                <a:solidFill>
                  <a:schemeClr val="tx1"/>
                </a:solidFill>
              </a:rPr>
              <a:t>activity, number of cycles, interval, bolus vs metronomic infusion, hot/cold ligand ratio. Objective: maximise tumour BED subject to every OAR limit.</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6 · LEARNED SURROGATE</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DoseVLM: a vision-language dose engine</a:t>
            </a:r>
            <a:endParaRPr lang="en-US" sz="3600" dirty="0"/>
          </a:p>
        </p:txBody>
      </p:sp>
      <p:sp>
        <p:nvSpPr>
          <p:cNvPr id="4" name="flow CT + masks + beam projection"/>
          <p:cNvSpPr txBox="1"/>
          <p:nvPr/>
        </p:nvSpPr>
        <p:spPr>
          <a:xfrm>
            <a:off x="548640" y="1554480"/>
            <a:ext cx="2011680" cy="868680"/>
          </a:xfrm>
          <a:prstGeom prst="roundRect">
            <a:avLst>
              <a:gd name="adj" fmla="val 10526"/>
            </a:avLst>
          </a:prstGeom>
          <a:solidFill>
            <a:schemeClr val="tx2"/>
          </a:solidFill>
          <a:ln/>
        </p:spPr>
        <p:txBody>
          <a:bodyPr wrap="square" lIns="762" tIns="762" rIns="762" bIns="762" rtlCol="0" anchor="ctr"/>
          <a:lstStyle/>
          <a:p>
            <a:pPr algn="ctr" indent="0" marL="0">
              <a:buNone/>
            </a:pPr>
            <a:r>
              <a:rPr lang="en-US" sz="1400" b="1" dirty="0">
                <a:solidFill>
                  <a:schemeClr val="bg1"/>
                </a:solidFill>
              </a:rPr>
              <a:t>CT + masks + beam projection</a:t>
            </a:r>
            <a:endParaRPr lang="en-US" sz="1400" dirty="0"/>
          </a:p>
        </p:txBody>
      </p:sp>
      <p:sp>
        <p:nvSpPr>
          <p:cNvPr id="5" name="arrow"/>
          <p:cNvSpPr/>
          <p:nvPr/>
        </p:nvSpPr>
        <p:spPr>
          <a:xfrm>
            <a:off x="2569464" y="1988820"/>
            <a:ext cx="228600" cy="0"/>
          </a:xfrm>
          <a:prstGeom prst="line">
            <a:avLst/>
          </a:prstGeom>
          <a:noFill/>
          <a:ln w="19050">
            <a:solidFill>
              <a:schemeClr val="accent6"/>
            </a:solidFill>
            <a:prstDash val="solid"/>
            <a:tailEnd type="triangle"/>
          </a:ln>
        </p:spPr>
      </p:sp>
      <p:sp>
        <p:nvSpPr>
          <p:cNvPr id="6" name="flow 3-D residual U-Net encoder"/>
          <p:cNvSpPr txBox="1"/>
          <p:nvPr/>
        </p:nvSpPr>
        <p:spPr>
          <a:xfrm>
            <a:off x="2807208" y="1554480"/>
            <a:ext cx="2011680" cy="868680"/>
          </a:xfrm>
          <a:prstGeom prst="roundRect">
            <a:avLst>
              <a:gd name="adj" fmla="val 10526"/>
            </a:avLst>
          </a:prstGeom>
          <a:solidFill>
            <a:schemeClr val="tx2"/>
          </a:solidFill>
          <a:ln/>
        </p:spPr>
        <p:txBody>
          <a:bodyPr wrap="square" lIns="762" tIns="762" rIns="762" bIns="762" rtlCol="0" anchor="ctr"/>
          <a:lstStyle/>
          <a:p>
            <a:pPr algn="ctr" indent="0" marL="0">
              <a:buNone/>
            </a:pPr>
            <a:r>
              <a:rPr lang="en-US" sz="1400" b="1" dirty="0">
                <a:solidFill>
                  <a:schemeClr val="bg1"/>
                </a:solidFill>
              </a:rPr>
              <a:t>3-D residual U-Net encoder</a:t>
            </a:r>
            <a:endParaRPr lang="en-US" sz="1400" dirty="0"/>
          </a:p>
        </p:txBody>
      </p:sp>
      <p:sp>
        <p:nvSpPr>
          <p:cNvPr id="7" name="arrow"/>
          <p:cNvSpPr/>
          <p:nvPr/>
        </p:nvSpPr>
        <p:spPr>
          <a:xfrm>
            <a:off x="4828032" y="1988820"/>
            <a:ext cx="228600" cy="0"/>
          </a:xfrm>
          <a:prstGeom prst="line">
            <a:avLst/>
          </a:prstGeom>
          <a:noFill/>
          <a:ln w="19050">
            <a:solidFill>
              <a:schemeClr val="accent6"/>
            </a:solidFill>
            <a:prstDash val="solid"/>
            <a:tailEnd type="triangle"/>
          </a:ln>
        </p:spPr>
      </p:sp>
      <p:sp>
        <p:nvSpPr>
          <p:cNvPr id="8" name="flow Cross-attention to plan tokens"/>
          <p:cNvSpPr txBox="1"/>
          <p:nvPr/>
        </p:nvSpPr>
        <p:spPr>
          <a:xfrm>
            <a:off x="5065776" y="1554480"/>
            <a:ext cx="2011680" cy="868680"/>
          </a:xfrm>
          <a:prstGeom prst="roundRect">
            <a:avLst>
              <a:gd name="adj" fmla="val 10526"/>
            </a:avLst>
          </a:prstGeom>
          <a:solidFill>
            <a:schemeClr val="accent2"/>
          </a:solidFill>
          <a:ln/>
        </p:spPr>
        <p:txBody>
          <a:bodyPr wrap="square" lIns="762" tIns="762" rIns="762" bIns="762" rtlCol="0" anchor="ctr"/>
          <a:lstStyle/>
          <a:p>
            <a:pPr algn="ctr" indent="0" marL="0">
              <a:buNone/>
            </a:pPr>
            <a:r>
              <a:rPr lang="en-US" sz="1400" b="1" dirty="0">
                <a:solidFill>
                  <a:schemeClr val="bg1"/>
                </a:solidFill>
              </a:rPr>
              <a:t>Cross-attention to plan tokens</a:t>
            </a:r>
            <a:endParaRPr lang="en-US" sz="1400" dirty="0"/>
          </a:p>
        </p:txBody>
      </p:sp>
      <p:sp>
        <p:nvSpPr>
          <p:cNvPr id="9" name="arrow"/>
          <p:cNvSpPr/>
          <p:nvPr/>
        </p:nvSpPr>
        <p:spPr>
          <a:xfrm>
            <a:off x="7086600" y="1988820"/>
            <a:ext cx="228600" cy="0"/>
          </a:xfrm>
          <a:prstGeom prst="line">
            <a:avLst/>
          </a:prstGeom>
          <a:noFill/>
          <a:ln w="19050">
            <a:solidFill>
              <a:schemeClr val="accent6"/>
            </a:solidFill>
            <a:prstDash val="solid"/>
            <a:tailEnd type="triangle"/>
          </a:ln>
        </p:spPr>
      </p:sp>
      <p:sp>
        <p:nvSpPr>
          <p:cNvPr id="10" name="flow Decoder + FiLM"/>
          <p:cNvSpPr txBox="1"/>
          <p:nvPr/>
        </p:nvSpPr>
        <p:spPr>
          <a:xfrm>
            <a:off x="7324344" y="1554480"/>
            <a:ext cx="2011680" cy="868680"/>
          </a:xfrm>
          <a:prstGeom prst="roundRect">
            <a:avLst>
              <a:gd name="adj" fmla="val 10526"/>
            </a:avLst>
          </a:prstGeom>
          <a:solidFill>
            <a:schemeClr val="tx2"/>
          </a:solidFill>
          <a:ln/>
        </p:spPr>
        <p:txBody>
          <a:bodyPr wrap="square" lIns="762" tIns="762" rIns="762" bIns="762" rtlCol="0" anchor="ctr"/>
          <a:lstStyle/>
          <a:p>
            <a:pPr algn="ctr" indent="0" marL="0">
              <a:buNone/>
            </a:pPr>
            <a:r>
              <a:rPr lang="en-US" sz="1400" b="1" dirty="0">
                <a:solidFill>
                  <a:schemeClr val="bg1"/>
                </a:solidFill>
              </a:rPr>
              <a:t>Decoder + FiLM</a:t>
            </a:r>
            <a:endParaRPr lang="en-US" sz="1400" dirty="0"/>
          </a:p>
        </p:txBody>
      </p:sp>
      <p:sp>
        <p:nvSpPr>
          <p:cNvPr id="11" name="arrow"/>
          <p:cNvSpPr/>
          <p:nvPr/>
        </p:nvSpPr>
        <p:spPr>
          <a:xfrm>
            <a:off x="9345168" y="1988820"/>
            <a:ext cx="228600" cy="0"/>
          </a:xfrm>
          <a:prstGeom prst="line">
            <a:avLst/>
          </a:prstGeom>
          <a:noFill/>
          <a:ln w="19050">
            <a:solidFill>
              <a:schemeClr val="accent6"/>
            </a:solidFill>
            <a:prstDash val="solid"/>
            <a:tailEnd type="triangle"/>
          </a:ln>
        </p:spPr>
      </p:sp>
      <p:sp>
        <p:nvSpPr>
          <p:cNvPr id="12" name="flow Dose / Rx (softplus)"/>
          <p:cNvSpPr txBox="1"/>
          <p:nvPr/>
        </p:nvSpPr>
        <p:spPr>
          <a:xfrm>
            <a:off x="9582912" y="1554480"/>
            <a:ext cx="2011680" cy="868680"/>
          </a:xfrm>
          <a:prstGeom prst="roundRect">
            <a:avLst>
              <a:gd name="adj" fmla="val 10526"/>
            </a:avLst>
          </a:prstGeom>
          <a:solidFill>
            <a:schemeClr val="accent4"/>
          </a:solidFill>
          <a:ln/>
        </p:spPr>
        <p:txBody>
          <a:bodyPr wrap="square" lIns="762" tIns="762" rIns="762" bIns="762" rtlCol="0" anchor="ctr"/>
          <a:lstStyle/>
          <a:p>
            <a:pPr algn="ctr" indent="0" marL="0">
              <a:buNone/>
            </a:pPr>
            <a:r>
              <a:rPr lang="en-US" sz="1400" b="1" dirty="0">
                <a:solidFill>
                  <a:schemeClr val="bg1"/>
                </a:solidFill>
              </a:rPr>
              <a:t>Dose / Rx (softplus)</a:t>
            </a:r>
            <a:endParaRPr lang="en-US" sz="1400" dirty="0"/>
          </a:p>
        </p:txBody>
      </p:sp>
      <p:sp>
        <p:nvSpPr>
          <p:cNvPr id="13" name="Text 11"/>
          <p:cNvSpPr txBox="1"/>
          <p:nvPr/>
        </p:nvSpPr>
        <p:spPr>
          <a:xfrm>
            <a:off x="2807208" y="2514600"/>
            <a:ext cx="6400800" cy="320040"/>
          </a:xfrm>
          <a:prstGeom prst="rect">
            <a:avLst/>
          </a:prstGeom>
          <a:noFill/>
          <a:ln/>
        </p:spPr>
        <p:txBody>
          <a:bodyPr wrap="square" lIns="0" tIns="0" rIns="0" bIns="0" rtlCol="0" anchor="ctr"/>
          <a:lstStyle/>
          <a:p>
            <a:pPr algn="ctr" indent="0" marL="0">
              <a:buNone/>
            </a:pPr>
            <a:r>
              <a:rPr lang="en-US" sz="1300" i="1" dirty="0">
                <a:solidFill>
                  <a:schemeClr val="accent2"/>
                </a:solidFill>
              </a:rPr>
              <a:t>Plan text + control-point tokens (gantry sin/cos, MU, MLC area) → plan transformer</a:t>
            </a:r>
            <a:endParaRPr lang="en-US" sz="1300" dirty="0"/>
          </a:p>
        </p:txBody>
      </p:sp>
      <p:sp>
        <p:nvSpPr>
          <p:cNvPr id="14" name="card Attention and conditioning"/>
          <p:cNvSpPr/>
          <p:nvPr/>
        </p:nvSpPr>
        <p:spPr>
          <a:xfrm>
            <a:off x="548640" y="3017520"/>
            <a:ext cx="5394960" cy="2240280"/>
          </a:xfrm>
          <a:prstGeom prst="roundRect">
            <a:avLst>
              <a:gd name="adj" fmla="val 3265"/>
            </a:avLst>
          </a:prstGeom>
          <a:solidFill>
            <a:schemeClr val="bg2"/>
          </a:solidFill>
          <a:ln w="12700">
            <a:solidFill>
              <a:schemeClr val="bg2"/>
            </a:solidFill>
            <a:prstDash val="solid"/>
          </a:ln>
        </p:spPr>
      </p:sp>
      <p:sp>
        <p:nvSpPr>
          <p:cNvPr id="15" name="card title Attention and conditioning"/>
          <p:cNvSpPr txBox="1"/>
          <p:nvPr/>
        </p:nvSpPr>
        <p:spPr>
          <a:xfrm>
            <a:off x="749808" y="3154680"/>
            <a:ext cx="3931920" cy="347472"/>
          </a:xfrm>
          <a:prstGeom prst="rect">
            <a:avLst/>
          </a:prstGeom>
          <a:noFill/>
          <a:ln/>
        </p:spPr>
        <p:txBody>
          <a:bodyPr wrap="square" lIns="0" tIns="0" rIns="0" bIns="0" rtlCol="0" anchor="t"/>
          <a:lstStyle/>
          <a:p>
            <a:pPr indent="0" marL="0">
              <a:buNone/>
            </a:pPr>
            <a:r>
              <a:rPr lang="en-US" sz="1600" b="1" dirty="0">
                <a:solidFill>
                  <a:schemeClr val="tx2"/>
                </a:solidFill>
              </a:rPr>
              <a:t>Attention and conditioning</a:t>
            </a:r>
            <a:endParaRPr lang="en-US" sz="1600" dirty="0"/>
          </a:p>
        </p:txBody>
      </p:sp>
      <p:sp>
        <p:nvSpPr>
          <p:cNvPr id="16" name="tag Attention and conditioning"/>
          <p:cNvSpPr txBox="1"/>
          <p:nvPr/>
        </p:nvSpPr>
        <p:spPr>
          <a:xfrm>
            <a:off x="4782312" y="318211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Attention and conditioning"/>
          <p:cNvSpPr txBox="1"/>
          <p:nvPr/>
        </p:nvSpPr>
        <p:spPr>
          <a:xfrm>
            <a:off x="749808" y="356616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Attn(Q,K,V) = softmax(QKᵀ / √d) V</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FiLM: f′ = f (1 + γ(z)) + β(z)</a:t>
            </a:r>
            <a:endParaRPr lang="en-US" sz="1500" dirty="0"/>
          </a:p>
        </p:txBody>
      </p:sp>
      <p:sp>
        <p:nvSpPr>
          <p:cNvPr id="18" name="desc Attention and conditioning"/>
          <p:cNvSpPr txBox="1"/>
          <p:nvPr/>
        </p:nvSpPr>
        <p:spPr>
          <a:xfrm>
            <a:off x="749808" y="4480560"/>
            <a:ext cx="4992624" cy="667512"/>
          </a:xfrm>
          <a:prstGeom prst="rect">
            <a:avLst/>
          </a:prstGeom>
          <a:noFill/>
          <a:ln/>
        </p:spPr>
        <p:txBody>
          <a:bodyPr wrap="square" lIns="0" tIns="0" rIns="0" bIns="0" rtlCol="0" anchor="t"/>
          <a:lstStyle/>
          <a:p>
            <a:pPr indent="0" marL="0">
              <a:buNone/>
            </a:pPr>
            <a:r>
              <a:rPr lang="en-US" sz="1400" dirty="0">
                <a:solidFill>
                  <a:schemeClr val="tx1"/>
                </a:solidFill>
              </a:rPr>
              <a:t>Voxels (Q) query plan tokens (K, V); pooled plan embedding z rescales decoder features.</a:t>
            </a:r>
            <a:endParaRPr lang="en-US" sz="1400" dirty="0"/>
          </a:p>
        </p:txBody>
      </p:sp>
      <p:sp>
        <p:nvSpPr>
          <p:cNvPr id="19" name="card Training loss"/>
          <p:cNvSpPr/>
          <p:nvPr/>
        </p:nvSpPr>
        <p:spPr>
          <a:xfrm>
            <a:off x="6217920" y="3017520"/>
            <a:ext cx="5394960" cy="2240280"/>
          </a:xfrm>
          <a:prstGeom prst="roundRect">
            <a:avLst>
              <a:gd name="adj" fmla="val 3265"/>
            </a:avLst>
          </a:prstGeom>
          <a:solidFill>
            <a:schemeClr val="bg2"/>
          </a:solidFill>
          <a:ln w="12700">
            <a:solidFill>
              <a:schemeClr val="bg2"/>
            </a:solidFill>
            <a:prstDash val="solid"/>
          </a:ln>
        </p:spPr>
      </p:sp>
      <p:sp>
        <p:nvSpPr>
          <p:cNvPr id="20" name="card title Training loss"/>
          <p:cNvSpPr txBox="1"/>
          <p:nvPr/>
        </p:nvSpPr>
        <p:spPr>
          <a:xfrm>
            <a:off x="6419088" y="315468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Training loss</a:t>
            </a:r>
            <a:endParaRPr lang="en-US" sz="1600" dirty="0"/>
          </a:p>
        </p:txBody>
      </p:sp>
      <p:sp>
        <p:nvSpPr>
          <p:cNvPr id="21" name="tag Training loss"/>
          <p:cNvSpPr txBox="1"/>
          <p:nvPr/>
        </p:nvSpPr>
        <p:spPr>
          <a:xfrm>
            <a:off x="10451592" y="318211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Training loss"/>
          <p:cNvSpPr txBox="1"/>
          <p:nvPr/>
        </p:nvSpPr>
        <p:spPr>
          <a:xfrm>
            <a:off x="6419088" y="356616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L = MAE_body + MAE_PTV + 0.5 L_DVH + 0.1 L_∇</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L_DVH = mean |sort(ŷ) − sort(y)| = W₁</a:t>
            </a:r>
            <a:endParaRPr lang="en-US" sz="1500" dirty="0"/>
          </a:p>
        </p:txBody>
      </p:sp>
      <p:sp>
        <p:nvSpPr>
          <p:cNvPr id="23" name="desc Training loss"/>
          <p:cNvSpPr txBox="1"/>
          <p:nvPr/>
        </p:nvSpPr>
        <p:spPr>
          <a:xfrm>
            <a:off x="6419088" y="4480560"/>
            <a:ext cx="4992624" cy="667512"/>
          </a:xfrm>
          <a:prstGeom prst="rect">
            <a:avLst/>
          </a:prstGeom>
          <a:noFill/>
          <a:ln/>
        </p:spPr>
        <p:txBody>
          <a:bodyPr wrap="square" lIns="0" tIns="0" rIns="0" bIns="0" rtlCol="0" anchor="t"/>
          <a:lstStyle/>
          <a:p>
            <a:pPr indent="0" marL="0">
              <a:buNone/>
            </a:pPr>
            <a:r>
              <a:rPr lang="en-US" sz="1400" dirty="0">
                <a:solidFill>
                  <a:schemeClr val="tx1"/>
                </a:solidFill>
              </a:rPr>
              <a:t>Sorted-dose L1 equals the Wasserstein-1 distance between DVHs; gradient term keeps penumbra sharp.</a:t>
            </a:r>
            <a:endParaRPr lang="en-US" sz="1400" dirty="0"/>
          </a:p>
        </p:txBody>
      </p:sp>
      <p:sp>
        <p:nvSpPr>
          <p:cNvPr id="24" name="Text 22"/>
          <p:cNvSpPr txBox="1"/>
          <p:nvPr/>
        </p:nvSpPr>
        <p:spPr>
          <a:xfrm>
            <a:off x="548640" y="5486400"/>
            <a:ext cx="11064240" cy="548640"/>
          </a:xfrm>
          <a:prstGeom prst="rect">
            <a:avLst/>
          </a:prstGeom>
          <a:solidFill>
            <a:schemeClr val="bg2"/>
          </a:solidFill>
          <a:ln/>
        </p:spPr>
        <p:txBody>
          <a:bodyPr wrap="square" lIns="1524" tIns="1524" rIns="1524" bIns="1524" rtlCol="0" anchor="ctr"/>
          <a:lstStyle/>
          <a:p>
            <a:pPr indent="0" marL="0">
              <a:buNone/>
            </a:pPr>
            <a:r>
              <a:rPr lang="en-US" sz="1400" dirty="0">
                <a:solidFill>
                  <a:schemeClr val="tx1"/>
                </a:solidFill>
              </a:rPr>
              <a:t>Output in Gy:  D̂ = softplus(h) · Rx · 𝟙_body    ·    AdamW, cosine learning rate with warm-up, 96³ PTV-focused crops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7 · IMAGING BIOMARKERS (1/2)</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Radiomics: from image to robust features</a:t>
            </a:r>
            <a:endParaRPr lang="en-US" sz="3600" dirty="0"/>
          </a:p>
        </p:txBody>
      </p:sp>
      <p:sp>
        <p:nvSpPr>
          <p:cNvPr id="4" name="card IBSI discretis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IBSI discretis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IBSI discretisation</a:t>
            </a:r>
            <a:endParaRPr lang="en-US" sz="1600" dirty="0"/>
          </a:p>
        </p:txBody>
      </p:sp>
      <p:sp>
        <p:nvSpPr>
          <p:cNvPr id="6" name="tag IBSI discretisa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IBSI discretisati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bin(x) = ⌊x / w⌋ − ⌊min / w⌋ + 1</a:t>
            </a:r>
            <a:endParaRPr lang="en-US" sz="1500" dirty="0"/>
          </a:p>
        </p:txBody>
      </p:sp>
      <p:sp>
        <p:nvSpPr>
          <p:cNvPr id="8" name="desc IBSI discretisati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Fixed bin width w = 25 HU for CT, or fixed bin count 32 for MR and PET. Makes texture comparable across patients.</a:t>
            </a:r>
            <a:endParaRPr lang="en-US" sz="1400" dirty="0"/>
          </a:p>
        </p:txBody>
      </p:sp>
      <p:sp>
        <p:nvSpPr>
          <p:cNvPr id="9" name="card First-order and texture"/>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First-order and texture"/>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First-order and texture</a:t>
            </a:r>
            <a:endParaRPr lang="en-US" sz="1600" dirty="0"/>
          </a:p>
        </p:txBody>
      </p:sp>
      <p:sp>
        <p:nvSpPr>
          <p:cNvPr id="11" name="tag First-order and texture"/>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First-order and texture"/>
          <p:cNvSpPr txBox="1"/>
          <p:nvPr/>
        </p:nvSpPr>
        <p:spPr>
          <a:xfrm>
            <a:off x="6419088" y="2103120"/>
            <a:ext cx="4992624" cy="77724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H = −Σ p(i) log₂ p(i)</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GLCM contrast = Σ (i − j)² p(i, j)</a:t>
            </a:r>
            <a:endParaRPr lang="en-US" sz="1500" dirty="0"/>
          </a:p>
        </p:txBody>
      </p:sp>
      <p:sp>
        <p:nvSpPr>
          <p:cNvPr id="13" name="desc First-order and texture"/>
          <p:cNvSpPr txBox="1"/>
          <p:nvPr/>
        </p:nvSpPr>
        <p:spPr>
          <a:xfrm>
            <a:off x="6419088" y="2971800"/>
            <a:ext cx="4992624" cy="713232"/>
          </a:xfrm>
          <a:prstGeom prst="rect">
            <a:avLst/>
          </a:prstGeom>
          <a:noFill/>
          <a:ln/>
        </p:spPr>
        <p:txBody>
          <a:bodyPr wrap="square" lIns="0" tIns="0" rIns="0" bIns="0" rtlCol="0" anchor="t"/>
          <a:lstStyle/>
          <a:p>
            <a:pPr indent="0" marL="0">
              <a:buNone/>
            </a:pPr>
            <a:r>
              <a:rPr lang="en-US" sz="1400" dirty="0">
                <a:solidFill>
                  <a:schemeClr val="tx1"/>
                </a:solidFill>
              </a:rPr>
              <a:t>Plus shape, GLRLM, GLSZM, GLDM, NGTDM; on original, LoG and wavelet images.</a:t>
            </a:r>
            <a:endParaRPr lang="en-US" sz="1400" dirty="0"/>
          </a:p>
        </p:txBody>
      </p:sp>
      <p:sp>
        <p:nvSpPr>
          <p:cNvPr id="14" name="card Robustness filter ICC(3,1)"/>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Robustness filter ICC(3,1)"/>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Robustness filter ICC(3,1)</a:t>
            </a:r>
            <a:endParaRPr lang="en-US" sz="1600" dirty="0"/>
          </a:p>
        </p:txBody>
      </p:sp>
      <p:sp>
        <p:nvSpPr>
          <p:cNvPr id="16" name="tag Robustness filter ICC(3,1)"/>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Robustness filter ICC(3,1)"/>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ICC = (MS_R − MS_E) / (MS_R + (k − 1) MS_E)</a:t>
            </a:r>
            <a:endParaRPr lang="en-US" sz="1500" dirty="0"/>
          </a:p>
        </p:txBody>
      </p:sp>
      <p:sp>
        <p:nvSpPr>
          <p:cNvPr id="18" name="desc Robustness filter ICC(3,1)"/>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Erode and dilate the mask by one voxel; keep only features with ICC ≥ 0.75.</a:t>
            </a:r>
            <a:endParaRPr lang="en-US" sz="1400" dirty="0"/>
          </a:p>
        </p:txBody>
      </p:sp>
      <p:sp>
        <p:nvSpPr>
          <p:cNvPr id="19" name="card Registration (mutual information)"/>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Registration (mutual information)"/>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Registration (mutual information)</a:t>
            </a:r>
            <a:endParaRPr lang="en-US" sz="1600" dirty="0"/>
          </a:p>
        </p:txBody>
      </p:sp>
      <p:sp>
        <p:nvSpPr>
          <p:cNvPr id="21" name="tag Registration (mutual information)"/>
          <p:cNvSpPr txBox="1"/>
          <p:nvPr/>
        </p:nvSpPr>
        <p:spPr>
          <a:xfrm>
            <a:off x="1045159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Registration (mutual information)"/>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I(F;M) = Σ p(f,m) log [ p(f,m) / (p(f) p(m)) ]</a:t>
            </a:r>
            <a:endParaRPr lang="en-US" sz="1500" dirty="0"/>
          </a:p>
        </p:txBody>
      </p:sp>
      <p:sp>
        <p:nvSpPr>
          <p:cNvPr id="23" name="desc Registration (mutual information)"/>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Rigid → affine → B-spline, maximising Mattes MI, when a mask was drawn on another image (e.g. T2 → ADC).</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7 · IMAGING BIOMARKERS (2/2)</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Selection and classifiers without data leakage</a:t>
            </a:r>
            <a:endParaRPr lang="en-US" sz="3600" dirty="0"/>
          </a:p>
        </p:txBody>
      </p:sp>
      <p:sp>
        <p:nvSpPr>
          <p:cNvPr id="4" name="card mRMR and LASSO selection"/>
          <p:cNvSpPr/>
          <p:nvPr/>
        </p:nvSpPr>
        <p:spPr>
          <a:xfrm>
            <a:off x="548640" y="1554480"/>
            <a:ext cx="5394960" cy="2103120"/>
          </a:xfrm>
          <a:prstGeom prst="roundRect">
            <a:avLst>
              <a:gd name="adj" fmla="val 3478"/>
            </a:avLst>
          </a:prstGeom>
          <a:solidFill>
            <a:schemeClr val="bg2"/>
          </a:solidFill>
          <a:ln w="12700">
            <a:solidFill>
              <a:schemeClr val="bg2"/>
            </a:solidFill>
            <a:prstDash val="solid"/>
          </a:ln>
        </p:spPr>
      </p:sp>
      <p:sp>
        <p:nvSpPr>
          <p:cNvPr id="5" name="card title mRMR and LASSO selec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mRMR and LASSO selection</a:t>
            </a:r>
            <a:endParaRPr lang="en-US" sz="1600" dirty="0"/>
          </a:p>
        </p:txBody>
      </p:sp>
      <p:sp>
        <p:nvSpPr>
          <p:cNvPr id="6" name="tag mRMR and LASSO selec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mRMR and LASSO selectio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mRMR: max_f [ I(f; y) − mean_{s∈S} I(f; s) ]</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LASSO: min_β ℓ(y, Xβ) + λ‖β‖₁</a:t>
            </a:r>
            <a:endParaRPr lang="en-US" sz="1500" dirty="0"/>
          </a:p>
        </p:txBody>
      </p:sp>
      <p:sp>
        <p:nvSpPr>
          <p:cNvPr id="8" name="desc mRMR and LASSO selection"/>
          <p:cNvSpPr txBox="1"/>
          <p:nvPr/>
        </p:nvSpPr>
        <p:spPr>
          <a:xfrm>
            <a:off x="749808" y="3017520"/>
            <a:ext cx="4992624" cy="530352"/>
          </a:xfrm>
          <a:prstGeom prst="rect">
            <a:avLst/>
          </a:prstGeom>
          <a:noFill/>
          <a:ln/>
        </p:spPr>
        <p:txBody>
          <a:bodyPr wrap="square" lIns="0" tIns="0" rIns="0" bIns="0" rtlCol="0" anchor="t"/>
          <a:lstStyle/>
          <a:p>
            <a:pPr indent="0" marL="0">
              <a:buNone/>
            </a:pPr>
            <a:r>
              <a:rPr lang="en-US" sz="1400" dirty="0">
                <a:solidFill>
                  <a:schemeClr val="tx1"/>
                </a:solidFill>
              </a:rPr>
              <a:t>Also Mann–Whitney with BH-FDR, ReliefF, Boruta, RFE. All fitted inside each CV fold.</a:t>
            </a:r>
            <a:endParaRPr lang="en-US" sz="1400" dirty="0"/>
          </a:p>
        </p:txBody>
      </p:sp>
      <p:sp>
        <p:nvSpPr>
          <p:cNvPr id="9" name="card Classifiers"/>
          <p:cNvSpPr/>
          <p:nvPr/>
        </p:nvSpPr>
        <p:spPr>
          <a:xfrm>
            <a:off x="6217920" y="1554480"/>
            <a:ext cx="5394960" cy="2103120"/>
          </a:xfrm>
          <a:prstGeom prst="roundRect">
            <a:avLst>
              <a:gd name="adj" fmla="val 3478"/>
            </a:avLst>
          </a:prstGeom>
          <a:solidFill>
            <a:schemeClr val="bg2"/>
          </a:solidFill>
          <a:ln w="12700">
            <a:solidFill>
              <a:schemeClr val="bg2"/>
            </a:solidFill>
            <a:prstDash val="solid"/>
          </a:ln>
        </p:spPr>
      </p:sp>
      <p:sp>
        <p:nvSpPr>
          <p:cNvPr id="10" name="card title Classifiers"/>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Classifiers</a:t>
            </a:r>
            <a:endParaRPr lang="en-US" sz="1600" dirty="0"/>
          </a:p>
        </p:txBody>
      </p:sp>
      <p:sp>
        <p:nvSpPr>
          <p:cNvPr id="11" name="tag Classifiers"/>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Classifiers"/>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Logistic: p = σ(βᵀx) = 1 / (1 + e^(−βᵀx))</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Ensembles: RF, XGBoost, LightGBM, SVM, MLP</a:t>
            </a:r>
            <a:endParaRPr lang="en-US" sz="1500" dirty="0"/>
          </a:p>
        </p:txBody>
      </p:sp>
      <p:sp>
        <p:nvSpPr>
          <p:cNvPr id="13" name="desc Classifiers"/>
          <p:cNvSpPr txBox="1"/>
          <p:nvPr/>
        </p:nvSpPr>
        <p:spPr>
          <a:xfrm>
            <a:off x="6419088" y="3017520"/>
            <a:ext cx="4992624" cy="530352"/>
          </a:xfrm>
          <a:prstGeom prst="rect">
            <a:avLst/>
          </a:prstGeom>
          <a:noFill/>
          <a:ln/>
        </p:spPr>
        <p:txBody>
          <a:bodyPr wrap="square" lIns="0" tIns="0" rIns="0" bIns="0" rtlCol="0" anchor="t"/>
          <a:lstStyle/>
          <a:p>
            <a:pPr indent="0" marL="0">
              <a:buNone/>
            </a:pPr>
            <a:r>
              <a:rPr lang="en-US" sz="1400" dirty="0">
                <a:solidFill>
                  <a:schemeClr val="tx1"/>
                </a:solidFill>
              </a:rPr>
              <a:t>Soft-voting ensemble of the top 3 by nested-CV AUC.</a:t>
            </a:r>
            <a:endParaRPr lang="en-US" sz="1400" dirty="0"/>
          </a:p>
        </p:txBody>
      </p:sp>
      <p:sp>
        <p:nvSpPr>
          <p:cNvPr id="14" name="card Class imbalance (SMOTE)"/>
          <p:cNvSpPr/>
          <p:nvPr/>
        </p:nvSpPr>
        <p:spPr>
          <a:xfrm>
            <a:off x="548640" y="3886200"/>
            <a:ext cx="5394960" cy="2103120"/>
          </a:xfrm>
          <a:prstGeom prst="roundRect">
            <a:avLst>
              <a:gd name="adj" fmla="val 3478"/>
            </a:avLst>
          </a:prstGeom>
          <a:solidFill>
            <a:schemeClr val="bg2"/>
          </a:solidFill>
          <a:ln w="12700">
            <a:solidFill>
              <a:schemeClr val="bg2"/>
            </a:solidFill>
            <a:prstDash val="solid"/>
          </a:ln>
        </p:spPr>
      </p:sp>
      <p:sp>
        <p:nvSpPr>
          <p:cNvPr id="15" name="card title Class imbalance (SMOTE)"/>
          <p:cNvSpPr txBox="1"/>
          <p:nvPr/>
        </p:nvSpPr>
        <p:spPr>
          <a:xfrm>
            <a:off x="749808" y="402336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Class imbalance (SMOTE)</a:t>
            </a:r>
            <a:endParaRPr lang="en-US" sz="1600" dirty="0"/>
          </a:p>
        </p:txBody>
      </p:sp>
      <p:sp>
        <p:nvSpPr>
          <p:cNvPr id="16" name="tag Class imbalance (SMOTE)"/>
          <p:cNvSpPr txBox="1"/>
          <p:nvPr/>
        </p:nvSpPr>
        <p:spPr>
          <a:xfrm>
            <a:off x="4782312" y="405079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Class imbalance (SMOTE)"/>
          <p:cNvSpPr txBox="1"/>
          <p:nvPr/>
        </p:nvSpPr>
        <p:spPr>
          <a:xfrm>
            <a:off x="749808" y="443484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x_new = xᵢ + u (x_nn − xᵢ),   u ~ U(0, 1)</a:t>
            </a:r>
            <a:endParaRPr lang="en-US" sz="1500" dirty="0"/>
          </a:p>
        </p:txBody>
      </p:sp>
      <p:sp>
        <p:nvSpPr>
          <p:cNvPr id="18" name="desc Class imbalance (SMOTE)"/>
          <p:cNvSpPr txBox="1"/>
          <p:nvPr/>
        </p:nvSpPr>
        <p:spPr>
          <a:xfrm>
            <a:off x="749808" y="5257800"/>
            <a:ext cx="4992624" cy="621792"/>
          </a:xfrm>
          <a:prstGeom prst="rect">
            <a:avLst/>
          </a:prstGeom>
          <a:noFill/>
          <a:ln/>
        </p:spPr>
        <p:txBody>
          <a:bodyPr wrap="square" lIns="0" tIns="0" rIns="0" bIns="0" rtlCol="0" anchor="t"/>
          <a:lstStyle/>
          <a:p>
            <a:pPr indent="0" marL="0">
              <a:buNone/>
            </a:pPr>
            <a:r>
              <a:rPr lang="en-US" sz="1400" dirty="0">
                <a:solidFill>
                  <a:schemeClr val="tx1"/>
                </a:solidFill>
              </a:rPr>
              <a:t>Synthetic minority samples along lines to nearest neighbours; or class weights, ADASYN, under-sampling.</a:t>
            </a:r>
            <a:endParaRPr lang="en-US" sz="1400" dirty="0"/>
          </a:p>
        </p:txBody>
      </p:sp>
      <p:sp>
        <p:nvSpPr>
          <p:cNvPr id="19" name="card Nested CV + Bayesian tuning"/>
          <p:cNvSpPr/>
          <p:nvPr/>
        </p:nvSpPr>
        <p:spPr>
          <a:xfrm>
            <a:off x="6217920" y="3886200"/>
            <a:ext cx="5394960" cy="2103120"/>
          </a:xfrm>
          <a:prstGeom prst="roundRect">
            <a:avLst>
              <a:gd name="adj" fmla="val 3478"/>
            </a:avLst>
          </a:prstGeom>
          <a:solidFill>
            <a:schemeClr val="bg2"/>
          </a:solidFill>
          <a:ln w="12700">
            <a:solidFill>
              <a:schemeClr val="bg2"/>
            </a:solidFill>
            <a:prstDash val="solid"/>
          </a:ln>
        </p:spPr>
      </p:sp>
      <p:sp>
        <p:nvSpPr>
          <p:cNvPr id="20" name="card title Nested CV + Bayesian tuning"/>
          <p:cNvSpPr txBox="1"/>
          <p:nvPr/>
        </p:nvSpPr>
        <p:spPr>
          <a:xfrm>
            <a:off x="6419088" y="4023360"/>
            <a:ext cx="3931920" cy="347472"/>
          </a:xfrm>
          <a:prstGeom prst="rect">
            <a:avLst/>
          </a:prstGeom>
          <a:noFill/>
          <a:ln/>
        </p:spPr>
        <p:txBody>
          <a:bodyPr wrap="square" lIns="0" tIns="0" rIns="0" bIns="0" rtlCol="0" anchor="t"/>
          <a:lstStyle/>
          <a:p>
            <a:pPr indent="0" marL="0">
              <a:buNone/>
            </a:pPr>
            <a:r>
              <a:rPr lang="en-US" sz="1600" b="1" dirty="0">
                <a:solidFill>
                  <a:schemeClr val="tx2"/>
                </a:solidFill>
              </a:rPr>
              <a:t>Nested CV + Bayesian tuning</a:t>
            </a:r>
            <a:endParaRPr lang="en-US" sz="1600" dirty="0"/>
          </a:p>
        </p:txBody>
      </p:sp>
      <p:sp>
        <p:nvSpPr>
          <p:cNvPr id="21" name="tag Nested CV + Bayesian tuning"/>
          <p:cNvSpPr txBox="1"/>
          <p:nvPr/>
        </p:nvSpPr>
        <p:spPr>
          <a:xfrm>
            <a:off x="10451592" y="405079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Nested CV + Bayesian tuning"/>
          <p:cNvSpPr txBox="1"/>
          <p:nvPr/>
        </p:nvSpPr>
        <p:spPr>
          <a:xfrm>
            <a:off x="6419088" y="443484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TPE: choose x maximising l(x) / g(x)</a:t>
            </a:r>
            <a:endParaRPr lang="en-US" sz="1500" dirty="0"/>
          </a:p>
        </p:txBody>
      </p:sp>
      <p:sp>
        <p:nvSpPr>
          <p:cNvPr id="23" name="desc Nested CV + Bayesian tuning"/>
          <p:cNvSpPr txBox="1"/>
          <p:nvPr/>
        </p:nvSpPr>
        <p:spPr>
          <a:xfrm>
            <a:off x="6419088" y="5257800"/>
            <a:ext cx="4992624" cy="621792"/>
          </a:xfrm>
          <a:prstGeom prst="rect">
            <a:avLst/>
          </a:prstGeom>
          <a:noFill/>
          <a:ln/>
        </p:spPr>
        <p:txBody>
          <a:bodyPr wrap="square" lIns="0" tIns="0" rIns="0" bIns="0" rtlCol="0" anchor="t"/>
          <a:lstStyle/>
          <a:p>
            <a:pPr indent="0" marL="0">
              <a:buNone/>
            </a:pPr>
            <a:r>
              <a:rPr lang="en-US" sz="1400" dirty="0">
                <a:solidFill>
                  <a:schemeClr val="tx1"/>
                </a:solidFill>
              </a:rPr>
              <a:t>Outer folds score, inner folds tune (Optuna). Threshold picked on out-of-fold data; test set used once.</a:t>
            </a:r>
            <a:endParaRPr lang="en-US" sz="1400" dirty="0"/>
          </a:p>
        </p:txBody>
      </p:sp>
      <p:sp>
        <p:nvSpPr>
          <p:cNvPr id="24" name="Text 22"/>
          <p:cNvSpPr txBox="1"/>
          <p:nvPr/>
        </p:nvSpPr>
        <p:spPr>
          <a:xfrm>
            <a:off x="548640" y="5989320"/>
            <a:ext cx="11064240" cy="320040"/>
          </a:xfrm>
          <a:prstGeom prst="rect">
            <a:avLst/>
          </a:prstGeom>
          <a:noFill/>
          <a:ln/>
        </p:spPr>
        <p:txBody>
          <a:bodyPr wrap="square" lIns="0" tIns="0" rIns="0" bIns="0" rtlCol="0" anchor="ctr"/>
          <a:lstStyle/>
          <a:p>
            <a:pPr indent="0" marL="0">
              <a:buNone/>
            </a:pPr>
            <a:r>
              <a:rPr lang="en-US" sz="1200" i="1" dirty="0">
                <a:solidFill>
                  <a:schemeClr val="accent6"/>
                </a:solidFill>
              </a:rPr>
              <a:t>Worked example: endocrine-organ radiomics in PSMA-negative recurrence (n = 101): PET + CT + clinical AUC 0.758 vs 0.727 clinical alone (gain not significant)</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8 · EVALUATION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Is the prediction right, calibrated and useful?</a:t>
            </a:r>
            <a:endParaRPr lang="en-US" sz="3600" dirty="0"/>
          </a:p>
        </p:txBody>
      </p:sp>
      <p:sp>
        <p:nvSpPr>
          <p:cNvPr id="4" name="card Discriminati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Discriminati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Discrimination</a:t>
            </a:r>
            <a:endParaRPr lang="en-US" sz="1600" dirty="0"/>
          </a:p>
        </p:txBody>
      </p:sp>
      <p:sp>
        <p:nvSpPr>
          <p:cNvPr id="6" name="tag Discrimination"/>
          <p:cNvSpPr txBox="1"/>
          <p:nvPr/>
        </p:nvSpPr>
        <p:spPr>
          <a:xfrm>
            <a:off x="478231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7" name="equation Discrimination"/>
          <p:cNvSpPr txBox="1"/>
          <p:nvPr/>
        </p:nvSpPr>
        <p:spPr>
          <a:xfrm>
            <a:off x="74980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AUC = P(s⁺ &gt; s⁻) = U / (n⁺ n⁻)</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Youden J = Se + Sp − 1</a:t>
            </a:r>
            <a:endParaRPr lang="en-US" sz="1600" dirty="0"/>
          </a:p>
        </p:txBody>
      </p:sp>
      <p:sp>
        <p:nvSpPr>
          <p:cNvPr id="8" name="desc Discrimination"/>
          <p:cNvSpPr txBox="1"/>
          <p:nvPr/>
        </p:nvSpPr>
        <p:spPr>
          <a:xfrm>
            <a:off x="74980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DeLong test and bootstrap 95 % CI; PR-AUC, MCC, Cohen's κ, LR±.</a:t>
            </a:r>
            <a:endParaRPr lang="en-US" sz="1400" dirty="0"/>
          </a:p>
        </p:txBody>
      </p:sp>
      <p:sp>
        <p:nvSpPr>
          <p:cNvPr id="9" name="card Calibratio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Calibratio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Calibration</a:t>
            </a:r>
            <a:endParaRPr lang="en-US" sz="1600" dirty="0"/>
          </a:p>
        </p:txBody>
      </p:sp>
      <p:sp>
        <p:nvSpPr>
          <p:cNvPr id="11" name="tag Calibration"/>
          <p:cNvSpPr txBox="1"/>
          <p:nvPr/>
        </p:nvSpPr>
        <p:spPr>
          <a:xfrm>
            <a:off x="10451592" y="171907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2" name="equation Calibration"/>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Brier = mean (p − y)²</a:t>
            </a:r>
            <a:endParaRPr lang="en-US" sz="1600" dirty="0"/>
          </a:p>
          <a:p>
            <a:pPr indent="0" marL="0">
              <a:buNone/>
            </a:pPr>
            <a:r>
              <a:rPr lang="en-US" sz="1600" dirty="0">
                <a:solidFill>
                  <a:schemeClr val="accent4"/>
                </a:solidFill>
                <a:latin typeface="+mj-lt" pitchFamily="34" charset="0"/>
                <a:ea typeface="+mj-lt" pitchFamily="34" charset="-122"/>
                <a:cs typeface="+mj-lt" pitchFamily="34" charset="-120"/>
              </a:rPr>
              <a:t>ECE = Σ_b (n_b / N) |acc_b − conf_b|</a:t>
            </a:r>
            <a:endParaRPr lang="en-US" sz="1600" dirty="0"/>
          </a:p>
        </p:txBody>
      </p:sp>
      <p:sp>
        <p:nvSpPr>
          <p:cNvPr id="13" name="desc Calibration"/>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Plus calibration slope and intercept and Hosmer–Lemeshow.</a:t>
            </a:r>
            <a:endParaRPr lang="en-US" sz="1400" dirty="0"/>
          </a:p>
        </p:txBody>
      </p:sp>
      <p:sp>
        <p:nvSpPr>
          <p:cNvPr id="14" name="card Clinical usefulnes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Clinical usefulnes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Clinical usefulness</a:t>
            </a:r>
            <a:endParaRPr lang="en-US" sz="1600" dirty="0"/>
          </a:p>
        </p:txBody>
      </p:sp>
      <p:sp>
        <p:nvSpPr>
          <p:cNvPr id="16" name="tag Clinical usefulness"/>
          <p:cNvSpPr txBox="1"/>
          <p:nvPr/>
        </p:nvSpPr>
        <p:spPr>
          <a:xfrm>
            <a:off x="478231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17" name="equation Clinical usefulness"/>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NB(p_t) = TP/N − (FP/N) · p_t / (1 − p_t)</a:t>
            </a:r>
            <a:endParaRPr lang="en-US" sz="1600" dirty="0"/>
          </a:p>
        </p:txBody>
      </p:sp>
      <p:sp>
        <p:nvSpPr>
          <p:cNvPr id="18" name="desc Clinical usefulness"/>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Decision-curve analysis: net benefit across threshold probabilities vs treat-all and treat-none.</a:t>
            </a:r>
            <a:endParaRPr lang="en-US" sz="1400" dirty="0"/>
          </a:p>
        </p:txBody>
      </p:sp>
      <p:sp>
        <p:nvSpPr>
          <p:cNvPr id="19" name="card Explainability"/>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Explainability"/>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Explainability</a:t>
            </a:r>
            <a:endParaRPr lang="en-US" sz="1600" dirty="0"/>
          </a:p>
        </p:txBody>
      </p:sp>
      <p:sp>
        <p:nvSpPr>
          <p:cNvPr id="21" name="tag Explainability"/>
          <p:cNvSpPr txBox="1"/>
          <p:nvPr/>
        </p:nvSpPr>
        <p:spPr>
          <a:xfrm>
            <a:off x="10451592" y="4187952"/>
            <a:ext cx="960120" cy="256032"/>
          </a:xfrm>
          <a:prstGeom prst="roundRect">
            <a:avLst>
              <a:gd name="adj" fmla="val 21429"/>
            </a:avLst>
          </a:prstGeom>
          <a:solidFill>
            <a:schemeClr val="accent2"/>
          </a:solidFill>
          <a:ln/>
        </p:spPr>
        <p:txBody>
          <a:bodyPr wrap="square" lIns="0" tIns="0" rIns="0" bIns="0" rtlCol="0" anchor="ctr"/>
          <a:lstStyle/>
          <a:p>
            <a:pPr algn="ctr" indent="0" marL="0">
              <a:buNone/>
            </a:pPr>
            <a:r>
              <a:rPr lang="en-US" sz="1000" b="1" dirty="0">
                <a:solidFill>
                  <a:schemeClr val="bg1"/>
                </a:solidFill>
              </a:rPr>
              <a:t>IN CODE</a:t>
            </a:r>
            <a:endParaRPr lang="en-US" sz="1000" dirty="0"/>
          </a:p>
        </p:txBody>
      </p:sp>
      <p:sp>
        <p:nvSpPr>
          <p:cNvPr id="22" name="equation Explainability"/>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600" dirty="0">
                <a:solidFill>
                  <a:schemeClr val="accent4"/>
                </a:solidFill>
                <a:latin typeface="+mj-lt" pitchFamily="34" charset="0"/>
                <a:ea typeface="+mj-lt" pitchFamily="34" charset="-122"/>
                <a:cs typeface="+mj-lt" pitchFamily="34" charset="-120"/>
              </a:rPr>
              <a:t>f(x) = φ₀ + Σⱼ φⱼ   (Shapley values)</a:t>
            </a:r>
            <a:endParaRPr lang="en-US" sz="1600" dirty="0"/>
          </a:p>
        </p:txBody>
      </p:sp>
      <p:sp>
        <p:nvSpPr>
          <p:cNvPr id="23" name="desc Explainability"/>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SHAP attributes each prediction to features; permutation importance checks the ranking.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LAYER 8 · CREDIBILITY AND TRIAL STATISTICS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When can a virtual trial be trusted?</a:t>
            </a:r>
            <a:endParaRPr lang="en-US" sz="3600" dirty="0"/>
          </a:p>
        </p:txBody>
      </p:sp>
      <p:sp>
        <p:nvSpPr>
          <p:cNvPr id="4" name="card Paired arm comparison"/>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Paired arm comparison"/>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Paired arm comparison</a:t>
            </a:r>
            <a:endParaRPr lang="en-US" sz="1600" dirty="0"/>
          </a:p>
        </p:txBody>
      </p:sp>
      <p:sp>
        <p:nvSpPr>
          <p:cNvPr id="6" name="tag Paired arm comparison"/>
          <p:cNvSpPr txBox="1"/>
          <p:nvPr/>
        </p:nvSpPr>
        <p:spPr>
          <a:xfrm>
            <a:off x="4782312" y="171907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7" name="equation Paired arm comparison"/>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Δᵢ = Yᵢ(arm B) − Yᵢ(arm A),   same virtual patient i</a:t>
            </a:r>
            <a:endParaRPr lang="en-US" sz="1500" dirty="0"/>
          </a:p>
        </p:txBody>
      </p:sp>
      <p:sp>
        <p:nvSpPr>
          <p:cNvPr id="8" name="desc Paired arm comparison"/>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Every patient gets every arm, so between-patient noise cancels; far fewer subjects are needed.</a:t>
            </a:r>
            <a:endParaRPr lang="en-US" sz="1400" dirty="0"/>
          </a:p>
        </p:txBody>
      </p:sp>
      <p:sp>
        <p:nvSpPr>
          <p:cNvPr id="9" name="card Sample size for paired desig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Sample size for paired desig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Sample size for paired design</a:t>
            </a:r>
            <a:endParaRPr lang="en-US" sz="1600" dirty="0"/>
          </a:p>
        </p:txBody>
      </p:sp>
      <p:sp>
        <p:nvSpPr>
          <p:cNvPr id="11" name="tag Sample size for paired design"/>
          <p:cNvSpPr txBox="1"/>
          <p:nvPr/>
        </p:nvSpPr>
        <p:spPr>
          <a:xfrm>
            <a:off x="10451592" y="171907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12" name="equation Sample size for paired design"/>
          <p:cNvSpPr txBox="1"/>
          <p:nvPr/>
        </p:nvSpPr>
        <p:spPr>
          <a:xfrm>
            <a:off x="641908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n = ((z₁₋α/₂ + z₁₋β) · σ_Δ / δ)²</a:t>
            </a:r>
            <a:endParaRPr lang="en-US" sz="1500" dirty="0"/>
          </a:p>
        </p:txBody>
      </p:sp>
      <p:sp>
        <p:nvSpPr>
          <p:cNvPr id="13" name="desc Sample size for paired design"/>
          <p:cNvSpPr txBox="1"/>
          <p:nvPr/>
        </p:nvSpPr>
        <p:spPr>
          <a:xfrm>
            <a:off x="641908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δ = smallest difference worth detecting; σ_Δ = SD of paired differences.</a:t>
            </a:r>
            <a:endParaRPr lang="en-US" sz="1400" dirty="0"/>
          </a:p>
        </p:txBody>
      </p:sp>
      <p:sp>
        <p:nvSpPr>
          <p:cNvPr id="14" name="card Uncertainty propaga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Uncertainty propaga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Uncertainty propagation</a:t>
            </a:r>
            <a:endParaRPr lang="en-US" sz="1600" dirty="0"/>
          </a:p>
        </p:txBody>
      </p:sp>
      <p:sp>
        <p:nvSpPr>
          <p:cNvPr id="16" name="tag Uncertainty propagation"/>
          <p:cNvSpPr txBox="1"/>
          <p:nvPr/>
        </p:nvSpPr>
        <p:spPr>
          <a:xfrm>
            <a:off x="4782312" y="418795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17" name="equation Uncertainty propagation"/>
          <p:cNvSpPr txBox="1"/>
          <p:nvPr/>
        </p:nvSpPr>
        <p:spPr>
          <a:xfrm>
            <a:off x="74980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Y⁽ᵏ⁾ = g(θ⁽ᵏ⁾),  θ⁽ᵏ⁾ ~ p(θ | data),  k = 1…K</a:t>
            </a:r>
            <a:endParaRPr lang="en-US" sz="1500" dirty="0"/>
          </a:p>
        </p:txBody>
      </p:sp>
      <p:sp>
        <p:nvSpPr>
          <p:cNvPr id="18" name="desc Uncertainty propagation"/>
          <p:cNvSpPr txBox="1"/>
          <p:nvPr/>
        </p:nvSpPr>
        <p:spPr>
          <a:xfrm>
            <a:off x="74980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Monte Carlo through the whole chain: phantom → kinetics → dose → NTCP. Report endpoint intervals, not points.</a:t>
            </a:r>
            <a:endParaRPr lang="en-US" sz="1400" dirty="0"/>
          </a:p>
        </p:txBody>
      </p:sp>
      <p:sp>
        <p:nvSpPr>
          <p:cNvPr id="19" name="card Risk-informed credibility"/>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Risk-informed credibility"/>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Risk-informed credibility</a:t>
            </a:r>
            <a:endParaRPr lang="en-US" sz="1600" dirty="0"/>
          </a:p>
        </p:txBody>
      </p:sp>
      <p:sp>
        <p:nvSpPr>
          <p:cNvPr id="21" name="tag Risk-informed credibility"/>
          <p:cNvSpPr txBox="1"/>
          <p:nvPr/>
        </p:nvSpPr>
        <p:spPr>
          <a:xfrm>
            <a:off x="10451592" y="4187952"/>
            <a:ext cx="960120" cy="256032"/>
          </a:xfrm>
          <a:prstGeom prst="roundRect">
            <a:avLst>
              <a:gd name="adj" fmla="val 21429"/>
            </a:avLst>
          </a:prstGeom>
          <a:solidFill>
            <a:schemeClr val="accent4"/>
          </a:solidFill>
          <a:ln/>
        </p:spPr>
        <p:txBody>
          <a:bodyPr wrap="square" lIns="0" tIns="0" rIns="0" bIns="0" rtlCol="0" anchor="ctr"/>
          <a:lstStyle/>
          <a:p>
            <a:pPr algn="ctr" indent="0" marL="0">
              <a:buNone/>
            </a:pPr>
            <a:r>
              <a:rPr lang="en-US" sz="1000" b="1" dirty="0">
                <a:solidFill>
                  <a:schemeClr val="bg1"/>
                </a:solidFill>
              </a:rPr>
              <a:t>IN REVIEW</a:t>
            </a:r>
            <a:endParaRPr lang="en-US" sz="1000" dirty="0"/>
          </a:p>
        </p:txBody>
      </p:sp>
      <p:sp>
        <p:nvSpPr>
          <p:cNvPr id="22" name="equation Risk-informed credibility"/>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required evidence ∝ model influence × decision consequence</a:t>
            </a:r>
            <a:endParaRPr lang="en-US" sz="1500" dirty="0"/>
          </a:p>
        </p:txBody>
      </p:sp>
      <p:sp>
        <p:nvSpPr>
          <p:cNvPr id="23" name="desc Risk-informed credibility"/>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ASME V&amp;V 40 and FDA 2023 guidance. Validate dose first, then response; agree with a real trial before extrapolating.</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Best AI models for digital-twin development</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Which AI family to use for each twin layer, why it fits, its caveats, and the open-source tools to start with</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CHOOSING A METHOD</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Pick AI by mechanism knowledge and data size</a:t>
            </a:r>
            <a:endParaRPr lang="en-US" sz="3600" dirty="0"/>
          </a:p>
        </p:txBody>
      </p:sp>
      <p:sp>
        <p:nvSpPr>
          <p:cNvPr id="4" name="quad Strong mechanism · small data"/>
          <p:cNvSpPr/>
          <p:nvPr/>
        </p:nvSpPr>
        <p:spPr>
          <a:xfrm>
            <a:off x="1280160" y="1600200"/>
            <a:ext cx="5029200" cy="2103120"/>
          </a:xfrm>
          <a:prstGeom prst="roundRect">
            <a:avLst>
              <a:gd name="adj" fmla="val 3478"/>
            </a:avLst>
          </a:prstGeom>
          <a:solidFill>
            <a:schemeClr val="bg2"/>
          </a:solidFill>
          <a:ln w="12700">
            <a:solidFill>
              <a:schemeClr val="bg2"/>
            </a:solidFill>
            <a:prstDash val="solid"/>
          </a:ln>
        </p:spPr>
      </p:sp>
      <p:sp>
        <p:nvSpPr>
          <p:cNvPr id="5" name="icon circle"/>
          <p:cNvSpPr/>
          <p:nvPr/>
        </p:nvSpPr>
        <p:spPr>
          <a:xfrm>
            <a:off x="1481328" y="1801368"/>
            <a:ext cx="548640" cy="548640"/>
          </a:xfrm>
          <a:prstGeom prst="ellipse">
            <a:avLst/>
          </a:prstGeom>
          <a:solidFill>
            <a:schemeClr val="accent2"/>
          </a:solidFill>
          <a:ln w="12700">
            <a:solidFill>
              <a:schemeClr val="accent2"/>
            </a:solidFill>
            <a:prstDash val="solid"/>
          </a:ln>
        </p:spPr>
      </p:sp>
      <p:pic>
        <p:nvPicPr>
          <p:cNvPr id="6" name="icon" descr="preencoded.png">    </p:cNvPr>
          <p:cNvPicPr>
            <a:picLocks noChangeAspect="1"/>
          </p:cNvPicPr>
          <p:nvPr/>
        </p:nvPicPr>
        <p:blipFill>
          <a:blip r:embed="rId1"/>
          <a:stretch>
            <a:fillRect/>
          </a:stretch>
        </p:blipFill>
        <p:spPr>
          <a:xfrm>
            <a:off x="1602029" y="1922069"/>
            <a:ext cx="307238" cy="307238"/>
          </a:xfrm>
          <a:prstGeom prst="rect">
            <a:avLst/>
          </a:prstGeom>
        </p:spPr>
      </p:pic>
      <p:sp>
        <p:nvSpPr>
          <p:cNvPr id="7" name="Text 4"/>
          <p:cNvSpPr txBox="1"/>
          <p:nvPr/>
        </p:nvSpPr>
        <p:spPr>
          <a:xfrm>
            <a:off x="2148840" y="1801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Strong mechanism · small data</a:t>
            </a:r>
            <a:endParaRPr lang="en-US" sz="1600" dirty="0"/>
          </a:p>
        </p:txBody>
      </p:sp>
      <p:sp>
        <p:nvSpPr>
          <p:cNvPr id="8" name="Text 5"/>
          <p:cNvSpPr txBox="1"/>
          <p:nvPr/>
        </p:nvSpPr>
        <p:spPr>
          <a:xfrm>
            <a:off x="1481328" y="2468880"/>
            <a:ext cx="4663440" cy="548640"/>
          </a:xfrm>
          <a:prstGeom prst="rect">
            <a:avLst/>
          </a:prstGeom>
          <a:noFill/>
          <a:ln/>
        </p:spPr>
        <p:txBody>
          <a:bodyPr wrap="square" lIns="0" tIns="0" rIns="0" bIns="0" rtlCol="0" anchor="t"/>
          <a:lstStyle/>
          <a:p>
            <a:pPr indent="0" marL="0">
              <a:buNone/>
            </a:pPr>
            <a:r>
              <a:rPr lang="en-US" sz="1500" b="1" dirty="0">
                <a:solidFill>
                  <a:schemeClr val="accent2"/>
                </a:solidFill>
              </a:rPr>
              <a:t>Bayesian PBPK, PINNs, universal differential equations</a:t>
            </a:r>
            <a:endParaRPr lang="en-US" sz="1500" dirty="0"/>
          </a:p>
        </p:txBody>
      </p:sp>
      <p:sp>
        <p:nvSpPr>
          <p:cNvPr id="9" name="Text 6"/>
          <p:cNvSpPr txBox="1"/>
          <p:nvPr/>
        </p:nvSpPr>
        <p:spPr>
          <a:xfrm>
            <a:off x="1481328" y="3017520"/>
            <a:ext cx="4663440" cy="594360"/>
          </a:xfrm>
          <a:prstGeom prst="rect">
            <a:avLst/>
          </a:prstGeom>
          <a:noFill/>
          <a:ln/>
        </p:spPr>
        <p:txBody>
          <a:bodyPr wrap="square" lIns="0" tIns="0" rIns="0" bIns="0" rtlCol="0" anchor="t"/>
          <a:lstStyle/>
          <a:p>
            <a:pPr indent="0" marL="0">
              <a:buNone/>
            </a:pPr>
            <a:r>
              <a:rPr lang="en-US" sz="1400" dirty="0">
                <a:solidFill>
                  <a:schemeClr val="tx1"/>
                </a:solidFill>
              </a:rPr>
              <a:t>Most theranostic twins today: physics known, few scans per patient.</a:t>
            </a:r>
            <a:endParaRPr lang="en-US" sz="1400" dirty="0"/>
          </a:p>
        </p:txBody>
      </p:sp>
      <p:sp>
        <p:nvSpPr>
          <p:cNvPr id="10" name="quad Strong mechanism · large data"/>
          <p:cNvSpPr/>
          <p:nvPr/>
        </p:nvSpPr>
        <p:spPr>
          <a:xfrm>
            <a:off x="6537960" y="1600200"/>
            <a:ext cx="5029200" cy="2103120"/>
          </a:xfrm>
          <a:prstGeom prst="roundRect">
            <a:avLst>
              <a:gd name="adj" fmla="val 3478"/>
            </a:avLst>
          </a:prstGeom>
          <a:solidFill>
            <a:schemeClr val="bg2"/>
          </a:solidFill>
          <a:ln w="12700">
            <a:solidFill>
              <a:schemeClr val="bg2"/>
            </a:solidFill>
            <a:prstDash val="solid"/>
          </a:ln>
        </p:spPr>
      </p:sp>
      <p:sp>
        <p:nvSpPr>
          <p:cNvPr id="11" name="icon circle"/>
          <p:cNvSpPr/>
          <p:nvPr/>
        </p:nvSpPr>
        <p:spPr>
          <a:xfrm>
            <a:off x="6739128" y="1801368"/>
            <a:ext cx="548640" cy="548640"/>
          </a:xfrm>
          <a:prstGeom prst="ellipse">
            <a:avLst/>
          </a:prstGeom>
          <a:solidFill>
            <a:schemeClr val="tx2"/>
          </a:solidFill>
          <a:ln w="12700">
            <a:solidFill>
              <a:schemeClr val="tx2"/>
            </a:solidFill>
            <a:prstDash val="solid"/>
          </a:ln>
        </p:spPr>
      </p:sp>
      <p:pic>
        <p:nvPicPr>
          <p:cNvPr id="12" name="icon" descr="preencoded.png">    </p:cNvPr>
          <p:cNvPicPr>
            <a:picLocks noChangeAspect="1"/>
          </p:cNvPicPr>
          <p:nvPr/>
        </p:nvPicPr>
        <p:blipFill>
          <a:blip r:embed="rId2"/>
          <a:stretch>
            <a:fillRect/>
          </a:stretch>
        </p:blipFill>
        <p:spPr>
          <a:xfrm>
            <a:off x="6859829" y="1922069"/>
            <a:ext cx="307238" cy="307238"/>
          </a:xfrm>
          <a:prstGeom prst="rect">
            <a:avLst/>
          </a:prstGeom>
        </p:spPr>
      </p:pic>
      <p:sp>
        <p:nvSpPr>
          <p:cNvPr id="13" name="Text 9"/>
          <p:cNvSpPr txBox="1"/>
          <p:nvPr/>
        </p:nvSpPr>
        <p:spPr>
          <a:xfrm>
            <a:off x="7406640" y="1801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Strong mechanism · large data</a:t>
            </a:r>
            <a:endParaRPr lang="en-US" sz="1600" dirty="0"/>
          </a:p>
        </p:txBody>
      </p:sp>
      <p:sp>
        <p:nvSpPr>
          <p:cNvPr id="14" name="Text 10"/>
          <p:cNvSpPr txBox="1"/>
          <p:nvPr/>
        </p:nvSpPr>
        <p:spPr>
          <a:xfrm>
            <a:off x="6739128" y="2468880"/>
            <a:ext cx="4663440" cy="548640"/>
          </a:xfrm>
          <a:prstGeom prst="rect">
            <a:avLst/>
          </a:prstGeom>
          <a:noFill/>
          <a:ln/>
        </p:spPr>
        <p:txBody>
          <a:bodyPr wrap="square" lIns="0" tIns="0" rIns="0" bIns="0" rtlCol="0" anchor="t"/>
          <a:lstStyle/>
          <a:p>
            <a:pPr indent="0" marL="0">
              <a:buNone/>
            </a:pPr>
            <a:r>
              <a:rPr lang="en-US" sz="1500" b="1" dirty="0">
                <a:solidFill>
                  <a:schemeClr val="tx2"/>
                </a:solidFill>
              </a:rPr>
              <a:t>Neural operators (FNO, DeepONet), MC emulators</a:t>
            </a:r>
            <a:endParaRPr lang="en-US" sz="1500" dirty="0"/>
          </a:p>
        </p:txBody>
      </p:sp>
      <p:sp>
        <p:nvSpPr>
          <p:cNvPr id="15" name="Text 11"/>
          <p:cNvSpPr txBox="1"/>
          <p:nvPr/>
        </p:nvSpPr>
        <p:spPr>
          <a:xfrm>
            <a:off x="6739128" y="3017520"/>
            <a:ext cx="4663440" cy="594360"/>
          </a:xfrm>
          <a:prstGeom prst="rect">
            <a:avLst/>
          </a:prstGeom>
          <a:noFill/>
          <a:ln/>
        </p:spPr>
        <p:txBody>
          <a:bodyPr wrap="square" lIns="0" tIns="0" rIns="0" bIns="0" rtlCol="0" anchor="t"/>
          <a:lstStyle/>
          <a:p>
            <a:pPr indent="0" marL="0">
              <a:buNone/>
            </a:pPr>
            <a:r>
              <a:rPr lang="en-US" sz="1400" dirty="0">
                <a:solidFill>
                  <a:schemeClr val="tx1"/>
                </a:solidFill>
              </a:rPr>
              <a:t>Learn the simulator itself: Monte Carlo dose, PBPK solves in milliseconds.</a:t>
            </a:r>
            <a:endParaRPr lang="en-US" sz="1400" dirty="0"/>
          </a:p>
        </p:txBody>
      </p:sp>
      <p:sp>
        <p:nvSpPr>
          <p:cNvPr id="16" name="quad Weak mechanism · small data"/>
          <p:cNvSpPr/>
          <p:nvPr/>
        </p:nvSpPr>
        <p:spPr>
          <a:xfrm>
            <a:off x="1280160" y="3886200"/>
            <a:ext cx="5029200" cy="2103120"/>
          </a:xfrm>
          <a:prstGeom prst="roundRect">
            <a:avLst>
              <a:gd name="adj" fmla="val 3478"/>
            </a:avLst>
          </a:prstGeom>
          <a:solidFill>
            <a:schemeClr val="bg2"/>
          </a:solidFill>
          <a:ln w="12700">
            <a:solidFill>
              <a:schemeClr val="bg2"/>
            </a:solidFill>
            <a:prstDash val="solid"/>
          </a:ln>
        </p:spPr>
      </p:sp>
      <p:sp>
        <p:nvSpPr>
          <p:cNvPr id="17" name="icon circle"/>
          <p:cNvSpPr/>
          <p:nvPr/>
        </p:nvSpPr>
        <p:spPr>
          <a:xfrm>
            <a:off x="1481328" y="4087368"/>
            <a:ext cx="548640" cy="548640"/>
          </a:xfrm>
          <a:prstGeom prst="ellipse">
            <a:avLst/>
          </a:prstGeom>
          <a:solidFill>
            <a:schemeClr val="accent4"/>
          </a:solidFill>
          <a:ln w="12700">
            <a:solidFill>
              <a:schemeClr val="accent4"/>
            </a:solidFill>
            <a:prstDash val="solid"/>
          </a:ln>
        </p:spPr>
      </p:sp>
      <p:pic>
        <p:nvPicPr>
          <p:cNvPr id="18" name="icon" descr="preencoded.png">    </p:cNvPr>
          <p:cNvPicPr>
            <a:picLocks noChangeAspect="1"/>
          </p:cNvPicPr>
          <p:nvPr/>
        </p:nvPicPr>
        <p:blipFill>
          <a:blip r:embed="rId3"/>
          <a:stretch>
            <a:fillRect/>
          </a:stretch>
        </p:blipFill>
        <p:spPr>
          <a:xfrm>
            <a:off x="1602029" y="4208069"/>
            <a:ext cx="307238" cy="307238"/>
          </a:xfrm>
          <a:prstGeom prst="rect">
            <a:avLst/>
          </a:prstGeom>
        </p:spPr>
      </p:pic>
      <p:sp>
        <p:nvSpPr>
          <p:cNvPr id="19" name="Text 14"/>
          <p:cNvSpPr txBox="1"/>
          <p:nvPr/>
        </p:nvSpPr>
        <p:spPr>
          <a:xfrm>
            <a:off x="2148840" y="4087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Weak mechanism · small data</a:t>
            </a:r>
            <a:endParaRPr lang="en-US" sz="1600" dirty="0"/>
          </a:p>
        </p:txBody>
      </p:sp>
      <p:sp>
        <p:nvSpPr>
          <p:cNvPr id="20" name="Text 15"/>
          <p:cNvSpPr txBox="1"/>
          <p:nvPr/>
        </p:nvSpPr>
        <p:spPr>
          <a:xfrm>
            <a:off x="1481328" y="4754880"/>
            <a:ext cx="4663440" cy="548640"/>
          </a:xfrm>
          <a:prstGeom prst="rect">
            <a:avLst/>
          </a:prstGeom>
          <a:noFill/>
          <a:ln/>
        </p:spPr>
        <p:txBody>
          <a:bodyPr wrap="square" lIns="0" tIns="0" rIns="0" bIns="0" rtlCol="0" anchor="t"/>
          <a:lstStyle/>
          <a:p>
            <a:pPr indent="0" marL="0">
              <a:buNone/>
            </a:pPr>
            <a:r>
              <a:rPr lang="en-US" sz="1500" b="1" dirty="0">
                <a:solidFill>
                  <a:schemeClr val="accent4"/>
                </a:solidFill>
              </a:rPr>
              <a:t>Gaussian processes, TabPFN, regularised regression</a:t>
            </a:r>
            <a:endParaRPr lang="en-US" sz="1500" dirty="0"/>
          </a:p>
        </p:txBody>
      </p:sp>
      <p:sp>
        <p:nvSpPr>
          <p:cNvPr id="21" name="Text 16"/>
          <p:cNvSpPr txBox="1"/>
          <p:nvPr/>
        </p:nvSpPr>
        <p:spPr>
          <a:xfrm>
            <a:off x="1481328" y="5303520"/>
            <a:ext cx="4663440" cy="594360"/>
          </a:xfrm>
          <a:prstGeom prst="rect">
            <a:avLst/>
          </a:prstGeom>
          <a:noFill/>
          <a:ln/>
        </p:spPr>
        <p:txBody>
          <a:bodyPr wrap="square" lIns="0" tIns="0" rIns="0" bIns="0" rtlCol="0" anchor="t"/>
          <a:lstStyle/>
          <a:p>
            <a:pPr indent="0" marL="0">
              <a:buNone/>
            </a:pPr>
            <a:r>
              <a:rPr lang="en-US" sz="1400" dirty="0">
                <a:solidFill>
                  <a:schemeClr val="tx1"/>
                </a:solidFill>
              </a:rPr>
              <a:t>Biomarkers and outcomes in cohorts of 50–500 patients.</a:t>
            </a:r>
            <a:endParaRPr lang="en-US" sz="1400" dirty="0"/>
          </a:p>
        </p:txBody>
      </p:sp>
      <p:sp>
        <p:nvSpPr>
          <p:cNvPr id="22" name="quad Weak mechanism · large data"/>
          <p:cNvSpPr/>
          <p:nvPr/>
        </p:nvSpPr>
        <p:spPr>
          <a:xfrm>
            <a:off x="6537960" y="3886200"/>
            <a:ext cx="5029200" cy="2103120"/>
          </a:xfrm>
          <a:prstGeom prst="roundRect">
            <a:avLst>
              <a:gd name="adj" fmla="val 3478"/>
            </a:avLst>
          </a:prstGeom>
          <a:solidFill>
            <a:schemeClr val="bg2"/>
          </a:solidFill>
          <a:ln w="12700">
            <a:solidFill>
              <a:schemeClr val="bg2"/>
            </a:solidFill>
            <a:prstDash val="solid"/>
          </a:ln>
        </p:spPr>
      </p:sp>
      <p:sp>
        <p:nvSpPr>
          <p:cNvPr id="23" name="icon circle"/>
          <p:cNvSpPr/>
          <p:nvPr/>
        </p:nvSpPr>
        <p:spPr>
          <a:xfrm>
            <a:off x="6739128" y="4087368"/>
            <a:ext cx="548640" cy="548640"/>
          </a:xfrm>
          <a:prstGeom prst="ellipse">
            <a:avLst/>
          </a:prstGeom>
          <a:solidFill>
            <a:schemeClr val="accent3"/>
          </a:solidFill>
          <a:ln w="12700">
            <a:solidFill>
              <a:schemeClr val="accent3"/>
            </a:solidFill>
            <a:prstDash val="solid"/>
          </a:ln>
        </p:spPr>
      </p:sp>
      <p:pic>
        <p:nvPicPr>
          <p:cNvPr id="24" name="icon" descr="preencoded.png">    </p:cNvPr>
          <p:cNvPicPr>
            <a:picLocks noChangeAspect="1"/>
          </p:cNvPicPr>
          <p:nvPr/>
        </p:nvPicPr>
        <p:blipFill>
          <a:blip r:embed="rId4"/>
          <a:stretch>
            <a:fillRect/>
          </a:stretch>
        </p:blipFill>
        <p:spPr>
          <a:xfrm>
            <a:off x="6859829" y="4208069"/>
            <a:ext cx="307238" cy="307238"/>
          </a:xfrm>
          <a:prstGeom prst="rect">
            <a:avLst/>
          </a:prstGeom>
        </p:spPr>
      </p:pic>
      <p:sp>
        <p:nvSpPr>
          <p:cNvPr id="25" name="Text 19"/>
          <p:cNvSpPr txBox="1"/>
          <p:nvPr/>
        </p:nvSpPr>
        <p:spPr>
          <a:xfrm>
            <a:off x="7406640" y="4087368"/>
            <a:ext cx="4023360" cy="548640"/>
          </a:xfrm>
          <a:prstGeom prst="rect">
            <a:avLst/>
          </a:prstGeom>
          <a:noFill/>
          <a:ln/>
        </p:spPr>
        <p:txBody>
          <a:bodyPr wrap="square" lIns="0" tIns="0" rIns="0" bIns="0" rtlCol="0" anchor="ctr"/>
          <a:lstStyle/>
          <a:p>
            <a:pPr indent="0" marL="0">
              <a:buNone/>
            </a:pPr>
            <a:r>
              <a:rPr lang="en-US" sz="1600" b="1" dirty="0">
                <a:solidFill>
                  <a:schemeClr val="tx2"/>
                </a:solidFill>
              </a:rPr>
              <a:t>Weak mechanism · large data</a:t>
            </a:r>
            <a:endParaRPr lang="en-US" sz="1600" dirty="0"/>
          </a:p>
        </p:txBody>
      </p:sp>
      <p:sp>
        <p:nvSpPr>
          <p:cNvPr id="26" name="Text 20"/>
          <p:cNvSpPr txBox="1"/>
          <p:nvPr/>
        </p:nvSpPr>
        <p:spPr>
          <a:xfrm>
            <a:off x="6739128" y="4754880"/>
            <a:ext cx="4663440" cy="548640"/>
          </a:xfrm>
          <a:prstGeom prst="rect">
            <a:avLst/>
          </a:prstGeom>
          <a:noFill/>
          <a:ln/>
        </p:spPr>
        <p:txBody>
          <a:bodyPr wrap="square" lIns="0" tIns="0" rIns="0" bIns="0" rtlCol="0" anchor="t"/>
          <a:lstStyle/>
          <a:p>
            <a:pPr indent="0" marL="0">
              <a:buNone/>
            </a:pPr>
            <a:r>
              <a:rPr lang="en-US" sz="1500" b="1" dirty="0">
                <a:solidFill>
                  <a:schemeClr val="tx1"/>
                </a:solidFill>
              </a:rPr>
              <a:t>Deep nets, foundation models, diffusion models</a:t>
            </a:r>
            <a:endParaRPr lang="en-US" sz="1500" dirty="0"/>
          </a:p>
        </p:txBody>
      </p:sp>
      <p:sp>
        <p:nvSpPr>
          <p:cNvPr id="27" name="Text 21"/>
          <p:cNvSpPr txBox="1"/>
          <p:nvPr/>
        </p:nvSpPr>
        <p:spPr>
          <a:xfrm>
            <a:off x="6739128" y="5303520"/>
            <a:ext cx="4663440" cy="594360"/>
          </a:xfrm>
          <a:prstGeom prst="rect">
            <a:avLst/>
          </a:prstGeom>
          <a:noFill/>
          <a:ln/>
        </p:spPr>
        <p:txBody>
          <a:bodyPr wrap="square" lIns="0" tIns="0" rIns="0" bIns="0" rtlCol="0" anchor="t"/>
          <a:lstStyle/>
          <a:p>
            <a:pPr indent="0" marL="0">
              <a:buNone/>
            </a:pPr>
            <a:r>
              <a:rPr lang="en-US" sz="1400" dirty="0">
                <a:solidFill>
                  <a:schemeClr val="tx1"/>
                </a:solidFill>
              </a:rPr>
              <a:t>Segmentation, denoising, synthetic anatomy, multimodal fusion.</a:t>
            </a:r>
            <a:endParaRPr lang="en-US" sz="1400" dirty="0"/>
          </a:p>
        </p:txBody>
      </p:sp>
      <p:sp>
        <p:nvSpPr>
          <p:cNvPr id="28" name="Text 22"/>
          <p:cNvSpPr txBox="1"/>
          <p:nvPr/>
        </p:nvSpPr>
        <p:spPr>
          <a:xfrm>
            <a:off x="320040" y="1600200"/>
            <a:ext cx="548640" cy="4389120"/>
          </a:xfrm>
          <a:prstGeom prst="rect">
            <a:avLst/>
          </a:prstGeom>
          <a:noFill/>
          <a:ln/>
        </p:spPr>
        <p:txBody>
          <a:bodyPr wrap="square" lIns="0" tIns="0" rIns="0" bIns="0" rtlCol="0" anchor="ctr" vert="vert270"/>
          <a:lstStyle/>
          <a:p>
            <a:pPr algn="ctr" indent="0" marL="0">
              <a:buNone/>
            </a:pPr>
            <a:r>
              <a:rPr lang="en-US" sz="1200" b="1" dirty="0">
                <a:solidFill>
                  <a:schemeClr val="accent6"/>
                </a:solidFill>
              </a:rPr>
              <a:t>MECHANISM</a:t>
            </a:r>
            <a:endParaRPr lang="en-US" sz="1200" dirty="0"/>
          </a:p>
        </p:txBody>
      </p:sp>
      <p:sp>
        <p:nvSpPr>
          <p:cNvPr id="29" name="Text 23"/>
          <p:cNvSpPr txBox="1"/>
          <p:nvPr/>
        </p:nvSpPr>
        <p:spPr>
          <a:xfrm>
            <a:off x="1280160" y="6035040"/>
            <a:ext cx="10287000" cy="274320"/>
          </a:xfrm>
          <a:prstGeom prst="rect">
            <a:avLst/>
          </a:prstGeom>
          <a:noFill/>
          <a:ln/>
        </p:spPr>
        <p:txBody>
          <a:bodyPr wrap="square" lIns="0" tIns="0" rIns="0" bIns="0" rtlCol="0" anchor="ctr"/>
          <a:lstStyle/>
          <a:p>
            <a:pPr algn="ctr" indent="0" marL="0">
              <a:buNone/>
            </a:pPr>
            <a:r>
              <a:rPr lang="en-US" sz="1200" b="1" dirty="0">
                <a:solidFill>
                  <a:schemeClr val="accent6"/>
                </a:solidFill>
              </a:rPr>
              <a:t>DATA SIZE  →</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OVERVIEW</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Best AI families for each twin layer</a:t>
            </a:r>
            <a:endParaRPr lang="en-US" sz="3600" dirty="0"/>
          </a:p>
        </p:txBody>
      </p:sp>
      <p:graphicFrame>
        <p:nvGraphicFramePr>
          <p:cNvPr id="21" name="AI overview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651760"/>
                <a:gridCol w="5394960"/>
                <a:gridCol w="3017520"/>
              </a:tblGrid>
              <a:tr h="429768">
                <a:tc>
                  <a:txBody>
                    <a:bodyPr/>
                    <a:lstStyle/>
                    <a:p>
                      <a:pPr indent="0" marL="0">
                        <a:buNone/>
                      </a:pPr>
                      <a:r>
                        <a:rPr lang="en-US" sz="1300" b="1" dirty="0">
                          <a:solidFill>
                            <a:schemeClr val="bg1"/>
                          </a:solidFill>
                        </a:rPr>
                        <a:t>Twin layer</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Best AI models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Starter tools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r>
              <a:tr h="429768">
                <a:tc>
                  <a:txBody>
                    <a:bodyPr/>
                    <a:lstStyle/>
                    <a:p>
                      <a:pPr indent="0" marL="0">
                        <a:buNone/>
                      </a:pPr>
                      <a:r>
                        <a:rPr lang="en-US" sz="1300" b="1" dirty="0">
                          <a:solidFill>
                            <a:schemeClr val="tx2"/>
                          </a:solidFill>
                        </a:rPr>
                        <a:t>Imaging: denoise, reconstruct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U-Net / ResUNet, conditional GAN, diffusion denoisers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MONAI, PyTorch</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Segmentation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nnU-Net, TotalSegmentator, MedSAM / SAM-2 style promptable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nnU-Net, MONAI Auto3DSeg</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Kinetics (PBPK)</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PINNs, neural ODEs, universal differential equations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torchdiffeq, DeepXDE, Julia SciML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Dosimetry</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CNN / Swin-UNETR voxel dose, neural operators, DoseVLM</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MONAI, neuraloperator, OpenGATE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Virtual patients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3-D latent diffusion (MAISI), GAN / VAE; copulas, CTGAN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MONAI generative, SDV</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Calibration and UQ</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Simulation-based inference, hierarchical Bayes, conformal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sbi, PyMC / Stan, MAPIE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Outcome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Cox, random survival forest, DeepSurv, XGBoost, TabPFN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lifelines, scikit-survival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Decision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Bayesian optimisation, reinforcement learning, MPC</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BoTorch, Optuna, Gymnasium</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429768">
                <a:tc>
                  <a:txBody>
                    <a:bodyPr/>
                    <a:lstStyle/>
                    <a:p>
                      <a:pPr indent="0" marL="0">
                        <a:buNone/>
                      </a:pPr>
                      <a:r>
                        <a:rPr lang="en-US" sz="1300" b="1" dirty="0">
                          <a:solidFill>
                            <a:schemeClr val="tx2"/>
                          </a:solidFill>
                        </a:rPr>
                        <a:t>Orchestration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Frontier LLM coding agents, biomedical text encoders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Claude Code, BiomedBERT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1 · SCIENTIFIC MACHINE LEARNING</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Hybrid physics + AI: the core of a twin</a:t>
            </a:r>
            <a:endParaRPr lang="en-US" sz="3600" dirty="0"/>
          </a:p>
        </p:txBody>
      </p:sp>
      <p:sp>
        <p:nvSpPr>
          <p:cNvPr id="4" name="row PINN"/>
          <p:cNvSpPr/>
          <p:nvPr/>
        </p:nvSpPr>
        <p:spPr>
          <a:xfrm>
            <a:off x="548640" y="1554480"/>
            <a:ext cx="11064240" cy="804672"/>
          </a:xfrm>
          <a:prstGeom prst="roundRect">
            <a:avLst>
              <a:gd name="adj" fmla="val 6818"/>
            </a:avLst>
          </a:prstGeom>
          <a:solidFill>
            <a:schemeClr val="bg2"/>
          </a:solidFill>
          <a:ln w="6350">
            <a:solidFill>
              <a:schemeClr val="bg2"/>
            </a:solidFill>
            <a:prstDash val="solid"/>
          </a:ln>
        </p:spPr>
      </p:sp>
      <p:sp>
        <p:nvSpPr>
          <p:cNvPr id="5" name="Text 3"/>
          <p:cNvSpPr txBox="1"/>
          <p:nvPr/>
        </p:nvSpPr>
        <p:spPr>
          <a:xfrm>
            <a:off x="731520" y="15544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PINN</a:t>
            </a:r>
            <a:endParaRPr lang="en-US" sz="1600" dirty="0"/>
          </a:p>
        </p:txBody>
      </p:sp>
      <p:sp>
        <p:nvSpPr>
          <p:cNvPr id="6" name="Text 4"/>
          <p:cNvSpPr txBox="1"/>
          <p:nvPr/>
        </p:nvSpPr>
        <p:spPr>
          <a:xfrm>
            <a:off x="2468880" y="16824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L = L_data + λ ‖𝒩[u_θ]‖²</a:t>
            </a:r>
            <a:endParaRPr lang="en-US" sz="1500" dirty="0"/>
          </a:p>
        </p:txBody>
      </p:sp>
      <p:sp>
        <p:nvSpPr>
          <p:cNvPr id="7" name="Text 5"/>
          <p:cNvSpPr txBox="1"/>
          <p:nvPr/>
        </p:nvSpPr>
        <p:spPr>
          <a:xfrm>
            <a:off x="6583680" y="1554480"/>
            <a:ext cx="4892040" cy="804672"/>
          </a:xfrm>
          <a:prstGeom prst="rect">
            <a:avLst/>
          </a:prstGeom>
          <a:noFill/>
          <a:ln/>
        </p:spPr>
        <p:txBody>
          <a:bodyPr wrap="square" lIns="0" tIns="0" rIns="0" bIns="0" rtlCol="0" anchor="ctr"/>
          <a:lstStyle/>
          <a:p>
            <a:pPr indent="0" marL="0">
              <a:buNone/>
            </a:pPr>
            <a:r>
              <a:rPr lang="en-US" sz="1400" dirty="0">
                <a:solidFill>
                  <a:schemeClr val="tx1"/>
                </a:solidFill>
              </a:rPr>
              <a:t>Fit PBPK or diffusion to sparse SPECT; physics fills gaps. Caveat: stiff ODEs train poorly.</a:t>
            </a:r>
            <a:endParaRPr lang="en-US" sz="1400" dirty="0"/>
          </a:p>
        </p:txBody>
      </p:sp>
      <p:sp>
        <p:nvSpPr>
          <p:cNvPr id="8" name="row Neural ODE"/>
          <p:cNvSpPr/>
          <p:nvPr/>
        </p:nvSpPr>
        <p:spPr>
          <a:xfrm>
            <a:off x="548640" y="2468880"/>
            <a:ext cx="11064240" cy="804672"/>
          </a:xfrm>
          <a:prstGeom prst="roundRect">
            <a:avLst>
              <a:gd name="adj" fmla="val 6818"/>
            </a:avLst>
          </a:prstGeom>
          <a:solidFill>
            <a:schemeClr val="bg2"/>
          </a:solidFill>
          <a:ln w="6350">
            <a:solidFill>
              <a:schemeClr val="bg2"/>
            </a:solidFill>
            <a:prstDash val="solid"/>
          </a:ln>
        </p:spPr>
      </p:sp>
      <p:sp>
        <p:nvSpPr>
          <p:cNvPr id="9" name="Text 7"/>
          <p:cNvSpPr txBox="1"/>
          <p:nvPr/>
        </p:nvSpPr>
        <p:spPr>
          <a:xfrm>
            <a:off x="731520" y="24688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Neural ODE</a:t>
            </a:r>
            <a:endParaRPr lang="en-US" sz="1600" dirty="0"/>
          </a:p>
        </p:txBody>
      </p:sp>
      <p:sp>
        <p:nvSpPr>
          <p:cNvPr id="10" name="Text 8"/>
          <p:cNvSpPr txBox="1"/>
          <p:nvPr/>
        </p:nvSpPr>
        <p:spPr>
          <a:xfrm>
            <a:off x="2468880" y="25968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dz/dt = f_θ(z, t)</a:t>
            </a:r>
            <a:endParaRPr lang="en-US" sz="1500" dirty="0"/>
          </a:p>
        </p:txBody>
      </p:sp>
      <p:sp>
        <p:nvSpPr>
          <p:cNvPr id="11" name="Text 9"/>
          <p:cNvSpPr txBox="1"/>
          <p:nvPr/>
        </p:nvSpPr>
        <p:spPr>
          <a:xfrm>
            <a:off x="6583680" y="2468880"/>
            <a:ext cx="4892040" cy="804672"/>
          </a:xfrm>
          <a:prstGeom prst="rect">
            <a:avLst/>
          </a:prstGeom>
          <a:noFill/>
          <a:ln/>
        </p:spPr>
        <p:txBody>
          <a:bodyPr wrap="square" lIns="0" tIns="0" rIns="0" bIns="0" rtlCol="0" anchor="ctr"/>
          <a:lstStyle/>
          <a:p>
            <a:pPr indent="0" marL="0">
              <a:buNone/>
            </a:pPr>
            <a:r>
              <a:rPr lang="en-US" sz="1400" dirty="0">
                <a:solidFill>
                  <a:schemeClr val="tx1"/>
                </a:solidFill>
              </a:rPr>
              <a:t>Learn kinetics from irregular time points. Caveat: less interpretable than PBPK.</a:t>
            </a:r>
            <a:endParaRPr lang="en-US" sz="1400" dirty="0"/>
          </a:p>
        </p:txBody>
      </p:sp>
      <p:sp>
        <p:nvSpPr>
          <p:cNvPr id="12" name="row Universal DE"/>
          <p:cNvSpPr/>
          <p:nvPr/>
        </p:nvSpPr>
        <p:spPr>
          <a:xfrm>
            <a:off x="548640" y="3383280"/>
            <a:ext cx="11064240" cy="804672"/>
          </a:xfrm>
          <a:prstGeom prst="roundRect">
            <a:avLst>
              <a:gd name="adj" fmla="val 6818"/>
            </a:avLst>
          </a:prstGeom>
          <a:solidFill>
            <a:srgbClr val="E2F0EE"/>
          </a:solidFill>
          <a:ln w="19050">
            <a:solidFill>
              <a:schemeClr val="accent2"/>
            </a:solidFill>
            <a:prstDash val="solid"/>
          </a:ln>
        </p:spPr>
      </p:sp>
      <p:sp>
        <p:nvSpPr>
          <p:cNvPr id="13" name="Text 11"/>
          <p:cNvSpPr txBox="1"/>
          <p:nvPr/>
        </p:nvSpPr>
        <p:spPr>
          <a:xfrm>
            <a:off x="731520" y="33832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Universal DE</a:t>
            </a:r>
            <a:endParaRPr lang="en-US" sz="1600" dirty="0"/>
          </a:p>
        </p:txBody>
      </p:sp>
      <p:sp>
        <p:nvSpPr>
          <p:cNvPr id="14" name="Text 12"/>
          <p:cNvSpPr txBox="1"/>
          <p:nvPr/>
        </p:nvSpPr>
        <p:spPr>
          <a:xfrm>
            <a:off x="2468880" y="35112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dx/dt = f_PBPK(x; θ) + NN_φ(x)</a:t>
            </a:r>
            <a:endParaRPr lang="en-US" sz="1500" dirty="0"/>
          </a:p>
        </p:txBody>
      </p:sp>
      <p:sp>
        <p:nvSpPr>
          <p:cNvPr id="15" name="Text 13"/>
          <p:cNvSpPr txBox="1"/>
          <p:nvPr/>
        </p:nvSpPr>
        <p:spPr>
          <a:xfrm>
            <a:off x="6583680" y="3383280"/>
            <a:ext cx="4892040" cy="804672"/>
          </a:xfrm>
          <a:prstGeom prst="rect">
            <a:avLst/>
          </a:prstGeom>
          <a:noFill/>
          <a:ln/>
        </p:spPr>
        <p:txBody>
          <a:bodyPr wrap="square" lIns="0" tIns="0" rIns="0" bIns="0" rtlCol="0" anchor="ctr"/>
          <a:lstStyle/>
          <a:p>
            <a:pPr indent="0" marL="0">
              <a:buNone/>
            </a:pPr>
            <a:r>
              <a:rPr lang="en-US" sz="1400" dirty="0">
                <a:solidFill>
                  <a:schemeClr val="tx1"/>
                </a:solidFill>
              </a:rPr>
              <a:t>Keep known PBPK, learn only the missing term (e.g. sink saturation). Best fit for theranostics.</a:t>
            </a:r>
            <a:endParaRPr lang="en-US" sz="1400" dirty="0"/>
          </a:p>
        </p:txBody>
      </p:sp>
      <p:sp>
        <p:nvSpPr>
          <p:cNvPr id="16" name="row Neural operator"/>
          <p:cNvSpPr/>
          <p:nvPr/>
        </p:nvSpPr>
        <p:spPr>
          <a:xfrm>
            <a:off x="548640" y="4297680"/>
            <a:ext cx="11064240" cy="804672"/>
          </a:xfrm>
          <a:prstGeom prst="roundRect">
            <a:avLst>
              <a:gd name="adj" fmla="val 6818"/>
            </a:avLst>
          </a:prstGeom>
          <a:solidFill>
            <a:schemeClr val="bg2"/>
          </a:solidFill>
          <a:ln w="6350">
            <a:solidFill>
              <a:schemeClr val="bg2"/>
            </a:solidFill>
            <a:prstDash val="solid"/>
          </a:ln>
        </p:spPr>
      </p:sp>
      <p:sp>
        <p:nvSpPr>
          <p:cNvPr id="17" name="Text 15"/>
          <p:cNvSpPr txBox="1"/>
          <p:nvPr/>
        </p:nvSpPr>
        <p:spPr>
          <a:xfrm>
            <a:off x="731520" y="42976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Neural operator</a:t>
            </a:r>
            <a:endParaRPr lang="en-US" sz="1600" dirty="0"/>
          </a:p>
        </p:txBody>
      </p:sp>
      <p:sp>
        <p:nvSpPr>
          <p:cNvPr id="18" name="Text 16"/>
          <p:cNvSpPr txBox="1"/>
          <p:nvPr/>
        </p:nvSpPr>
        <p:spPr>
          <a:xfrm>
            <a:off x="2468880" y="44256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𝒢_θ : Ã(·) ↦ D(·)   (FNO, DeepONet)</a:t>
            </a:r>
            <a:endParaRPr lang="en-US" sz="1500" dirty="0"/>
          </a:p>
        </p:txBody>
      </p:sp>
      <p:sp>
        <p:nvSpPr>
          <p:cNvPr id="19" name="Text 17"/>
          <p:cNvSpPr txBox="1"/>
          <p:nvPr/>
        </p:nvSpPr>
        <p:spPr>
          <a:xfrm>
            <a:off x="6583680" y="4297680"/>
            <a:ext cx="4892040" cy="804672"/>
          </a:xfrm>
          <a:prstGeom prst="rect">
            <a:avLst/>
          </a:prstGeom>
          <a:noFill/>
          <a:ln/>
        </p:spPr>
        <p:txBody>
          <a:bodyPr wrap="square" lIns="0" tIns="0" rIns="0" bIns="0" rtlCol="0" anchor="ctr"/>
          <a:lstStyle/>
          <a:p>
            <a:pPr indent="0" marL="0">
              <a:buNone/>
            </a:pPr>
            <a:r>
              <a:rPr lang="en-US" sz="1400" dirty="0">
                <a:solidFill>
                  <a:schemeClr val="tx1"/>
                </a:solidFill>
              </a:rPr>
              <a:t>Learn the whole Monte Carlo map; resolution-independent dose in milliseconds.</a:t>
            </a:r>
            <a:endParaRPr lang="en-US" sz="1400" dirty="0"/>
          </a:p>
        </p:txBody>
      </p:sp>
      <p:sp>
        <p:nvSpPr>
          <p:cNvPr id="20" name="row GP emulator"/>
          <p:cNvSpPr/>
          <p:nvPr/>
        </p:nvSpPr>
        <p:spPr>
          <a:xfrm>
            <a:off x="548640" y="5212080"/>
            <a:ext cx="11064240" cy="804672"/>
          </a:xfrm>
          <a:prstGeom prst="roundRect">
            <a:avLst>
              <a:gd name="adj" fmla="val 6818"/>
            </a:avLst>
          </a:prstGeom>
          <a:solidFill>
            <a:schemeClr val="bg2"/>
          </a:solidFill>
          <a:ln w="6350">
            <a:solidFill>
              <a:schemeClr val="bg2"/>
            </a:solidFill>
            <a:prstDash val="solid"/>
          </a:ln>
        </p:spPr>
      </p:sp>
      <p:sp>
        <p:nvSpPr>
          <p:cNvPr id="21" name="Text 19"/>
          <p:cNvSpPr txBox="1"/>
          <p:nvPr/>
        </p:nvSpPr>
        <p:spPr>
          <a:xfrm>
            <a:off x="731520" y="5212080"/>
            <a:ext cx="1737360" cy="804672"/>
          </a:xfrm>
          <a:prstGeom prst="rect">
            <a:avLst/>
          </a:prstGeom>
          <a:noFill/>
          <a:ln/>
        </p:spPr>
        <p:txBody>
          <a:bodyPr wrap="square" lIns="0" tIns="0" rIns="0" bIns="0" rtlCol="0" anchor="ctr"/>
          <a:lstStyle/>
          <a:p>
            <a:pPr indent="0" marL="0">
              <a:buNone/>
            </a:pPr>
            <a:r>
              <a:rPr lang="en-US" sz="1600" b="1" dirty="0">
                <a:solidFill>
                  <a:schemeClr val="tx2"/>
                </a:solidFill>
              </a:rPr>
              <a:t>GP emulator</a:t>
            </a:r>
            <a:endParaRPr lang="en-US" sz="1600" dirty="0"/>
          </a:p>
        </p:txBody>
      </p:sp>
      <p:sp>
        <p:nvSpPr>
          <p:cNvPr id="22" name="Text 20"/>
          <p:cNvSpPr txBox="1"/>
          <p:nvPr/>
        </p:nvSpPr>
        <p:spPr>
          <a:xfrm>
            <a:off x="2468880" y="5340096"/>
            <a:ext cx="3931920" cy="548640"/>
          </a:xfrm>
          <a:prstGeom prst="rect">
            <a:avLst/>
          </a:prstGeom>
          <a:solidFill>
            <a:schemeClr val="bg1"/>
          </a:solidFill>
          <a:ln/>
        </p:spPr>
        <p:txBody>
          <a:bodyPr wrap="square" lIns="1016" tIns="1016" rIns="1016" bIns="1016" rtlCol="0" anchor="ctr"/>
          <a:lstStyle/>
          <a:p>
            <a:pPr indent="0" marL="0">
              <a:buNone/>
            </a:pPr>
            <a:r>
              <a:rPr lang="en-US" sz="1500" dirty="0">
                <a:solidFill>
                  <a:schemeClr val="accent4"/>
                </a:solidFill>
                <a:latin typeface="+mj-lt" pitchFamily="34" charset="0"/>
                <a:ea typeface="+mj-lt" pitchFamily="34" charset="-122"/>
                <a:cs typeface="+mj-lt" pitchFamily="34" charset="-120"/>
              </a:rPr>
              <a:t>y ~ GP(m(x), k(x, x′))</a:t>
            </a:r>
            <a:endParaRPr lang="en-US" sz="1500" dirty="0"/>
          </a:p>
        </p:txBody>
      </p:sp>
      <p:sp>
        <p:nvSpPr>
          <p:cNvPr id="23" name="Text 21"/>
          <p:cNvSpPr txBox="1"/>
          <p:nvPr/>
        </p:nvSpPr>
        <p:spPr>
          <a:xfrm>
            <a:off x="6583680" y="5212080"/>
            <a:ext cx="4892040" cy="804672"/>
          </a:xfrm>
          <a:prstGeom prst="rect">
            <a:avLst/>
          </a:prstGeom>
          <a:noFill/>
          <a:ln/>
        </p:spPr>
        <p:txBody>
          <a:bodyPr wrap="square" lIns="0" tIns="0" rIns="0" bIns="0" rtlCol="0" anchor="ctr"/>
          <a:lstStyle/>
          <a:p>
            <a:pPr indent="0" marL="0">
              <a:buNone/>
            </a:pPr>
            <a:r>
              <a:rPr lang="en-US" sz="1400" dirty="0">
                <a:solidFill>
                  <a:schemeClr val="tx1"/>
                </a:solidFill>
              </a:rPr>
              <a:t>Surrogate with error bars from ~100 simulator runs; Sobol sensitivity and calibration.</a:t>
            </a:r>
            <a:endParaRPr lang="en-US" sz="1400" dirty="0"/>
          </a:p>
        </p:txBody>
      </p:sp>
      <p:sp>
        <p:nvSpPr>
          <p:cNvPr id="24" name="Text 22"/>
          <p:cNvSpPr txBox="1"/>
          <p:nvPr/>
        </p:nvSpPr>
        <p:spPr>
          <a:xfrm>
            <a:off x="548640" y="6089904"/>
            <a:ext cx="11064240" cy="228600"/>
          </a:xfrm>
          <a:prstGeom prst="rect">
            <a:avLst/>
          </a:prstGeom>
          <a:noFill/>
          <a:ln/>
        </p:spPr>
        <p:txBody>
          <a:bodyPr wrap="square" lIns="0" tIns="0" rIns="0" bIns="0" rtlCol="0" anchor="ctr"/>
          <a:lstStyle/>
          <a:p>
            <a:pPr indent="0" marL="0">
              <a:buNone/>
            </a:pPr>
            <a:r>
              <a:rPr lang="en-US" sz="1200" i="1" dirty="0">
                <a:solidFill>
                  <a:schemeClr val="accent2"/>
                </a:solidFill>
              </a:rPr>
              <a:t>Recommended first build: a universal differential equation around the ¹⁷⁷Lu-PSMA PBPK model, calibrated with simulation-based inference.</a:t>
            </a:r>
            <a:endParaRPr lang="en-US" sz="12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2 · IMAGING AI</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Reliable inputs: segmentation and low-count imaging</a:t>
            </a:r>
            <a:endParaRPr lang="en-US" sz="3600" dirty="0"/>
          </a:p>
        </p:txBody>
      </p:sp>
      <p:sp>
        <p:nvSpPr>
          <p:cNvPr id="4" name="card nnU-Net"/>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nnU-Net"/>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nnU-Net</a:t>
            </a:r>
            <a:endParaRPr lang="en-US" sz="1600" dirty="0"/>
          </a:p>
        </p:txBody>
      </p:sp>
      <p:sp>
        <p:nvSpPr>
          <p:cNvPr id="6" name="equation nnU-Net"/>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self-configuring 3-D U-Net: patch, spacing, augmentation</a:t>
            </a:r>
            <a:endParaRPr lang="en-US" sz="1400" dirty="0"/>
          </a:p>
        </p:txBody>
      </p:sp>
      <p:sp>
        <p:nvSpPr>
          <p:cNvPr id="7" name="desc nnU-Net"/>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Strongest out-of-the-box baseline for organ and lesion segmentation. Train per task; still the benchmark to beat.</a:t>
            </a:r>
            <a:endParaRPr lang="en-US" sz="1400" dirty="0"/>
          </a:p>
        </p:txBody>
      </p:sp>
      <p:sp>
        <p:nvSpPr>
          <p:cNvPr id="8" name="card TotalSegmentator"/>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TotalSegmentator"/>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TotalSegmentator</a:t>
            </a:r>
            <a:endParaRPr lang="en-US" sz="1600" dirty="0"/>
          </a:p>
        </p:txBody>
      </p:sp>
      <p:sp>
        <p:nvSpPr>
          <p:cNvPr id="10" name="equation TotalSegmentator"/>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pre-trained: 100+ CT structures (MR version too)</a:t>
            </a:r>
            <a:endParaRPr lang="en-US" sz="1400" dirty="0"/>
          </a:p>
        </p:txBody>
      </p:sp>
      <p:sp>
        <p:nvSpPr>
          <p:cNvPr id="11" name="desc TotalSegmentator"/>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Instant organs at risk for dosimetry (kidneys, salivary glands, liver, marrow). Check small organs by eye.</a:t>
            </a:r>
            <a:endParaRPr lang="en-US" sz="1400" dirty="0"/>
          </a:p>
        </p:txBody>
      </p:sp>
      <p:sp>
        <p:nvSpPr>
          <p:cNvPr id="12" name="card MedSAM / promptable models"/>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MedSAM / promptable models"/>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MedSAM / promptable models</a:t>
            </a:r>
            <a:endParaRPr lang="en-US" sz="1600" dirty="0"/>
          </a:p>
        </p:txBody>
      </p:sp>
      <p:sp>
        <p:nvSpPr>
          <p:cNvPr id="14" name="equation MedSAM / promptable models"/>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mask = f(image, box or point prompt)</a:t>
            </a:r>
            <a:endParaRPr lang="en-US" sz="1400" dirty="0"/>
          </a:p>
        </p:txBody>
      </p:sp>
      <p:sp>
        <p:nvSpPr>
          <p:cNvPr id="15" name="desc MedSAM / promptable models"/>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Foundation models for interactive lesion contouring; fast QA and correction. Weaker on PET/SPECT without fine-tuning.</a:t>
            </a:r>
            <a:endParaRPr lang="en-US" sz="1400" dirty="0"/>
          </a:p>
        </p:txBody>
      </p:sp>
      <p:sp>
        <p:nvSpPr>
          <p:cNvPr id="16" name="card Low-count SPECT/PET denoising"/>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Low-count SPECT/PET denoising"/>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Low-count SPECT/PET denoising</a:t>
            </a:r>
            <a:endParaRPr lang="en-US" sz="1600" dirty="0"/>
          </a:p>
        </p:txBody>
      </p:sp>
      <p:sp>
        <p:nvSpPr>
          <p:cNvPr id="18" name="equation Low-count SPECT/PET denoising"/>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 = f_θ(x_low)   (U-Net, cGAN, diffusion)</a:t>
            </a:r>
            <a:endParaRPr lang="en-US" sz="1400" dirty="0"/>
          </a:p>
        </p:txBody>
      </p:sp>
      <p:sp>
        <p:nvSpPr>
          <p:cNvPr id="19" name="desc Low-count SPECT/PET denoising"/>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Can cut ¹⁷⁷Lu SPECT time by 50–75 %. Always measure activity bias and small-lesion recovery on phantoms.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3 · DOSIMETRY AND VIRTUAL PATIENTS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Fast dose engines and synthetic cohorts</a:t>
            </a:r>
            <a:endParaRPr lang="en-US" sz="3600" dirty="0"/>
          </a:p>
        </p:txBody>
      </p:sp>
      <p:sp>
        <p:nvSpPr>
          <p:cNvPr id="4" name="card Deep voxel dosimetry"/>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Deep voxel dosimetry"/>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Deep voxel dosimetry</a:t>
            </a:r>
            <a:endParaRPr lang="en-US" sz="1600" dirty="0"/>
          </a:p>
        </p:txBody>
      </p:sp>
      <p:sp>
        <p:nvSpPr>
          <p:cNvPr id="6" name="equation Deep voxel dosimetry"/>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D̂ = f_θ(SPECT/PET activity, CT density)</a:t>
            </a:r>
            <a:endParaRPr lang="en-US" sz="1400" dirty="0"/>
          </a:p>
        </p:txBody>
      </p:sp>
      <p:sp>
        <p:nvSpPr>
          <p:cNvPr id="7" name="desc Deep voxel dosimetry"/>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U-Net or Swin-UNETR trained on Monte Carlo; learned dose-voxel kernels. Seconds per patient instead of hours.</a:t>
            </a:r>
            <a:endParaRPr lang="en-US" sz="1400" dirty="0"/>
          </a:p>
        </p:txBody>
      </p:sp>
      <p:sp>
        <p:nvSpPr>
          <p:cNvPr id="8" name="card Dose prediction for planning"/>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Dose prediction for planning"/>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Dose prediction for planning</a:t>
            </a:r>
            <a:endParaRPr lang="en-US" sz="1600" dirty="0"/>
          </a:p>
        </p:txBody>
      </p:sp>
      <p:sp>
        <p:nvSpPr>
          <p:cNvPr id="10" name="equation Dose prediction for planning"/>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D̂ = f_θ(CT, masks, plan)   (DoseVLM)</a:t>
            </a:r>
            <a:endParaRPr lang="en-US" sz="1400" dirty="0"/>
          </a:p>
        </p:txBody>
      </p:sp>
      <p:sp>
        <p:nvSpPr>
          <p:cNvPr id="11" name="desc Dose prediction for planning"/>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OpenKBP-style cascaded U-Nets, diffusion dose models, and vision-language DoseVLM for external beam.</a:t>
            </a:r>
            <a:endParaRPr lang="en-US" sz="1400" dirty="0"/>
          </a:p>
        </p:txBody>
      </p:sp>
      <p:sp>
        <p:nvSpPr>
          <p:cNvPr id="12" name="card 3-D generative anatomy"/>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3-D generative anatomy"/>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3-D generative anatomy</a:t>
            </a:r>
            <a:endParaRPr lang="en-US" sz="1600" dirty="0"/>
          </a:p>
        </p:txBody>
      </p:sp>
      <p:sp>
        <p:nvSpPr>
          <p:cNvPr id="14" name="equation 3-D generative anatomy"/>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x₀ ← denoise(x_T),  conditioned on masks</a:t>
            </a:r>
            <a:endParaRPr lang="en-US" sz="1400" dirty="0"/>
          </a:p>
        </p:txBody>
      </p:sp>
      <p:sp>
        <p:nvSpPr>
          <p:cNvPr id="15" name="desc 3-D generative anatomy"/>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Latent diffusion (e.g. MONAI MAISI) makes CT with organ labels; GANs are fast but can mode-collapse.</a:t>
            </a:r>
            <a:endParaRPr lang="en-US" sz="1400" dirty="0"/>
          </a:p>
        </p:txBody>
      </p:sp>
      <p:sp>
        <p:nvSpPr>
          <p:cNvPr id="16" name="card Tabular virtual covariate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Tabular virtual covariate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Tabular virtual covariates</a:t>
            </a:r>
            <a:endParaRPr lang="en-US" sz="1600" dirty="0"/>
          </a:p>
        </p:txBody>
      </p:sp>
      <p:sp>
        <p:nvSpPr>
          <p:cNvPr id="18" name="equation Tabular virtual covariates"/>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(age, eGFR, PSA, SUV) ~ copula / CTGAN</a:t>
            </a:r>
            <a:endParaRPr lang="en-US" sz="1400" dirty="0"/>
          </a:p>
        </p:txBody>
      </p:sp>
      <p:sp>
        <p:nvSpPr>
          <p:cNvPr id="19" name="desc Tabular virtual covariates"/>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Sample realistic joint covariates. Validate with MMD, downstream fidelity and membership-inference privacy tests.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4 · INFERENCE, UNCERTAINTY AND DECISIONS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Calibrate the twin, then act on it safely</a:t>
            </a:r>
            <a:endParaRPr lang="en-US" sz="3600" dirty="0"/>
          </a:p>
        </p:txBody>
      </p:sp>
      <p:sp>
        <p:nvSpPr>
          <p:cNvPr id="4" name="card Simulation-based inference"/>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Simulation-based inference"/>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Simulation-based inference</a:t>
            </a:r>
            <a:endParaRPr lang="en-US" sz="1600" dirty="0"/>
          </a:p>
        </p:txBody>
      </p:sp>
      <p:sp>
        <p:nvSpPr>
          <p:cNvPr id="6" name="equation Simulation-based inference"/>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q_φ(θ | y) ≈ p(θ | y),  trained on (θ, y) ~ sim</a:t>
            </a:r>
            <a:endParaRPr lang="en-US" sz="1400" dirty="0"/>
          </a:p>
        </p:txBody>
      </p:sp>
      <p:sp>
        <p:nvSpPr>
          <p:cNvPr id="7" name="desc Simulation-based inference"/>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Neural posterior estimation gives each patient's PBPK posterior in milliseconds once trained (sbi package).</a:t>
            </a:r>
            <a:endParaRPr lang="en-US" sz="1400" dirty="0"/>
          </a:p>
        </p:txBody>
      </p:sp>
      <p:sp>
        <p:nvSpPr>
          <p:cNvPr id="8" name="card Conformal prediction"/>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Conformal prediction"/>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Conformal prediction</a:t>
            </a:r>
            <a:endParaRPr lang="en-US" sz="1600" dirty="0"/>
          </a:p>
        </p:txBody>
      </p:sp>
      <p:sp>
        <p:nvSpPr>
          <p:cNvPr id="10" name="equation Conformal prediction"/>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P(y ∈ C(x)) ≥ 1 − α</a:t>
            </a:r>
            <a:endParaRPr lang="en-US" sz="1400" dirty="0"/>
          </a:p>
        </p:txBody>
      </p:sp>
      <p:sp>
        <p:nvSpPr>
          <p:cNvPr id="11" name="desc Conformal prediction"/>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Distribution-free intervals around any model (dose, NTCP). Also deep ensembles and MC dropout for UQ.</a:t>
            </a:r>
            <a:endParaRPr lang="en-US" sz="1400" dirty="0"/>
          </a:p>
        </p:txBody>
      </p:sp>
      <p:sp>
        <p:nvSpPr>
          <p:cNvPr id="12" name="card Bayesian optimisat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Bayesian optimisat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Bayesian optimisation</a:t>
            </a:r>
            <a:endParaRPr lang="en-US" sz="1600" dirty="0"/>
          </a:p>
        </p:txBody>
      </p:sp>
      <p:sp>
        <p:nvSpPr>
          <p:cNvPr id="14" name="equation Bayesian optimisation"/>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x_next = argmax EI(x)  on a GP surrogate</a:t>
            </a:r>
            <a:endParaRPr lang="en-US" sz="1400" dirty="0"/>
          </a:p>
        </p:txBody>
      </p:sp>
      <p:sp>
        <p:nvSpPr>
          <p:cNvPr id="15" name="desc Bayesian optimisation"/>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Search activity, cycles and interval with few expensive twin runs (BoTorch, Optuna).</a:t>
            </a:r>
            <a:endParaRPr lang="en-US" sz="1400" dirty="0"/>
          </a:p>
        </p:txBody>
      </p:sp>
      <p:sp>
        <p:nvSpPr>
          <p:cNvPr id="16" name="card Reinforcement learning / MPC"/>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Reinforcement learning / MPC"/>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Reinforcement learning / MPC</a:t>
            </a:r>
            <a:endParaRPr lang="en-US" sz="1600" dirty="0"/>
          </a:p>
        </p:txBody>
      </p:sp>
      <p:sp>
        <p:nvSpPr>
          <p:cNvPr id="18" name="equation Reinforcement learning / MPC"/>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π* = argmax E[Σ rₜ],  r = BED_T − penalty(OAR)</a:t>
            </a:r>
            <a:endParaRPr lang="en-US" sz="1400" dirty="0"/>
          </a:p>
        </p:txBody>
      </p:sp>
      <p:sp>
        <p:nvSpPr>
          <p:cNvPr id="19" name="desc Reinforcement learning / MPC"/>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Cycle-by-cycle adaptation as a sequential decision. Train only in silico; keep a clinician in the loop.</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AI FAMILY 5 · OUTCOME MODELS AND FOUNDATION MODELS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Predict outcomes and accelerate the work</a:t>
            </a:r>
            <a:endParaRPr lang="en-US" sz="3600" dirty="0"/>
          </a:p>
        </p:txBody>
      </p:sp>
      <p:sp>
        <p:nvSpPr>
          <p:cNvPr id="4" name="card Survival models"/>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Survival models"/>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Survival models</a:t>
            </a:r>
            <a:endParaRPr lang="en-US" sz="1600" dirty="0"/>
          </a:p>
        </p:txBody>
      </p:sp>
      <p:sp>
        <p:nvSpPr>
          <p:cNvPr id="6" name="equation Survival models"/>
          <p:cNvSpPr txBox="1"/>
          <p:nvPr/>
        </p:nvSpPr>
        <p:spPr>
          <a:xfrm>
            <a:off x="74980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h(t | x) = h₀(t) · exp(βᵀx)</a:t>
            </a:r>
            <a:endParaRPr lang="en-US" sz="1400" dirty="0"/>
          </a:p>
        </p:txBody>
      </p:sp>
      <p:sp>
        <p:nvSpPr>
          <p:cNvPr id="7" name="desc Survival models"/>
          <p:cNvSpPr txBox="1"/>
          <p:nvPr/>
        </p:nvSpPr>
        <p:spPr>
          <a:xfrm>
            <a:off x="74980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Cox for interpretability; random survival forests and DeepSurv for nonlinearity. Report C-index and calibration.</a:t>
            </a:r>
            <a:endParaRPr lang="en-US" sz="1400" dirty="0"/>
          </a:p>
        </p:txBody>
      </p:sp>
      <p:sp>
        <p:nvSpPr>
          <p:cNvPr id="8" name="card Small-data tabular"/>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9" name="card title Small-data tabular"/>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Small-data tabular</a:t>
            </a:r>
            <a:endParaRPr lang="en-US" sz="1600" dirty="0"/>
          </a:p>
        </p:txBody>
      </p:sp>
      <p:sp>
        <p:nvSpPr>
          <p:cNvPr id="10" name="equation Small-data tabular"/>
          <p:cNvSpPr txBox="1"/>
          <p:nvPr/>
        </p:nvSpPr>
        <p:spPr>
          <a:xfrm>
            <a:off x="6419088" y="210312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TabPFN, XGBoost / LightGBM, penalised LR</a:t>
            </a:r>
            <a:endParaRPr lang="en-US" sz="1400" dirty="0"/>
          </a:p>
        </p:txBody>
      </p:sp>
      <p:sp>
        <p:nvSpPr>
          <p:cNvPr id="11" name="desc Small-data tabular"/>
          <p:cNvSpPr txBox="1"/>
          <p:nvPr/>
        </p:nvSpPr>
        <p:spPr>
          <a:xfrm>
            <a:off x="6419088" y="2697480"/>
            <a:ext cx="4992624" cy="987552"/>
          </a:xfrm>
          <a:prstGeom prst="rect">
            <a:avLst/>
          </a:prstGeom>
          <a:noFill/>
          <a:ln/>
        </p:spPr>
        <p:txBody>
          <a:bodyPr wrap="square" lIns="0" tIns="0" rIns="0" bIns="0" rtlCol="0" anchor="t"/>
          <a:lstStyle/>
          <a:p>
            <a:pPr indent="0" marL="0">
              <a:buNone/>
            </a:pPr>
            <a:r>
              <a:rPr lang="en-US" sz="1400" dirty="0">
                <a:solidFill>
                  <a:schemeClr val="tx1"/>
                </a:solidFill>
              </a:rPr>
              <a:t>TabPFN is a pre-trained transformer that is often strongest on small tables. Always compare against logistic regression.</a:t>
            </a:r>
            <a:endParaRPr lang="en-US" sz="1400" dirty="0"/>
          </a:p>
        </p:txBody>
      </p:sp>
      <p:sp>
        <p:nvSpPr>
          <p:cNvPr id="12" name="card Multimodal fus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3" name="card title Multimodal fus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Multimodal fusion</a:t>
            </a:r>
            <a:endParaRPr lang="en-US" sz="1600" dirty="0"/>
          </a:p>
        </p:txBody>
      </p:sp>
      <p:sp>
        <p:nvSpPr>
          <p:cNvPr id="14" name="equation Multimodal fusion"/>
          <p:cNvSpPr txBox="1"/>
          <p:nvPr/>
        </p:nvSpPr>
        <p:spPr>
          <a:xfrm>
            <a:off x="74980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z = fuse(PET, CT, dose, clinical, text)</a:t>
            </a:r>
            <a:endParaRPr lang="en-US" sz="1400" dirty="0"/>
          </a:p>
        </p:txBody>
      </p:sp>
      <p:sp>
        <p:nvSpPr>
          <p:cNvPr id="15" name="desc Multimodal fusion"/>
          <p:cNvSpPr txBox="1"/>
          <p:nvPr/>
        </p:nvSpPr>
        <p:spPr>
          <a:xfrm>
            <a:off x="74980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Cross-attention fusion of image, dose and record, as in DoseVLM. Needs larger multi-site data.</a:t>
            </a:r>
            <a:endParaRPr lang="en-US" sz="1400" dirty="0"/>
          </a:p>
        </p:txBody>
      </p:sp>
      <p:sp>
        <p:nvSpPr>
          <p:cNvPr id="16" name="card LLMs and coding agents"/>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17" name="card title LLMs and coding agents"/>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LLMs and coding agents</a:t>
            </a:r>
            <a:endParaRPr lang="en-US" sz="1600" dirty="0"/>
          </a:p>
        </p:txBody>
      </p:sp>
      <p:sp>
        <p:nvSpPr>
          <p:cNvPr id="18" name="equation LLMs and coding agents"/>
          <p:cNvSpPr txBox="1"/>
          <p:nvPr/>
        </p:nvSpPr>
        <p:spPr>
          <a:xfrm>
            <a:off x="6419088" y="4572000"/>
            <a:ext cx="4992624" cy="502920"/>
          </a:xfrm>
          <a:prstGeom prst="rect">
            <a:avLst/>
          </a:prstGeom>
          <a:solidFill>
            <a:schemeClr val="bg1"/>
          </a:solidFill>
          <a:ln/>
        </p:spPr>
        <p:txBody>
          <a:bodyPr wrap="square" lIns="762" tIns="762" rIns="762" bIns="762" rtlCol="0" anchor="ctr"/>
          <a:lstStyle/>
          <a:p>
            <a:pPr indent="0" marL="0">
              <a:buNone/>
            </a:pPr>
            <a:r>
              <a:rPr lang="en-US" sz="1400" dirty="0">
                <a:solidFill>
                  <a:schemeClr val="accent4"/>
                </a:solidFill>
                <a:latin typeface="+mj-lt" pitchFamily="34" charset="0"/>
                <a:ea typeface="+mj-lt" pitchFamily="34" charset="-122"/>
                <a:cs typeface="+mj-lt" pitchFamily="34" charset="-120"/>
              </a:rPr>
              <a:t>Claude, other frontier LLMs; BiomedBERT, BiomedCLIP</a:t>
            </a:r>
            <a:endParaRPr lang="en-US" sz="1400" dirty="0"/>
          </a:p>
        </p:txBody>
      </p:sp>
      <p:sp>
        <p:nvSpPr>
          <p:cNvPr id="19" name="desc LLMs and coding agents"/>
          <p:cNvSpPr txBox="1"/>
          <p:nvPr/>
        </p:nvSpPr>
        <p:spPr>
          <a:xfrm>
            <a:off x="6419088" y="5166360"/>
            <a:ext cx="4992624" cy="987552"/>
          </a:xfrm>
          <a:prstGeom prst="rect">
            <a:avLst/>
          </a:prstGeom>
          <a:noFill/>
          <a:ln/>
        </p:spPr>
        <p:txBody>
          <a:bodyPr wrap="square" lIns="0" tIns="0" rIns="0" bIns="0" rtlCol="0" anchor="t"/>
          <a:lstStyle/>
          <a:p>
            <a:pPr indent="0" marL="0">
              <a:buNone/>
            </a:pPr>
            <a:r>
              <a:rPr lang="en-US" sz="1400" dirty="0">
                <a:solidFill>
                  <a:schemeClr val="tx1"/>
                </a:solidFill>
              </a:rPr>
              <a:t>Write and test pipelines, map literature (e.g. the 73-report evidence map), draft protocols. Not for unsupervised clinical decisions.</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RECOMMENDED STACK</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Best AI choice for each research aim</a:t>
            </a:r>
            <a:endParaRPr lang="en-US" sz="3600" dirty="0"/>
          </a:p>
        </p:txBody>
      </p:sp>
      <p:sp>
        <p:nvSpPr>
          <p:cNvPr id="4" name="aim 1"/>
          <p:cNvSpPr txBox="1"/>
          <p:nvPr/>
        </p:nvSpPr>
        <p:spPr>
          <a:xfrm>
            <a:off x="548640" y="1691640"/>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1</a:t>
            </a:r>
            <a:endParaRPr lang="en-US" sz="2000" dirty="0"/>
          </a:p>
        </p:txBody>
      </p:sp>
      <p:sp>
        <p:nvSpPr>
          <p:cNvPr id="5" name="Text 3"/>
          <p:cNvSpPr txBox="1"/>
          <p:nvPr/>
        </p:nvSpPr>
        <p:spPr>
          <a:xfrm>
            <a:off x="1371600" y="1600200"/>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Imaging biomarkers</a:t>
            </a:r>
            <a:endParaRPr lang="en-US" sz="1800" dirty="0"/>
          </a:p>
        </p:txBody>
      </p:sp>
      <p:sp>
        <p:nvSpPr>
          <p:cNvPr id="6" name="Text 4"/>
          <p:cNvSpPr txBox="1"/>
          <p:nvPr/>
        </p:nvSpPr>
        <p:spPr>
          <a:xfrm>
            <a:off x="4480560" y="1645920"/>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PyRadiomics + nested CV; logistic, XGBoost, TabPFN; SHAP</a:t>
            </a:r>
            <a:endParaRPr lang="en-US" sz="1500" dirty="0"/>
          </a:p>
        </p:txBody>
      </p:sp>
      <p:sp>
        <p:nvSpPr>
          <p:cNvPr id="7" name="aim 2"/>
          <p:cNvSpPr txBox="1"/>
          <p:nvPr/>
        </p:nvSpPr>
        <p:spPr>
          <a:xfrm>
            <a:off x="548640" y="2587752"/>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2</a:t>
            </a:r>
            <a:endParaRPr lang="en-US" sz="2000" dirty="0"/>
          </a:p>
        </p:txBody>
      </p:sp>
      <p:sp>
        <p:nvSpPr>
          <p:cNvPr id="8" name="Text 6"/>
          <p:cNvSpPr txBox="1"/>
          <p:nvPr/>
        </p:nvSpPr>
        <p:spPr>
          <a:xfrm>
            <a:off x="1371600" y="2496312"/>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AI-enhanced imaging</a:t>
            </a:r>
            <a:endParaRPr lang="en-US" sz="1800" dirty="0"/>
          </a:p>
        </p:txBody>
      </p:sp>
      <p:sp>
        <p:nvSpPr>
          <p:cNvPr id="9" name="Text 7"/>
          <p:cNvSpPr txBox="1"/>
          <p:nvPr/>
        </p:nvSpPr>
        <p:spPr>
          <a:xfrm>
            <a:off x="4480560" y="2542032"/>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nnU-Net / TotalSegmentator; U-Net or diffusion denoising with quantitative checks</a:t>
            </a:r>
            <a:endParaRPr lang="en-US" sz="1500" dirty="0"/>
          </a:p>
        </p:txBody>
      </p:sp>
      <p:sp>
        <p:nvSpPr>
          <p:cNvPr id="10" name="aim 3"/>
          <p:cNvSpPr txBox="1"/>
          <p:nvPr/>
        </p:nvSpPr>
        <p:spPr>
          <a:xfrm>
            <a:off x="548640" y="3483864"/>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3</a:t>
            </a:r>
            <a:endParaRPr lang="en-US" sz="2000" dirty="0"/>
          </a:p>
        </p:txBody>
      </p:sp>
      <p:sp>
        <p:nvSpPr>
          <p:cNvPr id="11" name="Text 9"/>
          <p:cNvSpPr txBox="1"/>
          <p:nvPr/>
        </p:nvSpPr>
        <p:spPr>
          <a:xfrm>
            <a:off x="1371600" y="3392424"/>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Digital twins</a:t>
            </a:r>
            <a:endParaRPr lang="en-US" sz="1800" dirty="0"/>
          </a:p>
        </p:txBody>
      </p:sp>
      <p:sp>
        <p:nvSpPr>
          <p:cNvPr id="12" name="Text 10"/>
          <p:cNvSpPr txBox="1"/>
          <p:nvPr/>
        </p:nvSpPr>
        <p:spPr>
          <a:xfrm>
            <a:off x="4480560" y="3438144"/>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UDE around PBPK + simulation-based inference; neural-operator dose emulator</a:t>
            </a:r>
            <a:endParaRPr lang="en-US" sz="1500" dirty="0"/>
          </a:p>
        </p:txBody>
      </p:sp>
      <p:sp>
        <p:nvSpPr>
          <p:cNvPr id="13" name="aim 4"/>
          <p:cNvSpPr txBox="1"/>
          <p:nvPr/>
        </p:nvSpPr>
        <p:spPr>
          <a:xfrm>
            <a:off x="548640" y="4379976"/>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4</a:t>
            </a:r>
            <a:endParaRPr lang="en-US" sz="2000" dirty="0"/>
          </a:p>
        </p:txBody>
      </p:sp>
      <p:sp>
        <p:nvSpPr>
          <p:cNvPr id="14" name="Text 12"/>
          <p:cNvSpPr txBox="1"/>
          <p:nvPr/>
        </p:nvSpPr>
        <p:spPr>
          <a:xfrm>
            <a:off x="1371600" y="4288536"/>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Therapy integration</a:t>
            </a:r>
            <a:endParaRPr lang="en-US" sz="1800" dirty="0"/>
          </a:p>
        </p:txBody>
      </p:sp>
      <p:sp>
        <p:nvSpPr>
          <p:cNvPr id="15" name="Text 13"/>
          <p:cNvSpPr txBox="1"/>
          <p:nvPr/>
        </p:nvSpPr>
        <p:spPr>
          <a:xfrm>
            <a:off x="4480560" y="4334256"/>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DoseVLM for external beam + RPT voxel dose; Bayesian optimisation of activity</a:t>
            </a:r>
            <a:endParaRPr lang="en-US" sz="1500" dirty="0"/>
          </a:p>
        </p:txBody>
      </p:sp>
      <p:sp>
        <p:nvSpPr>
          <p:cNvPr id="16" name="aim 5"/>
          <p:cNvSpPr txBox="1"/>
          <p:nvPr/>
        </p:nvSpPr>
        <p:spPr>
          <a:xfrm>
            <a:off x="548640" y="5276088"/>
            <a:ext cx="594360" cy="59436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5</a:t>
            </a:r>
            <a:endParaRPr lang="en-US" sz="2000" dirty="0"/>
          </a:p>
        </p:txBody>
      </p:sp>
      <p:sp>
        <p:nvSpPr>
          <p:cNvPr id="17" name="Text 15"/>
          <p:cNvSpPr txBox="1"/>
          <p:nvPr/>
        </p:nvSpPr>
        <p:spPr>
          <a:xfrm>
            <a:off x="1371600" y="5184648"/>
            <a:ext cx="3108960" cy="777240"/>
          </a:xfrm>
          <a:prstGeom prst="rect">
            <a:avLst/>
          </a:prstGeom>
          <a:noFill/>
          <a:ln/>
        </p:spPr>
        <p:txBody>
          <a:bodyPr wrap="square" lIns="0" tIns="0" rIns="0" bIns="0" rtlCol="0" anchor="ctr"/>
          <a:lstStyle/>
          <a:p>
            <a:pPr indent="0" marL="0">
              <a:buNone/>
            </a:pPr>
            <a:r>
              <a:rPr lang="en-US" sz="1800" b="1" dirty="0">
                <a:solidFill>
                  <a:schemeClr val="tx2"/>
                </a:solidFill>
              </a:rPr>
              <a:t>Virtual trials</a:t>
            </a:r>
            <a:endParaRPr lang="en-US" sz="1800" dirty="0"/>
          </a:p>
        </p:txBody>
      </p:sp>
      <p:sp>
        <p:nvSpPr>
          <p:cNvPr id="18" name="Text 16"/>
          <p:cNvSpPr txBox="1"/>
          <p:nvPr/>
        </p:nvSpPr>
        <p:spPr>
          <a:xfrm>
            <a:off x="4480560" y="5230368"/>
            <a:ext cx="7132320" cy="68580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Copula / diffusion cohorts, GP emulators, conformal UQ, paired-design statistics</a:t>
            </a:r>
            <a:endParaRPr lang="en-US" sz="1500" dirty="0"/>
          </a:p>
        </p:txBody>
      </p:sp>
      <p:sp>
        <p:nvSpPr>
          <p:cNvPr id="19" name="Text 17"/>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300" i="1" dirty="0">
                <a:solidFill>
                  <a:schemeClr val="accent2"/>
                </a:solidFill>
              </a:rPr>
              <a:t>Shared layer for all aims: MONAI + PyTorch, version-controlled pipelines, and V&amp;V 40-style validation gates.</a:t>
            </a:r>
            <a:endParaRPr lang="en-US" sz="13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PART III</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One combined twin: all models working together</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indent="0" marL="0">
              <a:buNone/>
            </a:pPr>
            <a:r>
              <a:rPr lang="en-US" sz="1800" dirty="0">
                <a:solidFill>
                  <a:schemeClr val="bg2"/>
                </a:solidFill>
              </a:rPr>
              <a:t>The full equation chain, the objective it optimises, how it learns each patient, a simulated virtual trial, and where AI plugs in</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THE COMBINED MODEL</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Seven equations, one chain</a:t>
            </a:r>
            <a:endParaRPr lang="en-US" sz="3600" dirty="0"/>
          </a:p>
        </p:txBody>
      </p:sp>
      <p:graphicFrame>
        <p:nvGraphicFramePr>
          <p:cNvPr id="29" name="combined chain table"/>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1463040"/>
                <a:gridCol w="4846320"/>
                <a:gridCol w="2194560"/>
                <a:gridCol w="2560320"/>
              </a:tblGrid>
              <a:tr h="512064">
                <a:tc>
                  <a:txBody>
                    <a:bodyPr/>
                    <a:lstStyle/>
                    <a:p>
                      <a:pPr indent="0" marL="0">
                        <a:buNone/>
                      </a:pPr>
                      <a:r>
                        <a:rPr lang="en-US" sz="1300" b="1" dirty="0">
                          <a:solidFill>
                            <a:schemeClr val="bg1"/>
                          </a:solidFill>
                        </a:rPr>
                        <a:t>Step</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Equation</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Informed by</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AI accelerator</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tx2"/>
                    </a:solidFill>
                  </a:tcPr>
                </a:tc>
              </a:tr>
              <a:tr h="512064">
                <a:tc>
                  <a:txBody>
                    <a:bodyPr/>
                    <a:lstStyle/>
                    <a:p>
                      <a:pPr indent="0" marL="0">
                        <a:buNone/>
                      </a:pPr>
                      <a:r>
                        <a:rPr lang="en-US" sz="1300" b="1" dirty="0">
                          <a:solidFill>
                            <a:schemeClr val="tx2"/>
                          </a:solidFill>
                        </a:rPr>
                        <a:t>1 Patient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latin typeface="+mj-lt" pitchFamily="34" charset="0"/>
                          <a:ea typeface="+mj-lt" pitchFamily="34" charset="-122"/>
                          <a:cs typeface="+mj-lt" pitchFamily="34" charset="-120"/>
                        </a:rPr>
                        <a:t>θᵢ ~ p(θ | xᵢ),  θᵢ = θ_pop e^(ηᵢ)</a:t>
                      </a:r>
                      <a:endParaRPr lang="en-US" sz="1400" dirty="0">
                        <a:latin typeface="+mj-lt" charset="0"/>
                        <a:ea typeface="+mj-lt" charset="0"/>
                        <a:cs typeface="+mj-lt" charset="0"/>
                      </a:endParaRPr>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covariates, PET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copula / diffusion cohorts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2"/>
                          </a:solidFill>
                        </a:rPr>
                        <a:t>2 Kinetics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latin typeface="+mj-lt" pitchFamily="34" charset="0"/>
                          <a:ea typeface="+mj-lt" pitchFamily="34" charset="-122"/>
                          <a:cs typeface="+mj-lt" pitchFamily="34" charset="-120"/>
                        </a:rPr>
                        <a:t>dx/dt = f_PBPK(x; θᵢ, A) → Ã_organ</a:t>
                      </a:r>
                      <a:endParaRPr lang="en-US" sz="1400" dirty="0">
                        <a:latin typeface="+mj-lt" charset="0"/>
                        <a:ea typeface="+mj-lt" charset="0"/>
                        <a:cs typeface="+mj-lt" charset="0"/>
                      </a:endParaRPr>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serial SPECT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UDE, neural ODE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2"/>
                          </a:solidFill>
                        </a:rPr>
                        <a:t>3 Dose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latin typeface="+mj-lt" pitchFamily="34" charset="0"/>
                          <a:ea typeface="+mj-lt" pitchFamily="34" charset="-122"/>
                          <a:cs typeface="+mj-lt" pitchFamily="34" charset="-120"/>
                        </a:rPr>
                        <a:t>D = Σ Ã · S   or   Ã ⊛ DVK</a:t>
                      </a:r>
                      <a:endParaRPr lang="en-US" sz="1400" dirty="0">
                        <a:latin typeface="+mj-lt" charset="0"/>
                        <a:ea typeface="+mj-lt" charset="0"/>
                        <a:cs typeface="+mj-lt" charset="0"/>
                      </a:endParaRPr>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CT, contours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neural operator, deep dosimetry</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2"/>
                          </a:solidFill>
                        </a:rPr>
                        <a:t>4 Biology</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latin typeface="+mj-lt" pitchFamily="34" charset="0"/>
                          <a:ea typeface="+mj-lt" pitchFamily="34" charset="-122"/>
                          <a:cs typeface="+mj-lt" pitchFamily="34" charset="-120"/>
                        </a:rPr>
                        <a:t>BED = D (1 + G D/(α/β)),  EQD2</a:t>
                      </a:r>
                      <a:endParaRPr lang="en-US" sz="1400" dirty="0">
                        <a:latin typeface="+mj-lt" charset="0"/>
                        <a:ea typeface="+mj-lt" charset="0"/>
                        <a:cs typeface="+mj-lt" charset="0"/>
                      </a:endParaRPr>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literature α/β, T_rep</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Bayesian priors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2"/>
                          </a:solidFill>
                        </a:rPr>
                        <a:t>5 Outcome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latin typeface="+mj-lt" pitchFamily="34" charset="0"/>
                          <a:ea typeface="+mj-lt" pitchFamily="34" charset="-122"/>
                          <a:cs typeface="+mj-lt" pitchFamily="34" charset="-120"/>
                        </a:rPr>
                        <a:t>TCP = e^(−N₀ e^(−α BED)),  NTCP = Φ(·)</a:t>
                      </a:r>
                      <a:endParaRPr lang="en-US" sz="1400" dirty="0">
                        <a:latin typeface="+mj-lt" charset="0"/>
                        <a:ea typeface="+mj-lt" charset="0"/>
                        <a:cs typeface="+mj-lt" charset="0"/>
                      </a:endParaRPr>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response, toxicity</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survival ML, conformal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2"/>
                          </a:solidFill>
                        </a:rPr>
                        <a:t>6 Update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latin typeface="+mj-lt" pitchFamily="34" charset="0"/>
                          <a:ea typeface="+mj-lt" pitchFamily="34" charset="-122"/>
                          <a:cs typeface="+mj-lt" pitchFamily="34" charset="-120"/>
                        </a:rPr>
                        <a:t>p(θ | y₁…ₖ) ∝ p(yₖ | θ) p(θ | y₁…ₖ₋₁)</a:t>
                      </a:r>
                      <a:endParaRPr lang="en-US" sz="1400" dirty="0">
                        <a:latin typeface="+mj-lt" charset="0"/>
                        <a:ea typeface="+mj-lt" charset="0"/>
                        <a:cs typeface="+mj-lt" charset="0"/>
                      </a:endParaRPr>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post-cycle SPECT</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simulation-based inference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r h="512064">
                <a:tc>
                  <a:txBody>
                    <a:bodyPr/>
                    <a:lstStyle/>
                    <a:p>
                      <a:pPr indent="0" marL="0">
                        <a:buNone/>
                      </a:pPr>
                      <a:r>
                        <a:rPr lang="en-US" sz="1300" b="1" dirty="0">
                          <a:solidFill>
                            <a:schemeClr val="tx2"/>
                          </a:solidFill>
                        </a:rPr>
                        <a:t>7 Decide</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400" dirty="0">
                          <a:solidFill>
                            <a:schemeClr val="accent4"/>
                          </a:solidFill>
                          <a:latin typeface="+mj-lt" pitchFamily="34" charset="0"/>
                          <a:ea typeface="+mj-lt" pitchFamily="34" charset="-122"/>
                          <a:cs typeface="+mj-lt" pitchFamily="34" charset="-120"/>
                        </a:rPr>
                        <a:t>Aₖ* = argmax E[TCP (1 − NTCP)]</a:t>
                      </a:r>
                      <a:endParaRPr lang="en-US" sz="1400" dirty="0">
                        <a:latin typeface="+mj-lt" charset="0"/>
                        <a:ea typeface="+mj-lt" charset="0"/>
                        <a:cs typeface="+mj-lt" charset="0"/>
                      </a:endParaRPr>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OAR limits</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c>
                  <a:txBody>
                    <a:bodyPr/>
                    <a:lstStyle/>
                    <a:p>
                      <a:pPr indent="0" marL="0">
                        <a:buNone/>
                      </a:pPr>
                      <a:r>
                        <a:rPr lang="en-US" sz="1300" dirty="0">
                          <a:solidFill>
                            <a:schemeClr val="accent6"/>
                          </a:solidFill>
                        </a:rPr>
                        <a:t>Bayesian optimisation, RL</a:t>
                      </a:r>
                      <a:endParaRPr lang="en-US" sz="1300" dirty="0"/>
                    </a:p>
                  </a:txBody>
                  <a:tcPr marL="73152" marR="73152" marT="27432" marB="27432" anchor="ctr">
                    <a:lnL w="9525" cap="flat" cmpd="sng" algn="ctr">
                      <a:solidFill>
                        <a:srgbClr val="D5DEE0"/>
                      </a:solidFill>
                      <a:prstDash val="solid"/>
                      <a:round/>
                      <a:headEnd type="none" w="med" len="med"/>
                      <a:tailEnd type="none" w="med" len="med"/>
                    </a:lnL>
                    <a:lnR w="9525" cap="flat" cmpd="sng" algn="ctr">
                      <a:solidFill>
                        <a:srgbClr val="D5DEE0"/>
                      </a:solidFill>
                      <a:prstDash val="solid"/>
                      <a:round/>
                      <a:headEnd type="none" w="med" len="med"/>
                      <a:tailEnd type="none" w="med" len="med"/>
                    </a:lnR>
                    <a:lnT w="9525" cap="flat" cmpd="sng" algn="ctr">
                      <a:solidFill>
                        <a:srgbClr val="D5DEE0"/>
                      </a:solidFill>
                      <a:prstDash val="solid"/>
                      <a:round/>
                      <a:headEnd type="none" w="med" len="med"/>
                      <a:tailEnd type="none" w="med" len="med"/>
                    </a:lnT>
                    <a:lnB w="9525" cap="flat" cmpd="sng" algn="ctr">
                      <a:solidFill>
                        <a:srgbClr val="D5DEE0"/>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300" i="1" dirty="0">
                <a:solidFill>
                  <a:schemeClr val="accent2"/>
                </a:solidFill>
              </a:rPr>
              <a:t>Each output is the next step's input; step 6 closes the loop every cycle. Swap any equation for its AI accelerator once validated.</a:t>
            </a:r>
            <a:endParaRPr lang="en-US" sz="13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THE COMBINED MODEL · OBJECTIVE</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What the combined twin optimises</a:t>
            </a:r>
            <a:endParaRPr lang="en-US" sz="3600" dirty="0"/>
          </a:p>
        </p:txBody>
      </p:sp>
      <p:sp>
        <p:nvSpPr>
          <p:cNvPr id="4" name="card Uncomplicated tumour control"/>
          <p:cNvSpPr/>
          <p:nvPr/>
        </p:nvSpPr>
        <p:spPr>
          <a:xfrm>
            <a:off x="548640" y="1554480"/>
            <a:ext cx="5394960" cy="2240280"/>
          </a:xfrm>
          <a:prstGeom prst="roundRect">
            <a:avLst>
              <a:gd name="adj" fmla="val 3265"/>
            </a:avLst>
          </a:prstGeom>
          <a:solidFill>
            <a:schemeClr val="bg2"/>
          </a:solidFill>
          <a:ln w="12700">
            <a:solidFill>
              <a:schemeClr val="bg2"/>
            </a:solidFill>
            <a:prstDash val="solid"/>
          </a:ln>
        </p:spPr>
      </p:sp>
      <p:sp>
        <p:nvSpPr>
          <p:cNvPr id="5" name="card title Uncomplicated tumour control"/>
          <p:cNvSpPr txBox="1"/>
          <p:nvPr/>
        </p:nvSpPr>
        <p:spPr>
          <a:xfrm>
            <a:off x="74980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Uncomplicated tumour control</a:t>
            </a:r>
            <a:endParaRPr lang="en-US" sz="1600" dirty="0"/>
          </a:p>
        </p:txBody>
      </p:sp>
      <p:sp>
        <p:nvSpPr>
          <p:cNvPr id="6" name="tag Uncomplicated tumour control"/>
          <p:cNvSpPr txBox="1"/>
          <p:nvPr/>
        </p:nvSpPr>
        <p:spPr>
          <a:xfrm>
            <a:off x="4782312" y="171907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7" name="equation Uncomplicated tumour control"/>
          <p:cNvSpPr txBox="1"/>
          <p:nvPr/>
        </p:nvSpPr>
        <p:spPr>
          <a:xfrm>
            <a:off x="749808" y="210312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P⁺(A) = TCP(BED_T(A)) · (1 − NTCP(BED_OAR(A)))</a:t>
            </a:r>
            <a:endParaRPr lang="en-US" sz="1500" dirty="0"/>
          </a:p>
        </p:txBody>
      </p:sp>
      <p:sp>
        <p:nvSpPr>
          <p:cNvPr id="8" name="desc Uncomplicated tumour control"/>
          <p:cNvSpPr txBox="1"/>
          <p:nvPr/>
        </p:nvSpPr>
        <p:spPr>
          <a:xfrm>
            <a:off x="749808" y="2926080"/>
            <a:ext cx="4992624" cy="758952"/>
          </a:xfrm>
          <a:prstGeom prst="rect">
            <a:avLst/>
          </a:prstGeom>
          <a:noFill/>
          <a:ln/>
        </p:spPr>
        <p:txBody>
          <a:bodyPr wrap="square" lIns="0" tIns="0" rIns="0" bIns="0" rtlCol="0" anchor="t"/>
          <a:lstStyle/>
          <a:p>
            <a:pPr indent="0" marL="0">
              <a:buNone/>
            </a:pPr>
            <a:r>
              <a:rPr lang="en-US" sz="1400" dirty="0">
                <a:solidFill>
                  <a:schemeClr val="tx1"/>
                </a:solidFill>
              </a:rPr>
              <a:t>One number that rewards tumour control and penalises toxicity. Assumes the two are independent.</a:t>
            </a:r>
            <a:endParaRPr lang="en-US" sz="1400" dirty="0"/>
          </a:p>
        </p:txBody>
      </p:sp>
      <p:sp>
        <p:nvSpPr>
          <p:cNvPr id="9" name="card Constrained optimum"/>
          <p:cNvSpPr/>
          <p:nvPr/>
        </p:nvSpPr>
        <p:spPr>
          <a:xfrm>
            <a:off x="6217920" y="1554480"/>
            <a:ext cx="5394960" cy="2240280"/>
          </a:xfrm>
          <a:prstGeom prst="roundRect">
            <a:avLst>
              <a:gd name="adj" fmla="val 3265"/>
            </a:avLst>
          </a:prstGeom>
          <a:solidFill>
            <a:schemeClr val="bg2"/>
          </a:solidFill>
          <a:ln w="12700">
            <a:solidFill>
              <a:schemeClr val="bg2"/>
            </a:solidFill>
            <a:prstDash val="solid"/>
          </a:ln>
        </p:spPr>
      </p:sp>
      <p:sp>
        <p:nvSpPr>
          <p:cNvPr id="10" name="card title Constrained optimum"/>
          <p:cNvSpPr txBox="1"/>
          <p:nvPr/>
        </p:nvSpPr>
        <p:spPr>
          <a:xfrm>
            <a:off x="6419088" y="169164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Constrained optimum</a:t>
            </a:r>
            <a:endParaRPr lang="en-US" sz="1600" dirty="0"/>
          </a:p>
        </p:txBody>
      </p:sp>
      <p:sp>
        <p:nvSpPr>
          <p:cNvPr id="11" name="tag Constrained optimum"/>
          <p:cNvSpPr txBox="1"/>
          <p:nvPr/>
        </p:nvSpPr>
        <p:spPr>
          <a:xfrm>
            <a:off x="10451592" y="171907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12" name="equation Constrained optimum"/>
          <p:cNvSpPr txBox="1"/>
          <p:nvPr/>
        </p:nvSpPr>
        <p:spPr>
          <a:xfrm>
            <a:off x="6419088" y="210312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A* = argmax_A  E_θ[ P⁺(A) ]</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s.t.  BED_kidney ≤ 28 Gy,  BED_salivary ≤ L_s</a:t>
            </a:r>
            <a:endParaRPr lang="en-US" sz="1500" dirty="0"/>
          </a:p>
        </p:txBody>
      </p:sp>
      <p:sp>
        <p:nvSpPr>
          <p:cNvPr id="13" name="desc Constrained optimum"/>
          <p:cNvSpPr txBox="1"/>
          <p:nvPr/>
        </p:nvSpPr>
        <p:spPr>
          <a:xfrm>
            <a:off x="6419088" y="3017520"/>
            <a:ext cx="4992624" cy="667512"/>
          </a:xfrm>
          <a:prstGeom prst="rect">
            <a:avLst/>
          </a:prstGeom>
          <a:noFill/>
          <a:ln/>
        </p:spPr>
        <p:txBody>
          <a:bodyPr wrap="square" lIns="0" tIns="0" rIns="0" bIns="0" rtlCol="0" anchor="t"/>
          <a:lstStyle/>
          <a:p>
            <a:pPr indent="0" marL="0">
              <a:buNone/>
            </a:pPr>
            <a:r>
              <a:rPr lang="en-US" sz="1400" dirty="0">
                <a:solidFill>
                  <a:schemeClr val="tx1"/>
                </a:solidFill>
              </a:rPr>
              <a:t>Expectation over the patient's posterior θ, so uncertainty is priced in.</a:t>
            </a:r>
            <a:endParaRPr lang="en-US" sz="1400" dirty="0"/>
          </a:p>
        </p:txBody>
      </p:sp>
      <p:sp>
        <p:nvSpPr>
          <p:cNvPr id="14" name="card Multi-cycle recursion"/>
          <p:cNvSpPr/>
          <p:nvPr/>
        </p:nvSpPr>
        <p:spPr>
          <a:xfrm>
            <a:off x="548640" y="4023360"/>
            <a:ext cx="5394960" cy="2240280"/>
          </a:xfrm>
          <a:prstGeom prst="roundRect">
            <a:avLst>
              <a:gd name="adj" fmla="val 3265"/>
            </a:avLst>
          </a:prstGeom>
          <a:solidFill>
            <a:schemeClr val="bg2"/>
          </a:solidFill>
          <a:ln w="12700">
            <a:solidFill>
              <a:schemeClr val="bg2"/>
            </a:solidFill>
            <a:prstDash val="solid"/>
          </a:ln>
        </p:spPr>
      </p:sp>
      <p:sp>
        <p:nvSpPr>
          <p:cNvPr id="15" name="card title Multi-cycle recursion"/>
          <p:cNvSpPr txBox="1"/>
          <p:nvPr/>
        </p:nvSpPr>
        <p:spPr>
          <a:xfrm>
            <a:off x="74980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Multi-cycle recursion</a:t>
            </a:r>
            <a:endParaRPr lang="en-US" sz="1600" dirty="0"/>
          </a:p>
        </p:txBody>
      </p:sp>
      <p:sp>
        <p:nvSpPr>
          <p:cNvPr id="16" name="tag Multi-cycle recursion"/>
          <p:cNvSpPr txBox="1"/>
          <p:nvPr/>
        </p:nvSpPr>
        <p:spPr>
          <a:xfrm>
            <a:off x="4782312" y="418795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17" name="equation Multi-cycle recursion"/>
          <p:cNvSpPr txBox="1"/>
          <p:nvPr/>
        </p:nvSpPr>
        <p:spPr>
          <a:xfrm>
            <a:off x="749808" y="4572000"/>
            <a:ext cx="499262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BED_total = Σₖ Dₖ (1 + G Dₖ/(α/β))</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Aₖ* chosen after updating θ with y₁…ₖ₋₁</a:t>
            </a:r>
            <a:endParaRPr lang="en-US" sz="1500" dirty="0"/>
          </a:p>
        </p:txBody>
      </p:sp>
      <p:sp>
        <p:nvSpPr>
          <p:cNvPr id="18" name="desc Multi-cycle recursion"/>
          <p:cNvSpPr txBox="1"/>
          <p:nvPr/>
        </p:nvSpPr>
        <p:spPr>
          <a:xfrm>
            <a:off x="749808" y="5486400"/>
            <a:ext cx="4992624" cy="667512"/>
          </a:xfrm>
          <a:prstGeom prst="rect">
            <a:avLst/>
          </a:prstGeom>
          <a:noFill/>
          <a:ln/>
        </p:spPr>
        <p:txBody>
          <a:bodyPr wrap="square" lIns="0" tIns="0" rIns="0" bIns="0" rtlCol="0" anchor="t"/>
          <a:lstStyle/>
          <a:p>
            <a:pPr indent="0" marL="0">
              <a:buNone/>
            </a:pPr>
            <a:r>
              <a:rPr lang="en-US" sz="1400" dirty="0">
                <a:solidFill>
                  <a:schemeClr val="tx1"/>
                </a:solidFill>
              </a:rPr>
              <a:t>Each cycle uses everything measured so far; cycles add BED independently.</a:t>
            </a:r>
            <a:endParaRPr lang="en-US" sz="1400" dirty="0"/>
          </a:p>
        </p:txBody>
      </p:sp>
      <p:sp>
        <p:nvSpPr>
          <p:cNvPr id="19" name="card Combined RPT + external beam"/>
          <p:cNvSpPr/>
          <p:nvPr/>
        </p:nvSpPr>
        <p:spPr>
          <a:xfrm>
            <a:off x="6217920" y="4023360"/>
            <a:ext cx="5394960" cy="2240280"/>
          </a:xfrm>
          <a:prstGeom prst="roundRect">
            <a:avLst>
              <a:gd name="adj" fmla="val 3265"/>
            </a:avLst>
          </a:prstGeom>
          <a:solidFill>
            <a:schemeClr val="bg2"/>
          </a:solidFill>
          <a:ln w="12700">
            <a:solidFill>
              <a:schemeClr val="bg2"/>
            </a:solidFill>
            <a:prstDash val="solid"/>
          </a:ln>
        </p:spPr>
      </p:sp>
      <p:sp>
        <p:nvSpPr>
          <p:cNvPr id="20" name="card title Combined RPT + external beam"/>
          <p:cNvSpPr txBox="1"/>
          <p:nvPr/>
        </p:nvSpPr>
        <p:spPr>
          <a:xfrm>
            <a:off x="6419088" y="4160520"/>
            <a:ext cx="3931920" cy="347472"/>
          </a:xfrm>
          <a:prstGeom prst="rect">
            <a:avLst/>
          </a:prstGeom>
          <a:noFill/>
          <a:ln/>
        </p:spPr>
        <p:txBody>
          <a:bodyPr wrap="square" lIns="0" tIns="0" rIns="0" bIns="0" rtlCol="0" anchor="t"/>
          <a:lstStyle/>
          <a:p>
            <a:pPr indent="0" marL="0">
              <a:buNone/>
            </a:pPr>
            <a:r>
              <a:rPr lang="en-US" sz="1600" b="1" dirty="0">
                <a:solidFill>
                  <a:schemeClr val="tx2"/>
                </a:solidFill>
              </a:rPr>
              <a:t>Combined RPT + external beam</a:t>
            </a:r>
            <a:endParaRPr lang="en-US" sz="1600" dirty="0"/>
          </a:p>
        </p:txBody>
      </p:sp>
      <p:sp>
        <p:nvSpPr>
          <p:cNvPr id="21" name="tag Combined RPT + external beam"/>
          <p:cNvSpPr txBox="1"/>
          <p:nvPr/>
        </p:nvSpPr>
        <p:spPr>
          <a:xfrm>
            <a:off x="10451592" y="418795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22" name="equation Combined RPT + external beam"/>
          <p:cNvSpPr txBox="1"/>
          <p:nvPr/>
        </p:nvSpPr>
        <p:spPr>
          <a:xfrm>
            <a:off x="6419088" y="4572000"/>
            <a:ext cx="4992624" cy="73152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EQD2_OAR = EQD2_RPT + EQD2_EBRT ≤ limit</a:t>
            </a:r>
            <a:endParaRPr lang="en-US" sz="1500" dirty="0"/>
          </a:p>
        </p:txBody>
      </p:sp>
      <p:sp>
        <p:nvSpPr>
          <p:cNvPr id="23" name="desc Combined RPT + external beam"/>
          <p:cNvSpPr txBox="1"/>
          <p:nvPr/>
        </p:nvSpPr>
        <p:spPr>
          <a:xfrm>
            <a:off x="6419088" y="5394960"/>
            <a:ext cx="4992624" cy="758952"/>
          </a:xfrm>
          <a:prstGeom prst="rect">
            <a:avLst/>
          </a:prstGeom>
          <a:noFill/>
          <a:ln/>
        </p:spPr>
        <p:txBody>
          <a:bodyPr wrap="square" lIns="0" tIns="0" rIns="0" bIns="0" rtlCol="0" anchor="t"/>
          <a:lstStyle/>
          <a:p>
            <a:pPr indent="0" marL="0">
              <a:buNone/>
            </a:pPr>
            <a:r>
              <a:rPr lang="en-US" sz="1400" dirty="0">
                <a:solidFill>
                  <a:schemeClr val="tx1"/>
                </a:solidFill>
              </a:rPr>
              <a:t>DoseVLM predicts the external-beam dose; the PBPK twin gives the RPT dose; both sum on one EQD2 scale.</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THE COMBINED MODEL · LEARNING THE PATIENT</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One post-therapy scan sharpens the twin</a:t>
            </a:r>
            <a:endParaRPr lang="en-US" sz="3600" dirty="0"/>
          </a:p>
        </p:txBody>
      </p:sp>
      <p:sp>
        <p:nvSpPr>
          <p:cNvPr id="4" name="card Log-normal conjugate update"/>
          <p:cNvSpPr/>
          <p:nvPr/>
        </p:nvSpPr>
        <p:spPr>
          <a:xfrm>
            <a:off x="548640" y="1554480"/>
            <a:ext cx="5760720" cy="2240280"/>
          </a:xfrm>
          <a:prstGeom prst="roundRect">
            <a:avLst>
              <a:gd name="adj" fmla="val 3265"/>
            </a:avLst>
          </a:prstGeom>
          <a:solidFill>
            <a:schemeClr val="bg2"/>
          </a:solidFill>
          <a:ln w="12700">
            <a:solidFill>
              <a:schemeClr val="bg2"/>
            </a:solidFill>
            <a:prstDash val="solid"/>
          </a:ln>
        </p:spPr>
      </p:sp>
      <p:sp>
        <p:nvSpPr>
          <p:cNvPr id="5" name="card title Log-normal conjugate update"/>
          <p:cNvSpPr txBox="1"/>
          <p:nvPr/>
        </p:nvSpPr>
        <p:spPr>
          <a:xfrm>
            <a:off x="749808" y="1691640"/>
            <a:ext cx="4297680" cy="347472"/>
          </a:xfrm>
          <a:prstGeom prst="rect">
            <a:avLst/>
          </a:prstGeom>
          <a:noFill/>
          <a:ln/>
        </p:spPr>
        <p:txBody>
          <a:bodyPr wrap="square" lIns="0" tIns="0" rIns="0" bIns="0" rtlCol="0" anchor="t"/>
          <a:lstStyle/>
          <a:p>
            <a:pPr indent="0" marL="0">
              <a:buNone/>
            </a:pPr>
            <a:r>
              <a:rPr lang="en-US" sz="1600" b="1" dirty="0">
                <a:solidFill>
                  <a:schemeClr val="tx2"/>
                </a:solidFill>
              </a:rPr>
              <a:t>Log-normal conjugate update</a:t>
            </a:r>
            <a:endParaRPr lang="en-US" sz="1600" dirty="0"/>
          </a:p>
        </p:txBody>
      </p:sp>
      <p:sp>
        <p:nvSpPr>
          <p:cNvPr id="6" name="tag Log-normal conjugate update"/>
          <p:cNvSpPr txBox="1"/>
          <p:nvPr/>
        </p:nvSpPr>
        <p:spPr>
          <a:xfrm>
            <a:off x="5148072" y="171907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7" name="equation Log-normal conjugate update"/>
          <p:cNvSpPr txBox="1"/>
          <p:nvPr/>
        </p:nvSpPr>
        <p:spPr>
          <a:xfrm>
            <a:off x="749808" y="2103120"/>
            <a:ext cx="535838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log d_K ~ N(μ₀, σ₀²),  log y ~ N(log d_K, σ_m²)</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σ_post = (1/σ₀² + 1/σ_m²)^(−1/2)</a:t>
            </a:r>
            <a:endParaRPr lang="en-US" sz="1500" dirty="0"/>
          </a:p>
        </p:txBody>
      </p:sp>
      <p:sp>
        <p:nvSpPr>
          <p:cNvPr id="8" name="desc Log-normal conjugate update"/>
          <p:cNvSpPr txBox="1"/>
          <p:nvPr/>
        </p:nvSpPr>
        <p:spPr>
          <a:xfrm>
            <a:off x="749808" y="3017520"/>
            <a:ext cx="5358384" cy="667512"/>
          </a:xfrm>
          <a:prstGeom prst="rect">
            <a:avLst/>
          </a:prstGeom>
          <a:noFill/>
          <a:ln/>
        </p:spPr>
        <p:txBody>
          <a:bodyPr wrap="square" lIns="0" tIns="0" rIns="0" bIns="0" rtlCol="0" anchor="t"/>
          <a:lstStyle/>
          <a:p>
            <a:pPr indent="0" marL="0">
              <a:buNone/>
            </a:pPr>
            <a:r>
              <a:rPr lang="en-US" sz="1400" dirty="0">
                <a:solidFill>
                  <a:schemeClr val="tx1"/>
                </a:solidFill>
              </a:rPr>
              <a:t>d_K = kidney dose per GBq. Prior from the population; y from cycle-1 SPECT dosimetry.</a:t>
            </a:r>
            <a:endParaRPr lang="en-US" sz="1400" dirty="0"/>
          </a:p>
        </p:txBody>
      </p:sp>
      <p:sp>
        <p:nvSpPr>
          <p:cNvPr id="9" name="card Values used"/>
          <p:cNvSpPr/>
          <p:nvPr/>
        </p:nvSpPr>
        <p:spPr>
          <a:xfrm>
            <a:off x="548640" y="3977640"/>
            <a:ext cx="5760720" cy="2148840"/>
          </a:xfrm>
          <a:prstGeom prst="roundRect">
            <a:avLst>
              <a:gd name="adj" fmla="val 3404"/>
            </a:avLst>
          </a:prstGeom>
          <a:solidFill>
            <a:schemeClr val="bg2"/>
          </a:solidFill>
          <a:ln w="12700">
            <a:solidFill>
              <a:schemeClr val="bg2"/>
            </a:solidFill>
            <a:prstDash val="solid"/>
          </a:ln>
        </p:spPr>
      </p:sp>
      <p:sp>
        <p:nvSpPr>
          <p:cNvPr id="10" name="card title Values used"/>
          <p:cNvSpPr txBox="1"/>
          <p:nvPr/>
        </p:nvSpPr>
        <p:spPr>
          <a:xfrm>
            <a:off x="749808" y="4114800"/>
            <a:ext cx="4297680" cy="347472"/>
          </a:xfrm>
          <a:prstGeom prst="rect">
            <a:avLst/>
          </a:prstGeom>
          <a:noFill/>
          <a:ln/>
        </p:spPr>
        <p:txBody>
          <a:bodyPr wrap="square" lIns="0" tIns="0" rIns="0" bIns="0" rtlCol="0" anchor="t"/>
          <a:lstStyle/>
          <a:p>
            <a:pPr indent="0" marL="0">
              <a:buNone/>
            </a:pPr>
            <a:r>
              <a:rPr lang="en-US" sz="1600" b="1" dirty="0">
                <a:solidFill>
                  <a:schemeClr val="tx2"/>
                </a:solidFill>
              </a:rPr>
              <a:t>Values used</a:t>
            </a:r>
            <a:endParaRPr lang="en-US" sz="1600" dirty="0"/>
          </a:p>
        </p:txBody>
      </p:sp>
      <p:sp>
        <p:nvSpPr>
          <p:cNvPr id="11" name="tag Values used"/>
          <p:cNvSpPr txBox="1"/>
          <p:nvPr/>
        </p:nvSpPr>
        <p:spPr>
          <a:xfrm>
            <a:off x="5148072" y="414223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12" name="equation Values used"/>
          <p:cNvSpPr txBox="1"/>
          <p:nvPr/>
        </p:nvSpPr>
        <p:spPr>
          <a:xfrm>
            <a:off x="749808" y="4526280"/>
            <a:ext cx="5358384" cy="822960"/>
          </a:xfrm>
          <a:prstGeom prst="rect">
            <a:avLst/>
          </a:prstGeom>
          <a:solidFill>
            <a:schemeClr val="bg1"/>
          </a:solidFill>
          <a:ln/>
        </p:spPr>
        <p:txBody>
          <a:bodyPr wrap="square" lIns="762" tIns="762" rIns="762" bIns="762" rtlCol="0" anchor="ctr"/>
          <a:lstStyle/>
          <a:p>
            <a:pPr indent="0" marL="0">
              <a:buNone/>
            </a:pPr>
            <a:r>
              <a:rPr lang="en-US" sz="1500" dirty="0">
                <a:solidFill>
                  <a:schemeClr val="accent4"/>
                </a:solidFill>
                <a:latin typeface="+mj-lt" pitchFamily="34" charset="0"/>
                <a:ea typeface="+mj-lt" pitchFamily="34" charset="-122"/>
                <a:cs typeface="+mj-lt" pitchFamily="34" charset="-120"/>
              </a:rPr>
              <a:t>σ₀ = 0.35 (population CV),  σ_m = 0.15 (SPECT)</a:t>
            </a:r>
            <a:endParaRPr lang="en-US" sz="1500" dirty="0"/>
          </a:p>
          <a:p>
            <a:pPr indent="0" marL="0">
              <a:buNone/>
            </a:pPr>
            <a:r>
              <a:rPr lang="en-US" sz="1500" dirty="0">
                <a:solidFill>
                  <a:schemeClr val="accent4"/>
                </a:solidFill>
                <a:latin typeface="+mj-lt" pitchFamily="34" charset="0"/>
                <a:ea typeface="+mj-lt" pitchFamily="34" charset="-122"/>
                <a:cs typeface="+mj-lt" pitchFamily="34" charset="-120"/>
              </a:rPr>
              <a:t>σ_post = 0.14</a:t>
            </a:r>
            <a:endParaRPr lang="en-US" sz="1500" dirty="0"/>
          </a:p>
        </p:txBody>
      </p:sp>
      <p:sp>
        <p:nvSpPr>
          <p:cNvPr id="13" name="desc Values used"/>
          <p:cNvSpPr txBox="1"/>
          <p:nvPr/>
        </p:nvSpPr>
        <p:spPr>
          <a:xfrm>
            <a:off x="749808" y="5440680"/>
            <a:ext cx="5358384" cy="576072"/>
          </a:xfrm>
          <a:prstGeom prst="rect">
            <a:avLst/>
          </a:prstGeom>
          <a:noFill/>
          <a:ln/>
        </p:spPr>
        <p:txBody>
          <a:bodyPr wrap="square" lIns="0" tIns="0" rIns="0" bIns="0" rtlCol="0" anchor="t"/>
          <a:lstStyle/>
          <a:p>
            <a:pPr indent="0" marL="0">
              <a:buNone/>
            </a:pPr>
            <a:r>
              <a:rPr lang="en-US" sz="1400" dirty="0">
                <a:solidFill>
                  <a:schemeClr val="tx1"/>
                </a:solidFill>
              </a:rPr>
              <a:t>In the full twin the same update runs on every PBPK parameter (via SBI or MCMC).</a:t>
            </a:r>
            <a:endParaRPr lang="en-US" sz="1400" dirty="0"/>
          </a:p>
        </p:txBody>
      </p:sp>
      <p:sp>
        <p:nvSpPr>
          <p:cNvPr id="14" name="bayes stat 0"/>
          <p:cNvSpPr/>
          <p:nvPr/>
        </p:nvSpPr>
        <p:spPr>
          <a:xfrm>
            <a:off x="6583680" y="1554480"/>
            <a:ext cx="5029200" cy="1783080"/>
          </a:xfrm>
          <a:prstGeom prst="roundRect">
            <a:avLst>
              <a:gd name="adj" fmla="val 4103"/>
            </a:avLst>
          </a:prstGeom>
          <a:solidFill>
            <a:schemeClr val="bg2"/>
          </a:solidFill>
          <a:ln w="12700">
            <a:solidFill>
              <a:schemeClr val="bg2"/>
            </a:solidFill>
            <a:prstDash val="solid"/>
          </a:ln>
        </p:spPr>
      </p:sp>
      <p:sp>
        <p:nvSpPr>
          <p:cNvPr id="15" name="Text 13"/>
          <p:cNvSpPr txBox="1"/>
          <p:nvPr/>
        </p:nvSpPr>
        <p:spPr>
          <a:xfrm>
            <a:off x="6812280" y="1691640"/>
            <a:ext cx="4572000" cy="868680"/>
          </a:xfrm>
          <a:prstGeom prst="rect">
            <a:avLst/>
          </a:prstGeom>
          <a:noFill/>
          <a:ln/>
        </p:spPr>
        <p:txBody>
          <a:bodyPr wrap="square" lIns="0" tIns="0" rIns="0" bIns="0" rtlCol="0" anchor="ctr"/>
          <a:lstStyle/>
          <a:p>
            <a:pPr indent="0" marL="0">
              <a:buNone/>
            </a:pPr>
            <a:r>
              <a:rPr lang="en-US" sz="4800" b="1" dirty="0">
                <a:solidFill>
                  <a:schemeClr val="accent3"/>
                </a:solidFill>
                <a:latin typeface="+mj-lt" pitchFamily="34" charset="0"/>
                <a:ea typeface="+mj-lt" pitchFamily="34" charset="-122"/>
                <a:cs typeface="+mj-lt" pitchFamily="34" charset="-120"/>
              </a:rPr>
              <a:t>×/÷ 1.99</a:t>
            </a:r>
            <a:endParaRPr lang="en-US" sz="4800" dirty="0"/>
          </a:p>
        </p:txBody>
      </p:sp>
      <p:sp>
        <p:nvSpPr>
          <p:cNvPr id="16" name="Text 14"/>
          <p:cNvSpPr txBox="1"/>
          <p:nvPr/>
        </p:nvSpPr>
        <p:spPr>
          <a:xfrm>
            <a:off x="6812280" y="2560320"/>
            <a:ext cx="4572000" cy="640080"/>
          </a:xfrm>
          <a:prstGeom prst="rect">
            <a:avLst/>
          </a:prstGeom>
          <a:noFill/>
          <a:ln/>
        </p:spPr>
        <p:txBody>
          <a:bodyPr wrap="square" lIns="0" tIns="0" rIns="0" bIns="0" rtlCol="0" anchor="t"/>
          <a:lstStyle/>
          <a:p>
            <a:pPr indent="0" marL="0">
              <a:buNone/>
            </a:pPr>
            <a:r>
              <a:rPr lang="en-US" sz="1500" dirty="0">
                <a:solidFill>
                  <a:schemeClr val="tx1"/>
                </a:solidFill>
              </a:rPr>
              <a:t>95 % range of kidney dose before any scan (population prior)</a:t>
            </a:r>
            <a:endParaRPr lang="en-US" sz="1500" dirty="0"/>
          </a:p>
        </p:txBody>
      </p:sp>
      <p:sp>
        <p:nvSpPr>
          <p:cNvPr id="17" name="bayes stat 1"/>
          <p:cNvSpPr/>
          <p:nvPr/>
        </p:nvSpPr>
        <p:spPr>
          <a:xfrm>
            <a:off x="6583680" y="3520440"/>
            <a:ext cx="5029200" cy="1783080"/>
          </a:xfrm>
          <a:prstGeom prst="roundRect">
            <a:avLst>
              <a:gd name="adj" fmla="val 4103"/>
            </a:avLst>
          </a:prstGeom>
          <a:solidFill>
            <a:schemeClr val="bg2"/>
          </a:solidFill>
          <a:ln w="12700">
            <a:solidFill>
              <a:schemeClr val="bg2"/>
            </a:solidFill>
            <a:prstDash val="solid"/>
          </a:ln>
        </p:spPr>
      </p:sp>
      <p:sp>
        <p:nvSpPr>
          <p:cNvPr id="18" name="Text 16"/>
          <p:cNvSpPr txBox="1"/>
          <p:nvPr/>
        </p:nvSpPr>
        <p:spPr>
          <a:xfrm>
            <a:off x="6812280" y="3657600"/>
            <a:ext cx="4572000" cy="868680"/>
          </a:xfrm>
          <a:prstGeom prst="rect">
            <a:avLst/>
          </a:prstGeom>
          <a:noFill/>
          <a:ln/>
        </p:spPr>
        <p:txBody>
          <a:bodyPr wrap="square" lIns="0" tIns="0" rIns="0" bIns="0" rtlCol="0" anchor="ctr"/>
          <a:lstStyle/>
          <a:p>
            <a:pPr indent="0" marL="0">
              <a:buNone/>
            </a:pPr>
            <a:r>
              <a:rPr lang="en-US" sz="4800" b="1" dirty="0">
                <a:solidFill>
                  <a:schemeClr val="accent2"/>
                </a:solidFill>
                <a:latin typeface="+mj-lt" pitchFamily="34" charset="0"/>
                <a:ea typeface="+mj-lt" pitchFamily="34" charset="-122"/>
                <a:cs typeface="+mj-lt" pitchFamily="34" charset="-120"/>
              </a:rPr>
              <a:t>×/÷ 1.31</a:t>
            </a:r>
            <a:endParaRPr lang="en-US" sz="4800" dirty="0"/>
          </a:p>
        </p:txBody>
      </p:sp>
      <p:sp>
        <p:nvSpPr>
          <p:cNvPr id="19" name="Text 17"/>
          <p:cNvSpPr txBox="1"/>
          <p:nvPr/>
        </p:nvSpPr>
        <p:spPr>
          <a:xfrm>
            <a:off x="6812280" y="4526280"/>
            <a:ext cx="4572000" cy="640080"/>
          </a:xfrm>
          <a:prstGeom prst="rect">
            <a:avLst/>
          </a:prstGeom>
          <a:noFill/>
          <a:ln/>
        </p:spPr>
        <p:txBody>
          <a:bodyPr wrap="square" lIns="0" tIns="0" rIns="0" bIns="0" rtlCol="0" anchor="t"/>
          <a:lstStyle/>
          <a:p>
            <a:pPr indent="0" marL="0">
              <a:buNone/>
            </a:pPr>
            <a:r>
              <a:rPr lang="en-US" sz="1500" dirty="0">
                <a:solidFill>
                  <a:schemeClr val="tx1"/>
                </a:solidFill>
              </a:rPr>
              <a:t>95 % range after one cycle-1 SPECT measurement</a:t>
            </a:r>
            <a:endParaRPr lang="en-US" sz="1500" dirty="0"/>
          </a:p>
        </p:txBody>
      </p:sp>
      <p:sp>
        <p:nvSpPr>
          <p:cNvPr id="20" name="Text 18"/>
          <p:cNvSpPr txBox="1"/>
          <p:nvPr/>
        </p:nvSpPr>
        <p:spPr>
          <a:xfrm>
            <a:off x="6583680" y="5532120"/>
            <a:ext cx="5029200" cy="594360"/>
          </a:xfrm>
          <a:prstGeom prst="rect">
            <a:avLst/>
          </a:prstGeom>
          <a:noFill/>
          <a:ln/>
        </p:spPr>
        <p:txBody>
          <a:bodyPr wrap="square" lIns="0" tIns="0" rIns="0" bIns="0" rtlCol="0" anchor="ctr"/>
          <a:lstStyle/>
          <a:p>
            <a:pPr indent="0" marL="0">
              <a:buNone/>
            </a:pPr>
            <a:r>
              <a:rPr lang="en-US" sz="1400" i="1" dirty="0">
                <a:solidFill>
                  <a:schemeClr val="accent2"/>
                </a:solidFill>
              </a:rPr>
              <a:t>Narrower range → the twin can raise activity safely for patients whose kidneys clear well.</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THE COMBINED MODEL · VIRTUAL TRIAL</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Fixed vs model-guided activity, 140 virtual patients</a:t>
            </a:r>
            <a:endParaRPr lang="en-US" sz="3600" dirty="0"/>
          </a:p>
        </p:txBody>
      </p:sp>
      <p:graphicFrame>
        <p:nvGraphicFramePr>
          <p:cNvPr id="4" name="virtual trial chart" descr=""/>
          <p:cNvGraphicFramePr/>
          <p:nvPr/>
        </p:nvGraphicFramePr>
        <p:xfrm>
          <a:off x="548640" y="1554480"/>
          <a:ext cx="6766560" cy="43434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7680960" y="1554480"/>
            <a:ext cx="3931920" cy="73152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11 % → 0 %</a:t>
            </a:r>
            <a:endParaRPr lang="en-US" sz="3200" dirty="0"/>
          </a:p>
        </p:txBody>
      </p:sp>
      <p:sp>
        <p:nvSpPr>
          <p:cNvPr id="6" name="Text 3"/>
          <p:cNvSpPr txBox="1"/>
          <p:nvPr/>
        </p:nvSpPr>
        <p:spPr>
          <a:xfrm>
            <a:off x="7680960" y="2286000"/>
            <a:ext cx="3931920" cy="457200"/>
          </a:xfrm>
          <a:prstGeom prst="rect">
            <a:avLst/>
          </a:prstGeom>
          <a:noFill/>
          <a:ln/>
        </p:spPr>
        <p:txBody>
          <a:bodyPr wrap="square" lIns="0" tIns="0" rIns="0" bIns="0" rtlCol="0" anchor="t"/>
          <a:lstStyle/>
          <a:p>
            <a:pPr indent="0" marL="0">
              <a:buNone/>
            </a:pPr>
            <a:r>
              <a:rPr lang="en-US" sz="1500" dirty="0">
                <a:solidFill>
                  <a:schemeClr val="tx1"/>
                </a:solidFill>
              </a:rPr>
              <a:t>patients over the kidney BED limit</a:t>
            </a:r>
            <a:endParaRPr lang="en-US" sz="1500" dirty="0"/>
          </a:p>
        </p:txBody>
      </p:sp>
      <p:sp>
        <p:nvSpPr>
          <p:cNvPr id="7" name="Text 4"/>
          <p:cNvSpPr txBox="1"/>
          <p:nvPr/>
        </p:nvSpPr>
        <p:spPr>
          <a:xfrm>
            <a:off x="7680960" y="2971800"/>
            <a:ext cx="3931920" cy="73152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116 → 173 Gy</a:t>
            </a:r>
            <a:endParaRPr lang="en-US" sz="3200" dirty="0"/>
          </a:p>
        </p:txBody>
      </p:sp>
      <p:sp>
        <p:nvSpPr>
          <p:cNvPr id="8" name="Text 5"/>
          <p:cNvSpPr txBox="1"/>
          <p:nvPr/>
        </p:nvSpPr>
        <p:spPr>
          <a:xfrm>
            <a:off x="7680960" y="3703320"/>
            <a:ext cx="3931920" cy="457200"/>
          </a:xfrm>
          <a:prstGeom prst="rect">
            <a:avLst/>
          </a:prstGeom>
          <a:noFill/>
          <a:ln/>
        </p:spPr>
        <p:txBody>
          <a:bodyPr wrap="square" lIns="0" tIns="0" rIns="0" bIns="0" rtlCol="0" anchor="t"/>
          <a:lstStyle/>
          <a:p>
            <a:pPr indent="0" marL="0">
              <a:buNone/>
            </a:pPr>
            <a:r>
              <a:rPr lang="en-US" sz="1500" dirty="0">
                <a:solidFill>
                  <a:schemeClr val="tx1"/>
                </a:solidFill>
              </a:rPr>
              <a:t>mean tumour BED</a:t>
            </a:r>
            <a:endParaRPr lang="en-US" sz="1500" dirty="0"/>
          </a:p>
        </p:txBody>
      </p:sp>
      <p:sp>
        <p:nvSpPr>
          <p:cNvPr id="9" name="Text 6"/>
          <p:cNvSpPr txBox="1"/>
          <p:nvPr/>
        </p:nvSpPr>
        <p:spPr>
          <a:xfrm>
            <a:off x="7680960" y="4389120"/>
            <a:ext cx="3931920" cy="731520"/>
          </a:xfrm>
          <a:prstGeom prst="rect">
            <a:avLst/>
          </a:prstGeom>
          <a:noFill/>
          <a:ln/>
        </p:spPr>
        <p:txBody>
          <a:bodyPr wrap="square" lIns="0" tIns="0" rIns="0" bIns="0" rtlCol="0" anchor="ctr"/>
          <a:lstStyle/>
          <a:p>
            <a:pPr indent="0" marL="0">
              <a:buNone/>
            </a:pPr>
            <a:r>
              <a:rPr lang="en-US" sz="3200" b="1" dirty="0">
                <a:solidFill>
                  <a:schemeClr val="accent2"/>
                </a:solidFill>
                <a:latin typeface="+mj-lt" pitchFamily="34" charset="0"/>
                <a:ea typeface="+mj-lt" pitchFamily="34" charset="-122"/>
                <a:cs typeface="+mj-lt" pitchFamily="34" charset="-120"/>
              </a:rPr>
              <a:t>56 % → 76 %</a:t>
            </a:r>
            <a:endParaRPr lang="en-US" sz="3200" dirty="0"/>
          </a:p>
        </p:txBody>
      </p:sp>
      <p:sp>
        <p:nvSpPr>
          <p:cNvPr id="10" name="Text 7"/>
          <p:cNvSpPr txBox="1"/>
          <p:nvPr/>
        </p:nvSpPr>
        <p:spPr>
          <a:xfrm>
            <a:off x="7680960" y="5120640"/>
            <a:ext cx="3931920" cy="457200"/>
          </a:xfrm>
          <a:prstGeom prst="rect">
            <a:avLst/>
          </a:prstGeom>
          <a:noFill/>
          <a:ln/>
        </p:spPr>
        <p:txBody>
          <a:bodyPr wrap="square" lIns="0" tIns="0" rIns="0" bIns="0" rtlCol="0" anchor="t"/>
          <a:lstStyle/>
          <a:p>
            <a:pPr indent="0" marL="0">
              <a:buNone/>
            </a:pPr>
            <a:r>
              <a:rPr lang="en-US" sz="1500" dirty="0">
                <a:solidFill>
                  <a:schemeClr val="tx1"/>
                </a:solidFill>
              </a:rPr>
              <a:t>mean uncomplicated control P⁺</a:t>
            </a:r>
            <a:endParaRPr lang="en-US" sz="1500" dirty="0"/>
          </a:p>
        </p:txBody>
      </p:sp>
      <p:sp>
        <p:nvSpPr>
          <p:cNvPr id="11" name="Text 8"/>
          <p:cNvSpPr txBox="1"/>
          <p:nvPr/>
        </p:nvSpPr>
        <p:spPr>
          <a:xfrm>
            <a:off x="548640" y="5943600"/>
            <a:ext cx="11064240" cy="365760"/>
          </a:xfrm>
          <a:prstGeom prst="rect">
            <a:avLst/>
          </a:prstGeom>
          <a:noFill/>
          <a:ln/>
        </p:spPr>
        <p:txBody>
          <a:bodyPr wrap="square" lIns="0" tIns="0" rIns="0" bIns="0" rtlCol="0" anchor="ctr"/>
          <a:lstStyle/>
          <a:p>
            <a:pPr indent="0" marL="0">
              <a:buNone/>
            </a:pPr>
            <a:r>
              <a:rPr lang="en-US" sz="1100" i="1" dirty="0">
                <a:solidFill>
                  <a:schemeClr val="accent6"/>
                </a:solidFill>
              </a:rPr>
              <a:t>Illustrative simulation, not patient data. Kidney 0.5 Gy/GBq and tumour 3 Gy/GBq (log-normal CV 0.35/0.6); BED limit 28 Gy; guided activity capped at 12 GBq (mean 10.5 GBq).</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THE COMBINED MODEL · HYBRID AI ARCHITECTURE</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Mechanistic backbone, AI where it pays</a:t>
            </a:r>
            <a:endParaRPr lang="en-US" sz="3600" dirty="0"/>
          </a:p>
        </p:txBody>
      </p:sp>
      <p:sp>
        <p:nvSpPr>
          <p:cNvPr id="4" name="backbone Imaging"/>
          <p:cNvSpPr txBox="1"/>
          <p:nvPr/>
        </p:nvSpPr>
        <p:spPr>
          <a:xfrm>
            <a:off x="548640" y="1691640"/>
            <a:ext cx="1417320" cy="777240"/>
          </a:xfrm>
          <a:prstGeom prst="roundRect">
            <a:avLst>
              <a:gd name="adj" fmla="val 11765"/>
            </a:avLst>
          </a:prstGeom>
          <a:solidFill>
            <a:schemeClr val="tx2"/>
          </a:solidFill>
          <a:ln/>
        </p:spPr>
        <p:txBody>
          <a:bodyPr wrap="square" lIns="508" tIns="508" rIns="508" bIns="508" rtlCol="0" anchor="ctr"/>
          <a:lstStyle/>
          <a:p>
            <a:pPr algn="ctr" indent="0" marL="0">
              <a:buNone/>
            </a:pPr>
            <a:r>
              <a:rPr lang="en-US" sz="1400" b="1" dirty="0">
                <a:solidFill>
                  <a:schemeClr val="bg1"/>
                </a:solidFill>
              </a:rPr>
              <a:t>Imaging</a:t>
            </a:r>
            <a:endParaRPr lang="en-US" sz="1400" dirty="0"/>
          </a:p>
        </p:txBody>
      </p:sp>
      <p:sp>
        <p:nvSpPr>
          <p:cNvPr id="5" name="arrow"/>
          <p:cNvSpPr/>
          <p:nvPr/>
        </p:nvSpPr>
        <p:spPr>
          <a:xfrm>
            <a:off x="1975104" y="2080260"/>
            <a:ext cx="173736" cy="0"/>
          </a:xfrm>
          <a:prstGeom prst="line">
            <a:avLst/>
          </a:prstGeom>
          <a:noFill/>
          <a:ln w="19050">
            <a:solidFill>
              <a:schemeClr val="accent6"/>
            </a:solidFill>
            <a:prstDash val="solid"/>
            <a:tailEnd type="triangle"/>
          </a:ln>
        </p:spPr>
      </p:sp>
      <p:sp>
        <p:nvSpPr>
          <p:cNvPr id="6" name="ai link"/>
          <p:cNvSpPr/>
          <p:nvPr/>
        </p:nvSpPr>
        <p:spPr>
          <a:xfrm>
            <a:off x="1257300" y="2487168"/>
            <a:ext cx="0" cy="457200"/>
          </a:xfrm>
          <a:prstGeom prst="line">
            <a:avLst/>
          </a:prstGeom>
          <a:noFill/>
          <a:ln w="19050">
            <a:solidFill>
              <a:schemeClr val="accent2"/>
            </a:solidFill>
            <a:prstDash val="dash"/>
          </a:ln>
        </p:spPr>
      </p:sp>
      <p:sp>
        <p:nvSpPr>
          <p:cNvPr id="7" name="ai Imaging"/>
          <p:cNvSpPr txBox="1"/>
          <p:nvPr/>
        </p:nvSpPr>
        <p:spPr>
          <a:xfrm>
            <a:off x="548640" y="2971800"/>
            <a:ext cx="1417320" cy="1097280"/>
          </a:xfrm>
          <a:prstGeom prst="roundRect">
            <a:avLst>
              <a:gd name="adj" fmla="val 8333"/>
            </a:avLst>
          </a:prstGeom>
          <a:solidFill>
            <a:srgbClr val="E2F0EE"/>
          </a:solidFill>
          <a:ln w="12700">
            <a:solidFill>
              <a:schemeClr val="accent2"/>
            </a:solidFill>
          </a:ln>
        </p:spPr>
        <p:txBody>
          <a:bodyPr wrap="square" lIns="635" tIns="635" rIns="635" bIns="635" rtlCol="0" anchor="ctr"/>
          <a:lstStyle/>
          <a:p>
            <a:pPr algn="ctr" indent="0" marL="0">
              <a:buNone/>
            </a:pPr>
            <a:r>
              <a:rPr lang="en-US" sz="1200" dirty="0">
                <a:solidFill>
                  <a:schemeClr val="tx1"/>
                </a:solidFill>
              </a:rPr>
              <a:t>nnU-Net, TotalSeg, denoising</a:t>
            </a:r>
            <a:endParaRPr lang="en-US" sz="1200" dirty="0"/>
          </a:p>
        </p:txBody>
      </p:sp>
      <p:sp>
        <p:nvSpPr>
          <p:cNvPr id="8" name="backbone Cohort"/>
          <p:cNvSpPr txBox="1"/>
          <p:nvPr/>
        </p:nvSpPr>
        <p:spPr>
          <a:xfrm>
            <a:off x="2157984" y="1691640"/>
            <a:ext cx="1417320" cy="777240"/>
          </a:xfrm>
          <a:prstGeom prst="roundRect">
            <a:avLst>
              <a:gd name="adj" fmla="val 11765"/>
            </a:avLst>
          </a:prstGeom>
          <a:solidFill>
            <a:schemeClr val="tx2"/>
          </a:solidFill>
          <a:ln/>
        </p:spPr>
        <p:txBody>
          <a:bodyPr wrap="square" lIns="508" tIns="508" rIns="508" bIns="508" rtlCol="0" anchor="ctr"/>
          <a:lstStyle/>
          <a:p>
            <a:pPr algn="ctr" indent="0" marL="0">
              <a:buNone/>
            </a:pPr>
            <a:r>
              <a:rPr lang="en-US" sz="1400" b="1" dirty="0">
                <a:solidFill>
                  <a:schemeClr val="bg1"/>
                </a:solidFill>
              </a:rPr>
              <a:t>Cohort</a:t>
            </a:r>
            <a:endParaRPr lang="en-US" sz="1400" dirty="0"/>
          </a:p>
        </p:txBody>
      </p:sp>
      <p:sp>
        <p:nvSpPr>
          <p:cNvPr id="9" name="arrow"/>
          <p:cNvSpPr/>
          <p:nvPr/>
        </p:nvSpPr>
        <p:spPr>
          <a:xfrm>
            <a:off x="3584448" y="2080260"/>
            <a:ext cx="173736" cy="0"/>
          </a:xfrm>
          <a:prstGeom prst="line">
            <a:avLst/>
          </a:prstGeom>
          <a:noFill/>
          <a:ln w="19050">
            <a:solidFill>
              <a:schemeClr val="accent6"/>
            </a:solidFill>
            <a:prstDash val="solid"/>
            <a:tailEnd type="triangle"/>
          </a:ln>
        </p:spPr>
      </p:sp>
      <p:sp>
        <p:nvSpPr>
          <p:cNvPr id="10" name="ai link"/>
          <p:cNvSpPr/>
          <p:nvPr/>
        </p:nvSpPr>
        <p:spPr>
          <a:xfrm>
            <a:off x="2866644" y="2487168"/>
            <a:ext cx="0" cy="457200"/>
          </a:xfrm>
          <a:prstGeom prst="line">
            <a:avLst/>
          </a:prstGeom>
          <a:noFill/>
          <a:ln w="19050">
            <a:solidFill>
              <a:schemeClr val="accent2"/>
            </a:solidFill>
            <a:prstDash val="dash"/>
          </a:ln>
        </p:spPr>
      </p:sp>
      <p:sp>
        <p:nvSpPr>
          <p:cNvPr id="11" name="ai Cohort"/>
          <p:cNvSpPr txBox="1"/>
          <p:nvPr/>
        </p:nvSpPr>
        <p:spPr>
          <a:xfrm>
            <a:off x="2157984" y="2971800"/>
            <a:ext cx="1417320" cy="1097280"/>
          </a:xfrm>
          <a:prstGeom prst="roundRect">
            <a:avLst>
              <a:gd name="adj" fmla="val 8333"/>
            </a:avLst>
          </a:prstGeom>
          <a:solidFill>
            <a:srgbClr val="E2F0EE"/>
          </a:solidFill>
          <a:ln w="12700">
            <a:solidFill>
              <a:schemeClr val="accent2"/>
            </a:solidFill>
          </a:ln>
        </p:spPr>
        <p:txBody>
          <a:bodyPr wrap="square" lIns="635" tIns="635" rIns="635" bIns="635" rtlCol="0" anchor="ctr"/>
          <a:lstStyle/>
          <a:p>
            <a:pPr algn="ctr" indent="0" marL="0">
              <a:buNone/>
            </a:pPr>
            <a:r>
              <a:rPr lang="en-US" sz="1200" dirty="0">
                <a:solidFill>
                  <a:schemeClr val="tx1"/>
                </a:solidFill>
              </a:rPr>
              <a:t>copulas, diffusion (MAISI)</a:t>
            </a:r>
            <a:endParaRPr lang="en-US" sz="1200" dirty="0"/>
          </a:p>
        </p:txBody>
      </p:sp>
      <p:sp>
        <p:nvSpPr>
          <p:cNvPr id="12" name="backbone PBPK"/>
          <p:cNvSpPr txBox="1"/>
          <p:nvPr/>
        </p:nvSpPr>
        <p:spPr>
          <a:xfrm>
            <a:off x="3767328" y="1691640"/>
            <a:ext cx="1417320" cy="777240"/>
          </a:xfrm>
          <a:prstGeom prst="roundRect">
            <a:avLst>
              <a:gd name="adj" fmla="val 11765"/>
            </a:avLst>
          </a:prstGeom>
          <a:solidFill>
            <a:schemeClr val="tx2"/>
          </a:solidFill>
          <a:ln/>
        </p:spPr>
        <p:txBody>
          <a:bodyPr wrap="square" lIns="508" tIns="508" rIns="508" bIns="508" rtlCol="0" anchor="ctr"/>
          <a:lstStyle/>
          <a:p>
            <a:pPr algn="ctr" indent="0" marL="0">
              <a:buNone/>
            </a:pPr>
            <a:r>
              <a:rPr lang="en-US" sz="1400" b="1" dirty="0">
                <a:solidFill>
                  <a:schemeClr val="bg1"/>
                </a:solidFill>
              </a:rPr>
              <a:t>PBPK</a:t>
            </a:r>
            <a:endParaRPr lang="en-US" sz="1400" dirty="0"/>
          </a:p>
        </p:txBody>
      </p:sp>
      <p:sp>
        <p:nvSpPr>
          <p:cNvPr id="13" name="arrow"/>
          <p:cNvSpPr/>
          <p:nvPr/>
        </p:nvSpPr>
        <p:spPr>
          <a:xfrm>
            <a:off x="5193792" y="2080260"/>
            <a:ext cx="173736" cy="0"/>
          </a:xfrm>
          <a:prstGeom prst="line">
            <a:avLst/>
          </a:prstGeom>
          <a:noFill/>
          <a:ln w="19050">
            <a:solidFill>
              <a:schemeClr val="accent6"/>
            </a:solidFill>
            <a:prstDash val="solid"/>
            <a:tailEnd type="triangle"/>
          </a:ln>
        </p:spPr>
      </p:sp>
      <p:sp>
        <p:nvSpPr>
          <p:cNvPr id="14" name="ai link"/>
          <p:cNvSpPr/>
          <p:nvPr/>
        </p:nvSpPr>
        <p:spPr>
          <a:xfrm>
            <a:off x="4475988" y="2487168"/>
            <a:ext cx="0" cy="457200"/>
          </a:xfrm>
          <a:prstGeom prst="line">
            <a:avLst/>
          </a:prstGeom>
          <a:noFill/>
          <a:ln w="19050">
            <a:solidFill>
              <a:schemeClr val="accent2"/>
            </a:solidFill>
            <a:prstDash val="dash"/>
          </a:ln>
        </p:spPr>
      </p:sp>
      <p:sp>
        <p:nvSpPr>
          <p:cNvPr id="15" name="ai PBPK"/>
          <p:cNvSpPr txBox="1"/>
          <p:nvPr/>
        </p:nvSpPr>
        <p:spPr>
          <a:xfrm>
            <a:off x="3767328" y="2971800"/>
            <a:ext cx="1417320" cy="1097280"/>
          </a:xfrm>
          <a:prstGeom prst="roundRect">
            <a:avLst>
              <a:gd name="adj" fmla="val 8333"/>
            </a:avLst>
          </a:prstGeom>
          <a:solidFill>
            <a:srgbClr val="E2F0EE"/>
          </a:solidFill>
          <a:ln w="12700">
            <a:solidFill>
              <a:schemeClr val="accent2"/>
            </a:solidFill>
          </a:ln>
        </p:spPr>
        <p:txBody>
          <a:bodyPr wrap="square" lIns="635" tIns="635" rIns="635" bIns="635" rtlCol="0" anchor="ctr"/>
          <a:lstStyle/>
          <a:p>
            <a:pPr algn="ctr" indent="0" marL="0">
              <a:buNone/>
            </a:pPr>
            <a:r>
              <a:rPr lang="en-US" sz="1200" dirty="0">
                <a:solidFill>
                  <a:schemeClr val="tx1"/>
                </a:solidFill>
              </a:rPr>
              <a:t>UDE + SBI posterior</a:t>
            </a:r>
            <a:endParaRPr lang="en-US" sz="1200" dirty="0"/>
          </a:p>
        </p:txBody>
      </p:sp>
      <p:sp>
        <p:nvSpPr>
          <p:cNvPr id="16" name="backbone Dosimetry"/>
          <p:cNvSpPr txBox="1"/>
          <p:nvPr/>
        </p:nvSpPr>
        <p:spPr>
          <a:xfrm>
            <a:off x="5376672" y="1691640"/>
            <a:ext cx="1417320" cy="777240"/>
          </a:xfrm>
          <a:prstGeom prst="roundRect">
            <a:avLst>
              <a:gd name="adj" fmla="val 11765"/>
            </a:avLst>
          </a:prstGeom>
          <a:solidFill>
            <a:schemeClr val="tx2"/>
          </a:solidFill>
          <a:ln/>
        </p:spPr>
        <p:txBody>
          <a:bodyPr wrap="square" lIns="508" tIns="508" rIns="508" bIns="508" rtlCol="0" anchor="ctr"/>
          <a:lstStyle/>
          <a:p>
            <a:pPr algn="ctr" indent="0" marL="0">
              <a:buNone/>
            </a:pPr>
            <a:r>
              <a:rPr lang="en-US" sz="1400" b="1" dirty="0">
                <a:solidFill>
                  <a:schemeClr val="bg1"/>
                </a:solidFill>
              </a:rPr>
              <a:t>Dosimetry</a:t>
            </a:r>
            <a:endParaRPr lang="en-US" sz="1400" dirty="0"/>
          </a:p>
        </p:txBody>
      </p:sp>
      <p:sp>
        <p:nvSpPr>
          <p:cNvPr id="17" name="arrow"/>
          <p:cNvSpPr/>
          <p:nvPr/>
        </p:nvSpPr>
        <p:spPr>
          <a:xfrm>
            <a:off x="6803136" y="2080260"/>
            <a:ext cx="173736" cy="0"/>
          </a:xfrm>
          <a:prstGeom prst="line">
            <a:avLst/>
          </a:prstGeom>
          <a:noFill/>
          <a:ln w="19050">
            <a:solidFill>
              <a:schemeClr val="accent6"/>
            </a:solidFill>
            <a:prstDash val="solid"/>
            <a:tailEnd type="triangle"/>
          </a:ln>
        </p:spPr>
      </p:sp>
      <p:sp>
        <p:nvSpPr>
          <p:cNvPr id="18" name="ai link"/>
          <p:cNvSpPr/>
          <p:nvPr/>
        </p:nvSpPr>
        <p:spPr>
          <a:xfrm>
            <a:off x="6085332" y="2487168"/>
            <a:ext cx="0" cy="457200"/>
          </a:xfrm>
          <a:prstGeom prst="line">
            <a:avLst/>
          </a:prstGeom>
          <a:noFill/>
          <a:ln w="19050">
            <a:solidFill>
              <a:schemeClr val="accent2"/>
            </a:solidFill>
            <a:prstDash val="dash"/>
          </a:ln>
        </p:spPr>
      </p:sp>
      <p:sp>
        <p:nvSpPr>
          <p:cNvPr id="19" name="ai Dosimetry"/>
          <p:cNvSpPr txBox="1"/>
          <p:nvPr/>
        </p:nvSpPr>
        <p:spPr>
          <a:xfrm>
            <a:off x="5376672" y="2971800"/>
            <a:ext cx="1417320" cy="1097280"/>
          </a:xfrm>
          <a:prstGeom prst="roundRect">
            <a:avLst>
              <a:gd name="adj" fmla="val 8333"/>
            </a:avLst>
          </a:prstGeom>
          <a:solidFill>
            <a:srgbClr val="E2F0EE"/>
          </a:solidFill>
          <a:ln w="12700">
            <a:solidFill>
              <a:schemeClr val="accent2"/>
            </a:solidFill>
          </a:ln>
        </p:spPr>
        <p:txBody>
          <a:bodyPr wrap="square" lIns="635" tIns="635" rIns="635" bIns="635" rtlCol="0" anchor="ctr"/>
          <a:lstStyle/>
          <a:p>
            <a:pPr algn="ctr" indent="0" marL="0">
              <a:buNone/>
            </a:pPr>
            <a:r>
              <a:rPr lang="en-US" sz="1200" dirty="0">
                <a:solidFill>
                  <a:schemeClr val="tx1"/>
                </a:solidFill>
              </a:rPr>
              <a:t>neural operator, DoseVLM</a:t>
            </a:r>
            <a:endParaRPr lang="en-US" sz="1200" dirty="0"/>
          </a:p>
        </p:txBody>
      </p:sp>
      <p:sp>
        <p:nvSpPr>
          <p:cNvPr id="20" name="backbone Radiobiology"/>
          <p:cNvSpPr txBox="1"/>
          <p:nvPr/>
        </p:nvSpPr>
        <p:spPr>
          <a:xfrm>
            <a:off x="6986016" y="1691640"/>
            <a:ext cx="1417320" cy="777240"/>
          </a:xfrm>
          <a:prstGeom prst="roundRect">
            <a:avLst>
              <a:gd name="adj" fmla="val 11765"/>
            </a:avLst>
          </a:prstGeom>
          <a:solidFill>
            <a:schemeClr val="tx2"/>
          </a:solidFill>
          <a:ln/>
        </p:spPr>
        <p:txBody>
          <a:bodyPr wrap="square" lIns="508" tIns="508" rIns="508" bIns="508" rtlCol="0" anchor="ctr"/>
          <a:lstStyle/>
          <a:p>
            <a:pPr algn="ctr" indent="0" marL="0">
              <a:buNone/>
            </a:pPr>
            <a:r>
              <a:rPr lang="en-US" sz="1400" b="1" dirty="0">
                <a:solidFill>
                  <a:schemeClr val="bg1"/>
                </a:solidFill>
              </a:rPr>
              <a:t>Radiobiology</a:t>
            </a:r>
            <a:endParaRPr lang="en-US" sz="1400" dirty="0"/>
          </a:p>
        </p:txBody>
      </p:sp>
      <p:sp>
        <p:nvSpPr>
          <p:cNvPr id="21" name="arrow"/>
          <p:cNvSpPr/>
          <p:nvPr/>
        </p:nvSpPr>
        <p:spPr>
          <a:xfrm>
            <a:off x="8412480" y="2080260"/>
            <a:ext cx="173736" cy="0"/>
          </a:xfrm>
          <a:prstGeom prst="line">
            <a:avLst/>
          </a:prstGeom>
          <a:noFill/>
          <a:ln w="19050">
            <a:solidFill>
              <a:schemeClr val="accent6"/>
            </a:solidFill>
            <a:prstDash val="solid"/>
            <a:tailEnd type="triangle"/>
          </a:ln>
        </p:spPr>
      </p:sp>
      <p:sp>
        <p:nvSpPr>
          <p:cNvPr id="22" name="ai link"/>
          <p:cNvSpPr/>
          <p:nvPr/>
        </p:nvSpPr>
        <p:spPr>
          <a:xfrm>
            <a:off x="7694676" y="2487168"/>
            <a:ext cx="0" cy="457200"/>
          </a:xfrm>
          <a:prstGeom prst="line">
            <a:avLst/>
          </a:prstGeom>
          <a:noFill/>
          <a:ln w="19050">
            <a:solidFill>
              <a:schemeClr val="accent2"/>
            </a:solidFill>
            <a:prstDash val="dash"/>
          </a:ln>
        </p:spPr>
      </p:sp>
      <p:sp>
        <p:nvSpPr>
          <p:cNvPr id="23" name="ai Radiobiology"/>
          <p:cNvSpPr txBox="1"/>
          <p:nvPr/>
        </p:nvSpPr>
        <p:spPr>
          <a:xfrm>
            <a:off x="6986016" y="2971800"/>
            <a:ext cx="1417320" cy="1097280"/>
          </a:xfrm>
          <a:prstGeom prst="roundRect">
            <a:avLst>
              <a:gd name="adj" fmla="val 8333"/>
            </a:avLst>
          </a:prstGeom>
          <a:solidFill>
            <a:srgbClr val="E2F0EE"/>
          </a:solidFill>
          <a:ln w="12700">
            <a:solidFill>
              <a:schemeClr val="accent2"/>
            </a:solidFill>
          </a:ln>
        </p:spPr>
        <p:txBody>
          <a:bodyPr wrap="square" lIns="635" tIns="635" rIns="635" bIns="635" rtlCol="0" anchor="ctr"/>
          <a:lstStyle/>
          <a:p>
            <a:pPr algn="ctr" indent="0" marL="0">
              <a:buNone/>
            </a:pPr>
            <a:r>
              <a:rPr lang="en-US" sz="1200" dirty="0">
                <a:solidFill>
                  <a:schemeClr val="tx1"/>
                </a:solidFill>
              </a:rPr>
              <a:t>Bayesian α/β, G priors</a:t>
            </a:r>
            <a:endParaRPr lang="en-US" sz="1200" dirty="0"/>
          </a:p>
        </p:txBody>
      </p:sp>
      <p:sp>
        <p:nvSpPr>
          <p:cNvPr id="24" name="backbone Outcome"/>
          <p:cNvSpPr txBox="1"/>
          <p:nvPr/>
        </p:nvSpPr>
        <p:spPr>
          <a:xfrm>
            <a:off x="8595360" y="1691640"/>
            <a:ext cx="1417320" cy="777240"/>
          </a:xfrm>
          <a:prstGeom prst="roundRect">
            <a:avLst>
              <a:gd name="adj" fmla="val 11765"/>
            </a:avLst>
          </a:prstGeom>
          <a:solidFill>
            <a:schemeClr val="tx2"/>
          </a:solidFill>
          <a:ln/>
        </p:spPr>
        <p:txBody>
          <a:bodyPr wrap="square" lIns="508" tIns="508" rIns="508" bIns="508" rtlCol="0" anchor="ctr"/>
          <a:lstStyle/>
          <a:p>
            <a:pPr algn="ctr" indent="0" marL="0">
              <a:buNone/>
            </a:pPr>
            <a:r>
              <a:rPr lang="en-US" sz="1400" b="1" dirty="0">
                <a:solidFill>
                  <a:schemeClr val="bg1"/>
                </a:solidFill>
              </a:rPr>
              <a:t>Outcome</a:t>
            </a:r>
            <a:endParaRPr lang="en-US" sz="1400" dirty="0"/>
          </a:p>
        </p:txBody>
      </p:sp>
      <p:sp>
        <p:nvSpPr>
          <p:cNvPr id="25" name="arrow"/>
          <p:cNvSpPr/>
          <p:nvPr/>
        </p:nvSpPr>
        <p:spPr>
          <a:xfrm>
            <a:off x="10021824" y="2080260"/>
            <a:ext cx="173736" cy="0"/>
          </a:xfrm>
          <a:prstGeom prst="line">
            <a:avLst/>
          </a:prstGeom>
          <a:noFill/>
          <a:ln w="19050">
            <a:solidFill>
              <a:schemeClr val="accent6"/>
            </a:solidFill>
            <a:prstDash val="solid"/>
            <a:tailEnd type="triangle"/>
          </a:ln>
        </p:spPr>
      </p:sp>
      <p:sp>
        <p:nvSpPr>
          <p:cNvPr id="26" name="ai link"/>
          <p:cNvSpPr/>
          <p:nvPr/>
        </p:nvSpPr>
        <p:spPr>
          <a:xfrm>
            <a:off x="9304020" y="2487168"/>
            <a:ext cx="0" cy="457200"/>
          </a:xfrm>
          <a:prstGeom prst="line">
            <a:avLst/>
          </a:prstGeom>
          <a:noFill/>
          <a:ln w="19050">
            <a:solidFill>
              <a:schemeClr val="accent2"/>
            </a:solidFill>
            <a:prstDash val="dash"/>
          </a:ln>
        </p:spPr>
      </p:sp>
      <p:sp>
        <p:nvSpPr>
          <p:cNvPr id="27" name="ai Outcome"/>
          <p:cNvSpPr txBox="1"/>
          <p:nvPr/>
        </p:nvSpPr>
        <p:spPr>
          <a:xfrm>
            <a:off x="8595360" y="2971800"/>
            <a:ext cx="1417320" cy="1097280"/>
          </a:xfrm>
          <a:prstGeom prst="roundRect">
            <a:avLst>
              <a:gd name="adj" fmla="val 8333"/>
            </a:avLst>
          </a:prstGeom>
          <a:solidFill>
            <a:srgbClr val="E2F0EE"/>
          </a:solidFill>
          <a:ln w="12700">
            <a:solidFill>
              <a:schemeClr val="accent2"/>
            </a:solidFill>
          </a:ln>
        </p:spPr>
        <p:txBody>
          <a:bodyPr wrap="square" lIns="635" tIns="635" rIns="635" bIns="635" rtlCol="0" anchor="ctr"/>
          <a:lstStyle/>
          <a:p>
            <a:pPr algn="ctr" indent="0" marL="0">
              <a:buNone/>
            </a:pPr>
            <a:r>
              <a:rPr lang="en-US" sz="1200" dirty="0">
                <a:solidFill>
                  <a:schemeClr val="tx1"/>
                </a:solidFill>
              </a:rPr>
              <a:t>survival ML + conformal</a:t>
            </a:r>
            <a:endParaRPr lang="en-US" sz="1200" dirty="0"/>
          </a:p>
        </p:txBody>
      </p:sp>
      <p:sp>
        <p:nvSpPr>
          <p:cNvPr id="28" name="backbone Decision"/>
          <p:cNvSpPr txBox="1"/>
          <p:nvPr/>
        </p:nvSpPr>
        <p:spPr>
          <a:xfrm>
            <a:off x="10204704" y="1691640"/>
            <a:ext cx="1417320" cy="777240"/>
          </a:xfrm>
          <a:prstGeom prst="roundRect">
            <a:avLst>
              <a:gd name="adj" fmla="val 11765"/>
            </a:avLst>
          </a:prstGeom>
          <a:solidFill>
            <a:schemeClr val="tx2"/>
          </a:solidFill>
          <a:ln/>
        </p:spPr>
        <p:txBody>
          <a:bodyPr wrap="square" lIns="508" tIns="508" rIns="508" bIns="508" rtlCol="0" anchor="ctr"/>
          <a:lstStyle/>
          <a:p>
            <a:pPr algn="ctr" indent="0" marL="0">
              <a:buNone/>
            </a:pPr>
            <a:r>
              <a:rPr lang="en-US" sz="1400" b="1" dirty="0">
                <a:solidFill>
                  <a:schemeClr val="bg1"/>
                </a:solidFill>
              </a:rPr>
              <a:t>Decision</a:t>
            </a:r>
            <a:endParaRPr lang="en-US" sz="1400" dirty="0"/>
          </a:p>
        </p:txBody>
      </p:sp>
      <p:sp>
        <p:nvSpPr>
          <p:cNvPr id="29" name="ai link"/>
          <p:cNvSpPr/>
          <p:nvPr/>
        </p:nvSpPr>
        <p:spPr>
          <a:xfrm>
            <a:off x="10913364" y="2487168"/>
            <a:ext cx="0" cy="457200"/>
          </a:xfrm>
          <a:prstGeom prst="line">
            <a:avLst/>
          </a:prstGeom>
          <a:noFill/>
          <a:ln w="19050">
            <a:solidFill>
              <a:schemeClr val="accent2"/>
            </a:solidFill>
            <a:prstDash val="dash"/>
          </a:ln>
        </p:spPr>
      </p:sp>
      <p:sp>
        <p:nvSpPr>
          <p:cNvPr id="30" name="ai Decision"/>
          <p:cNvSpPr txBox="1"/>
          <p:nvPr/>
        </p:nvSpPr>
        <p:spPr>
          <a:xfrm>
            <a:off x="10204704" y="2971800"/>
            <a:ext cx="1417320" cy="1097280"/>
          </a:xfrm>
          <a:prstGeom prst="roundRect">
            <a:avLst>
              <a:gd name="adj" fmla="val 8333"/>
            </a:avLst>
          </a:prstGeom>
          <a:solidFill>
            <a:srgbClr val="E2F0EE"/>
          </a:solidFill>
          <a:ln w="12700">
            <a:solidFill>
              <a:schemeClr val="accent2"/>
            </a:solidFill>
          </a:ln>
        </p:spPr>
        <p:txBody>
          <a:bodyPr wrap="square" lIns="635" tIns="635" rIns="635" bIns="635" rtlCol="0" anchor="ctr"/>
          <a:lstStyle/>
          <a:p>
            <a:pPr algn="ctr" indent="0" marL="0">
              <a:buNone/>
            </a:pPr>
            <a:r>
              <a:rPr lang="en-US" sz="1200" dirty="0">
                <a:solidFill>
                  <a:schemeClr val="tx1"/>
                </a:solidFill>
              </a:rPr>
              <a:t>Bayesian optimisation, RL</a:t>
            </a:r>
            <a:endParaRPr lang="en-US" sz="1200" dirty="0"/>
          </a:p>
        </p:txBody>
      </p:sp>
      <p:sp>
        <p:nvSpPr>
          <p:cNvPr id="31" name="Text 29"/>
          <p:cNvSpPr txBox="1"/>
          <p:nvPr/>
        </p:nvSpPr>
        <p:spPr>
          <a:xfrm>
            <a:off x="548640" y="1371600"/>
            <a:ext cx="5486400" cy="274320"/>
          </a:xfrm>
          <a:prstGeom prst="rect">
            <a:avLst/>
          </a:prstGeom>
          <a:noFill/>
          <a:ln/>
        </p:spPr>
        <p:txBody>
          <a:bodyPr wrap="square" lIns="0" tIns="0" rIns="0" bIns="0" rtlCol="0" anchor="ctr"/>
          <a:lstStyle/>
          <a:p>
            <a:pPr indent="0" marL="0">
              <a:buNone/>
            </a:pPr>
            <a:r>
              <a:rPr lang="en-US" sz="1100" b="1" dirty="0">
                <a:solidFill>
                  <a:schemeClr val="accent6"/>
                </a:solidFill>
              </a:rPr>
              <a:t>MECHANISTIC BACKBONE</a:t>
            </a:r>
            <a:endParaRPr lang="en-US" sz="1100" dirty="0"/>
          </a:p>
        </p:txBody>
      </p:sp>
      <p:sp>
        <p:nvSpPr>
          <p:cNvPr id="32" name="Text 30"/>
          <p:cNvSpPr txBox="1"/>
          <p:nvPr/>
        </p:nvSpPr>
        <p:spPr>
          <a:xfrm>
            <a:off x="548640" y="4160520"/>
            <a:ext cx="7315200" cy="274320"/>
          </a:xfrm>
          <a:prstGeom prst="rect">
            <a:avLst/>
          </a:prstGeom>
          <a:noFill/>
          <a:ln/>
        </p:spPr>
        <p:txBody>
          <a:bodyPr wrap="square" lIns="0" tIns="0" rIns="0" bIns="0" rtlCol="0" anchor="ctr"/>
          <a:lstStyle/>
          <a:p>
            <a:pPr indent="0" marL="0">
              <a:buNone/>
            </a:pPr>
            <a:r>
              <a:rPr lang="en-US" sz="1100" b="1" dirty="0">
                <a:solidFill>
                  <a:schemeClr val="accent6"/>
                </a:solidFill>
              </a:rPr>
              <a:t>AI MODULES (replace or correct a step once validated)</a:t>
            </a:r>
            <a:endParaRPr lang="en-US" sz="1100" dirty="0"/>
          </a:p>
        </p:txBody>
      </p:sp>
      <p:sp>
        <p:nvSpPr>
          <p:cNvPr id="33" name="icon circle"/>
          <p:cNvSpPr/>
          <p:nvPr/>
        </p:nvSpPr>
        <p:spPr>
          <a:xfrm>
            <a:off x="548640" y="4572000"/>
            <a:ext cx="502920" cy="502920"/>
          </a:xfrm>
          <a:prstGeom prst="ellipse">
            <a:avLst/>
          </a:prstGeom>
          <a:solidFill>
            <a:schemeClr val="accent2"/>
          </a:solidFill>
          <a:ln w="12700">
            <a:solidFill>
              <a:schemeClr val="accent2"/>
            </a:solidFill>
            <a:prstDash val="solid"/>
          </a:ln>
        </p:spPr>
      </p:sp>
      <p:pic>
        <p:nvPicPr>
          <p:cNvPr id="34" name="icon" descr="preencoded.png">    </p:cNvPr>
          <p:cNvPicPr>
            <a:picLocks noChangeAspect="1"/>
          </p:cNvPicPr>
          <p:nvPr/>
        </p:nvPicPr>
        <p:blipFill>
          <a:blip r:embed="rId1"/>
          <a:stretch>
            <a:fillRect/>
          </a:stretch>
        </p:blipFill>
        <p:spPr>
          <a:xfrm>
            <a:off x="659282" y="4682642"/>
            <a:ext cx="281635" cy="281635"/>
          </a:xfrm>
          <a:prstGeom prst="rect">
            <a:avLst/>
          </a:prstGeom>
        </p:spPr>
      </p:pic>
      <p:sp>
        <p:nvSpPr>
          <p:cNvPr id="35" name="Text 32"/>
          <p:cNvSpPr txBox="1"/>
          <p:nvPr/>
        </p:nvSpPr>
        <p:spPr>
          <a:xfrm>
            <a:off x="1188720" y="4526280"/>
            <a:ext cx="2971800" cy="548640"/>
          </a:xfrm>
          <a:prstGeom prst="rect">
            <a:avLst/>
          </a:prstGeom>
          <a:noFill/>
          <a:ln/>
        </p:spPr>
        <p:txBody>
          <a:bodyPr wrap="square" lIns="0" tIns="0" rIns="0" bIns="0" rtlCol="0" anchor="ctr"/>
          <a:lstStyle/>
          <a:p>
            <a:pPr indent="0" marL="0">
              <a:buNone/>
            </a:pPr>
            <a:r>
              <a:rPr lang="en-US" sz="1500" b="1" dirty="0">
                <a:solidFill>
                  <a:schemeClr val="tx2"/>
                </a:solidFill>
              </a:rPr>
              <a:t>Keep the backbone interpretable</a:t>
            </a:r>
            <a:endParaRPr lang="en-US" sz="1500" dirty="0"/>
          </a:p>
        </p:txBody>
      </p:sp>
      <p:sp>
        <p:nvSpPr>
          <p:cNvPr id="36" name="Text 33"/>
          <p:cNvSpPr txBox="1"/>
          <p:nvPr/>
        </p:nvSpPr>
        <p:spPr>
          <a:xfrm>
            <a:off x="1188720" y="5074920"/>
            <a:ext cx="2971800" cy="1005840"/>
          </a:xfrm>
          <a:prstGeom prst="rect">
            <a:avLst/>
          </a:prstGeom>
          <a:noFill/>
          <a:ln/>
        </p:spPr>
        <p:txBody>
          <a:bodyPr wrap="square" lIns="0" tIns="0" rIns="0" bIns="0" rtlCol="0" anchor="t"/>
          <a:lstStyle/>
          <a:p>
            <a:pPr indent="0" marL="0">
              <a:buNone/>
            </a:pPr>
            <a:r>
              <a:rPr lang="en-US" sz="1400" dirty="0">
                <a:solidFill>
                  <a:schemeClr val="tx1"/>
                </a:solidFill>
              </a:rPr>
              <a:t>Equations stay visible; AI corrects or accelerates, never hides, a step.</a:t>
            </a:r>
            <a:endParaRPr lang="en-US" sz="1400" dirty="0"/>
          </a:p>
        </p:txBody>
      </p:sp>
      <p:sp>
        <p:nvSpPr>
          <p:cNvPr id="37" name="icon circle"/>
          <p:cNvSpPr/>
          <p:nvPr/>
        </p:nvSpPr>
        <p:spPr>
          <a:xfrm>
            <a:off x="4297680" y="4572000"/>
            <a:ext cx="502920" cy="502920"/>
          </a:xfrm>
          <a:prstGeom prst="ellipse">
            <a:avLst/>
          </a:prstGeom>
          <a:solidFill>
            <a:schemeClr val="accent2"/>
          </a:solidFill>
          <a:ln w="12700">
            <a:solidFill>
              <a:schemeClr val="accent2"/>
            </a:solidFill>
            <a:prstDash val="solid"/>
          </a:ln>
        </p:spPr>
      </p:sp>
      <p:pic>
        <p:nvPicPr>
          <p:cNvPr id="38" name="icon" descr="preencoded.png">    </p:cNvPr>
          <p:cNvPicPr>
            <a:picLocks noChangeAspect="1"/>
          </p:cNvPicPr>
          <p:nvPr/>
        </p:nvPicPr>
        <p:blipFill>
          <a:blip r:embed="rId2"/>
          <a:stretch>
            <a:fillRect/>
          </a:stretch>
        </p:blipFill>
        <p:spPr>
          <a:xfrm>
            <a:off x="4408322" y="4682642"/>
            <a:ext cx="281635" cy="281635"/>
          </a:xfrm>
          <a:prstGeom prst="rect">
            <a:avLst/>
          </a:prstGeom>
        </p:spPr>
      </p:pic>
      <p:sp>
        <p:nvSpPr>
          <p:cNvPr id="39" name="Text 35"/>
          <p:cNvSpPr txBox="1"/>
          <p:nvPr/>
        </p:nvSpPr>
        <p:spPr>
          <a:xfrm>
            <a:off x="4937760" y="4526280"/>
            <a:ext cx="2971800" cy="548640"/>
          </a:xfrm>
          <a:prstGeom prst="rect">
            <a:avLst/>
          </a:prstGeom>
          <a:noFill/>
          <a:ln/>
        </p:spPr>
        <p:txBody>
          <a:bodyPr wrap="square" lIns="0" tIns="0" rIns="0" bIns="0" rtlCol="0" anchor="ctr"/>
          <a:lstStyle/>
          <a:p>
            <a:pPr indent="0" marL="0">
              <a:buNone/>
            </a:pPr>
            <a:r>
              <a:rPr lang="en-US" sz="1500" b="1" dirty="0">
                <a:solidFill>
                  <a:schemeClr val="tx2"/>
                </a:solidFill>
              </a:rPr>
              <a:t>Validate each module alone</a:t>
            </a:r>
            <a:endParaRPr lang="en-US" sz="1500" dirty="0"/>
          </a:p>
        </p:txBody>
      </p:sp>
      <p:sp>
        <p:nvSpPr>
          <p:cNvPr id="40" name="Text 36"/>
          <p:cNvSpPr txBox="1"/>
          <p:nvPr/>
        </p:nvSpPr>
        <p:spPr>
          <a:xfrm>
            <a:off x="4937760" y="5074920"/>
            <a:ext cx="2971800" cy="1005840"/>
          </a:xfrm>
          <a:prstGeom prst="rect">
            <a:avLst/>
          </a:prstGeom>
          <a:noFill/>
          <a:ln/>
        </p:spPr>
        <p:txBody>
          <a:bodyPr wrap="square" lIns="0" tIns="0" rIns="0" bIns="0" rtlCol="0" anchor="t"/>
          <a:lstStyle/>
          <a:p>
            <a:pPr indent="0" marL="0">
              <a:buNone/>
            </a:pPr>
            <a:r>
              <a:rPr lang="en-US" sz="1400" dirty="0">
                <a:solidFill>
                  <a:schemeClr val="tx1"/>
                </a:solidFill>
              </a:rPr>
              <a:t>Dose before response; a module enters the twin only after its own test.</a:t>
            </a:r>
            <a:endParaRPr lang="en-US" sz="1400" dirty="0"/>
          </a:p>
        </p:txBody>
      </p:sp>
      <p:sp>
        <p:nvSpPr>
          <p:cNvPr id="41" name="icon circle"/>
          <p:cNvSpPr/>
          <p:nvPr/>
        </p:nvSpPr>
        <p:spPr>
          <a:xfrm>
            <a:off x="8046720" y="4572000"/>
            <a:ext cx="502920" cy="502920"/>
          </a:xfrm>
          <a:prstGeom prst="ellipse">
            <a:avLst/>
          </a:prstGeom>
          <a:solidFill>
            <a:schemeClr val="accent2"/>
          </a:solidFill>
          <a:ln w="12700">
            <a:solidFill>
              <a:schemeClr val="accent2"/>
            </a:solidFill>
            <a:prstDash val="solid"/>
          </a:ln>
        </p:spPr>
      </p:sp>
      <p:pic>
        <p:nvPicPr>
          <p:cNvPr id="42" name="icon" descr="preencoded.png">    </p:cNvPr>
          <p:cNvPicPr>
            <a:picLocks noChangeAspect="1"/>
          </p:cNvPicPr>
          <p:nvPr/>
        </p:nvPicPr>
        <p:blipFill>
          <a:blip r:embed="rId3"/>
          <a:stretch>
            <a:fillRect/>
          </a:stretch>
        </p:blipFill>
        <p:spPr>
          <a:xfrm>
            <a:off x="8157362" y="4682642"/>
            <a:ext cx="281635" cy="281635"/>
          </a:xfrm>
          <a:prstGeom prst="rect">
            <a:avLst/>
          </a:prstGeom>
        </p:spPr>
      </p:pic>
      <p:sp>
        <p:nvSpPr>
          <p:cNvPr id="43" name="Text 38"/>
          <p:cNvSpPr txBox="1"/>
          <p:nvPr/>
        </p:nvSpPr>
        <p:spPr>
          <a:xfrm>
            <a:off x="8686800" y="4526280"/>
            <a:ext cx="2971800" cy="548640"/>
          </a:xfrm>
          <a:prstGeom prst="rect">
            <a:avLst/>
          </a:prstGeom>
          <a:noFill/>
          <a:ln/>
        </p:spPr>
        <p:txBody>
          <a:bodyPr wrap="square" lIns="0" tIns="0" rIns="0" bIns="0" rtlCol="0" anchor="ctr"/>
          <a:lstStyle/>
          <a:p>
            <a:pPr indent="0" marL="0">
              <a:buNone/>
            </a:pPr>
            <a:r>
              <a:rPr lang="en-US" sz="1500" b="1" dirty="0">
                <a:solidFill>
                  <a:schemeClr val="tx2"/>
                </a:solidFill>
              </a:rPr>
              <a:t>Carry uncertainty through</a:t>
            </a:r>
            <a:endParaRPr lang="en-US" sz="1500" dirty="0"/>
          </a:p>
        </p:txBody>
      </p:sp>
      <p:sp>
        <p:nvSpPr>
          <p:cNvPr id="44" name="Text 39"/>
          <p:cNvSpPr txBox="1"/>
          <p:nvPr/>
        </p:nvSpPr>
        <p:spPr>
          <a:xfrm>
            <a:off x="8686800" y="5074920"/>
            <a:ext cx="2971800" cy="1005840"/>
          </a:xfrm>
          <a:prstGeom prst="rect">
            <a:avLst/>
          </a:prstGeom>
          <a:noFill/>
          <a:ln/>
        </p:spPr>
        <p:txBody>
          <a:bodyPr wrap="square" lIns="0" tIns="0" rIns="0" bIns="0" rtlCol="0" anchor="t"/>
          <a:lstStyle/>
          <a:p>
            <a:pPr indent="0" marL="0">
              <a:buNone/>
            </a:pPr>
            <a:r>
              <a:rPr lang="en-US" sz="1400" dirty="0">
                <a:solidFill>
                  <a:schemeClr val="tx1"/>
                </a:solidFill>
              </a:rPr>
              <a:t>Every module outputs an interval; the decision uses the full posterior.</a:t>
            </a:r>
            <a:endParaRPr lang="en-US" sz="14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THE COMBINED MODEL · BUILD PLAN</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Four modules turn the repo into the full twin</a:t>
            </a:r>
            <a:endParaRPr lang="en-US" sz="3600" dirty="0"/>
          </a:p>
        </p:txBody>
      </p:sp>
      <p:sp>
        <p:nvSpPr>
          <p:cNvPr id="4" name="module 1"/>
          <p:cNvSpPr txBox="1"/>
          <p:nvPr/>
        </p:nvSpPr>
        <p:spPr>
          <a:xfrm>
            <a:off x="548640" y="1709928"/>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1</a:t>
            </a:r>
            <a:endParaRPr lang="en-US" sz="2000" dirty="0"/>
          </a:p>
        </p:txBody>
      </p:sp>
      <p:sp>
        <p:nvSpPr>
          <p:cNvPr id="5" name="Text 3"/>
          <p:cNvSpPr txBox="1"/>
          <p:nvPr/>
        </p:nvSpPr>
        <p:spPr>
          <a:xfrm>
            <a:off x="1417320" y="1600200"/>
            <a:ext cx="3108960" cy="86868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dt/pbpk.py</a:t>
            </a:r>
            <a:endParaRPr lang="en-US" sz="1700" dirty="0"/>
          </a:p>
        </p:txBody>
      </p:sp>
      <p:sp>
        <p:nvSpPr>
          <p:cNvPr id="6" name="Text 4"/>
          <p:cNvSpPr txBox="1"/>
          <p:nvPr/>
        </p:nvSpPr>
        <p:spPr>
          <a:xfrm>
            <a:off x="4526280" y="1673352"/>
            <a:ext cx="5120640" cy="73152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PBPK ODEs + TAC fitting + Ã; calibrate with SBI</a:t>
            </a:r>
            <a:endParaRPr lang="en-US" sz="1500" dirty="0"/>
          </a:p>
        </p:txBody>
      </p:sp>
      <p:sp>
        <p:nvSpPr>
          <p:cNvPr id="7" name="tag PROPOSED"/>
          <p:cNvSpPr txBox="1"/>
          <p:nvPr/>
        </p:nvSpPr>
        <p:spPr>
          <a:xfrm>
            <a:off x="9829800" y="1901952"/>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8" name="Text 6"/>
          <p:cNvSpPr txBox="1"/>
          <p:nvPr/>
        </p:nvSpPr>
        <p:spPr>
          <a:xfrm>
            <a:off x="10881360" y="1600200"/>
            <a:ext cx="777240" cy="868680"/>
          </a:xfrm>
          <a:prstGeom prst="rect">
            <a:avLst/>
          </a:prstGeom>
          <a:noFill/>
          <a:ln/>
        </p:spPr>
        <p:txBody>
          <a:bodyPr wrap="square" lIns="0" tIns="0" rIns="0" bIns="0" rtlCol="0" anchor="ctr"/>
          <a:lstStyle/>
          <a:p>
            <a:pPr indent="0" marL="0">
              <a:buNone/>
            </a:pPr>
            <a:r>
              <a:rPr lang="en-US" sz="1200" dirty="0">
                <a:solidFill>
                  <a:schemeClr val="accent6"/>
                </a:solidFill>
              </a:rPr>
              <a:t>Layers 1–2</a:t>
            </a:r>
            <a:endParaRPr lang="en-US" sz="1200" dirty="0"/>
          </a:p>
        </p:txBody>
      </p:sp>
      <p:sp>
        <p:nvSpPr>
          <p:cNvPr id="9" name="module 2"/>
          <p:cNvSpPr txBox="1"/>
          <p:nvPr/>
        </p:nvSpPr>
        <p:spPr>
          <a:xfrm>
            <a:off x="548640" y="2734056"/>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2</a:t>
            </a:r>
            <a:endParaRPr lang="en-US" sz="2000" dirty="0"/>
          </a:p>
        </p:txBody>
      </p:sp>
      <p:sp>
        <p:nvSpPr>
          <p:cNvPr id="10" name="Text 8"/>
          <p:cNvSpPr txBox="1"/>
          <p:nvPr/>
        </p:nvSpPr>
        <p:spPr>
          <a:xfrm>
            <a:off x="1417320" y="2624328"/>
            <a:ext cx="3108960" cy="86868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dt/radiobiology.py</a:t>
            </a:r>
            <a:endParaRPr lang="en-US" sz="1700" dirty="0"/>
          </a:p>
        </p:txBody>
      </p:sp>
      <p:sp>
        <p:nvSpPr>
          <p:cNvPr id="11" name="Text 9"/>
          <p:cNvSpPr txBox="1"/>
          <p:nvPr/>
        </p:nvSpPr>
        <p:spPr>
          <a:xfrm>
            <a:off x="4526280" y="2697480"/>
            <a:ext cx="5120640" cy="73152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BED with G factor, EQD2, TCP, LKB-NTCP</a:t>
            </a:r>
            <a:endParaRPr lang="en-US" sz="1500" dirty="0"/>
          </a:p>
        </p:txBody>
      </p:sp>
      <p:sp>
        <p:nvSpPr>
          <p:cNvPr id="12" name="tag PROPOSED"/>
          <p:cNvSpPr txBox="1"/>
          <p:nvPr/>
        </p:nvSpPr>
        <p:spPr>
          <a:xfrm>
            <a:off x="9829800" y="2926080"/>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13" name="Text 11"/>
          <p:cNvSpPr txBox="1"/>
          <p:nvPr/>
        </p:nvSpPr>
        <p:spPr>
          <a:xfrm>
            <a:off x="10881360" y="2624328"/>
            <a:ext cx="777240" cy="868680"/>
          </a:xfrm>
          <a:prstGeom prst="rect">
            <a:avLst/>
          </a:prstGeom>
          <a:noFill/>
          <a:ln/>
        </p:spPr>
        <p:txBody>
          <a:bodyPr wrap="square" lIns="0" tIns="0" rIns="0" bIns="0" rtlCol="0" anchor="ctr"/>
          <a:lstStyle/>
          <a:p>
            <a:pPr indent="0" marL="0">
              <a:buNone/>
            </a:pPr>
            <a:r>
              <a:rPr lang="en-US" sz="1200" dirty="0">
                <a:solidFill>
                  <a:schemeClr val="accent6"/>
                </a:solidFill>
              </a:rPr>
              <a:t>Layer 4</a:t>
            </a:r>
            <a:endParaRPr lang="en-US" sz="1200" dirty="0"/>
          </a:p>
        </p:txBody>
      </p:sp>
      <p:sp>
        <p:nvSpPr>
          <p:cNvPr id="14" name="module 3"/>
          <p:cNvSpPr txBox="1"/>
          <p:nvPr/>
        </p:nvSpPr>
        <p:spPr>
          <a:xfrm>
            <a:off x="548640" y="3758184"/>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3</a:t>
            </a:r>
            <a:endParaRPr lang="en-US" sz="2000" dirty="0"/>
          </a:p>
        </p:txBody>
      </p:sp>
      <p:sp>
        <p:nvSpPr>
          <p:cNvPr id="15" name="Text 13"/>
          <p:cNvSpPr txBox="1"/>
          <p:nvPr/>
        </p:nvSpPr>
        <p:spPr>
          <a:xfrm>
            <a:off x="1417320" y="3648456"/>
            <a:ext cx="3108960" cy="86868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dt/optimise.py</a:t>
            </a:r>
            <a:endParaRPr lang="en-US" sz="1700" dirty="0"/>
          </a:p>
        </p:txBody>
      </p:sp>
      <p:sp>
        <p:nvSpPr>
          <p:cNvPr id="16" name="Text 14"/>
          <p:cNvSpPr txBox="1"/>
          <p:nvPr/>
        </p:nvSpPr>
        <p:spPr>
          <a:xfrm>
            <a:off x="4526280" y="3721608"/>
            <a:ext cx="5120640" cy="73152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Bayesian update, P⁺ objective, constrained activity search</a:t>
            </a:r>
            <a:endParaRPr lang="en-US" sz="1500" dirty="0"/>
          </a:p>
        </p:txBody>
      </p:sp>
      <p:sp>
        <p:nvSpPr>
          <p:cNvPr id="17" name="tag PROPOSED"/>
          <p:cNvSpPr txBox="1"/>
          <p:nvPr/>
        </p:nvSpPr>
        <p:spPr>
          <a:xfrm>
            <a:off x="9829800" y="3950208"/>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18" name="Text 16"/>
          <p:cNvSpPr txBox="1"/>
          <p:nvPr/>
        </p:nvSpPr>
        <p:spPr>
          <a:xfrm>
            <a:off x="10881360" y="3648456"/>
            <a:ext cx="777240" cy="868680"/>
          </a:xfrm>
          <a:prstGeom prst="rect">
            <a:avLst/>
          </a:prstGeom>
          <a:noFill/>
          <a:ln/>
        </p:spPr>
        <p:txBody>
          <a:bodyPr wrap="square" lIns="0" tIns="0" rIns="0" bIns="0" rtlCol="0" anchor="ctr"/>
          <a:lstStyle/>
          <a:p>
            <a:pPr indent="0" marL="0">
              <a:buNone/>
            </a:pPr>
            <a:r>
              <a:rPr lang="en-US" sz="1200" dirty="0">
                <a:solidFill>
                  <a:schemeClr val="accent6"/>
                </a:solidFill>
              </a:rPr>
              <a:t>Layer 5</a:t>
            </a:r>
            <a:endParaRPr lang="en-US" sz="1200" dirty="0"/>
          </a:p>
        </p:txBody>
      </p:sp>
      <p:sp>
        <p:nvSpPr>
          <p:cNvPr id="19" name="module 4"/>
          <p:cNvSpPr txBox="1"/>
          <p:nvPr/>
        </p:nvSpPr>
        <p:spPr>
          <a:xfrm>
            <a:off x="548640" y="4782312"/>
            <a:ext cx="640080" cy="640080"/>
          </a:xfrm>
          <a:prstGeom prst="ellipse">
            <a:avLst/>
          </a:prstGeom>
          <a:solidFill>
            <a:schemeClr val="accent1"/>
          </a:solidFill>
          <a:ln/>
        </p:spPr>
        <p:txBody>
          <a:bodyPr wrap="square" lIns="0" tIns="0" rIns="0" bIns="0" rtlCol="0" anchor="ctr"/>
          <a:lstStyle/>
          <a:p>
            <a:pPr algn="ctr" indent="0" marL="0">
              <a:buNone/>
            </a:pPr>
            <a:r>
              <a:rPr lang="en-US" sz="2000" b="1" dirty="0">
                <a:solidFill>
                  <a:schemeClr val="tx1"/>
                </a:solidFill>
                <a:latin typeface="+mj-lt" pitchFamily="34" charset="0"/>
                <a:ea typeface="+mj-lt" pitchFamily="34" charset="-122"/>
                <a:cs typeface="+mj-lt" pitchFamily="34" charset="-120"/>
              </a:rPr>
              <a:t>4</a:t>
            </a:r>
            <a:endParaRPr lang="en-US" sz="2000" dirty="0"/>
          </a:p>
        </p:txBody>
      </p:sp>
      <p:sp>
        <p:nvSpPr>
          <p:cNvPr id="20" name="Text 18"/>
          <p:cNvSpPr txBox="1"/>
          <p:nvPr/>
        </p:nvSpPr>
        <p:spPr>
          <a:xfrm>
            <a:off x="1417320" y="4672584"/>
            <a:ext cx="3108960" cy="868680"/>
          </a:xfrm>
          <a:prstGeom prst="rect">
            <a:avLst/>
          </a:prstGeom>
          <a:noFill/>
          <a:ln/>
        </p:spPr>
        <p:txBody>
          <a:bodyPr wrap="square" lIns="0" tIns="0" rIns="0" bIns="0" rtlCol="0" anchor="ctr"/>
          <a:lstStyle/>
          <a:p>
            <a:pPr indent="0" marL="0">
              <a:buNone/>
            </a:pPr>
            <a:r>
              <a:rPr lang="en-US" sz="1700" b="1" dirty="0">
                <a:solidFill>
                  <a:schemeClr val="tx2"/>
                </a:solidFill>
                <a:latin typeface="+mj-lt" pitchFamily="34" charset="0"/>
                <a:ea typeface="+mj-lt" pitchFamily="34" charset="-122"/>
                <a:cs typeface="+mj-lt" pitchFamily="34" charset="-120"/>
              </a:rPr>
              <a:t>dt/virtual_trial.py</a:t>
            </a:r>
            <a:endParaRPr lang="en-US" sz="1700" dirty="0"/>
          </a:p>
        </p:txBody>
      </p:sp>
      <p:sp>
        <p:nvSpPr>
          <p:cNvPr id="21" name="Text 19"/>
          <p:cNvSpPr txBox="1"/>
          <p:nvPr/>
        </p:nvSpPr>
        <p:spPr>
          <a:xfrm>
            <a:off x="4526280" y="4745736"/>
            <a:ext cx="5120640" cy="731520"/>
          </a:xfrm>
          <a:prstGeom prst="rect">
            <a:avLst/>
          </a:prstGeom>
          <a:solidFill>
            <a:schemeClr val="bg2"/>
          </a:solidFill>
          <a:ln/>
        </p:spPr>
        <p:txBody>
          <a:bodyPr wrap="square" lIns="1524" tIns="1524" rIns="1524" bIns="1524" rtlCol="0" anchor="ctr"/>
          <a:lstStyle/>
          <a:p>
            <a:pPr indent="0" marL="0">
              <a:buNone/>
            </a:pPr>
            <a:r>
              <a:rPr lang="en-US" sz="1500" dirty="0">
                <a:solidFill>
                  <a:schemeClr val="tx1"/>
                </a:solidFill>
              </a:rPr>
              <a:t>Cohort sampling, paired arms, uncertainty propagation</a:t>
            </a:r>
            <a:endParaRPr lang="en-US" sz="1500" dirty="0"/>
          </a:p>
        </p:txBody>
      </p:sp>
      <p:sp>
        <p:nvSpPr>
          <p:cNvPr id="22" name="tag PROPOSED"/>
          <p:cNvSpPr txBox="1"/>
          <p:nvPr/>
        </p:nvSpPr>
        <p:spPr>
          <a:xfrm>
            <a:off x="9829800" y="4974336"/>
            <a:ext cx="960120" cy="256032"/>
          </a:xfrm>
          <a:prstGeom prst="roundRect">
            <a:avLst>
              <a:gd name="adj" fmla="val 21429"/>
            </a:avLst>
          </a:prstGeom>
          <a:solidFill>
            <a:schemeClr val="accent3"/>
          </a:solidFill>
          <a:ln/>
        </p:spPr>
        <p:txBody>
          <a:bodyPr wrap="square" lIns="0" tIns="0" rIns="0" bIns="0" rtlCol="0" anchor="ctr"/>
          <a:lstStyle/>
          <a:p>
            <a:pPr algn="ctr" indent="0" marL="0">
              <a:buNone/>
            </a:pPr>
            <a:r>
              <a:rPr lang="en-US" sz="1000" b="1" dirty="0">
                <a:solidFill>
                  <a:schemeClr val="tx1"/>
                </a:solidFill>
              </a:rPr>
              <a:t>PROPOSED</a:t>
            </a:r>
            <a:endParaRPr lang="en-US" sz="1000" dirty="0"/>
          </a:p>
        </p:txBody>
      </p:sp>
      <p:sp>
        <p:nvSpPr>
          <p:cNvPr id="23" name="Text 21"/>
          <p:cNvSpPr txBox="1"/>
          <p:nvPr/>
        </p:nvSpPr>
        <p:spPr>
          <a:xfrm>
            <a:off x="10881360" y="4672584"/>
            <a:ext cx="777240" cy="868680"/>
          </a:xfrm>
          <a:prstGeom prst="rect">
            <a:avLst/>
          </a:prstGeom>
          <a:noFill/>
          <a:ln/>
        </p:spPr>
        <p:txBody>
          <a:bodyPr wrap="square" lIns="0" tIns="0" rIns="0" bIns="0" rtlCol="0" anchor="ctr"/>
          <a:lstStyle/>
          <a:p>
            <a:pPr indent="0" marL="0">
              <a:buNone/>
            </a:pPr>
            <a:r>
              <a:rPr lang="en-US" sz="1200" dirty="0">
                <a:solidFill>
                  <a:schemeClr val="accent6"/>
                </a:solidFill>
              </a:rPr>
              <a:t>Layers 1, 8</a:t>
            </a:r>
            <a:endParaRPr lang="en-US" sz="1200" dirty="0"/>
          </a:p>
        </p:txBody>
      </p:sp>
      <p:sp>
        <p:nvSpPr>
          <p:cNvPr id="24" name="Text 22"/>
          <p:cNvSpPr txBox="1"/>
          <p:nvPr/>
        </p:nvSpPr>
        <p:spPr>
          <a:xfrm>
            <a:off x="548640" y="5806440"/>
            <a:ext cx="11064240" cy="411480"/>
          </a:xfrm>
          <a:prstGeom prst="rect">
            <a:avLst/>
          </a:prstGeom>
          <a:noFill/>
          <a:ln/>
        </p:spPr>
        <p:txBody>
          <a:bodyPr wrap="square" lIns="0" tIns="0" rIns="0" bIns="0" rtlCol="0" anchor="ctr"/>
          <a:lstStyle/>
          <a:p>
            <a:pPr indent="0" marL="0">
              <a:buNone/>
            </a:pPr>
            <a:r>
              <a:rPr lang="en-US" sz="1300" i="1" dirty="0">
                <a:solidFill>
                  <a:schemeClr val="accent2"/>
                </a:solidFill>
              </a:rPr>
              <a:t>Reuses what exists: dosevlm/ for external-beam dose and geometry, radiomics_pipeline/ for imaging biomarkers and evaluation metrics.</a:t>
            </a:r>
            <a:endParaRPr lang="en-US" sz="13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body" hasCustomPrompt="1"/>
          </p:nvPr>
        </p:nvSpPr>
        <p:spPr>
          <a:xfrm>
            <a:off x="731520" y="2057400"/>
            <a:ext cx="10698480" cy="411480"/>
          </a:xfrm>
          <a:prstGeom prst="rect">
            <a:avLst/>
          </a:prstGeom>
          <a:noFill/>
          <a:ln/>
        </p:spPr>
        <p:txBody>
          <a:bodyPr wrap="square" rtlCol="0" anchor="t"/>
          <a:lstStyle/>
          <a:p>
            <a:pPr indent="0" marL="0">
              <a:buNone/>
            </a:pPr>
            <a:r>
              <a:rPr lang="en-US" sz="1600" b="1" dirty="0">
                <a:solidFill>
                  <a:schemeClr val="accent1"/>
                </a:solidFill>
              </a:rPr>
              <a:t>TAKEAWAYS AND NEXT STEPS</a:t>
            </a:r>
            <a:endParaRPr lang="en-US" sz="1600" dirty="0"/>
          </a:p>
        </p:txBody>
      </p:sp>
      <p:sp>
        <p:nvSpPr>
          <p:cNvPr id="3" name="Text 0"/>
          <p:cNvSpPr/>
          <p:nvPr>
            <p:ph idx="101" type="title" hasCustomPrompt="1"/>
          </p:nvPr>
        </p:nvSpPr>
        <p:spPr>
          <a:xfrm>
            <a:off x="731520" y="2560320"/>
            <a:ext cx="10698480" cy="1371600"/>
          </a:xfrm>
          <a:prstGeom prst="rect">
            <a:avLst/>
          </a:prstGeom>
          <a:noFill/>
          <a:ln/>
        </p:spPr>
        <p:txBody>
          <a:bodyPr wrap="square" rtlCol="0" anchor="t"/>
          <a:lstStyle/>
          <a:p>
            <a:pPr algn="l" indent="0" marL="0">
              <a:buNone/>
            </a:pPr>
            <a:r>
              <a:rPr lang="en-US" sz="4000" b="1" dirty="0">
                <a:solidFill>
                  <a:schemeClr val="bg1"/>
                </a:solidFill>
              </a:rPr>
              <a:t>Mechanism first, AI to scale, validation throughout</a:t>
            </a:r>
            <a:endParaRPr lang="en-US" sz="4000" dirty="0"/>
          </a:p>
        </p:txBody>
      </p:sp>
      <p:sp>
        <p:nvSpPr>
          <p:cNvPr id="4" name="Text 0"/>
          <p:cNvSpPr/>
          <p:nvPr>
            <p:ph idx="102" type="body" hasCustomPrompt="1"/>
          </p:nvPr>
        </p:nvSpPr>
        <p:spPr>
          <a:xfrm>
            <a:off x="731520" y="4069080"/>
            <a:ext cx="9601200" cy="1463040"/>
          </a:xfrm>
          <a:prstGeom prst="rect">
            <a:avLst/>
          </a:prstGeom>
          <a:noFill/>
          <a:ln/>
        </p:spPr>
        <p:txBody>
          <a:bodyPr wrap="square" rtlCol="0" anchor="t"/>
          <a:lstStyle/>
          <a:p>
            <a:pPr marL="342900" indent="-342900">
              <a:spcAft>
                <a:spcPts val="600"/>
              </a:spcAft>
              <a:buSzPct val="100000"/>
              <a:buChar char="•"/>
            </a:pPr>
            <a:r>
              <a:rPr lang="en-US" sz="1800" dirty="0">
                <a:solidFill>
                  <a:schemeClr val="bg2"/>
                </a:solidFill>
              </a:rPr>
              <a:t>Already in code: dose physics, DVH, gamma, DoseVLM, radiomics and evaluation.</a:t>
            </a:r>
            <a:endParaRPr lang="en-US" sz="1800" dirty="0"/>
          </a:p>
          <a:p>
            <a:pPr marL="342900" indent="-342900">
              <a:spcAft>
                <a:spcPts val="600"/>
              </a:spcAft>
              <a:buSzPct val="100000"/>
              <a:buChar char="•"/>
            </a:pPr>
            <a:r>
              <a:rPr lang="en-US" sz="1800" dirty="0">
                <a:solidFill>
                  <a:schemeClr val="bg2"/>
                </a:solidFill>
              </a:rPr>
              <a:t>Combined: seven equations chain imaging to decision; Bayesian updates personalise every cycle.</a:t>
            </a:r>
            <a:endParaRPr lang="en-US" sz="1800" dirty="0"/>
          </a:p>
          <a:p>
            <a:pPr marL="342900" indent="-342900">
              <a:buSzPct val="100000"/>
              <a:buChar char="•"/>
            </a:pPr>
            <a:r>
              <a:rPr lang="en-US" sz="1800" dirty="0">
                <a:solidFill>
                  <a:schemeClr val="bg2"/>
                </a:solidFill>
              </a:rPr>
              <a:t>Next: build pbpk, radiobiology, optimise and virtual_trial modules, then validate dose before response.</a:t>
            </a:r>
            <a:endParaRPr lang="en-US" sz="1800" dirty="0"/>
          </a:p>
        </p:txBody>
      </p:sp>
      <p:sp>
        <p:nvSpPr>
          <p:cNvPr id="25" name="Slide Number Placeholder 0"/>
          <p:cNvSpPr>
            <a:spLocks noGrp="1"/>
          </p:cNvSpPr>
          <p:nvPr>
            <p:ph type="sldNum" sz="quarter" idx="4294967295"/>
          </p:nvPr>
        </p:nvSpPr>
        <p:spPr>
          <a:xfrm>
            <a:off x="1124712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body" hasCustomPrompt="1"/>
          </p:nvPr>
        </p:nvSpPr>
        <p:spPr>
          <a:xfrm>
            <a:off x="548640" y="292608"/>
            <a:ext cx="11064240" cy="329184"/>
          </a:xfrm>
          <a:prstGeom prst="rect">
            <a:avLst/>
          </a:prstGeom>
          <a:noFill/>
          <a:ln/>
        </p:spPr>
        <p:txBody>
          <a:bodyPr wrap="square" lIns="0" tIns="0" rIns="0" bIns="0" rtlCol="0" anchor="t"/>
          <a:lstStyle/>
          <a:p>
            <a:pPr indent="0" marL="0">
              <a:buNone/>
            </a:pPr>
            <a:r>
              <a:rPr lang="en-US" sz="1300" b="1" dirty="0">
                <a:solidFill>
                  <a:schemeClr val="accent2"/>
                </a:solidFill>
              </a:rPr>
              <a:t>KEY REFERENCES</a:t>
            </a:r>
            <a:endParaRPr lang="en-US" sz="1300" dirty="0"/>
          </a:p>
        </p:txBody>
      </p:sp>
      <p:sp>
        <p:nvSpPr>
          <p:cNvPr id="3" name="Text 0"/>
          <p:cNvSpPr/>
          <p:nvPr>
            <p:ph idx="101" type="title" hasCustomPrompt="1"/>
          </p:nvPr>
        </p:nvSpPr>
        <p:spPr>
          <a:xfrm>
            <a:off x="548640" y="603504"/>
            <a:ext cx="11064240" cy="731520"/>
          </a:xfrm>
          <a:prstGeom prst="rect">
            <a:avLst/>
          </a:prstGeom>
          <a:noFill/>
          <a:ln/>
        </p:spPr>
        <p:txBody>
          <a:bodyPr wrap="square" lIns="0" tIns="0" rIns="0" bIns="0" rtlCol="0" anchor="t"/>
          <a:lstStyle/>
          <a:p>
            <a:pPr algn="l" indent="0" marL="0">
              <a:buNone/>
            </a:pPr>
            <a:r>
              <a:rPr lang="en-US" sz="3600" b="1" dirty="0">
                <a:solidFill>
                  <a:schemeClr val="tx2"/>
                </a:solidFill>
              </a:rPr>
              <a:t>Sources for the models and AI methods</a:t>
            </a:r>
            <a:endParaRPr lang="en-US" sz="3600" dirty="0"/>
          </a:p>
        </p:txBody>
      </p:sp>
      <p:sp>
        <p:nvSpPr>
          <p:cNvPr id="4" name="Text 2"/>
          <p:cNvSpPr txBox="1"/>
          <p:nvPr/>
        </p:nvSpPr>
        <p:spPr>
          <a:xfrm>
            <a:off x="548640" y="1554480"/>
            <a:ext cx="5440680" cy="4480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Abdollahi H et al. Theranostic digital twins. Theranostics 2024;14:3404–22</a:t>
            </a:r>
            <a:endParaRPr lang="en-US" sz="1300" dirty="0"/>
          </a:p>
          <a:p>
            <a:pPr marL="342900" indent="-342900">
              <a:spcAft>
                <a:spcPts val="600"/>
              </a:spcAft>
              <a:buSzPct val="100000"/>
              <a:buChar char="•"/>
            </a:pPr>
            <a:r>
              <a:rPr lang="en-US" sz="1300" dirty="0">
                <a:solidFill>
                  <a:schemeClr val="tx1"/>
                </a:solidFill>
              </a:rPr>
              <a:t>Abdollahi H et al. PBPK in ¹⁷⁷Lu-PSMA therapy. Cancers 2024;16:3120</a:t>
            </a:r>
            <a:endParaRPr lang="en-US" sz="1300" dirty="0"/>
          </a:p>
          <a:p>
            <a:pPr marL="342900" indent="-342900">
              <a:spcAft>
                <a:spcPts val="600"/>
              </a:spcAft>
              <a:buSzPct val="100000"/>
              <a:buChar char="•"/>
            </a:pPr>
            <a:r>
              <a:rPr lang="en-US" sz="1300" dirty="0">
                <a:solidFill>
                  <a:schemeClr val="tx1"/>
                </a:solidFill>
              </a:rPr>
              <a:t>Abdollahi H et al. Low-dose-rate radiobiology in RPT. IEEE TRPMS 2025;9:843–56</a:t>
            </a:r>
            <a:endParaRPr lang="en-US" sz="1300" dirty="0"/>
          </a:p>
          <a:p>
            <a:pPr marL="342900" indent="-342900">
              <a:spcAft>
                <a:spcPts val="600"/>
              </a:spcAft>
              <a:buSzPct val="100000"/>
              <a:buChar char="•"/>
            </a:pPr>
            <a:r>
              <a:rPr lang="en-US" sz="1300" dirty="0">
                <a:solidFill>
                  <a:schemeClr val="tx1"/>
                </a:solidFill>
              </a:rPr>
              <a:t>Abadi E et al. Virtual clinical trials in medical imaging. J Med Imaging 2020</a:t>
            </a:r>
            <a:endParaRPr lang="en-US" sz="1300" dirty="0"/>
          </a:p>
          <a:p>
            <a:pPr marL="342900" indent="-342900">
              <a:spcAft>
                <a:spcPts val="600"/>
              </a:spcAft>
              <a:buSzPct val="100000"/>
              <a:buChar char="•"/>
            </a:pPr>
            <a:r>
              <a:rPr lang="en-US" sz="1300" dirty="0">
                <a:solidFill>
                  <a:schemeClr val="tx1"/>
                </a:solidFill>
              </a:rPr>
              <a:t>Badano A et al. VICTRE in silico trial. JAMA Netw Open 2018</a:t>
            </a:r>
            <a:endParaRPr lang="en-US" sz="1300" dirty="0"/>
          </a:p>
          <a:p>
            <a:pPr marL="342900" indent="-342900">
              <a:spcAft>
                <a:spcPts val="600"/>
              </a:spcAft>
              <a:buSzPct val="100000"/>
              <a:buChar char="•"/>
            </a:pPr>
            <a:r>
              <a:rPr lang="en-US" sz="1300" dirty="0">
                <a:solidFill>
                  <a:schemeClr val="tx1"/>
                </a:solidFill>
              </a:rPr>
              <a:t>Langendijk JA et al. Model-based proton selection. Radiother Oncol 2013</a:t>
            </a:r>
            <a:endParaRPr lang="en-US" sz="1300" dirty="0"/>
          </a:p>
          <a:p>
            <a:pPr marL="342900" indent="-342900">
              <a:spcAft>
                <a:spcPts val="600"/>
              </a:spcAft>
              <a:buSzPct val="100000"/>
              <a:buChar char="•"/>
            </a:pPr>
            <a:r>
              <a:rPr lang="en-US" sz="1300" dirty="0">
                <a:solidFill>
                  <a:schemeClr val="tx1"/>
                </a:solidFill>
              </a:rPr>
              <a:t>Viceconti M et al. VV&amp;UQ for in silico trials. Methods 2021</a:t>
            </a:r>
            <a:endParaRPr lang="en-US" sz="1300" dirty="0"/>
          </a:p>
          <a:p>
            <a:pPr marL="342900" indent="-342900">
              <a:spcAft>
                <a:spcPts val="600"/>
              </a:spcAft>
              <a:buSzPct val="100000"/>
              <a:buChar char="•"/>
            </a:pPr>
            <a:r>
              <a:rPr lang="en-US" sz="1300" dirty="0">
                <a:solidFill>
                  <a:schemeClr val="tx1"/>
                </a:solidFill>
              </a:rPr>
              <a:t>Babier A et al. OpenKBP. Med Phys 2021</a:t>
            </a:r>
            <a:endParaRPr lang="en-US" sz="1300" dirty="0"/>
          </a:p>
          <a:p>
            <a:pPr marL="342900" indent="-342900">
              <a:spcAft>
                <a:spcPts val="600"/>
              </a:spcAft>
              <a:buSzPct val="100000"/>
              <a:buChar char="•"/>
            </a:pPr>
            <a:r>
              <a:rPr lang="en-US" sz="1300" dirty="0">
                <a:solidFill>
                  <a:schemeClr val="tx1"/>
                </a:solidFill>
              </a:rPr>
              <a:t>Hänscheid H et al. Single-time-point dosimetry. J Nucl Med 2018</a:t>
            </a:r>
            <a:endParaRPr lang="en-US" sz="1300" dirty="0"/>
          </a:p>
        </p:txBody>
      </p:sp>
      <p:sp>
        <p:nvSpPr>
          <p:cNvPr id="5" name="Text 3"/>
          <p:cNvSpPr txBox="1"/>
          <p:nvPr/>
        </p:nvSpPr>
        <p:spPr>
          <a:xfrm>
            <a:off x="6172200" y="1554480"/>
            <a:ext cx="5440680" cy="44805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Isensee F et al. nnU-Net. Nat Methods 2021</a:t>
            </a:r>
            <a:endParaRPr lang="en-US" sz="1300" dirty="0"/>
          </a:p>
          <a:p>
            <a:pPr marL="342900" indent="-342900">
              <a:spcAft>
                <a:spcPts val="600"/>
              </a:spcAft>
              <a:buSzPct val="100000"/>
              <a:buChar char="•"/>
            </a:pPr>
            <a:r>
              <a:rPr lang="en-US" sz="1300" dirty="0">
                <a:solidFill>
                  <a:schemeClr val="tx1"/>
                </a:solidFill>
              </a:rPr>
              <a:t>Wasserthal J et al. TotalSegmentator. Radiol AI 2023</a:t>
            </a:r>
            <a:endParaRPr lang="en-US" sz="1300" dirty="0"/>
          </a:p>
          <a:p>
            <a:pPr marL="342900" indent="-342900">
              <a:spcAft>
                <a:spcPts val="600"/>
              </a:spcAft>
              <a:buSzPct val="100000"/>
              <a:buChar char="•"/>
            </a:pPr>
            <a:r>
              <a:rPr lang="en-US" sz="1300" dirty="0">
                <a:solidFill>
                  <a:schemeClr val="tx1"/>
                </a:solidFill>
              </a:rPr>
              <a:t>Ma J et al. MedSAM. Nat Commun 2024</a:t>
            </a:r>
            <a:endParaRPr lang="en-US" sz="1300" dirty="0"/>
          </a:p>
          <a:p>
            <a:pPr marL="342900" indent="-342900">
              <a:spcAft>
                <a:spcPts val="600"/>
              </a:spcAft>
              <a:buSzPct val="100000"/>
              <a:buChar char="•"/>
            </a:pPr>
            <a:r>
              <a:rPr lang="en-US" sz="1300" dirty="0">
                <a:solidFill>
                  <a:schemeClr val="tx1"/>
                </a:solidFill>
              </a:rPr>
              <a:t>Raissi M et al. Physics-informed neural networks. J Comput Phys 2019</a:t>
            </a:r>
            <a:endParaRPr lang="en-US" sz="1300" dirty="0"/>
          </a:p>
          <a:p>
            <a:pPr marL="342900" indent="-342900">
              <a:spcAft>
                <a:spcPts val="600"/>
              </a:spcAft>
              <a:buSzPct val="100000"/>
              <a:buChar char="•"/>
            </a:pPr>
            <a:r>
              <a:rPr lang="en-US" sz="1300" dirty="0">
                <a:solidFill>
                  <a:schemeClr val="tx1"/>
                </a:solidFill>
              </a:rPr>
              <a:t>Chen RTQ et al. Neural ODEs. NeurIPS 2018</a:t>
            </a:r>
            <a:endParaRPr lang="en-US" sz="1300" dirty="0"/>
          </a:p>
          <a:p>
            <a:pPr marL="342900" indent="-342900">
              <a:spcAft>
                <a:spcPts val="600"/>
              </a:spcAft>
              <a:buSzPct val="100000"/>
              <a:buChar char="•"/>
            </a:pPr>
            <a:r>
              <a:rPr lang="en-US" sz="1300" dirty="0">
                <a:solidFill>
                  <a:schemeClr val="tx1"/>
                </a:solidFill>
              </a:rPr>
              <a:t>Rackauckas C et al. Universal differential equations. arXiv 2020</a:t>
            </a:r>
            <a:endParaRPr lang="en-US" sz="1300" dirty="0"/>
          </a:p>
          <a:p>
            <a:pPr marL="342900" indent="-342900">
              <a:spcAft>
                <a:spcPts val="600"/>
              </a:spcAft>
              <a:buSzPct val="100000"/>
              <a:buChar char="•"/>
            </a:pPr>
            <a:r>
              <a:rPr lang="en-US" sz="1300" dirty="0">
                <a:solidFill>
                  <a:schemeClr val="tx1"/>
                </a:solidFill>
              </a:rPr>
              <a:t>Li Z et al. Fourier neural operator. ICLR 2021</a:t>
            </a:r>
            <a:endParaRPr lang="en-US" sz="1300" dirty="0"/>
          </a:p>
          <a:p>
            <a:pPr marL="342900" indent="-342900">
              <a:spcAft>
                <a:spcPts val="600"/>
              </a:spcAft>
              <a:buSzPct val="100000"/>
              <a:buChar char="•"/>
            </a:pPr>
            <a:r>
              <a:rPr lang="en-US" sz="1300" dirty="0">
                <a:solidFill>
                  <a:schemeClr val="tx1"/>
                </a:solidFill>
              </a:rPr>
              <a:t>Cranmer K et al. Simulation-based inference. PNAS 2020</a:t>
            </a:r>
            <a:endParaRPr lang="en-US" sz="1300" dirty="0"/>
          </a:p>
          <a:p>
            <a:pPr marL="342900" indent="-342900">
              <a:spcAft>
                <a:spcPts val="600"/>
              </a:spcAft>
              <a:buSzPct val="100000"/>
              <a:buChar char="•"/>
            </a:pPr>
            <a:r>
              <a:rPr lang="en-US" sz="1300" dirty="0">
                <a:solidFill>
                  <a:schemeClr val="tx1"/>
                </a:solidFill>
              </a:rPr>
              <a:t>Hollmann N et al. TabPFN. Nature 2025</a:t>
            </a:r>
            <a:endParaRPr lang="en-US" sz="1300" dirty="0"/>
          </a:p>
        </p:txBody>
      </p:sp>
      <p:sp>
        <p:nvSpPr>
          <p:cNvPr id="6" name="Text 4"/>
          <p:cNvSpPr txBox="1"/>
          <p:nvPr/>
        </p:nvSpPr>
        <p:spPr>
          <a:xfrm>
            <a:off x="548640" y="6035040"/>
            <a:ext cx="11064240" cy="274320"/>
          </a:xfrm>
          <a:prstGeom prst="rect">
            <a:avLst/>
          </a:prstGeom>
          <a:noFill/>
          <a:ln/>
        </p:spPr>
        <p:txBody>
          <a:bodyPr wrap="square" lIns="0" tIns="0" rIns="0" bIns="0" rtlCol="0" anchor="ctr"/>
          <a:lstStyle/>
          <a:p>
            <a:pPr indent="0" marL="0">
              <a:buNone/>
            </a:pPr>
            <a:r>
              <a:rPr lang="en-US" sz="1100" i="1" dirty="0">
                <a:solidFill>
                  <a:schemeClr val="accent6"/>
                </a:solidFill>
              </a:rPr>
              <a:t>Compiled from memory and from the repo review; verify volume and page numbers before formal citation.</a:t>
            </a:r>
            <a:endParaRPr lang="en-US" sz="1100" dirty="0"/>
          </a:p>
        </p:txBody>
      </p:sp>
      <p:sp>
        <p:nvSpPr>
          <p:cNvPr id="25" name="Slide Number Placeholder 0"/>
          <p:cNvSpPr>
            <a:spLocks noGrp="1"/>
          </p:cNvSpPr>
          <p:nvPr>
            <p:ph type="sldNum" sz="quarter" idx="4294967295"/>
          </p:nvPr>
        </p:nvSpPr>
        <p:spPr>
          <a:xfrm>
            <a:off x="11064240"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35</a:t>
            </a:fld>
            <a:endParaRPr lang="en-US"/>
          </a:p>
        </p:txBody>
      </p:sp>
    </p:spTree>
  </p:cSld>
  <p:clrMapOvr>
    <a:masterClrMapping/>
  </p:clrMapOvr>
</p:sld>
</file>

<file path=ppt/theme/theme1.xml><?xml version="1.0" encoding="utf-8"?>
<a:theme xmlns:a="http://schemas.openxmlformats.org/drawingml/2006/main" name="Theranostic Twin">
  <a:themeElements>
    <a:clrScheme name="Theranostic Twin">
      <a:dk1>
        <a:srgbClr val="1B2430"/>
      </a:dk1>
      <a:lt1>
        <a:srgbClr val="FFFFFF"/>
      </a:lt1>
      <a:dk2>
        <a:srgbClr val="0B3C49"/>
      </a:dk2>
      <a:lt2>
        <a:srgbClr val="EEF4F5"/>
      </a:lt2>
      <a:accent1>
        <a:srgbClr val="F2A541"/>
      </a:accent1>
      <a:accent2>
        <a:srgbClr val="1F7A70"/>
      </a:accent2>
      <a:accent3>
        <a:srgbClr val="E76F51"/>
      </a:accent3>
      <a:accent4>
        <a:srgbClr val="264653"/>
      </a:accent4>
      <a:accent5>
        <a:srgbClr val="8AB17D"/>
      </a:accent5>
      <a:accent6>
        <a:srgbClr val="5F6B76"/>
      </a:accent6>
      <a:hlink>
        <a:srgbClr val="1F7A70"/>
      </a:hlink>
      <a:folHlink>
        <a:srgbClr val="264653"/>
      </a:folHlink>
    </a:clrScheme>
    <a:fontScheme name="Theranostic Twi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Combined Model: Digital Twins and Virtual Trials</dc:title>
  <dc:subject>PptxGenJS Presentation</dc:subject>
  <dc:creator>Hamid Abdollahi</dc:creator>
  <cp:lastModifiedBy>Hamid Abdollahi</cp:lastModifiedBy>
  <cp:revision>1</cp:revision>
  <dcterms:created xsi:type="dcterms:W3CDTF">2026-10-16T17:03:46Z</dcterms:created>
  <dcterms:modified xsi:type="dcterms:W3CDTF">2026-10-16T17:03:46Z</dcterms:modified>
</cp:coreProperties>
</file>