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cbdfbb3f-6e2e-52ce-9316-881bf1ecbfd3}">
          <p14:sldIdLst>
            <p14:sldId id="256"/>
            <p14:sldId id="257"/>
            <p14:sldId id="258"/>
          </p14:sldIdLst>
        </p14:section>
        <p14:section name="Dynamics and physiology" id="{6340ae0c-fdca-611f-6d61-1d3c9b94cb03}">
          <p14:sldIdLst>
            <p14:sldId id="259"/>
            <p14:sldId id="260"/>
            <p14:sldId id="261"/>
            <p14:sldId id="262"/>
            <p14:sldId id="263"/>
            <p14:sldId id="264"/>
            <p14:sldId id="265"/>
            <p14:sldId id="266"/>
            <p14:sldId id="267"/>
            <p14:sldId id="268"/>
          </p14:sldIdLst>
        </p14:section>
        <p14:section name="Statistics and data" id="{e5943db9-7b81-7c78-130c-5be905a59960}">
          <p14:sldIdLst>
            <p14:sldId id="269"/>
            <p14:sldId id="270"/>
            <p14:sldId id="271"/>
            <p14:sldId id="272"/>
            <p14:sldId id="273"/>
            <p14:sldId id="274"/>
            <p14:sldId id="275"/>
            <p14:sldId id="276"/>
          </p14:sldIdLst>
        </p14:section>
        <p14:section name="Virtual trials and decisions" id="{a4b36b35-b0a0-9393-dbdf-55fa68bdc691}">
          <p14:sldIdLst>
            <p14:sldId id="277"/>
            <p14:sldId id="278"/>
            <p14:sldId id="279"/>
            <p14:sldId id="280"/>
            <p14:sldId id="281"/>
            <p14:sldId id="282"/>
            <p14:sldId id="283"/>
            <p14:sldId id="284"/>
          </p14:sldIdLst>
        </p14:section>
        <p14:section name="Conclusion" id="{160af0be-7a4a-624e-e31e-1a4deb86d087}">
          <p14:sldIdLst>
            <p14:sldId id="285"/>
            <p14:sldId id="28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430"/>
                </a:solidFill>
                <a:latin typeface="+mn-lt"/>
              </a:defRPr>
            </a:pPr>
            <a:r>
              <a:rPr sz="1300" b="0" i="0" u="none" strike="noStrike">
                <a:solidFill>
                  <a:srgbClr val="1B2430"/>
                </a:solidFill>
                <a:latin typeface="+mn-lt"/>
              </a:rPr>
              <a:t>Hill curves: E / E_max vs C / EC₅₀ (log-spaced)</a:t>
            </a:r>
          </a:p>
        </c:rich>
      </c:tx>
      <c:layout/>
      <c:overlay val="0"/>
    </c:title>
    <c:autoTitleDeleted val="0"/>
    <c:plotArea>
      <c:layout/>
      <c:lineChart>
        <c:varyColors val="0"/>
        <c:ser>
          <c:idx val="0"/>
          <c:order val="0"/>
          <c:tx>
            <c:strRef>
              <c:f>Sheet1!$B$1</c:f>
              <c:strCache>
                <c:ptCount val="1"/>
                <c:pt idx="0">
                  <c:v>n = 1</c:v>
                </c:pt>
              </c:strCache>
            </c:strRef>
          </c:tx>
          <c:spPr>
            <a:solidFill>
              <a:srgbClr val="264653"/>
            </a:solidFill>
            <a:ln w="31750" cap="flat">
              <a:solidFill>
                <a:srgbClr val="264653"/>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64653"/>
              </a:solidFill>
              <a:ln w="9525" cap="flat">
                <a:solidFill>
                  <a:srgbClr val="264653"/>
                </a:solidFill>
                <a:prstDash val="solid"/>
                <a:round/>
              </a:ln>
              <a:effectLst/>
            </c:spPr>
          </c:marker>
          <c:cat>
            <c:multiLvlStrRef>
              <c:f>Sheet1!$A$2:$A$15</c:f>
              <c:multiLvlStrCache>
                <c:ptCount val="14"/>
                <c:lvl>
                  <c:pt idx="0">
                    <c:v>0.05</c:v>
                  </c:pt>
                  <c:pt idx="1">
                    <c:v>0.1</c:v>
                  </c:pt>
                  <c:pt idx="2">
                    <c:v>0.2</c:v>
                  </c:pt>
                  <c:pt idx="3">
                    <c:v>0.3</c:v>
                  </c:pt>
                  <c:pt idx="4">
                    <c:v>0.5</c:v>
                  </c:pt>
                  <c:pt idx="5">
                    <c:v>0.7</c:v>
                  </c:pt>
                  <c:pt idx="6">
                    <c:v>1</c:v>
                  </c:pt>
                  <c:pt idx="7">
                    <c:v>1.5</c:v>
                  </c:pt>
                  <c:pt idx="8">
                    <c:v>2</c:v>
                  </c:pt>
                  <c:pt idx="9">
                    <c:v>3</c:v>
                  </c:pt>
                  <c:pt idx="10">
                    <c:v>5</c:v>
                  </c:pt>
                  <c:pt idx="11">
                    <c:v>7</c:v>
                  </c:pt>
                  <c:pt idx="12">
                    <c:v>10</c:v>
                  </c:pt>
                  <c:pt idx="13">
                    <c:v>20</c:v>
                  </c:pt>
                </c:lvl>
              </c:multiLvlStrCache>
            </c:multiLvlStrRef>
          </c:cat>
          <c:val>
            <c:numRef>
              <c:f>Sheet1!$B$2:$B$15</c:f>
              <c:numCache>
                <c:formatCode>General</c:formatCode>
                <c:ptCount val="14"/>
                <c:pt idx="0">
                  <c:v>0.048</c:v>
                </c:pt>
                <c:pt idx="1">
                  <c:v>0.091</c:v>
                </c:pt>
                <c:pt idx="2">
                  <c:v>0.167</c:v>
                </c:pt>
                <c:pt idx="3">
                  <c:v>0.231</c:v>
                </c:pt>
                <c:pt idx="4">
                  <c:v>0.333</c:v>
                </c:pt>
                <c:pt idx="5">
                  <c:v>0.412</c:v>
                </c:pt>
                <c:pt idx="6">
                  <c:v>0.5</c:v>
                </c:pt>
                <c:pt idx="7">
                  <c:v>0.6</c:v>
                </c:pt>
                <c:pt idx="8">
                  <c:v>0.667</c:v>
                </c:pt>
                <c:pt idx="9">
                  <c:v>0.75</c:v>
                </c:pt>
                <c:pt idx="10">
                  <c:v>0.833</c:v>
                </c:pt>
                <c:pt idx="11">
                  <c:v>0.875</c:v>
                </c:pt>
                <c:pt idx="12">
                  <c:v>0.909</c:v>
                </c:pt>
                <c:pt idx="13">
                  <c:v>0.952</c:v>
                </c:pt>
              </c:numCache>
            </c:numRef>
          </c:val>
          <c:smooth val="0"/>
        </c:ser>
        <c:ser>
          <c:idx val="1"/>
          <c:order val="1"/>
          <c:tx>
            <c:strRef>
              <c:f>Sheet1!$C$1</c:f>
              <c:strCache>
                <c:ptCount val="1"/>
                <c:pt idx="0">
                  <c:v>n = 2</c:v>
                </c:pt>
              </c:strCache>
            </c:strRef>
          </c:tx>
          <c:spPr>
            <a:solidFill>
              <a:srgbClr val="1F7A70"/>
            </a:solidFill>
            <a:ln w="31750" cap="flat">
              <a:solidFill>
                <a:srgbClr val="1F7A7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F7A70"/>
              </a:solidFill>
              <a:ln w="9525" cap="flat">
                <a:solidFill>
                  <a:srgbClr val="1F7A70"/>
                </a:solidFill>
                <a:prstDash val="solid"/>
                <a:round/>
              </a:ln>
              <a:effectLst/>
            </c:spPr>
          </c:marker>
          <c:cat>
            <c:multiLvlStrRef>
              <c:f>Sheet1!$A$2:$A$15</c:f>
              <c:multiLvlStrCache>
                <c:ptCount val="14"/>
                <c:lvl>
                  <c:pt idx="0">
                    <c:v>0.05</c:v>
                  </c:pt>
                  <c:pt idx="1">
                    <c:v>0.1</c:v>
                  </c:pt>
                  <c:pt idx="2">
                    <c:v>0.2</c:v>
                  </c:pt>
                  <c:pt idx="3">
                    <c:v>0.3</c:v>
                  </c:pt>
                  <c:pt idx="4">
                    <c:v>0.5</c:v>
                  </c:pt>
                  <c:pt idx="5">
                    <c:v>0.7</c:v>
                  </c:pt>
                  <c:pt idx="6">
                    <c:v>1</c:v>
                  </c:pt>
                  <c:pt idx="7">
                    <c:v>1.5</c:v>
                  </c:pt>
                  <c:pt idx="8">
                    <c:v>2</c:v>
                  </c:pt>
                  <c:pt idx="9">
                    <c:v>3</c:v>
                  </c:pt>
                  <c:pt idx="10">
                    <c:v>5</c:v>
                  </c:pt>
                  <c:pt idx="11">
                    <c:v>7</c:v>
                  </c:pt>
                  <c:pt idx="12">
                    <c:v>10</c:v>
                  </c:pt>
                  <c:pt idx="13">
                    <c:v>20</c:v>
                  </c:pt>
                </c:lvl>
              </c:multiLvlStrCache>
            </c:multiLvlStrRef>
          </c:cat>
          <c:val>
            <c:numRef>
              <c:f>Sheet1!$C$2:$C$15</c:f>
              <c:numCache>
                <c:formatCode>General</c:formatCode>
                <c:ptCount val="14"/>
                <c:pt idx="0">
                  <c:v>0.002</c:v>
                </c:pt>
                <c:pt idx="1">
                  <c:v>0.01</c:v>
                </c:pt>
                <c:pt idx="2">
                  <c:v>0.038</c:v>
                </c:pt>
                <c:pt idx="3">
                  <c:v>0.083</c:v>
                </c:pt>
                <c:pt idx="4">
                  <c:v>0.2</c:v>
                </c:pt>
                <c:pt idx="5">
                  <c:v>0.329</c:v>
                </c:pt>
                <c:pt idx="6">
                  <c:v>0.5</c:v>
                </c:pt>
                <c:pt idx="7">
                  <c:v>0.692</c:v>
                </c:pt>
                <c:pt idx="8">
                  <c:v>0.8</c:v>
                </c:pt>
                <c:pt idx="9">
                  <c:v>0.9</c:v>
                </c:pt>
                <c:pt idx="10">
                  <c:v>0.962</c:v>
                </c:pt>
                <c:pt idx="11">
                  <c:v>0.98</c:v>
                </c:pt>
                <c:pt idx="12">
                  <c:v>0.99</c:v>
                </c:pt>
                <c:pt idx="13">
                  <c:v>0.998</c:v>
                </c:pt>
              </c:numCache>
            </c:numRef>
          </c:val>
          <c:smooth val="0"/>
        </c:ser>
        <c:ser>
          <c:idx val="2"/>
          <c:order val="2"/>
          <c:tx>
            <c:strRef>
              <c:f>Sheet1!$D$1</c:f>
              <c:strCache>
                <c:ptCount val="1"/>
                <c:pt idx="0">
                  <c:v>n = 4</c:v>
                </c:pt>
              </c:strCache>
            </c:strRef>
          </c:tx>
          <c:spPr>
            <a:solidFill>
              <a:srgbClr val="E76F51"/>
            </a:solidFill>
            <a:ln w="31750" cap="flat">
              <a:solidFill>
                <a:srgbClr val="E76F5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E76F51"/>
              </a:solidFill>
              <a:ln w="9525" cap="flat">
                <a:solidFill>
                  <a:srgbClr val="E76F51"/>
                </a:solidFill>
                <a:prstDash val="solid"/>
                <a:round/>
              </a:ln>
              <a:effectLst/>
            </c:spPr>
          </c:marker>
          <c:cat>
            <c:multiLvlStrRef>
              <c:f>Sheet1!$A$2:$A$15</c:f>
              <c:multiLvlStrCache>
                <c:ptCount val="14"/>
                <c:lvl>
                  <c:pt idx="0">
                    <c:v>0.05</c:v>
                  </c:pt>
                  <c:pt idx="1">
                    <c:v>0.1</c:v>
                  </c:pt>
                  <c:pt idx="2">
                    <c:v>0.2</c:v>
                  </c:pt>
                  <c:pt idx="3">
                    <c:v>0.3</c:v>
                  </c:pt>
                  <c:pt idx="4">
                    <c:v>0.5</c:v>
                  </c:pt>
                  <c:pt idx="5">
                    <c:v>0.7</c:v>
                  </c:pt>
                  <c:pt idx="6">
                    <c:v>1</c:v>
                  </c:pt>
                  <c:pt idx="7">
                    <c:v>1.5</c:v>
                  </c:pt>
                  <c:pt idx="8">
                    <c:v>2</c:v>
                  </c:pt>
                  <c:pt idx="9">
                    <c:v>3</c:v>
                  </c:pt>
                  <c:pt idx="10">
                    <c:v>5</c:v>
                  </c:pt>
                  <c:pt idx="11">
                    <c:v>7</c:v>
                  </c:pt>
                  <c:pt idx="12">
                    <c:v>10</c:v>
                  </c:pt>
                  <c:pt idx="13">
                    <c:v>20</c:v>
                  </c:pt>
                </c:lvl>
              </c:multiLvlStrCache>
            </c:multiLvlStrRef>
          </c:cat>
          <c:val>
            <c:numRef>
              <c:f>Sheet1!$D$2:$D$15</c:f>
              <c:numCache>
                <c:formatCode>General</c:formatCode>
                <c:ptCount val="14"/>
                <c:pt idx="0">
                  <c:v>0</c:v>
                </c:pt>
                <c:pt idx="1">
                  <c:v>0</c:v>
                </c:pt>
                <c:pt idx="2">
                  <c:v>0.002</c:v>
                </c:pt>
                <c:pt idx="3">
                  <c:v>0.008</c:v>
                </c:pt>
                <c:pt idx="4">
                  <c:v>0.059</c:v>
                </c:pt>
                <c:pt idx="5">
                  <c:v>0.194</c:v>
                </c:pt>
                <c:pt idx="6">
                  <c:v>0.5</c:v>
                </c:pt>
                <c:pt idx="7">
                  <c:v>0.835</c:v>
                </c:pt>
                <c:pt idx="8">
                  <c:v>0.941</c:v>
                </c:pt>
                <c:pt idx="9">
                  <c:v>0.988</c:v>
                </c:pt>
                <c:pt idx="10">
                  <c:v>0.998</c:v>
                </c:pt>
                <c:pt idx="11">
                  <c:v>1</c:v>
                </c:pt>
                <c:pt idx="12">
                  <c:v>1</c:v>
                </c:pt>
                <c:pt idx="13">
                  <c:v>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F6B76"/>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9525" cap="flat">
              <a:solidFill>
                <a:srgbClr val="E3E8EA"/>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F6B76"/>
                </a:solidFill>
                <a:latin typeface="+mn-lt"/>
              </a:defRPr>
            </a:pPr>
            <a:endParaRPr lang="en-US"/>
          </a:p>
        </c:txPr>
        <c:crossAx val="2094734554"/>
        <c:crosses val="autoZero"/>
        <c:crossBetween val="between"/>
        <c:majorUnit val="0.25"/>
      </c:valAx>
      <c:spPr>
        <a:noFill/>
        <a:ln>
          <a:noFill/>
        </a:ln>
        <a:effectLst/>
      </c:spPr>
    </c:plotArea>
    <c:legend>
      <c:legendPos val="b"/>
      <c:overlay val="0"/>
      <c:txPr>
        <a:bodyPr/>
        <a:lstStyle/>
        <a:p>
          <a:pPr>
            <a:defRPr sz="1200">
              <a:solidFill>
                <a:srgbClr val="1B243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430"/>
                </a:solidFill>
                <a:latin typeface="+mn-lt"/>
              </a:defRPr>
            </a:pPr>
            <a:r>
              <a:rPr sz="1300" b="0" i="0" u="none" strike="noStrike">
                <a:solidFill>
                  <a:srgbClr val="1B2430"/>
                </a:solidFill>
                <a:latin typeface="+mn-lt"/>
              </a:rPr>
              <a:t>Growth from N₀ = 0.05 K (illustrative)</a:t>
            </a:r>
          </a:p>
        </c:rich>
      </c:tx>
      <c:layout/>
      <c:overlay val="0"/>
    </c:title>
    <c:autoTitleDeleted val="0"/>
    <c:plotArea>
      <c:layout/>
      <c:lineChart>
        <c:varyColors val="0"/>
        <c:ser>
          <c:idx val="0"/>
          <c:order val="0"/>
          <c:tx>
            <c:strRef>
              <c:f>Sheet1!$B$1</c:f>
              <c:strCache>
                <c:ptCount val="1"/>
                <c:pt idx="0">
                  <c:v>Exponential</c:v>
                </c:pt>
              </c:strCache>
            </c:strRef>
          </c:tx>
          <c:spPr>
            <a:solidFill>
              <a:srgbClr val="E76F51"/>
            </a:solidFill>
            <a:ln w="31750" cap="flat">
              <a:solidFill>
                <a:srgbClr val="E76F5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E76F51"/>
              </a:solidFill>
              <a:ln w="9525" cap="flat">
                <a:solidFill>
                  <a:srgbClr val="E76F51"/>
                </a:solidFill>
                <a:prstDash val="solid"/>
                <a:round/>
              </a:ln>
              <a:effectLst/>
            </c:spPr>
          </c:marker>
          <c:cat>
            <c:multiLvlStrRef>
              <c:f>Sheet1!$A$2:$A$32</c:f>
              <c:multiLvlStrCache>
                <c:ptCount val="31"/>
                <c:lvl>
                  <c:pt idx="0">
                    <c:v>0</c:v>
                  </c:pt>
                  <c:pt idx="1">
                    <c:v/>
                  </c:pt>
                  <c:pt idx="2">
                    <c:v/>
                  </c:pt>
                  <c:pt idx="3">
                    <c:v/>
                  </c:pt>
                  <c:pt idx="4">
                    <c:v/>
                  </c:pt>
                  <c:pt idx="5">
                    <c:v>5</c:v>
                  </c:pt>
                  <c:pt idx="6">
                    <c:v/>
                  </c:pt>
                  <c:pt idx="7">
                    <c:v/>
                  </c:pt>
                  <c:pt idx="8">
                    <c:v/>
                  </c:pt>
                  <c:pt idx="9">
                    <c:v/>
                  </c:pt>
                  <c:pt idx="10">
                    <c:v>10</c:v>
                  </c:pt>
                  <c:pt idx="11">
                    <c:v/>
                  </c:pt>
                  <c:pt idx="12">
                    <c:v/>
                  </c:pt>
                  <c:pt idx="13">
                    <c:v/>
                  </c:pt>
                  <c:pt idx="14">
                    <c:v/>
                  </c:pt>
                  <c:pt idx="15">
                    <c:v>15</c:v>
                  </c:pt>
                  <c:pt idx="16">
                    <c:v/>
                  </c:pt>
                  <c:pt idx="17">
                    <c:v/>
                  </c:pt>
                  <c:pt idx="18">
                    <c:v/>
                  </c:pt>
                  <c:pt idx="19">
                    <c:v/>
                  </c:pt>
                  <c:pt idx="20">
                    <c:v>20</c:v>
                  </c:pt>
                  <c:pt idx="21">
                    <c:v/>
                  </c:pt>
                  <c:pt idx="22">
                    <c:v/>
                  </c:pt>
                  <c:pt idx="23">
                    <c:v/>
                  </c:pt>
                  <c:pt idx="24">
                    <c:v/>
                  </c:pt>
                  <c:pt idx="25">
                    <c:v>25</c:v>
                  </c:pt>
                  <c:pt idx="26">
                    <c:v/>
                  </c:pt>
                  <c:pt idx="27">
                    <c:v/>
                  </c:pt>
                  <c:pt idx="28">
                    <c:v/>
                  </c:pt>
                  <c:pt idx="29">
                    <c:v/>
                  </c:pt>
                  <c:pt idx="30">
                    <c:v>30</c:v>
                  </c:pt>
                </c:lvl>
              </c:multiLvlStrCache>
            </c:multiLvlStrRef>
          </c:cat>
          <c:val>
            <c:numRef>
              <c:f>Sheet1!$B$2:$B$32</c:f>
              <c:numCache>
                <c:formatCode>General</c:formatCode>
                <c:ptCount val="31"/>
                <c:pt idx="0">
                  <c:v>0.05</c:v>
                </c:pt>
                <c:pt idx="1">
                  <c:v>0.067</c:v>
                </c:pt>
                <c:pt idx="2">
                  <c:v>0.091</c:v>
                </c:pt>
                <c:pt idx="3">
                  <c:v>0.123</c:v>
                </c:pt>
                <c:pt idx="4">
                  <c:v>0.166</c:v>
                </c:pt>
                <c:pt idx="5">
                  <c:v>0.224</c:v>
                </c:pt>
                <c:pt idx="6">
                  <c:v>0.302</c:v>
                </c:pt>
                <c:pt idx="7">
                  <c:v>0.408</c:v>
                </c:pt>
                <c:pt idx="8">
                  <c:v>0.551</c:v>
                </c:pt>
                <c:pt idx="9">
                  <c:v>0.744</c:v>
                </c:pt>
                <c:pt idx="10">
                  <c:v>1.004</c:v>
                </c:pt>
                <c:pt idx="11">
                  <c:v>1.356</c:v>
                </c:pt>
                <c:pt idx="12">
                  <c:v>1.83</c:v>
                </c:pt>
                <c:pt idx="13">
                  <c:v>2.47</c:v>
                </c:pt>
                <c:pt idx="14">
                  <c:v>3.334</c:v>
                </c:pt>
                <c:pt idx="15">
                  <c:v>4.501</c:v>
                </c:pt>
                <c:pt idx="16">
                  <c:v>6.076</c:v>
                </c:pt>
                <c:pt idx="17">
                  <c:v>8.201</c:v>
                </c:pt>
                <c:pt idx="18">
                  <c:v>11.07</c:v>
                </c:pt>
                <c:pt idx="19">
                  <c:v>14.943</c:v>
                </c:pt>
                <c:pt idx="20">
                  <c:v>20.171</c:v>
                </c:pt>
                <c:pt idx="21">
                  <c:v>27.229</c:v>
                </c:pt>
                <c:pt idx="22">
                  <c:v>36.755</c:v>
                </c:pt>
                <c:pt idx="23">
                  <c:v>49.614</c:v>
                </c:pt>
                <c:pt idx="24">
                  <c:v>66.972</c:v>
                </c:pt>
                <c:pt idx="25">
                  <c:v>90.402</c:v>
                </c:pt>
                <c:pt idx="26">
                  <c:v>122.03</c:v>
                </c:pt>
                <c:pt idx="27">
                  <c:v>164.723</c:v>
                </c:pt>
                <c:pt idx="28">
                  <c:v>222.353</c:v>
                </c:pt>
                <c:pt idx="29">
                  <c:v>300.146</c:v>
                </c:pt>
                <c:pt idx="30">
                  <c:v>405.154</c:v>
                </c:pt>
              </c:numCache>
            </c:numRef>
          </c:val>
          <c:smooth val="0"/>
        </c:ser>
        <c:ser>
          <c:idx val="1"/>
          <c:order val="1"/>
          <c:tx>
            <c:strRef>
              <c:f>Sheet1!$C$1</c:f>
              <c:strCache>
                <c:ptCount val="1"/>
                <c:pt idx="0">
                  <c:v>Logistic</c:v>
                </c:pt>
              </c:strCache>
            </c:strRef>
          </c:tx>
          <c:spPr>
            <a:solidFill>
              <a:srgbClr val="1F7A70"/>
            </a:solidFill>
            <a:ln w="31750" cap="flat">
              <a:solidFill>
                <a:srgbClr val="1F7A7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F7A70"/>
              </a:solidFill>
              <a:ln w="9525" cap="flat">
                <a:solidFill>
                  <a:srgbClr val="1F7A70"/>
                </a:solidFill>
                <a:prstDash val="solid"/>
                <a:round/>
              </a:ln>
              <a:effectLst/>
            </c:spPr>
          </c:marker>
          <c:cat>
            <c:multiLvlStrRef>
              <c:f>Sheet1!$A$2:$A$32</c:f>
              <c:multiLvlStrCache>
                <c:ptCount val="31"/>
                <c:lvl>
                  <c:pt idx="0">
                    <c:v>0</c:v>
                  </c:pt>
                  <c:pt idx="1">
                    <c:v/>
                  </c:pt>
                  <c:pt idx="2">
                    <c:v/>
                  </c:pt>
                  <c:pt idx="3">
                    <c:v/>
                  </c:pt>
                  <c:pt idx="4">
                    <c:v/>
                  </c:pt>
                  <c:pt idx="5">
                    <c:v>5</c:v>
                  </c:pt>
                  <c:pt idx="6">
                    <c:v/>
                  </c:pt>
                  <c:pt idx="7">
                    <c:v/>
                  </c:pt>
                  <c:pt idx="8">
                    <c:v/>
                  </c:pt>
                  <c:pt idx="9">
                    <c:v/>
                  </c:pt>
                  <c:pt idx="10">
                    <c:v>10</c:v>
                  </c:pt>
                  <c:pt idx="11">
                    <c:v/>
                  </c:pt>
                  <c:pt idx="12">
                    <c:v/>
                  </c:pt>
                  <c:pt idx="13">
                    <c:v/>
                  </c:pt>
                  <c:pt idx="14">
                    <c:v/>
                  </c:pt>
                  <c:pt idx="15">
                    <c:v>15</c:v>
                  </c:pt>
                  <c:pt idx="16">
                    <c:v/>
                  </c:pt>
                  <c:pt idx="17">
                    <c:v/>
                  </c:pt>
                  <c:pt idx="18">
                    <c:v/>
                  </c:pt>
                  <c:pt idx="19">
                    <c:v/>
                  </c:pt>
                  <c:pt idx="20">
                    <c:v>20</c:v>
                  </c:pt>
                  <c:pt idx="21">
                    <c:v/>
                  </c:pt>
                  <c:pt idx="22">
                    <c:v/>
                  </c:pt>
                  <c:pt idx="23">
                    <c:v/>
                  </c:pt>
                  <c:pt idx="24">
                    <c:v/>
                  </c:pt>
                  <c:pt idx="25">
                    <c:v>25</c:v>
                  </c:pt>
                  <c:pt idx="26">
                    <c:v/>
                  </c:pt>
                  <c:pt idx="27">
                    <c:v/>
                  </c:pt>
                  <c:pt idx="28">
                    <c:v/>
                  </c:pt>
                  <c:pt idx="29">
                    <c:v/>
                  </c:pt>
                  <c:pt idx="30">
                    <c:v>30</c:v>
                  </c:pt>
                </c:lvl>
              </c:multiLvlStrCache>
            </c:multiLvlStrRef>
          </c:cat>
          <c:val>
            <c:numRef>
              <c:f>Sheet1!$C$2:$C$32</c:f>
              <c:numCache>
                <c:formatCode>General</c:formatCode>
                <c:ptCount val="31"/>
                <c:pt idx="0">
                  <c:v>0.05</c:v>
                </c:pt>
                <c:pt idx="1">
                  <c:v>0.066</c:v>
                </c:pt>
                <c:pt idx="2">
                  <c:v>0.088</c:v>
                </c:pt>
                <c:pt idx="3">
                  <c:v>0.115</c:v>
                </c:pt>
                <c:pt idx="4">
                  <c:v>0.149</c:v>
                </c:pt>
                <c:pt idx="5">
                  <c:v>0.191</c:v>
                </c:pt>
                <c:pt idx="6">
                  <c:v>0.242</c:v>
                </c:pt>
                <c:pt idx="7">
                  <c:v>0.301</c:v>
                </c:pt>
                <c:pt idx="8">
                  <c:v>0.367</c:v>
                </c:pt>
                <c:pt idx="9">
                  <c:v>0.439</c:v>
                </c:pt>
                <c:pt idx="10">
                  <c:v>0.514</c:v>
                </c:pt>
                <c:pt idx="11">
                  <c:v>0.588</c:v>
                </c:pt>
                <c:pt idx="12">
                  <c:v>0.658</c:v>
                </c:pt>
                <c:pt idx="13">
                  <c:v>0.722</c:v>
                </c:pt>
                <c:pt idx="14">
                  <c:v>0.778</c:v>
                </c:pt>
                <c:pt idx="15">
                  <c:v>0.826</c:v>
                </c:pt>
                <c:pt idx="16">
                  <c:v>0.865</c:v>
                </c:pt>
                <c:pt idx="17">
                  <c:v>0.896</c:v>
                </c:pt>
                <c:pt idx="18">
                  <c:v>0.921</c:v>
                </c:pt>
                <c:pt idx="19">
                  <c:v>0.94</c:v>
                </c:pt>
                <c:pt idx="20">
                  <c:v>0.955</c:v>
                </c:pt>
                <c:pt idx="21">
                  <c:v>0.966</c:v>
                </c:pt>
                <c:pt idx="22">
                  <c:v>0.975</c:v>
                </c:pt>
                <c:pt idx="23">
                  <c:v>0.981</c:v>
                </c:pt>
                <c:pt idx="24">
                  <c:v>0.986</c:v>
                </c:pt>
                <c:pt idx="25">
                  <c:v>0.99</c:v>
                </c:pt>
                <c:pt idx="26">
                  <c:v>0.992</c:v>
                </c:pt>
                <c:pt idx="27">
                  <c:v>0.994</c:v>
                </c:pt>
                <c:pt idx="28">
                  <c:v>0.996</c:v>
                </c:pt>
                <c:pt idx="29">
                  <c:v>0.997</c:v>
                </c:pt>
                <c:pt idx="30">
                  <c:v>0.998</c:v>
                </c:pt>
              </c:numCache>
            </c:numRef>
          </c:val>
          <c:smooth val="0"/>
        </c:ser>
        <c:ser>
          <c:idx val="2"/>
          <c:order val="2"/>
          <c:tx>
            <c:strRef>
              <c:f>Sheet1!$D$1</c:f>
              <c:strCache>
                <c:ptCount val="1"/>
                <c:pt idx="0">
                  <c:v>Gompertz</c:v>
                </c:pt>
              </c:strCache>
            </c:strRef>
          </c:tx>
          <c:spPr>
            <a:solidFill>
              <a:srgbClr val="264653"/>
            </a:solidFill>
            <a:ln w="31750" cap="flat">
              <a:solidFill>
                <a:srgbClr val="264653"/>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64653"/>
              </a:solidFill>
              <a:ln w="9525" cap="flat">
                <a:solidFill>
                  <a:srgbClr val="264653"/>
                </a:solidFill>
                <a:prstDash val="solid"/>
                <a:round/>
              </a:ln>
              <a:effectLst/>
            </c:spPr>
          </c:marker>
          <c:cat>
            <c:multiLvlStrRef>
              <c:f>Sheet1!$A$2:$A$32</c:f>
              <c:multiLvlStrCache>
                <c:ptCount val="31"/>
                <c:lvl>
                  <c:pt idx="0">
                    <c:v>0</c:v>
                  </c:pt>
                  <c:pt idx="1">
                    <c:v/>
                  </c:pt>
                  <c:pt idx="2">
                    <c:v/>
                  </c:pt>
                  <c:pt idx="3">
                    <c:v/>
                  </c:pt>
                  <c:pt idx="4">
                    <c:v/>
                  </c:pt>
                  <c:pt idx="5">
                    <c:v>5</c:v>
                  </c:pt>
                  <c:pt idx="6">
                    <c:v/>
                  </c:pt>
                  <c:pt idx="7">
                    <c:v/>
                  </c:pt>
                  <c:pt idx="8">
                    <c:v/>
                  </c:pt>
                  <c:pt idx="9">
                    <c:v/>
                  </c:pt>
                  <c:pt idx="10">
                    <c:v>10</c:v>
                  </c:pt>
                  <c:pt idx="11">
                    <c:v/>
                  </c:pt>
                  <c:pt idx="12">
                    <c:v/>
                  </c:pt>
                  <c:pt idx="13">
                    <c:v/>
                  </c:pt>
                  <c:pt idx="14">
                    <c:v/>
                  </c:pt>
                  <c:pt idx="15">
                    <c:v>15</c:v>
                  </c:pt>
                  <c:pt idx="16">
                    <c:v/>
                  </c:pt>
                  <c:pt idx="17">
                    <c:v/>
                  </c:pt>
                  <c:pt idx="18">
                    <c:v/>
                  </c:pt>
                  <c:pt idx="19">
                    <c:v/>
                  </c:pt>
                  <c:pt idx="20">
                    <c:v>20</c:v>
                  </c:pt>
                  <c:pt idx="21">
                    <c:v/>
                  </c:pt>
                  <c:pt idx="22">
                    <c:v/>
                  </c:pt>
                  <c:pt idx="23">
                    <c:v/>
                  </c:pt>
                  <c:pt idx="24">
                    <c:v/>
                  </c:pt>
                  <c:pt idx="25">
                    <c:v>25</c:v>
                  </c:pt>
                  <c:pt idx="26">
                    <c:v/>
                  </c:pt>
                  <c:pt idx="27">
                    <c:v/>
                  </c:pt>
                  <c:pt idx="28">
                    <c:v/>
                  </c:pt>
                  <c:pt idx="29">
                    <c:v/>
                  </c:pt>
                  <c:pt idx="30">
                    <c:v>30</c:v>
                  </c:pt>
                </c:lvl>
              </c:multiLvlStrCache>
            </c:multiLvlStrRef>
          </c:cat>
          <c:val>
            <c:numRef>
              <c:f>Sheet1!$D$2:$D$32</c:f>
              <c:numCache>
                <c:formatCode>General</c:formatCode>
                <c:ptCount val="31"/>
                <c:pt idx="0">
                  <c:v>0.05</c:v>
                </c:pt>
                <c:pt idx="1">
                  <c:v>0.076</c:v>
                </c:pt>
                <c:pt idx="2">
                  <c:v>0.109</c:v>
                </c:pt>
                <c:pt idx="3">
                  <c:v>0.148</c:v>
                </c:pt>
                <c:pt idx="4">
                  <c:v>0.193</c:v>
                </c:pt>
                <c:pt idx="5">
                  <c:v>0.243</c:v>
                </c:pt>
                <c:pt idx="6">
                  <c:v>0.296</c:v>
                </c:pt>
                <c:pt idx="7">
                  <c:v>0.351</c:v>
                </c:pt>
                <c:pt idx="8">
                  <c:v>0.406</c:v>
                </c:pt>
                <c:pt idx="9">
                  <c:v>0.46</c:v>
                </c:pt>
                <c:pt idx="10">
                  <c:v>0.513</c:v>
                </c:pt>
                <c:pt idx="11">
                  <c:v>0.563</c:v>
                </c:pt>
                <c:pt idx="12">
                  <c:v>0.609</c:v>
                </c:pt>
                <c:pt idx="13">
                  <c:v>0.653</c:v>
                </c:pt>
                <c:pt idx="14">
                  <c:v>0.693</c:v>
                </c:pt>
                <c:pt idx="15">
                  <c:v>0.729</c:v>
                </c:pt>
                <c:pt idx="16">
                  <c:v>0.762</c:v>
                </c:pt>
                <c:pt idx="17">
                  <c:v>0.791</c:v>
                </c:pt>
                <c:pt idx="18">
                  <c:v>0.818</c:v>
                </c:pt>
                <c:pt idx="19">
                  <c:v>0.841</c:v>
                </c:pt>
                <c:pt idx="20">
                  <c:v>0.861</c:v>
                </c:pt>
                <c:pt idx="21">
                  <c:v>0.88</c:v>
                </c:pt>
                <c:pt idx="22">
                  <c:v>0.895</c:v>
                </c:pt>
                <c:pt idx="23">
                  <c:v>0.909</c:v>
                </c:pt>
                <c:pt idx="24">
                  <c:v>0.921</c:v>
                </c:pt>
                <c:pt idx="25">
                  <c:v>0.932</c:v>
                </c:pt>
                <c:pt idx="26">
                  <c:v>0.941</c:v>
                </c:pt>
                <c:pt idx="27">
                  <c:v>0.949</c:v>
                </c:pt>
                <c:pt idx="28">
                  <c:v>0.956</c:v>
                </c:pt>
                <c:pt idx="29">
                  <c:v>0.962</c:v>
                </c:pt>
                <c:pt idx="30">
                  <c:v>0.967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F6B76"/>
                </a:solidFill>
                <a:latin typeface="+mn-lt"/>
              </a:defRPr>
            </a:pPr>
            <a:endParaRPr lang="en-US"/>
          </a:p>
        </c:txPr>
        <c:crossAx val="2094734552"/>
        <c:crosses val="autoZero"/>
        <c:auto val="1"/>
        <c:lblAlgn val="ctr"/>
        <c:noMultiLvlLbl val="1"/>
        <c:tickLblSkip val="5"/>
      </c:catAx>
      <c:valAx>
        <c:axId val="2094734552"/>
        <c:scaling>
          <c:orientation val="minMax"/>
          <c:max val="1.2"/>
          <c:min val="0"/>
        </c:scaling>
        <c:delete val="0"/>
        <c:axPos val="l"/>
        <c:majorGridlines>
          <c:spPr>
            <a:ln w="9525" cap="flat">
              <a:solidFill>
                <a:srgbClr val="E3E8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F6B76"/>
                </a:solidFill>
                <a:latin typeface="+mn-lt"/>
              </a:defRPr>
            </a:pPr>
            <a:endParaRPr lang="en-US"/>
          </a:p>
        </c:txPr>
        <c:crossAx val="2094734554"/>
        <c:crosses val="autoZero"/>
        <c:crossBetween val="between"/>
        <c:majorUnit val="0.2"/>
      </c:valAx>
      <c:spPr>
        <a:noFill/>
        <a:ln>
          <a:noFill/>
        </a:ln>
        <a:effectLst/>
      </c:spPr>
    </c:plotArea>
    <c:legend>
      <c:legendPos val="b"/>
      <c:overlay val="0"/>
      <c:txPr>
        <a:bodyPr/>
        <a:lstStyle/>
        <a:p>
          <a:pPr>
            <a:defRPr sz="1200">
              <a:solidFill>
                <a:srgbClr val="1B2430"/>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is a general reference. It is not tied to any one disease or therapy. Each slide gives the governing equation of a model family, what the symbols mean, and when to use it in a digital twin or a virtual trial.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twelve families. Families 1 to 6 describe how a system behaves. Family 7 describes variability between and within individuals. Families 8 to 10 connect models to data and make them fast and honest about uncertainty. Families 11 and 12 turn twins into trials and decisions and prove they can be trusted.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digital twin is a model of one individual that is continuously synchronised with data from that individual and used to make decisions. A virtual trial runs many twins, or many sampled virtual subjects, through every arm of a study. The family numbers show where each model family sits in the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I covers mechanistic models: equations that describe how a system changes over time and 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digital twins can be written as a state-space model: a hidden state that evolves, and observations that depend on it. ODEs, SDEs and PDEs are the continuous versions, chosen by whether space and randomness matter.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every twin is continuous. Markov models describe movement between discrete health states. Hidden Markov models infer an unobserved state. Agent-based and cellular-automaton models describe many interacting individuals. Hybrid systems combine continuous dynamics with discrete events such as a dose or a device switch.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Pharmacokinetic models describe concentration over time. Compartment models are empirical and fast. PBPK models are physiological, with real organ volumes and blood flows, so they extrapolate to new populations, which makes them central to virtual trials.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Hill or Emax model is the workhorse exposure–response model. Indirect-response models capture delayed effects when a drug changes the turnover of a biomarker. The effect-compartment model explains why effect lags behind plasma concentration.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Quantitative systems pharmacology models write a biological network as reaction equations. Mass action and Michaelis–Menten kinetics give continuous models; Boolean networks give a coarse logic model when kinetic data are missing.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Growth laws describe untreated disease burden. Adding a kill term driven by drug exposure gives tumour-growth-inhibition and antimicrobial models. Which law fits best is an empirical question settled with model-selection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models describe how disease spreads through a population or progresses within a person. They provide the natural-history arm of a virtual trial, against which treatment effects are simulated.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classic lumped physiological models. Each has few parameters, which can be identified per patient from routine measurements, making them ideal first digital twins.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Continuum models resolve space as well as time. They are solved with finite-element or finite-volume methods and are the most expensive part of many twins, which is why surrogates matter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II covers the models that connect equations to data: variability between people, synchronising twins with measurements, quantifying uncertainty, and making models fast.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Population models separate the typical behaviour from variability between individuals and residual noise. NLME is the standard in pharmacometrics; mixed and generalised linear models are the statistical equivalents; hierarchical Bayes generalises all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trial endpoints are times to events. Kaplan–Meier describes them, Cox explains them, parametric models extrapolate and simulate them, and joint models link them to a twin's evolving biomarkers.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assimilation is what turns a model into a twin. Filters update the state sequentially as data arrive; variational methods fit a whole window at once. Both weigh model uncertainty against measurement uncertainty.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Calibration finds parameter values; identifiability asks whether the data can determine them at all. Fisher information answers that before collecting data and designs better experiments. ABC and simulation-based inference handle models whose likelihood cannot be written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Uncertainty quantification makes predictions honest. Monte Carlo is the default; polynomial chaos is faster for smooth models; Kennedy–O'Hagan calibration admits that the model itself is imperfect. The total-variance split tells you whether more data would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Sensitivity analysis shows which parameters matter, so you know what to measure per patient and what can be fixed at population values. Screen with Morris, then quantify with Sobol.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twin used at the bedside, or run thousands of times in a virtual trial, must be fast. Reduced-order models and emulators replace the full simulator with a cheap approximation that keeps its accuracy where it matters, and ideally reports its own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III covers how twins become virtual cohorts and trials, how they inform decisions, and how they are validated.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virtual trial is only as representative as its virtual population. Copulas keep correlations between covariates; plausible-patient methods ensure each subject is physiologically valid; posterior sampling and generative models scale up the cohort.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Virtual trials use the same statistics as real trials, but can also see both potential outcomes for each subject. Simulation is also how real adaptive designs are evaluated: run thousands of virtual trials and count how often each decision is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accepted uses of digital twins today augment real trials. Prognostic covariate adjustment, recognised by regulators, uses twin predictions to shrink trial size. Synthetic control arms and imaging model observers replace parts of the evidence. Health-economic models carry results into value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 models close the loop. Optimal control and MPC compute schedules from the equations; reinforcement learning learns them from simulation; Bayesian and multi-objective optimisation search designs when evaluations are expensive.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Fit and selection metrics answer whether the model describes the data, and which of several candidate models to prefer. Predictive checks are the most informative: if data simulated from the model do not look like the real data, the model is wrong somewhere.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Verification checks the equations are solved correctly; validation checks they are the right equations; calibration of uncertainty checks the error bars are honest. The V&amp;V 40 framework decides how much of each is enough for a given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practical guide: start with the simplest model that answers the question and has identifiable parameters; upgrade only when validation shows the simple model fails.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messages: the core of every twin is a dynamical model synchronised with data; population, uncertainty and surrogate models make it scale to virtual trials; trial design, control and validation make the results usable and trustworthy.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Textbooks and landmark papers for each family. Check bibliographic details before citing.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B3C49"/>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1417320"/>
            <a:ext cx="10698480" cy="411480"/>
          </a:xfrm>
          <a:prstGeom prst="rect">
            <a:avLst/>
          </a:prstGeom>
          <a:noFill/>
          <a:ln/>
        </p:spPr>
        <p:txBody>
          <a:bodyPr wrap="square" rtlCol="0"/>
          <a:lstStyle>
            <a:lvl1pPr indent="0" marL="0">
              <a:buNone/>
              <a:defRPr lang="en-US" sz="1600" b="1" dirty="0">
                <a:solidFill>
                  <a:srgbClr val="F2A541"/>
                </a:solidFill>
              </a:defRPr>
            </a:lvl1pPr>
          </a:lstStyle>
          <a:p>
            <a:pPr indent="0" marL="0">
              <a:buNone/>
            </a:pPr>
            <a:endParaRPr lang="en-US" sz="1600" dirty="0"/>
          </a:p>
        </p:txBody>
      </p:sp>
      <p:sp>
        <p:nvSpPr>
          <p:cNvPr id="3" name="Text 0"/>
          <p:cNvSpPr/>
          <p:nvPr>
            <p:ph idx="101" type="title" hasCustomPrompt="1"/>
          </p:nvPr>
        </p:nvSpPr>
        <p:spPr>
          <a:xfrm>
            <a:off x="731520" y="1874520"/>
            <a:ext cx="10698480" cy="1554480"/>
          </a:xfrm>
          <a:prstGeom prst="rect">
            <a:avLst/>
          </a:prstGeom>
          <a:noFill/>
          <a:ln/>
        </p:spPr>
        <p:txBody>
          <a:bodyPr wrap="square" rtlCol="0"/>
          <a:lstStyle>
            <a:lvl1pPr algn="l" indent="0" marL="0">
              <a:buNone/>
              <a:defRPr lang="en-US" sz="4400" b="1" dirty="0">
                <a:solidFill>
                  <a:srgbClr val="FFFFFF"/>
                </a:solidFill>
              </a:defRPr>
            </a:lvl1pPr>
          </a:lstStyle>
          <a:p>
            <a:pPr algn="l" indent="0" marL="0">
              <a:buNone/>
            </a:pPr>
            <a:endParaRPr lang="en-US" sz="4400" dirty="0"/>
          </a:p>
        </p:txBody>
      </p:sp>
      <p:sp>
        <p:nvSpPr>
          <p:cNvPr id="4" name="Text 0"/>
          <p:cNvSpPr/>
          <p:nvPr>
            <p:ph idx="102" type="body" hasCustomPrompt="1"/>
          </p:nvPr>
        </p:nvSpPr>
        <p:spPr>
          <a:xfrm>
            <a:off x="731520" y="3611880"/>
            <a:ext cx="9601200" cy="1005840"/>
          </a:xfrm>
          <a:prstGeom prst="rect">
            <a:avLst/>
          </a:prstGeom>
          <a:noFill/>
          <a:ln/>
        </p:spPr>
        <p:txBody>
          <a:bodyPr wrap="square" rtlCol="0"/>
          <a:lstStyle>
            <a:lvl1pPr indent="0" marL="0">
              <a:buNone/>
              <a:defRPr lang="en-US" sz="1800" dirty="0">
                <a:solidFill>
                  <a:srgbClr val="EEF4F5"/>
                </a:solidFill>
              </a:defRPr>
            </a:lvl1pPr>
          </a:lstStyle>
          <a:p>
            <a:pPr indent="0" marL="0">
              <a:buNone/>
            </a:pPr>
            <a:endParaRPr lang="en-US" sz="1800" dirty="0"/>
          </a:p>
        </p:txBody>
      </p:sp>
      <p:sp>
        <p:nvSpPr>
          <p:cNvPr id="5" name="Text 0"/>
          <p:cNvSpPr/>
          <p:nvPr>
            <p:ph idx="103" type="body" hasCustomPrompt="1"/>
          </p:nvPr>
        </p:nvSpPr>
        <p:spPr>
          <a:xfrm>
            <a:off x="731520" y="5257800"/>
            <a:ext cx="10698480" cy="457200"/>
          </a:xfrm>
          <a:prstGeom prst="rect">
            <a:avLst/>
          </a:prstGeom>
          <a:noFill/>
          <a:ln/>
        </p:spPr>
        <p:txBody>
          <a:bodyPr wrap="square" rtlCol="0"/>
          <a:lstStyle>
            <a:lvl1pPr indent="0" marL="0">
              <a:buNone/>
              <a:defRPr lang="en-US" sz="1600" dirty="0">
                <a:solidFill>
                  <a:srgbClr val="F2A541"/>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_DARK">
    <p:bg>
      <p:bgPr>
        <a:solidFill>
          <a:srgbClr val="0B3C49"/>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2057400"/>
            <a:ext cx="10698480" cy="411480"/>
          </a:xfrm>
          <a:prstGeom prst="rect">
            <a:avLst/>
          </a:prstGeom>
          <a:noFill/>
          <a:ln/>
        </p:spPr>
        <p:txBody>
          <a:bodyPr wrap="square" rtlCol="0"/>
          <a:lstStyle>
            <a:lvl1pPr indent="0" marL="0">
              <a:buNone/>
              <a:defRPr lang="en-US" sz="1600" b="1" dirty="0">
                <a:solidFill>
                  <a:srgbClr val="F2A541"/>
                </a:solidFill>
              </a:defRPr>
            </a:lvl1pPr>
          </a:lstStyle>
          <a:p>
            <a:pPr indent="0" marL="0">
              <a:buNone/>
            </a:pPr>
            <a:endParaRPr lang="en-US" sz="1600" dirty="0"/>
          </a:p>
        </p:txBody>
      </p:sp>
      <p:sp>
        <p:nvSpPr>
          <p:cNvPr id="3" name="Text 0"/>
          <p:cNvSpPr/>
          <p:nvPr>
            <p:ph idx="101" type="title" hasCustomPrompt="1"/>
          </p:nvPr>
        </p:nvSpPr>
        <p:spPr>
          <a:xfrm>
            <a:off x="731520" y="2560320"/>
            <a:ext cx="10698480" cy="137160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4" name="Text 0"/>
          <p:cNvSpPr/>
          <p:nvPr>
            <p:ph idx="102" type="body" hasCustomPrompt="1"/>
          </p:nvPr>
        </p:nvSpPr>
        <p:spPr>
          <a:xfrm>
            <a:off x="731520" y="4069080"/>
            <a:ext cx="9601200" cy="1463040"/>
          </a:xfrm>
          <a:prstGeom prst="rect">
            <a:avLst/>
          </a:prstGeom>
          <a:noFill/>
          <a:ln/>
        </p:spPr>
        <p:txBody>
          <a:bodyPr wrap="square" rtlCol="0"/>
          <a:lstStyle>
            <a:lvl1pPr indent="0" marL="0">
              <a:buNone/>
              <a:defRPr lang="en-US" sz="1800" dirty="0">
                <a:solidFill>
                  <a:srgbClr val="EEF4F5"/>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4F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29184"/>
          </a:xfrm>
          <a:prstGeom prst="rect">
            <a:avLst/>
          </a:prstGeom>
          <a:noFill/>
          <a:ln/>
        </p:spPr>
        <p:txBody>
          <a:bodyPr wrap="square" rtlCol="0"/>
          <a:lstStyle>
            <a:lvl1pPr indent="0" marL="0">
              <a:buNone/>
              <a:defRPr lang="en-US" sz="1300" b="1" dirty="0">
                <a:solidFill>
                  <a:srgbClr val="1F7A70"/>
                </a:solidFill>
              </a:defRPr>
            </a:lvl1pPr>
          </a:lstStyle>
          <a:p>
            <a:pPr indent="0" marL="0">
              <a:buNone/>
            </a:pPr>
            <a:endParaRPr lang="en-US" sz="1300" dirty="0"/>
          </a:p>
        </p:txBody>
      </p:sp>
      <p:sp>
        <p:nvSpPr>
          <p:cNvPr id="3" name="Text 0"/>
          <p:cNvSpPr/>
          <p:nvPr>
            <p:ph idx="101" type="title" hasCustomPrompt="1"/>
          </p:nvPr>
        </p:nvSpPr>
        <p:spPr>
          <a:xfrm>
            <a:off x="548640" y="603504"/>
            <a:ext cx="11064240" cy="731520"/>
          </a:xfrm>
          <a:prstGeom prst="rect">
            <a:avLst/>
          </a:prstGeom>
          <a:noFill/>
          <a:ln/>
        </p:spPr>
        <p:txBody>
          <a:bodyPr wrap="square" rtlCol="0"/>
          <a:lstStyle>
            <a:lvl1pPr algn="l" indent="0" marL="0">
              <a:buNone/>
              <a:defRPr lang="en-US" sz="3600" b="1" dirty="0">
                <a:solidFill>
                  <a:srgbClr val="0B3C49"/>
                </a:solidFill>
              </a:defRPr>
            </a:lvl1pPr>
          </a:lstStyle>
          <a:p>
            <a:pPr algn="l" indent="0" marL="0">
              <a:buNone/>
            </a:pPr>
            <a:endParaRPr lang="en-US" sz="3600" dirty="0"/>
          </a:p>
        </p:txBody>
      </p:sp>
      <p:sp>
        <p:nvSpPr>
          <p:cNvPr id="4" name="Text 0"/>
          <p:cNvSpPr/>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5F6B76"/>
                </a:solidFill>
              </a:rPr>
              <a:t>Digital twins &amp; virtual trials  ·  general model catalogue</a:t>
            </a:r>
            <a:endParaRPr lang="en-US" sz="10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4F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2-14.png"/><Relationship Id="rId15" Type="http://schemas.openxmlformats.org/officeDocument/2006/relationships/image" Target="../media/image-2-15.png"/><Relationship Id="rId16" Type="http://schemas.openxmlformats.org/officeDocument/2006/relationships/image" Target="../media/image-2-16.png"/><Relationship Id="rId17" Type="http://schemas.openxmlformats.org/officeDocument/2006/relationships/image" Target="../media/image-2-17.png"/><Relationship Id="rId18" Type="http://schemas.openxmlformats.org/officeDocument/2006/relationships/image" Target="../media/image-2-18.png"/><Relationship Id="rId19" Type="http://schemas.openxmlformats.org/officeDocument/2006/relationships/image" Target="../media/image-2-19.png"/><Relationship Id="rId20" Type="http://schemas.openxmlformats.org/officeDocument/2006/relationships/image" Target="../media/image-2-20.png"/><Relationship Id="rId21" Type="http://schemas.openxmlformats.org/officeDocument/2006/relationships/image" Target="../media/image-2-21.png"/><Relationship Id="rId22" Type="http://schemas.openxmlformats.org/officeDocument/2006/relationships/image" Target="../media/image-2-22.png"/><Relationship Id="rId23" Type="http://schemas.openxmlformats.org/officeDocument/2006/relationships/image" Target="../media/image-2-23.png"/><Relationship Id="rId24" Type="http://schemas.openxmlformats.org/officeDocument/2006/relationships/image" Target="../media/image-2-24.png"/><Relationship Id="rId25" Type="http://schemas.openxmlformats.org/officeDocument/2006/relationships/slideLayout" Target="../slideLayouts/slideLayout4.xml"/><Relationship Id="rId2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4.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731520" y="1417320"/>
            <a:ext cx="10698480" cy="411480"/>
          </a:xfrm>
          <a:prstGeom prst="rect">
            <a:avLst/>
          </a:prstGeom>
          <a:noFill/>
          <a:ln/>
        </p:spPr>
        <p:txBody>
          <a:bodyPr wrap="square" rtlCol="0" anchor="t"/>
          <a:lstStyle/>
          <a:p>
            <a:pPr indent="0" marL="0">
              <a:buNone/>
            </a:pPr>
            <a:r>
              <a:rPr lang="en-US" sz="1600" b="1" dirty="0">
                <a:solidFill>
                  <a:srgbClr val="F2A541"/>
                </a:solidFill>
              </a:rPr>
              <a:t>GENERAL MODEL CATALOGUE  ·  OCTOBER 2026</a:t>
            </a:r>
            <a:endParaRPr lang="en-US" sz="1600" dirty="0"/>
          </a:p>
        </p:txBody>
      </p:sp>
      <p:sp>
        <p:nvSpPr>
          <p:cNvPr id="3" name="Text 0"/>
          <p:cNvSpPr/>
          <p:nvPr>
            <p:ph idx="101" type="title" hasCustomPrompt="1"/>
          </p:nvPr>
        </p:nvSpPr>
        <p:spPr>
          <a:xfrm>
            <a:off x="731520" y="1874520"/>
            <a:ext cx="10698480" cy="1554480"/>
          </a:xfrm>
          <a:prstGeom prst="rect">
            <a:avLst/>
          </a:prstGeom>
          <a:noFill/>
          <a:ln/>
        </p:spPr>
        <p:txBody>
          <a:bodyPr wrap="square" rtlCol="0" anchor="t"/>
          <a:lstStyle/>
          <a:p>
            <a:pPr algn="l" indent="0" marL="0">
              <a:buNone/>
            </a:pPr>
            <a:r>
              <a:rPr lang="en-US" sz="4400" b="1" dirty="0">
                <a:solidFill>
                  <a:srgbClr val="FFFFFF"/>
                </a:solidFill>
              </a:rPr>
              <a:t>Mathematical Models for Digital Twins and Virtual Trials</a:t>
            </a:r>
            <a:endParaRPr lang="en-US" sz="4400" dirty="0"/>
          </a:p>
        </p:txBody>
      </p:sp>
      <p:sp>
        <p:nvSpPr>
          <p:cNvPr id="4" name="Text 0"/>
          <p:cNvSpPr/>
          <p:nvPr>
            <p:ph idx="102" type="body" hasCustomPrompt="1"/>
          </p:nvPr>
        </p:nvSpPr>
        <p:spPr>
          <a:xfrm>
            <a:off x="731520" y="3611880"/>
            <a:ext cx="9601200" cy="1005840"/>
          </a:xfrm>
          <a:prstGeom prst="rect">
            <a:avLst/>
          </a:prstGeom>
          <a:noFill/>
          <a:ln/>
        </p:spPr>
        <p:txBody>
          <a:bodyPr wrap="square" rtlCol="0" anchor="t"/>
          <a:lstStyle/>
          <a:p>
            <a:pPr indent="0" marL="0">
              <a:buNone/>
            </a:pPr>
            <a:r>
              <a:rPr lang="en-US" sz="1800" dirty="0">
                <a:solidFill>
                  <a:srgbClr val="EEF4F5"/>
                </a:solidFill>
              </a:rPr>
              <a:t>A field-independent reference: about 90 models across dynamics, physiology, statistics, data assimilation, uncertainty, surrogates, virtual populations, trial design, control and validation</a:t>
            </a:r>
            <a:endParaRPr lang="en-US" sz="1800" dirty="0"/>
          </a:p>
        </p:txBody>
      </p:sp>
      <p:sp>
        <p:nvSpPr>
          <p:cNvPr id="5" name="Text 0"/>
          <p:cNvSpPr/>
          <p:nvPr>
            <p:ph idx="103" type="body" hasCustomPrompt="1"/>
          </p:nvPr>
        </p:nvSpPr>
        <p:spPr>
          <a:xfrm>
            <a:off x="731520" y="5257800"/>
            <a:ext cx="10698480" cy="457200"/>
          </a:xfrm>
          <a:prstGeom prst="rect">
            <a:avLst/>
          </a:prstGeom>
          <a:noFill/>
          <a:ln/>
        </p:spPr>
        <p:txBody>
          <a:bodyPr wrap="square" rtlCol="0" anchor="t"/>
          <a:lstStyle/>
          <a:p>
            <a:pPr indent="0" marL="0">
              <a:buNone/>
            </a:pPr>
            <a:r>
              <a:rPr lang="en-US" sz="1600" dirty="0">
                <a:solidFill>
                  <a:srgbClr val="F2A541"/>
                </a:solidFill>
              </a:rPr>
              <a:t>Hamid Abdollahi, PhD</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29184"/>
          </a:xfrm>
          <a:prstGeom prst="rect">
            <a:avLst/>
          </a:prstGeom>
          <a:noFill/>
          <a:ln/>
        </p:spPr>
        <p:txBody>
          <a:bodyPr wrap="square" lIns="0" tIns="0" rIns="0" bIns="0" rtlCol="0" anchor="t"/>
          <a:lstStyle/>
          <a:p>
            <a:pPr indent="0" marL="0">
              <a:buNone/>
            </a:pPr>
            <a:r>
              <a:rPr lang="en-US" sz="1300" b="1" dirty="0">
                <a:solidFill>
                  <a:srgbClr val="1F7A70"/>
                </a:solidFill>
              </a:rPr>
              <a:t>OVERVIEW</a:t>
            </a:r>
            <a:endParaRPr lang="en-US" sz="1300" dirty="0"/>
          </a:p>
        </p:txBody>
      </p:sp>
      <p:sp>
        <p:nvSpPr>
          <p:cNvPr id="3" name="Text 0"/>
          <p:cNvSpPr/>
          <p:nvPr>
            <p:ph idx="101" type="title" hasCustomPrompt="1"/>
          </p:nvPr>
        </p:nvSpPr>
        <p:spPr>
          <a:xfrm>
            <a:off x="548640" y="603504"/>
            <a:ext cx="11064240" cy="731520"/>
          </a:xfrm>
          <a:prstGeom prst="rect">
            <a:avLst/>
          </a:prstGeom>
          <a:noFill/>
          <a:ln/>
        </p:spPr>
        <p:txBody>
          <a:bodyPr wrap="square" lIns="0" tIns="0" rIns="0" bIns="0" rtlCol="0" anchor="t"/>
          <a:lstStyle/>
          <a:p>
            <a:pPr algn="l" indent="0" marL="0">
              <a:buNone/>
            </a:pPr>
            <a:r>
              <a:rPr lang="en-US" sz="3600" b="1" dirty="0">
                <a:solidFill>
                  <a:srgbClr val="0B3C49"/>
                </a:solidFill>
              </a:rPr>
              <a:t>Twelve families of models</a:t>
            </a:r>
            <a:endParaRPr lang="en-US" sz="3600" dirty="0"/>
          </a:p>
        </p:txBody>
      </p:sp>
      <p:pic>
        <p:nvPicPr>
          <p:cNvPr id="4" name="icon circle" descr="preencoded.png">    </p:cNvPr>
          <p:cNvPicPr>
            <a:picLocks noChangeAspect="1"/>
          </p:cNvPicPr>
          <p:nvPr/>
        </p:nvPicPr>
        <p:blipFill>
          <a:blip r:embed="rId1"/>
          <a:stretch>
            <a:fillRect/>
          </a:stretch>
        </p:blipFill>
        <p:spPr>
          <a:xfrm>
            <a:off x="548640" y="1655064"/>
            <a:ext cx="548640" cy="548640"/>
          </a:xfrm>
          <a:prstGeom prst="rect">
            <a:avLst/>
          </a:prstGeom>
        </p:spPr>
      </p:pic>
      <p:pic>
        <p:nvPicPr>
          <p:cNvPr id="5" name="icon" descr="preencoded.png">    </p:cNvPr>
          <p:cNvPicPr>
            <a:picLocks noChangeAspect="1"/>
          </p:cNvPicPr>
          <p:nvPr/>
        </p:nvPicPr>
        <p:blipFill>
          <a:blip r:embed="rId2"/>
          <a:stretch>
            <a:fillRect/>
          </a:stretch>
        </p:blipFill>
        <p:spPr>
          <a:xfrm>
            <a:off x="669341" y="1775765"/>
            <a:ext cx="307238" cy="307238"/>
          </a:xfrm>
          <a:prstGeom prst="rect">
            <a:avLst/>
          </a:prstGeom>
        </p:spPr>
      </p:pic>
      <p:sp>
        <p:nvSpPr>
          <p:cNvPr id="6" name="Text 2"/>
          <p:cNvSpPr txBox="1"/>
          <p:nvPr/>
        </p:nvSpPr>
        <p:spPr>
          <a:xfrm>
            <a:off x="1261872" y="1600200"/>
            <a:ext cx="2926080" cy="384048"/>
          </a:xfrm>
          <a:prstGeom prst="rect">
            <a:avLst/>
          </a:prstGeom>
          <a:noFill/>
          <a:ln/>
        </p:spPr>
        <p:txBody>
          <a:bodyPr wrap="square" lIns="0" tIns="0" rIns="0" bIns="0" rtlCol="0" anchor="t"/>
          <a:lstStyle/>
          <a:p>
            <a:pPr indent="0" marL="0">
              <a:buNone/>
            </a:pPr>
            <a:r>
              <a:rPr lang="en-US" sz="1600" b="1" dirty="0">
                <a:solidFill>
                  <a:srgbClr val="0B3C49"/>
                </a:solidFill>
              </a:rPr>
              <a:t>1 · Digital-twin formalism</a:t>
            </a:r>
            <a:endParaRPr lang="en-US" sz="1600" dirty="0"/>
          </a:p>
        </p:txBody>
      </p:sp>
      <p:sp>
        <p:nvSpPr>
          <p:cNvPr id="7" name="Text 3"/>
          <p:cNvSpPr txBox="1"/>
          <p:nvPr/>
        </p:nvSpPr>
        <p:spPr>
          <a:xfrm>
            <a:off x="1261872" y="2002536"/>
            <a:ext cx="2926080" cy="457200"/>
          </a:xfrm>
          <a:prstGeom prst="rect">
            <a:avLst/>
          </a:prstGeom>
          <a:noFill/>
          <a:ln/>
        </p:spPr>
        <p:txBody>
          <a:bodyPr wrap="square" lIns="0" tIns="0" rIns="0" bIns="0" rtlCol="0" anchor="t"/>
          <a:lstStyle/>
          <a:p>
            <a:pPr indent="0" marL="0">
              <a:buNone/>
            </a:pPr>
            <a:r>
              <a:rPr lang="en-US" sz="1400" dirty="0">
                <a:solidFill>
                  <a:srgbClr val="1B2430"/>
                </a:solidFill>
              </a:rPr>
              <a:t>state space, ODE, SDE, PDE, discrete</a:t>
            </a:r>
            <a:endParaRPr lang="en-US" sz="1400" dirty="0"/>
          </a:p>
        </p:txBody>
      </p:sp>
      <p:pic>
        <p:nvPicPr>
          <p:cNvPr id="8" name="icon circle" descr="preencoded.png">    </p:cNvPr>
          <p:cNvPicPr>
            <a:picLocks noChangeAspect="1"/>
          </p:cNvPicPr>
          <p:nvPr/>
        </p:nvPicPr>
        <p:blipFill>
          <a:blip r:embed="rId3"/>
          <a:stretch>
            <a:fillRect/>
          </a:stretch>
        </p:blipFill>
        <p:spPr>
          <a:xfrm>
            <a:off x="4297680" y="1655064"/>
            <a:ext cx="548640" cy="548640"/>
          </a:xfrm>
          <a:prstGeom prst="rect">
            <a:avLst/>
          </a:prstGeom>
        </p:spPr>
      </p:pic>
      <p:pic>
        <p:nvPicPr>
          <p:cNvPr id="9" name="icon" descr="preencoded.png">    </p:cNvPr>
          <p:cNvPicPr>
            <a:picLocks noChangeAspect="1"/>
          </p:cNvPicPr>
          <p:nvPr/>
        </p:nvPicPr>
        <p:blipFill>
          <a:blip r:embed="rId4"/>
          <a:stretch>
            <a:fillRect/>
          </a:stretch>
        </p:blipFill>
        <p:spPr>
          <a:xfrm>
            <a:off x="4418381" y="1775765"/>
            <a:ext cx="307238" cy="307238"/>
          </a:xfrm>
          <a:prstGeom prst="rect">
            <a:avLst/>
          </a:prstGeom>
        </p:spPr>
      </p:pic>
      <p:sp>
        <p:nvSpPr>
          <p:cNvPr id="10" name="Text 4"/>
          <p:cNvSpPr txBox="1"/>
          <p:nvPr/>
        </p:nvSpPr>
        <p:spPr>
          <a:xfrm>
            <a:off x="5010912" y="1600200"/>
            <a:ext cx="2926080" cy="384048"/>
          </a:xfrm>
          <a:prstGeom prst="rect">
            <a:avLst/>
          </a:prstGeom>
          <a:noFill/>
          <a:ln/>
        </p:spPr>
        <p:txBody>
          <a:bodyPr wrap="square" lIns="0" tIns="0" rIns="0" bIns="0" rtlCol="0" anchor="t"/>
          <a:lstStyle/>
          <a:p>
            <a:pPr indent="0" marL="0">
              <a:buNone/>
            </a:pPr>
            <a:r>
              <a:rPr lang="en-US" sz="1600" b="1" dirty="0">
                <a:solidFill>
                  <a:srgbClr val="0B3C49"/>
                </a:solidFill>
              </a:rPr>
              <a:t>2 · Pharmacokinetics</a:t>
            </a:r>
            <a:endParaRPr lang="en-US" sz="1600" dirty="0"/>
          </a:p>
        </p:txBody>
      </p:sp>
      <p:sp>
        <p:nvSpPr>
          <p:cNvPr id="11" name="Text 5"/>
          <p:cNvSpPr txBox="1"/>
          <p:nvPr/>
        </p:nvSpPr>
        <p:spPr>
          <a:xfrm>
            <a:off x="5010912" y="2002536"/>
            <a:ext cx="2926080" cy="457200"/>
          </a:xfrm>
          <a:prstGeom prst="rect">
            <a:avLst/>
          </a:prstGeom>
          <a:noFill/>
          <a:ln/>
        </p:spPr>
        <p:txBody>
          <a:bodyPr wrap="square" lIns="0" tIns="0" rIns="0" bIns="0" rtlCol="0" anchor="t"/>
          <a:lstStyle/>
          <a:p>
            <a:pPr indent="0" marL="0">
              <a:buNone/>
            </a:pPr>
            <a:r>
              <a:rPr lang="en-US" sz="1400" dirty="0">
                <a:solidFill>
                  <a:srgbClr val="1B2430"/>
                </a:solidFill>
              </a:rPr>
              <a:t>compartments, absorption, PBPK</a:t>
            </a:r>
            <a:endParaRPr lang="en-US" sz="1400" dirty="0"/>
          </a:p>
        </p:txBody>
      </p:sp>
      <p:pic>
        <p:nvPicPr>
          <p:cNvPr id="12" name="icon circle" descr="preencoded.png">    </p:cNvPr>
          <p:cNvPicPr>
            <a:picLocks noChangeAspect="1"/>
          </p:cNvPicPr>
          <p:nvPr/>
        </p:nvPicPr>
        <p:blipFill>
          <a:blip r:embed="rId5"/>
          <a:stretch>
            <a:fillRect/>
          </a:stretch>
        </p:blipFill>
        <p:spPr>
          <a:xfrm>
            <a:off x="8046720" y="1655064"/>
            <a:ext cx="548640" cy="548640"/>
          </a:xfrm>
          <a:prstGeom prst="rect">
            <a:avLst/>
          </a:prstGeom>
        </p:spPr>
      </p:pic>
      <p:pic>
        <p:nvPicPr>
          <p:cNvPr id="13" name="icon" descr="preencoded.png">    </p:cNvPr>
          <p:cNvPicPr>
            <a:picLocks noChangeAspect="1"/>
          </p:cNvPicPr>
          <p:nvPr/>
        </p:nvPicPr>
        <p:blipFill>
          <a:blip r:embed="rId6"/>
          <a:stretch>
            <a:fillRect/>
          </a:stretch>
        </p:blipFill>
        <p:spPr>
          <a:xfrm>
            <a:off x="8167421" y="1775765"/>
            <a:ext cx="307238" cy="307238"/>
          </a:xfrm>
          <a:prstGeom prst="rect">
            <a:avLst/>
          </a:prstGeom>
        </p:spPr>
      </p:pic>
      <p:sp>
        <p:nvSpPr>
          <p:cNvPr id="14" name="Text 6"/>
          <p:cNvSpPr txBox="1"/>
          <p:nvPr/>
        </p:nvSpPr>
        <p:spPr>
          <a:xfrm>
            <a:off x="8759952" y="1600200"/>
            <a:ext cx="2926080" cy="384048"/>
          </a:xfrm>
          <a:prstGeom prst="rect">
            <a:avLst/>
          </a:prstGeom>
          <a:noFill/>
          <a:ln/>
        </p:spPr>
        <p:txBody>
          <a:bodyPr wrap="square" lIns="0" tIns="0" rIns="0" bIns="0" rtlCol="0" anchor="t"/>
          <a:lstStyle/>
          <a:p>
            <a:pPr indent="0" marL="0">
              <a:buNone/>
            </a:pPr>
            <a:r>
              <a:rPr lang="en-US" sz="1600" b="1" dirty="0">
                <a:solidFill>
                  <a:srgbClr val="0B3C49"/>
                </a:solidFill>
              </a:rPr>
              <a:t>3 · Pharmacodynamics, QSP</a:t>
            </a:r>
            <a:endParaRPr lang="en-US" sz="1600" dirty="0"/>
          </a:p>
        </p:txBody>
      </p:sp>
      <p:sp>
        <p:nvSpPr>
          <p:cNvPr id="15" name="Text 7"/>
          <p:cNvSpPr txBox="1"/>
          <p:nvPr/>
        </p:nvSpPr>
        <p:spPr>
          <a:xfrm>
            <a:off x="8759952" y="2002536"/>
            <a:ext cx="2926080" cy="457200"/>
          </a:xfrm>
          <a:prstGeom prst="rect">
            <a:avLst/>
          </a:prstGeom>
          <a:noFill/>
          <a:ln/>
        </p:spPr>
        <p:txBody>
          <a:bodyPr wrap="square" lIns="0" tIns="0" rIns="0" bIns="0" rtlCol="0" anchor="t"/>
          <a:lstStyle/>
          <a:p>
            <a:pPr indent="0" marL="0">
              <a:buNone/>
            </a:pPr>
            <a:r>
              <a:rPr lang="en-US" sz="1400" dirty="0">
                <a:solidFill>
                  <a:srgbClr val="1B2430"/>
                </a:solidFill>
              </a:rPr>
              <a:t>Emax, indirect response, kinetics</a:t>
            </a:r>
            <a:endParaRPr lang="en-US" sz="1400" dirty="0"/>
          </a:p>
        </p:txBody>
      </p:sp>
      <p:pic>
        <p:nvPicPr>
          <p:cNvPr id="16" name="icon circle" descr="preencoded.png">    </p:cNvPr>
          <p:cNvPicPr>
            <a:picLocks noChangeAspect="1"/>
          </p:cNvPicPr>
          <p:nvPr/>
        </p:nvPicPr>
        <p:blipFill>
          <a:blip r:embed="rId7"/>
          <a:stretch>
            <a:fillRect/>
          </a:stretch>
        </p:blipFill>
        <p:spPr>
          <a:xfrm>
            <a:off x="548640" y="2752344"/>
            <a:ext cx="548640" cy="548640"/>
          </a:xfrm>
          <a:prstGeom prst="rect">
            <a:avLst/>
          </a:prstGeom>
        </p:spPr>
      </p:pic>
      <p:pic>
        <p:nvPicPr>
          <p:cNvPr id="17" name="icon" descr="preencoded.png">    </p:cNvPr>
          <p:cNvPicPr>
            <a:picLocks noChangeAspect="1"/>
          </p:cNvPicPr>
          <p:nvPr/>
        </p:nvPicPr>
        <p:blipFill>
          <a:blip r:embed="rId8"/>
          <a:stretch>
            <a:fillRect/>
          </a:stretch>
        </p:blipFill>
        <p:spPr>
          <a:xfrm>
            <a:off x="669341" y="2873045"/>
            <a:ext cx="307238" cy="307238"/>
          </a:xfrm>
          <a:prstGeom prst="rect">
            <a:avLst/>
          </a:prstGeom>
        </p:spPr>
      </p:pic>
      <p:sp>
        <p:nvSpPr>
          <p:cNvPr id="18" name="Text 8"/>
          <p:cNvSpPr txBox="1"/>
          <p:nvPr/>
        </p:nvSpPr>
        <p:spPr>
          <a:xfrm>
            <a:off x="1261872" y="2697480"/>
            <a:ext cx="2926080" cy="384048"/>
          </a:xfrm>
          <a:prstGeom prst="rect">
            <a:avLst/>
          </a:prstGeom>
          <a:noFill/>
          <a:ln/>
        </p:spPr>
        <p:txBody>
          <a:bodyPr wrap="square" lIns="0" tIns="0" rIns="0" bIns="0" rtlCol="0" anchor="t"/>
          <a:lstStyle/>
          <a:p>
            <a:pPr indent="0" marL="0">
              <a:buNone/>
            </a:pPr>
            <a:r>
              <a:rPr lang="en-US" sz="1600" b="1" dirty="0">
                <a:solidFill>
                  <a:srgbClr val="0B3C49"/>
                </a:solidFill>
              </a:rPr>
              <a:t>4 · Disease dynamics</a:t>
            </a:r>
            <a:endParaRPr lang="en-US" sz="1600" dirty="0"/>
          </a:p>
        </p:txBody>
      </p:sp>
      <p:sp>
        <p:nvSpPr>
          <p:cNvPr id="19" name="Text 9"/>
          <p:cNvSpPr txBox="1"/>
          <p:nvPr/>
        </p:nvSpPr>
        <p:spPr>
          <a:xfrm>
            <a:off x="1261872" y="3099816"/>
            <a:ext cx="2926080" cy="457200"/>
          </a:xfrm>
          <a:prstGeom prst="rect">
            <a:avLst/>
          </a:prstGeom>
          <a:noFill/>
          <a:ln/>
        </p:spPr>
        <p:txBody>
          <a:bodyPr wrap="square" lIns="0" tIns="0" rIns="0" bIns="0" rtlCol="0" anchor="t"/>
          <a:lstStyle/>
          <a:p>
            <a:pPr indent="0" marL="0">
              <a:buNone/>
            </a:pPr>
            <a:r>
              <a:rPr lang="en-US" sz="1400" dirty="0">
                <a:solidFill>
                  <a:srgbClr val="1B2430"/>
                </a:solidFill>
              </a:rPr>
              <a:t>growth, epidemics, progression</a:t>
            </a:r>
            <a:endParaRPr lang="en-US" sz="1400" dirty="0"/>
          </a:p>
        </p:txBody>
      </p:sp>
      <p:pic>
        <p:nvPicPr>
          <p:cNvPr id="20" name="icon circle" descr="preencoded.png">    </p:cNvPr>
          <p:cNvPicPr>
            <a:picLocks noChangeAspect="1"/>
          </p:cNvPicPr>
          <p:nvPr/>
        </p:nvPicPr>
        <p:blipFill>
          <a:blip r:embed="rId9"/>
          <a:stretch>
            <a:fillRect/>
          </a:stretch>
        </p:blipFill>
        <p:spPr>
          <a:xfrm>
            <a:off x="4297680" y="2752344"/>
            <a:ext cx="548640" cy="548640"/>
          </a:xfrm>
          <a:prstGeom prst="rect">
            <a:avLst/>
          </a:prstGeom>
        </p:spPr>
      </p:pic>
      <p:pic>
        <p:nvPicPr>
          <p:cNvPr id="21" name="icon" descr="preencoded.png">    </p:cNvPr>
          <p:cNvPicPr>
            <a:picLocks noChangeAspect="1"/>
          </p:cNvPicPr>
          <p:nvPr/>
        </p:nvPicPr>
        <p:blipFill>
          <a:blip r:embed="rId10"/>
          <a:stretch>
            <a:fillRect/>
          </a:stretch>
        </p:blipFill>
        <p:spPr>
          <a:xfrm>
            <a:off x="4418381" y="2873045"/>
            <a:ext cx="307238" cy="307238"/>
          </a:xfrm>
          <a:prstGeom prst="rect">
            <a:avLst/>
          </a:prstGeom>
        </p:spPr>
      </p:pic>
      <p:sp>
        <p:nvSpPr>
          <p:cNvPr id="22" name="Text 10"/>
          <p:cNvSpPr txBox="1"/>
          <p:nvPr/>
        </p:nvSpPr>
        <p:spPr>
          <a:xfrm>
            <a:off x="5010912" y="2697480"/>
            <a:ext cx="2926080" cy="384048"/>
          </a:xfrm>
          <a:prstGeom prst="rect">
            <a:avLst/>
          </a:prstGeom>
          <a:noFill/>
          <a:ln/>
        </p:spPr>
        <p:txBody>
          <a:bodyPr wrap="square" lIns="0" tIns="0" rIns="0" bIns="0" rtlCol="0" anchor="t"/>
          <a:lstStyle/>
          <a:p>
            <a:pPr indent="0" marL="0">
              <a:buNone/>
            </a:pPr>
            <a:r>
              <a:rPr lang="en-US" sz="1600" b="1" dirty="0">
                <a:solidFill>
                  <a:srgbClr val="0B3C49"/>
                </a:solidFill>
              </a:rPr>
              <a:t>5 · Organ physiology</a:t>
            </a:r>
            <a:endParaRPr lang="en-US" sz="1600" dirty="0"/>
          </a:p>
        </p:txBody>
      </p:sp>
      <p:sp>
        <p:nvSpPr>
          <p:cNvPr id="23" name="Text 11"/>
          <p:cNvSpPr txBox="1"/>
          <p:nvPr/>
        </p:nvSpPr>
        <p:spPr>
          <a:xfrm>
            <a:off x="5010912" y="3099816"/>
            <a:ext cx="2926080" cy="457200"/>
          </a:xfrm>
          <a:prstGeom prst="rect">
            <a:avLst/>
          </a:prstGeom>
          <a:noFill/>
          <a:ln/>
        </p:spPr>
        <p:txBody>
          <a:bodyPr wrap="square" lIns="0" tIns="0" rIns="0" bIns="0" rtlCol="0" anchor="t"/>
          <a:lstStyle/>
          <a:p>
            <a:pPr indent="0" marL="0">
              <a:buNone/>
            </a:pPr>
            <a:r>
              <a:rPr lang="en-US" sz="1400" dirty="0">
                <a:solidFill>
                  <a:srgbClr val="1B2430"/>
                </a:solidFill>
              </a:rPr>
              <a:t>heart, cells, glucose, lungs</a:t>
            </a:r>
            <a:endParaRPr lang="en-US" sz="1400" dirty="0"/>
          </a:p>
        </p:txBody>
      </p:sp>
      <p:pic>
        <p:nvPicPr>
          <p:cNvPr id="24" name="icon circle" descr="preencoded.png">    </p:cNvPr>
          <p:cNvPicPr>
            <a:picLocks noChangeAspect="1"/>
          </p:cNvPicPr>
          <p:nvPr/>
        </p:nvPicPr>
        <p:blipFill>
          <a:blip r:embed="rId11"/>
          <a:stretch>
            <a:fillRect/>
          </a:stretch>
        </p:blipFill>
        <p:spPr>
          <a:xfrm>
            <a:off x="8046720" y="2752344"/>
            <a:ext cx="548640" cy="548640"/>
          </a:xfrm>
          <a:prstGeom prst="rect">
            <a:avLst/>
          </a:prstGeom>
        </p:spPr>
      </p:pic>
      <p:pic>
        <p:nvPicPr>
          <p:cNvPr id="25" name="icon" descr="preencoded.png">    </p:cNvPr>
          <p:cNvPicPr>
            <a:picLocks noChangeAspect="1"/>
          </p:cNvPicPr>
          <p:nvPr/>
        </p:nvPicPr>
        <p:blipFill>
          <a:blip r:embed="rId12"/>
          <a:stretch>
            <a:fillRect/>
          </a:stretch>
        </p:blipFill>
        <p:spPr>
          <a:xfrm>
            <a:off x="8167421" y="2873045"/>
            <a:ext cx="307238" cy="307238"/>
          </a:xfrm>
          <a:prstGeom prst="rect">
            <a:avLst/>
          </a:prstGeom>
        </p:spPr>
      </p:pic>
      <p:sp>
        <p:nvSpPr>
          <p:cNvPr id="26" name="Text 12"/>
          <p:cNvSpPr txBox="1"/>
          <p:nvPr/>
        </p:nvSpPr>
        <p:spPr>
          <a:xfrm>
            <a:off x="8759952" y="2697480"/>
            <a:ext cx="2926080" cy="384048"/>
          </a:xfrm>
          <a:prstGeom prst="rect">
            <a:avLst/>
          </a:prstGeom>
          <a:noFill/>
          <a:ln/>
        </p:spPr>
        <p:txBody>
          <a:bodyPr wrap="square" lIns="0" tIns="0" rIns="0" bIns="0" rtlCol="0" anchor="t"/>
          <a:lstStyle/>
          <a:p>
            <a:pPr indent="0" marL="0">
              <a:buNone/>
            </a:pPr>
            <a:r>
              <a:rPr lang="en-US" sz="1600" b="1" dirty="0">
                <a:solidFill>
                  <a:srgbClr val="0B3C49"/>
                </a:solidFill>
              </a:rPr>
              <a:t>6 · Continuum physics</a:t>
            </a:r>
            <a:endParaRPr lang="en-US" sz="1600" dirty="0"/>
          </a:p>
        </p:txBody>
      </p:sp>
      <p:sp>
        <p:nvSpPr>
          <p:cNvPr id="27" name="Text 13"/>
          <p:cNvSpPr txBox="1"/>
          <p:nvPr/>
        </p:nvSpPr>
        <p:spPr>
          <a:xfrm>
            <a:off x="8759952" y="3099816"/>
            <a:ext cx="2926080" cy="457200"/>
          </a:xfrm>
          <a:prstGeom prst="rect">
            <a:avLst/>
          </a:prstGeom>
          <a:noFill/>
          <a:ln/>
        </p:spPr>
        <p:txBody>
          <a:bodyPr wrap="square" lIns="0" tIns="0" rIns="0" bIns="0" rtlCol="0" anchor="t"/>
          <a:lstStyle/>
          <a:p>
            <a:pPr indent="0" marL="0">
              <a:buNone/>
            </a:pPr>
            <a:r>
              <a:rPr lang="en-US" sz="1400" dirty="0">
                <a:solidFill>
                  <a:srgbClr val="1B2430"/>
                </a:solidFill>
              </a:rPr>
              <a:t>mechanics, flow, transport, heat</a:t>
            </a:r>
            <a:endParaRPr lang="en-US" sz="1400" dirty="0"/>
          </a:p>
        </p:txBody>
      </p:sp>
      <p:pic>
        <p:nvPicPr>
          <p:cNvPr id="28" name="icon circle" descr="preencoded.png">    </p:cNvPr>
          <p:cNvPicPr>
            <a:picLocks noChangeAspect="1"/>
          </p:cNvPicPr>
          <p:nvPr/>
        </p:nvPicPr>
        <p:blipFill>
          <a:blip r:embed="rId13"/>
          <a:stretch>
            <a:fillRect/>
          </a:stretch>
        </p:blipFill>
        <p:spPr>
          <a:xfrm>
            <a:off x="548640" y="3849624"/>
            <a:ext cx="548640" cy="548640"/>
          </a:xfrm>
          <a:prstGeom prst="rect">
            <a:avLst/>
          </a:prstGeom>
        </p:spPr>
      </p:pic>
      <p:pic>
        <p:nvPicPr>
          <p:cNvPr id="29" name="icon" descr="preencoded.png">    </p:cNvPr>
          <p:cNvPicPr>
            <a:picLocks noChangeAspect="1"/>
          </p:cNvPicPr>
          <p:nvPr/>
        </p:nvPicPr>
        <p:blipFill>
          <a:blip r:embed="rId14"/>
          <a:stretch>
            <a:fillRect/>
          </a:stretch>
        </p:blipFill>
        <p:spPr>
          <a:xfrm>
            <a:off x="669341" y="3970325"/>
            <a:ext cx="307238" cy="307238"/>
          </a:xfrm>
          <a:prstGeom prst="rect">
            <a:avLst/>
          </a:prstGeom>
        </p:spPr>
      </p:pic>
      <p:sp>
        <p:nvSpPr>
          <p:cNvPr id="30" name="Text 14"/>
          <p:cNvSpPr txBox="1"/>
          <p:nvPr/>
        </p:nvSpPr>
        <p:spPr>
          <a:xfrm>
            <a:off x="1261872" y="3794760"/>
            <a:ext cx="2926080" cy="384048"/>
          </a:xfrm>
          <a:prstGeom prst="rect">
            <a:avLst/>
          </a:prstGeom>
          <a:noFill/>
          <a:ln/>
        </p:spPr>
        <p:txBody>
          <a:bodyPr wrap="square" lIns="0" tIns="0" rIns="0" bIns="0" rtlCol="0" anchor="t"/>
          <a:lstStyle/>
          <a:p>
            <a:pPr indent="0" marL="0">
              <a:buNone/>
            </a:pPr>
            <a:r>
              <a:rPr lang="en-US" sz="1600" b="1" dirty="0">
                <a:solidFill>
                  <a:srgbClr val="0B3C49"/>
                </a:solidFill>
              </a:rPr>
              <a:t>7 · Statistical models</a:t>
            </a:r>
            <a:endParaRPr lang="en-US" sz="1600" dirty="0"/>
          </a:p>
        </p:txBody>
      </p:sp>
      <p:sp>
        <p:nvSpPr>
          <p:cNvPr id="31" name="Text 15"/>
          <p:cNvSpPr txBox="1"/>
          <p:nvPr/>
        </p:nvSpPr>
        <p:spPr>
          <a:xfrm>
            <a:off x="1261872" y="4197096"/>
            <a:ext cx="2926080" cy="457200"/>
          </a:xfrm>
          <a:prstGeom prst="rect">
            <a:avLst/>
          </a:prstGeom>
          <a:noFill/>
          <a:ln/>
        </p:spPr>
        <p:txBody>
          <a:bodyPr wrap="square" lIns="0" tIns="0" rIns="0" bIns="0" rtlCol="0" anchor="t"/>
          <a:lstStyle/>
          <a:p>
            <a:pPr indent="0" marL="0">
              <a:buNone/>
            </a:pPr>
            <a:r>
              <a:rPr lang="en-US" sz="1400" dirty="0">
                <a:solidFill>
                  <a:srgbClr val="1B2430"/>
                </a:solidFill>
              </a:rPr>
              <a:t>mixed effects, GLM, survival</a:t>
            </a:r>
            <a:endParaRPr lang="en-US" sz="1400" dirty="0"/>
          </a:p>
        </p:txBody>
      </p:sp>
      <p:pic>
        <p:nvPicPr>
          <p:cNvPr id="32" name="icon circle" descr="preencoded.png">    </p:cNvPr>
          <p:cNvPicPr>
            <a:picLocks noChangeAspect="1"/>
          </p:cNvPicPr>
          <p:nvPr/>
        </p:nvPicPr>
        <p:blipFill>
          <a:blip r:embed="rId15"/>
          <a:stretch>
            <a:fillRect/>
          </a:stretch>
        </p:blipFill>
        <p:spPr>
          <a:xfrm>
            <a:off x="4297680" y="3849624"/>
            <a:ext cx="548640" cy="548640"/>
          </a:xfrm>
          <a:prstGeom prst="rect">
            <a:avLst/>
          </a:prstGeom>
        </p:spPr>
      </p:pic>
      <p:pic>
        <p:nvPicPr>
          <p:cNvPr id="33" name="icon" descr="preencoded.png">    </p:cNvPr>
          <p:cNvPicPr>
            <a:picLocks noChangeAspect="1"/>
          </p:cNvPicPr>
          <p:nvPr/>
        </p:nvPicPr>
        <p:blipFill>
          <a:blip r:embed="rId16"/>
          <a:stretch>
            <a:fillRect/>
          </a:stretch>
        </p:blipFill>
        <p:spPr>
          <a:xfrm>
            <a:off x="4418381" y="3970325"/>
            <a:ext cx="307238" cy="307238"/>
          </a:xfrm>
          <a:prstGeom prst="rect">
            <a:avLst/>
          </a:prstGeom>
        </p:spPr>
      </p:pic>
      <p:sp>
        <p:nvSpPr>
          <p:cNvPr id="34" name="Text 16"/>
          <p:cNvSpPr txBox="1"/>
          <p:nvPr/>
        </p:nvSpPr>
        <p:spPr>
          <a:xfrm>
            <a:off x="5010912" y="3794760"/>
            <a:ext cx="2926080" cy="384048"/>
          </a:xfrm>
          <a:prstGeom prst="rect">
            <a:avLst/>
          </a:prstGeom>
          <a:noFill/>
          <a:ln/>
        </p:spPr>
        <p:txBody>
          <a:bodyPr wrap="square" lIns="0" tIns="0" rIns="0" bIns="0" rtlCol="0" anchor="t"/>
          <a:lstStyle/>
          <a:p>
            <a:pPr indent="0" marL="0">
              <a:buNone/>
            </a:pPr>
            <a:r>
              <a:rPr lang="en-US" sz="1600" b="1" dirty="0">
                <a:solidFill>
                  <a:srgbClr val="0B3C49"/>
                </a:solidFill>
              </a:rPr>
              <a:t>8 · Data assimilation</a:t>
            </a:r>
            <a:endParaRPr lang="en-US" sz="1600" dirty="0"/>
          </a:p>
        </p:txBody>
      </p:sp>
      <p:sp>
        <p:nvSpPr>
          <p:cNvPr id="35" name="Text 17"/>
          <p:cNvSpPr txBox="1"/>
          <p:nvPr/>
        </p:nvSpPr>
        <p:spPr>
          <a:xfrm>
            <a:off x="5010912" y="4197096"/>
            <a:ext cx="2926080" cy="457200"/>
          </a:xfrm>
          <a:prstGeom prst="rect">
            <a:avLst/>
          </a:prstGeom>
          <a:noFill/>
          <a:ln/>
        </p:spPr>
        <p:txBody>
          <a:bodyPr wrap="square" lIns="0" tIns="0" rIns="0" bIns="0" rtlCol="0" anchor="t"/>
          <a:lstStyle/>
          <a:p>
            <a:pPr indent="0" marL="0">
              <a:buNone/>
            </a:pPr>
            <a:r>
              <a:rPr lang="en-US" sz="1400" dirty="0">
                <a:solidFill>
                  <a:srgbClr val="1B2430"/>
                </a:solidFill>
              </a:rPr>
              <a:t>Kalman, particle, variational</a:t>
            </a:r>
            <a:endParaRPr lang="en-US" sz="1400" dirty="0"/>
          </a:p>
        </p:txBody>
      </p:sp>
      <p:pic>
        <p:nvPicPr>
          <p:cNvPr id="36" name="icon circle" descr="preencoded.png">    </p:cNvPr>
          <p:cNvPicPr>
            <a:picLocks noChangeAspect="1"/>
          </p:cNvPicPr>
          <p:nvPr/>
        </p:nvPicPr>
        <p:blipFill>
          <a:blip r:embed="rId17"/>
          <a:stretch>
            <a:fillRect/>
          </a:stretch>
        </p:blipFill>
        <p:spPr>
          <a:xfrm>
            <a:off x="8046720" y="3849624"/>
            <a:ext cx="548640" cy="548640"/>
          </a:xfrm>
          <a:prstGeom prst="rect">
            <a:avLst/>
          </a:prstGeom>
        </p:spPr>
      </p:pic>
      <p:pic>
        <p:nvPicPr>
          <p:cNvPr id="37" name="icon" descr="preencoded.png">    </p:cNvPr>
          <p:cNvPicPr>
            <a:picLocks noChangeAspect="1"/>
          </p:cNvPicPr>
          <p:nvPr/>
        </p:nvPicPr>
        <p:blipFill>
          <a:blip r:embed="rId18"/>
          <a:stretch>
            <a:fillRect/>
          </a:stretch>
        </p:blipFill>
        <p:spPr>
          <a:xfrm>
            <a:off x="8167421" y="3970325"/>
            <a:ext cx="307238" cy="307238"/>
          </a:xfrm>
          <a:prstGeom prst="rect">
            <a:avLst/>
          </a:prstGeom>
        </p:spPr>
      </p:pic>
      <p:sp>
        <p:nvSpPr>
          <p:cNvPr id="38" name="Text 18"/>
          <p:cNvSpPr txBox="1"/>
          <p:nvPr/>
        </p:nvSpPr>
        <p:spPr>
          <a:xfrm>
            <a:off x="8759952" y="3794760"/>
            <a:ext cx="2926080" cy="384048"/>
          </a:xfrm>
          <a:prstGeom prst="rect">
            <a:avLst/>
          </a:prstGeom>
          <a:noFill/>
          <a:ln/>
        </p:spPr>
        <p:txBody>
          <a:bodyPr wrap="square" lIns="0" tIns="0" rIns="0" bIns="0" rtlCol="0" anchor="t"/>
          <a:lstStyle/>
          <a:p>
            <a:pPr indent="0" marL="0">
              <a:buNone/>
            </a:pPr>
            <a:r>
              <a:rPr lang="en-US" sz="1600" b="1" dirty="0">
                <a:solidFill>
                  <a:srgbClr val="0B3C49"/>
                </a:solidFill>
              </a:rPr>
              <a:t>9 · Uncertainty, sensitivity</a:t>
            </a:r>
            <a:endParaRPr lang="en-US" sz="1600" dirty="0"/>
          </a:p>
        </p:txBody>
      </p:sp>
      <p:sp>
        <p:nvSpPr>
          <p:cNvPr id="39" name="Text 19"/>
          <p:cNvSpPr txBox="1"/>
          <p:nvPr/>
        </p:nvSpPr>
        <p:spPr>
          <a:xfrm>
            <a:off x="8759952" y="4197096"/>
            <a:ext cx="2926080" cy="457200"/>
          </a:xfrm>
          <a:prstGeom prst="rect">
            <a:avLst/>
          </a:prstGeom>
          <a:noFill/>
          <a:ln/>
        </p:spPr>
        <p:txBody>
          <a:bodyPr wrap="square" lIns="0" tIns="0" rIns="0" bIns="0" rtlCol="0" anchor="t"/>
          <a:lstStyle/>
          <a:p>
            <a:pPr indent="0" marL="0">
              <a:buNone/>
            </a:pPr>
            <a:r>
              <a:rPr lang="en-US" sz="1400" dirty="0">
                <a:solidFill>
                  <a:srgbClr val="1B2430"/>
                </a:solidFill>
              </a:rPr>
              <a:t>Monte Carlo, Sobol, chaos</a:t>
            </a:r>
            <a:endParaRPr lang="en-US" sz="1400" dirty="0"/>
          </a:p>
        </p:txBody>
      </p:sp>
      <p:pic>
        <p:nvPicPr>
          <p:cNvPr id="40" name="icon circle" descr="preencoded.png">    </p:cNvPr>
          <p:cNvPicPr>
            <a:picLocks noChangeAspect="1"/>
          </p:cNvPicPr>
          <p:nvPr/>
        </p:nvPicPr>
        <p:blipFill>
          <a:blip r:embed="rId19"/>
          <a:stretch>
            <a:fillRect/>
          </a:stretch>
        </p:blipFill>
        <p:spPr>
          <a:xfrm>
            <a:off x="548640" y="4946904"/>
            <a:ext cx="548640" cy="548640"/>
          </a:xfrm>
          <a:prstGeom prst="rect">
            <a:avLst/>
          </a:prstGeom>
        </p:spPr>
      </p:pic>
      <p:pic>
        <p:nvPicPr>
          <p:cNvPr id="41" name="icon" descr="preencoded.png">    </p:cNvPr>
          <p:cNvPicPr>
            <a:picLocks noChangeAspect="1"/>
          </p:cNvPicPr>
          <p:nvPr/>
        </p:nvPicPr>
        <p:blipFill>
          <a:blip r:embed="rId20"/>
          <a:stretch>
            <a:fillRect/>
          </a:stretch>
        </p:blipFill>
        <p:spPr>
          <a:xfrm>
            <a:off x="669341" y="5067605"/>
            <a:ext cx="307238" cy="307238"/>
          </a:xfrm>
          <a:prstGeom prst="rect">
            <a:avLst/>
          </a:prstGeom>
        </p:spPr>
      </p:pic>
      <p:sp>
        <p:nvSpPr>
          <p:cNvPr id="42" name="Text 20"/>
          <p:cNvSpPr txBox="1"/>
          <p:nvPr/>
        </p:nvSpPr>
        <p:spPr>
          <a:xfrm>
            <a:off x="1261872" y="4892040"/>
            <a:ext cx="2926080" cy="384048"/>
          </a:xfrm>
          <a:prstGeom prst="rect">
            <a:avLst/>
          </a:prstGeom>
          <a:noFill/>
          <a:ln/>
        </p:spPr>
        <p:txBody>
          <a:bodyPr wrap="square" lIns="0" tIns="0" rIns="0" bIns="0" rtlCol="0" anchor="t"/>
          <a:lstStyle/>
          <a:p>
            <a:pPr indent="0" marL="0">
              <a:buNone/>
            </a:pPr>
            <a:r>
              <a:rPr lang="en-US" sz="1600" b="1" dirty="0">
                <a:solidFill>
                  <a:srgbClr val="0B3C49"/>
                </a:solidFill>
              </a:rPr>
              <a:t>10 · Surrogates</a:t>
            </a:r>
            <a:endParaRPr lang="en-US" sz="1600" dirty="0"/>
          </a:p>
        </p:txBody>
      </p:sp>
      <p:sp>
        <p:nvSpPr>
          <p:cNvPr id="43" name="Text 21"/>
          <p:cNvSpPr txBox="1"/>
          <p:nvPr/>
        </p:nvSpPr>
        <p:spPr>
          <a:xfrm>
            <a:off x="1261872" y="5294376"/>
            <a:ext cx="2926080" cy="457200"/>
          </a:xfrm>
          <a:prstGeom prst="rect">
            <a:avLst/>
          </a:prstGeom>
          <a:noFill/>
          <a:ln/>
        </p:spPr>
        <p:txBody>
          <a:bodyPr wrap="square" lIns="0" tIns="0" rIns="0" bIns="0" rtlCol="0" anchor="t"/>
          <a:lstStyle/>
          <a:p>
            <a:pPr indent="0" marL="0">
              <a:buNone/>
            </a:pPr>
            <a:r>
              <a:rPr lang="en-US" sz="1400" dirty="0">
                <a:solidFill>
                  <a:srgbClr val="1B2430"/>
                </a:solidFill>
              </a:rPr>
              <a:t>POD, DMD, GP, neural</a:t>
            </a:r>
            <a:endParaRPr lang="en-US" sz="1400" dirty="0"/>
          </a:p>
        </p:txBody>
      </p:sp>
      <p:pic>
        <p:nvPicPr>
          <p:cNvPr id="44" name="icon circle" descr="preencoded.png">    </p:cNvPr>
          <p:cNvPicPr>
            <a:picLocks noChangeAspect="1"/>
          </p:cNvPicPr>
          <p:nvPr/>
        </p:nvPicPr>
        <p:blipFill>
          <a:blip r:embed="rId21"/>
          <a:stretch>
            <a:fillRect/>
          </a:stretch>
        </p:blipFill>
        <p:spPr>
          <a:xfrm>
            <a:off x="4297680" y="4946904"/>
            <a:ext cx="548640" cy="548640"/>
          </a:xfrm>
          <a:prstGeom prst="rect">
            <a:avLst/>
          </a:prstGeom>
        </p:spPr>
      </p:pic>
      <p:pic>
        <p:nvPicPr>
          <p:cNvPr id="45" name="icon" descr="preencoded.png">    </p:cNvPr>
          <p:cNvPicPr>
            <a:picLocks noChangeAspect="1"/>
          </p:cNvPicPr>
          <p:nvPr/>
        </p:nvPicPr>
        <p:blipFill>
          <a:blip r:embed="rId22"/>
          <a:stretch>
            <a:fillRect/>
          </a:stretch>
        </p:blipFill>
        <p:spPr>
          <a:xfrm>
            <a:off x="4418381" y="5067605"/>
            <a:ext cx="307238" cy="307238"/>
          </a:xfrm>
          <a:prstGeom prst="rect">
            <a:avLst/>
          </a:prstGeom>
        </p:spPr>
      </p:pic>
      <p:sp>
        <p:nvSpPr>
          <p:cNvPr id="46" name="Text 22"/>
          <p:cNvSpPr txBox="1"/>
          <p:nvPr/>
        </p:nvSpPr>
        <p:spPr>
          <a:xfrm>
            <a:off x="5010912" y="4892040"/>
            <a:ext cx="2926080" cy="384048"/>
          </a:xfrm>
          <a:prstGeom prst="rect">
            <a:avLst/>
          </a:prstGeom>
          <a:noFill/>
          <a:ln/>
        </p:spPr>
        <p:txBody>
          <a:bodyPr wrap="square" lIns="0" tIns="0" rIns="0" bIns="0" rtlCol="0" anchor="t"/>
          <a:lstStyle/>
          <a:p>
            <a:pPr indent="0" marL="0">
              <a:buNone/>
            </a:pPr>
            <a:r>
              <a:rPr lang="en-US" sz="1600" b="1" dirty="0">
                <a:solidFill>
                  <a:srgbClr val="0B3C49"/>
                </a:solidFill>
              </a:rPr>
              <a:t>11 · Virtual populations, trials</a:t>
            </a:r>
            <a:endParaRPr lang="en-US" sz="1600" dirty="0"/>
          </a:p>
        </p:txBody>
      </p:sp>
      <p:sp>
        <p:nvSpPr>
          <p:cNvPr id="47" name="Text 23"/>
          <p:cNvSpPr txBox="1"/>
          <p:nvPr/>
        </p:nvSpPr>
        <p:spPr>
          <a:xfrm>
            <a:off x="5010912" y="5294376"/>
            <a:ext cx="2926080" cy="457200"/>
          </a:xfrm>
          <a:prstGeom prst="rect">
            <a:avLst/>
          </a:prstGeom>
          <a:noFill/>
          <a:ln/>
        </p:spPr>
        <p:txBody>
          <a:bodyPr wrap="square" lIns="0" tIns="0" rIns="0" bIns="0" rtlCol="0" anchor="t"/>
          <a:lstStyle/>
          <a:p>
            <a:pPr indent="0" marL="0">
              <a:buNone/>
            </a:pPr>
            <a:r>
              <a:rPr lang="en-US" sz="1400" dirty="0">
                <a:solidFill>
                  <a:srgbClr val="1B2430"/>
                </a:solidFill>
              </a:rPr>
              <a:t>cohorts, power, adaptive design</a:t>
            </a:r>
            <a:endParaRPr lang="en-US" sz="1400" dirty="0"/>
          </a:p>
        </p:txBody>
      </p:sp>
      <p:pic>
        <p:nvPicPr>
          <p:cNvPr id="48" name="icon circle" descr="preencoded.png">    </p:cNvPr>
          <p:cNvPicPr>
            <a:picLocks noChangeAspect="1"/>
          </p:cNvPicPr>
          <p:nvPr/>
        </p:nvPicPr>
        <p:blipFill>
          <a:blip r:embed="rId23"/>
          <a:stretch>
            <a:fillRect/>
          </a:stretch>
        </p:blipFill>
        <p:spPr>
          <a:xfrm>
            <a:off x="8046720" y="4946904"/>
            <a:ext cx="548640" cy="548640"/>
          </a:xfrm>
          <a:prstGeom prst="rect">
            <a:avLst/>
          </a:prstGeom>
        </p:spPr>
      </p:pic>
      <p:pic>
        <p:nvPicPr>
          <p:cNvPr id="49" name="icon" descr="preencoded.png">    </p:cNvPr>
          <p:cNvPicPr>
            <a:picLocks noChangeAspect="1"/>
          </p:cNvPicPr>
          <p:nvPr/>
        </p:nvPicPr>
        <p:blipFill>
          <a:blip r:embed="rId24"/>
          <a:stretch>
            <a:fillRect/>
          </a:stretch>
        </p:blipFill>
        <p:spPr>
          <a:xfrm>
            <a:off x="8167421" y="5067605"/>
            <a:ext cx="307238" cy="307238"/>
          </a:xfrm>
          <a:prstGeom prst="rect">
            <a:avLst/>
          </a:prstGeom>
        </p:spPr>
      </p:pic>
      <p:sp>
        <p:nvSpPr>
          <p:cNvPr id="50" name="Text 24"/>
          <p:cNvSpPr txBox="1"/>
          <p:nvPr/>
        </p:nvSpPr>
        <p:spPr>
          <a:xfrm>
            <a:off x="8759952" y="4892040"/>
            <a:ext cx="2926080" cy="384048"/>
          </a:xfrm>
          <a:prstGeom prst="rect">
            <a:avLst/>
          </a:prstGeom>
          <a:noFill/>
          <a:ln/>
        </p:spPr>
        <p:txBody>
          <a:bodyPr wrap="square" lIns="0" tIns="0" rIns="0" bIns="0" rtlCol="0" anchor="t"/>
          <a:lstStyle/>
          <a:p>
            <a:pPr indent="0" marL="0">
              <a:buNone/>
            </a:pPr>
            <a:r>
              <a:rPr lang="en-US" sz="1600" b="1" dirty="0">
                <a:solidFill>
                  <a:srgbClr val="0B3C49"/>
                </a:solidFill>
              </a:rPr>
              <a:t>12 · Control and validation</a:t>
            </a:r>
            <a:endParaRPr lang="en-US" sz="1600" dirty="0"/>
          </a:p>
        </p:txBody>
      </p:sp>
      <p:sp>
        <p:nvSpPr>
          <p:cNvPr id="51" name="Text 25"/>
          <p:cNvSpPr txBox="1"/>
          <p:nvPr/>
        </p:nvSpPr>
        <p:spPr>
          <a:xfrm>
            <a:off x="8759952" y="5294376"/>
            <a:ext cx="2926080" cy="457200"/>
          </a:xfrm>
          <a:prstGeom prst="rect">
            <a:avLst/>
          </a:prstGeom>
          <a:noFill/>
          <a:ln/>
        </p:spPr>
        <p:txBody>
          <a:bodyPr wrap="square" lIns="0" tIns="0" rIns="0" bIns="0" rtlCol="0" anchor="t"/>
          <a:lstStyle/>
          <a:p>
            <a:pPr indent="0" marL="0">
              <a:buNone/>
            </a:pPr>
            <a:r>
              <a:rPr lang="en-US" sz="1400" dirty="0">
                <a:solidFill>
                  <a:srgbClr val="1B2430"/>
                </a:solidFill>
              </a:rPr>
              <a:t>MPC, RL, fit, credibility</a:t>
            </a:r>
            <a:endParaRPr lang="en-US" sz="14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29184"/>
          </a:xfrm>
          <a:prstGeom prst="rect">
            <a:avLst/>
          </a:prstGeom>
          <a:noFill/>
          <a:ln/>
        </p:spPr>
        <p:txBody>
          <a:bodyPr wrap="square" lIns="0" tIns="0" rIns="0" bIns="0" rtlCol="0" anchor="t"/>
          <a:lstStyle/>
          <a:p>
            <a:pPr indent="0" marL="0">
              <a:buNone/>
            </a:pPr>
            <a:r>
              <a:rPr lang="en-US" sz="1300" b="1" dirty="0">
                <a:solidFill>
                  <a:srgbClr val="1F7A70"/>
                </a:solidFill>
              </a:rPr>
              <a:t>HOW THEY FIT TOGETHER</a:t>
            </a:r>
            <a:endParaRPr lang="en-US" sz="1300" dirty="0"/>
          </a:p>
        </p:txBody>
      </p:sp>
      <p:sp>
        <p:nvSpPr>
          <p:cNvPr id="3" name="Text 0"/>
          <p:cNvSpPr/>
          <p:nvPr>
            <p:ph idx="101" type="title" hasCustomPrompt="1"/>
          </p:nvPr>
        </p:nvSpPr>
        <p:spPr>
          <a:xfrm>
            <a:off x="548640" y="603504"/>
            <a:ext cx="11064240" cy="731520"/>
          </a:xfrm>
          <a:prstGeom prst="rect">
            <a:avLst/>
          </a:prstGeom>
          <a:noFill/>
          <a:ln/>
        </p:spPr>
        <p:txBody>
          <a:bodyPr wrap="square" lIns="0" tIns="0" rIns="0" bIns="0" rtlCol="0" anchor="t"/>
          <a:lstStyle/>
          <a:p>
            <a:pPr algn="l" indent="0" marL="0">
              <a:buNone/>
            </a:pPr>
            <a:r>
              <a:rPr lang="en-US" sz="3600" b="1" dirty="0">
                <a:solidFill>
                  <a:srgbClr val="0B3C49"/>
                </a:solidFill>
              </a:rPr>
              <a:t>The digital-twin loop and the virtual trial</a:t>
            </a:r>
            <a:endParaRPr lang="en-US" sz="3600" dirty="0"/>
          </a:p>
        </p:txBody>
      </p:sp>
      <p:sp>
        <p:nvSpPr>
          <p:cNvPr id="4" name="loop Physical system"/>
          <p:cNvSpPr txBox="1"/>
          <p:nvPr/>
        </p:nvSpPr>
        <p:spPr>
          <a:xfrm>
            <a:off x="548640" y="1691640"/>
            <a:ext cx="1691640" cy="1097280"/>
          </a:xfrm>
          <a:prstGeom prst="rect">
            <a:avLst>
              <a:gd name="adj" fmla="val 8333"/>
            </a:avLst>
          </a:prstGeom>
          <a:solidFill>
            <a:srgbClr val="264653"/>
          </a:solidFill>
          <a:ln/>
        </p:spPr>
        <p:txBody>
          <a:bodyPr wrap="square" lIns="762" tIns="762" rIns="762" bIns="762" rtlCol="0" anchor="ctr"/>
          <a:lstStyle/>
          <a:p>
            <a:pPr algn="ctr" indent="0" marL="0">
              <a:buNone/>
            </a:pPr>
            <a:r>
              <a:rPr lang="en-US" sz="1400" b="1" dirty="0">
                <a:solidFill>
                  <a:srgbClr val="FFFFFF"/>
                </a:solidFill>
              </a:rPr>
              <a:t>Physical system</a:t>
            </a:r>
            <a:endParaRPr lang="en-US" sz="1400" dirty="0"/>
          </a:p>
          <a:p>
            <a:pPr algn="ctr" indent="0" marL="0">
              <a:buNone/>
            </a:pPr>
            <a:r>
              <a:rPr lang="en-US" sz="1200" dirty="0">
                <a:solidFill>
                  <a:srgbClr val="EEF4F5"/>
                </a:solidFill>
              </a:rPr>
              <a:t>patient, organ, device</a:t>
            </a:r>
            <a:endParaRPr lang="en-US" sz="1400" dirty="0"/>
          </a:p>
        </p:txBody>
      </p:sp>
      <p:sp>
        <p:nvSpPr>
          <p:cNvPr id="5" name="arrow"/>
          <p:cNvSpPr/>
          <p:nvPr/>
        </p:nvSpPr>
        <p:spPr>
          <a:xfrm>
            <a:off x="2249424" y="2240280"/>
            <a:ext cx="173736" cy="0"/>
          </a:xfrm>
          <a:prstGeom prst="line">
            <a:avLst/>
          </a:prstGeom>
          <a:noFill/>
          <a:ln w="19050">
            <a:solidFill>
              <a:srgbClr val="5F6B76"/>
            </a:solidFill>
            <a:prstDash val="solid"/>
            <a:tailEnd type="triangle"/>
          </a:ln>
        </p:spPr>
      </p:sp>
      <p:sp>
        <p:nvSpPr>
          <p:cNvPr id="6" name="loop Data y"/>
          <p:cNvSpPr txBox="1"/>
          <p:nvPr/>
        </p:nvSpPr>
        <p:spPr>
          <a:xfrm>
            <a:off x="2432304" y="1691640"/>
            <a:ext cx="1691640" cy="1097280"/>
          </a:xfrm>
          <a:prstGeom prst="rect">
            <a:avLst>
              <a:gd name="adj" fmla="val 8333"/>
            </a:avLst>
          </a:prstGeom>
          <a:solidFill>
            <a:srgbClr val="0B3C49"/>
          </a:solidFill>
          <a:ln/>
        </p:spPr>
        <p:txBody>
          <a:bodyPr wrap="square" lIns="762" tIns="762" rIns="762" bIns="762" rtlCol="0" anchor="ctr"/>
          <a:lstStyle/>
          <a:p>
            <a:pPr algn="ctr" indent="0" marL="0">
              <a:buNone/>
            </a:pPr>
            <a:r>
              <a:rPr lang="en-US" sz="1400" b="1" dirty="0">
                <a:solidFill>
                  <a:srgbClr val="FFFFFF"/>
                </a:solidFill>
              </a:rPr>
              <a:t>Data y</a:t>
            </a:r>
            <a:endParaRPr lang="en-US" sz="1400" dirty="0"/>
          </a:p>
          <a:p>
            <a:pPr algn="ctr" indent="0" marL="0">
              <a:buNone/>
            </a:pPr>
            <a:r>
              <a:rPr lang="en-US" sz="1200" dirty="0">
                <a:solidFill>
                  <a:srgbClr val="EEF4F5"/>
                </a:solidFill>
              </a:rPr>
              <a:t>sensors, imaging, labs</a:t>
            </a:r>
            <a:endParaRPr lang="en-US" sz="1400" dirty="0"/>
          </a:p>
        </p:txBody>
      </p:sp>
      <p:sp>
        <p:nvSpPr>
          <p:cNvPr id="7" name="arrow"/>
          <p:cNvSpPr/>
          <p:nvPr/>
        </p:nvSpPr>
        <p:spPr>
          <a:xfrm>
            <a:off x="4133088" y="2240280"/>
            <a:ext cx="173736" cy="0"/>
          </a:xfrm>
          <a:prstGeom prst="line">
            <a:avLst/>
          </a:prstGeom>
          <a:noFill/>
          <a:ln w="19050">
            <a:solidFill>
              <a:srgbClr val="5F6B76"/>
            </a:solidFill>
            <a:prstDash val="solid"/>
            <a:tailEnd type="triangle"/>
          </a:ln>
        </p:spPr>
      </p:sp>
      <p:sp>
        <p:nvSpPr>
          <p:cNvPr id="8" name="loop Assimilation"/>
          <p:cNvSpPr txBox="1"/>
          <p:nvPr/>
        </p:nvSpPr>
        <p:spPr>
          <a:xfrm>
            <a:off x="4315968" y="1691640"/>
            <a:ext cx="1691640" cy="1097280"/>
          </a:xfrm>
          <a:prstGeom prst="rect">
            <a:avLst>
              <a:gd name="adj" fmla="val 8333"/>
            </a:avLst>
          </a:prstGeom>
          <a:solidFill>
            <a:srgbClr val="0B3C49"/>
          </a:solidFill>
          <a:ln/>
        </p:spPr>
        <p:txBody>
          <a:bodyPr wrap="square" lIns="762" tIns="762" rIns="762" bIns="762" rtlCol="0" anchor="ctr"/>
          <a:lstStyle/>
          <a:p>
            <a:pPr algn="ctr" indent="0" marL="0">
              <a:buNone/>
            </a:pPr>
            <a:r>
              <a:rPr lang="en-US" sz="1400" b="1" dirty="0">
                <a:solidFill>
                  <a:srgbClr val="FFFFFF"/>
                </a:solidFill>
              </a:rPr>
              <a:t>Assimilation</a:t>
            </a:r>
            <a:endParaRPr lang="en-US" sz="1400" dirty="0"/>
          </a:p>
          <a:p>
            <a:pPr algn="ctr" indent="0" marL="0">
              <a:buNone/>
            </a:pPr>
            <a:r>
              <a:rPr lang="en-US" sz="1200" dirty="0">
                <a:solidFill>
                  <a:srgbClr val="EEF4F5"/>
                </a:solidFill>
              </a:rPr>
              <a:t>θ, x ← y (Family 8)</a:t>
            </a:r>
            <a:endParaRPr lang="en-US" sz="1400" dirty="0"/>
          </a:p>
        </p:txBody>
      </p:sp>
      <p:sp>
        <p:nvSpPr>
          <p:cNvPr id="9" name="arrow"/>
          <p:cNvSpPr/>
          <p:nvPr/>
        </p:nvSpPr>
        <p:spPr>
          <a:xfrm>
            <a:off x="6016752" y="2240280"/>
            <a:ext cx="173736" cy="0"/>
          </a:xfrm>
          <a:prstGeom prst="line">
            <a:avLst/>
          </a:prstGeom>
          <a:noFill/>
          <a:ln w="19050">
            <a:solidFill>
              <a:srgbClr val="5F6B76"/>
            </a:solidFill>
            <a:prstDash val="solid"/>
            <a:tailEnd type="triangle"/>
          </a:ln>
        </p:spPr>
      </p:sp>
      <p:sp>
        <p:nvSpPr>
          <p:cNvPr id="10" name="loop Virtual model"/>
          <p:cNvSpPr txBox="1"/>
          <p:nvPr/>
        </p:nvSpPr>
        <p:spPr>
          <a:xfrm>
            <a:off x="6199632" y="1691640"/>
            <a:ext cx="1691640" cy="1097280"/>
          </a:xfrm>
          <a:prstGeom prst="rect">
            <a:avLst>
              <a:gd name="adj" fmla="val 8333"/>
            </a:avLst>
          </a:prstGeom>
          <a:solidFill>
            <a:srgbClr val="0B3C49"/>
          </a:solidFill>
          <a:ln/>
        </p:spPr>
        <p:txBody>
          <a:bodyPr wrap="square" lIns="762" tIns="762" rIns="762" bIns="762" rtlCol="0" anchor="ctr"/>
          <a:lstStyle/>
          <a:p>
            <a:pPr algn="ctr" indent="0" marL="0">
              <a:buNone/>
            </a:pPr>
            <a:r>
              <a:rPr lang="en-US" sz="1400" b="1" dirty="0">
                <a:solidFill>
                  <a:srgbClr val="FFFFFF"/>
                </a:solidFill>
              </a:rPr>
              <a:t>Virtual model</a:t>
            </a:r>
            <a:endParaRPr lang="en-US" sz="1400" dirty="0"/>
          </a:p>
          <a:p>
            <a:pPr algn="ctr" indent="0" marL="0">
              <a:buNone/>
            </a:pPr>
            <a:r>
              <a:rPr lang="en-US" sz="1200" dirty="0">
                <a:solidFill>
                  <a:srgbClr val="EEF4F5"/>
                </a:solidFill>
              </a:rPr>
              <a:t>x′ = f(x, u, θ) (1–7)</a:t>
            </a:r>
            <a:endParaRPr lang="en-US" sz="1400" dirty="0"/>
          </a:p>
        </p:txBody>
      </p:sp>
      <p:sp>
        <p:nvSpPr>
          <p:cNvPr id="11" name="arrow"/>
          <p:cNvSpPr/>
          <p:nvPr/>
        </p:nvSpPr>
        <p:spPr>
          <a:xfrm>
            <a:off x="7900416" y="2240280"/>
            <a:ext cx="173736" cy="0"/>
          </a:xfrm>
          <a:prstGeom prst="line">
            <a:avLst/>
          </a:prstGeom>
          <a:noFill/>
          <a:ln w="19050">
            <a:solidFill>
              <a:srgbClr val="5F6B76"/>
            </a:solidFill>
            <a:prstDash val="solid"/>
            <a:tailEnd type="triangle"/>
          </a:ln>
        </p:spPr>
      </p:sp>
      <p:sp>
        <p:nvSpPr>
          <p:cNvPr id="12" name="loop Prediction"/>
          <p:cNvSpPr txBox="1"/>
          <p:nvPr/>
        </p:nvSpPr>
        <p:spPr>
          <a:xfrm>
            <a:off x="8083296" y="1691640"/>
            <a:ext cx="1691640" cy="1097280"/>
          </a:xfrm>
          <a:prstGeom prst="rect">
            <a:avLst>
              <a:gd name="adj" fmla="val 8333"/>
            </a:avLst>
          </a:prstGeom>
          <a:solidFill>
            <a:srgbClr val="0B3C49"/>
          </a:solidFill>
          <a:ln/>
        </p:spPr>
        <p:txBody>
          <a:bodyPr wrap="square" lIns="762" tIns="762" rIns="762" bIns="762" rtlCol="0" anchor="ctr"/>
          <a:lstStyle/>
          <a:p>
            <a:pPr algn="ctr" indent="0" marL="0">
              <a:buNone/>
            </a:pPr>
            <a:r>
              <a:rPr lang="en-US" sz="1400" b="1" dirty="0">
                <a:solidFill>
                  <a:srgbClr val="FFFFFF"/>
                </a:solidFill>
              </a:rPr>
              <a:t>Prediction</a:t>
            </a:r>
            <a:endParaRPr lang="en-US" sz="1400" dirty="0"/>
          </a:p>
          <a:p>
            <a:pPr algn="ctr" indent="0" marL="0">
              <a:buNone/>
            </a:pPr>
            <a:r>
              <a:rPr lang="en-US" sz="1200" dirty="0">
                <a:solidFill>
                  <a:srgbClr val="EEF4F5"/>
                </a:solidFill>
              </a:rPr>
              <a:t>what-if, with UQ (9–10)</a:t>
            </a:r>
            <a:endParaRPr lang="en-US" sz="1400" dirty="0"/>
          </a:p>
        </p:txBody>
      </p:sp>
      <p:sp>
        <p:nvSpPr>
          <p:cNvPr id="13" name="arrow"/>
          <p:cNvSpPr/>
          <p:nvPr/>
        </p:nvSpPr>
        <p:spPr>
          <a:xfrm>
            <a:off x="9784080" y="2240280"/>
            <a:ext cx="173736" cy="0"/>
          </a:xfrm>
          <a:prstGeom prst="line">
            <a:avLst/>
          </a:prstGeom>
          <a:noFill/>
          <a:ln w="19050">
            <a:solidFill>
              <a:srgbClr val="5F6B76"/>
            </a:solidFill>
            <a:prstDash val="solid"/>
            <a:tailEnd type="triangle"/>
          </a:ln>
        </p:spPr>
      </p:sp>
      <p:sp>
        <p:nvSpPr>
          <p:cNvPr id="14" name="loop Decision u"/>
          <p:cNvSpPr txBox="1"/>
          <p:nvPr/>
        </p:nvSpPr>
        <p:spPr>
          <a:xfrm>
            <a:off x="9966960" y="1691640"/>
            <a:ext cx="1691640" cy="1097280"/>
          </a:xfrm>
          <a:prstGeom prst="rect">
            <a:avLst>
              <a:gd name="adj" fmla="val 8333"/>
            </a:avLst>
          </a:prstGeom>
          <a:solidFill>
            <a:srgbClr val="0B3C49"/>
          </a:solidFill>
          <a:ln/>
        </p:spPr>
        <p:txBody>
          <a:bodyPr wrap="square" lIns="762" tIns="762" rIns="762" bIns="762" rtlCol="0" anchor="ctr"/>
          <a:lstStyle/>
          <a:p>
            <a:pPr algn="ctr" indent="0" marL="0">
              <a:buNone/>
            </a:pPr>
            <a:r>
              <a:rPr lang="en-US" sz="1400" b="1" dirty="0">
                <a:solidFill>
                  <a:srgbClr val="FFFFFF"/>
                </a:solidFill>
              </a:rPr>
              <a:t>Decision u</a:t>
            </a:r>
            <a:endParaRPr lang="en-US" sz="1400" dirty="0"/>
          </a:p>
          <a:p>
            <a:pPr algn="ctr" indent="0" marL="0">
              <a:buNone/>
            </a:pPr>
            <a:r>
              <a:rPr lang="en-US" sz="1200" dirty="0">
                <a:solidFill>
                  <a:srgbClr val="EEF4F5"/>
                </a:solidFill>
              </a:rPr>
              <a:t>control (12)</a:t>
            </a:r>
            <a:endParaRPr lang="en-US" sz="1400" dirty="0"/>
          </a:p>
        </p:txBody>
      </p:sp>
      <p:sp>
        <p:nvSpPr>
          <p:cNvPr id="15" name="loop down"/>
          <p:cNvSpPr/>
          <p:nvPr/>
        </p:nvSpPr>
        <p:spPr>
          <a:xfrm>
            <a:off x="10817352" y="2807208"/>
            <a:ext cx="0" cy="365760"/>
          </a:xfrm>
          <a:prstGeom prst="line">
            <a:avLst/>
          </a:prstGeom>
          <a:noFill/>
          <a:ln w="25400">
            <a:solidFill>
              <a:srgbClr val="F2A541"/>
            </a:solidFill>
            <a:prstDash val="solid"/>
          </a:ln>
        </p:spPr>
      </p:sp>
      <p:sp>
        <p:nvSpPr>
          <p:cNvPr id="16" name="loop across"/>
          <p:cNvSpPr/>
          <p:nvPr/>
        </p:nvSpPr>
        <p:spPr>
          <a:xfrm>
            <a:off x="1389888" y="3172968"/>
            <a:ext cx="9427464" cy="0"/>
          </a:xfrm>
          <a:prstGeom prst="line">
            <a:avLst/>
          </a:prstGeom>
          <a:noFill/>
          <a:ln w="25400">
            <a:solidFill>
              <a:srgbClr val="F2A541"/>
            </a:solidFill>
            <a:prstDash val="solid"/>
          </a:ln>
        </p:spPr>
      </p:sp>
      <p:sp>
        <p:nvSpPr>
          <p:cNvPr id="17" name="loop up"/>
          <p:cNvSpPr/>
          <p:nvPr/>
        </p:nvSpPr>
        <p:spPr>
          <a:xfrm>
            <a:off x="1389888" y="2807208"/>
            <a:ext cx="0" cy="365760"/>
          </a:xfrm>
          <a:prstGeom prst="line">
            <a:avLst/>
          </a:prstGeom>
          <a:noFill/>
          <a:ln w="25400">
            <a:solidFill>
              <a:srgbClr val="F2A541"/>
            </a:solidFill>
            <a:prstDash val="solid"/>
            <a:headEnd type="triangle"/>
          </a:ln>
        </p:spPr>
      </p:sp>
      <p:sp>
        <p:nvSpPr>
          <p:cNvPr id="18" name="Text 16"/>
          <p:cNvSpPr txBox="1"/>
          <p:nvPr/>
        </p:nvSpPr>
        <p:spPr>
          <a:xfrm>
            <a:off x="1554480" y="3246120"/>
            <a:ext cx="9144000" cy="320040"/>
          </a:xfrm>
          <a:prstGeom prst="rect">
            <a:avLst/>
          </a:prstGeom>
          <a:noFill/>
          <a:ln/>
        </p:spPr>
        <p:txBody>
          <a:bodyPr wrap="square" lIns="0" tIns="0" rIns="0" bIns="0" rtlCol="0" anchor="ctr"/>
          <a:lstStyle/>
          <a:p>
            <a:pPr algn="ctr" indent="0" marL="0">
              <a:buNone/>
            </a:pPr>
            <a:r>
              <a:rPr lang="en-US" sz="1400" i="1" dirty="0">
                <a:solidFill>
                  <a:srgbClr val="1B2430"/>
                </a:solidFill>
              </a:rPr>
              <a:t>Bidirectional link: the twin is re-synchronised with every new measurement, and its decisions act on the real system</a:t>
            </a:r>
            <a:endParaRPr lang="en-US" sz="1400" dirty="0"/>
          </a:p>
        </p:txBody>
      </p:sp>
      <p:sp>
        <p:nvSpPr>
          <p:cNvPr id="19" name="card Digital twin"/>
          <p:cNvSpPr/>
          <p:nvPr/>
        </p:nvSpPr>
        <p:spPr>
          <a:xfrm>
            <a:off x="548640" y="3886200"/>
            <a:ext cx="3520440" cy="2194560"/>
          </a:xfrm>
          <a:prstGeom prst="rect">
            <a:avLst>
              <a:gd name="adj" fmla="val 3333"/>
            </a:avLst>
          </a:prstGeom>
          <a:solidFill>
            <a:srgbClr val="EEF4F5"/>
          </a:solidFill>
          <a:ln w="12700">
            <a:solidFill>
              <a:srgbClr val="EEF4F5"/>
            </a:solidFill>
            <a:prstDash val="solid"/>
          </a:ln>
        </p:spPr>
      </p:sp>
      <p:pic>
        <p:nvPicPr>
          <p:cNvPr id="20" name="icon circle" descr="preencoded.png">    </p:cNvPr>
          <p:cNvPicPr>
            <a:picLocks noChangeAspect="1"/>
          </p:cNvPicPr>
          <p:nvPr/>
        </p:nvPicPr>
        <p:blipFill>
          <a:blip r:embed="rId1"/>
          <a:stretch>
            <a:fillRect/>
          </a:stretch>
        </p:blipFill>
        <p:spPr>
          <a:xfrm>
            <a:off x="749808" y="4069080"/>
            <a:ext cx="502920" cy="502920"/>
          </a:xfrm>
          <a:prstGeom prst="rect">
            <a:avLst/>
          </a:prstGeom>
        </p:spPr>
      </p:pic>
      <p:pic>
        <p:nvPicPr>
          <p:cNvPr id="21" name="icon" descr="preencoded.png">    </p:cNvPr>
          <p:cNvPicPr>
            <a:picLocks noChangeAspect="1"/>
          </p:cNvPicPr>
          <p:nvPr/>
        </p:nvPicPr>
        <p:blipFill>
          <a:blip r:embed="rId2"/>
          <a:stretch>
            <a:fillRect/>
          </a:stretch>
        </p:blipFill>
        <p:spPr>
          <a:xfrm>
            <a:off x="860450" y="4179722"/>
            <a:ext cx="281635" cy="281635"/>
          </a:xfrm>
          <a:prstGeom prst="rect">
            <a:avLst/>
          </a:prstGeom>
        </p:spPr>
      </p:pic>
      <p:sp>
        <p:nvSpPr>
          <p:cNvPr id="22" name="Text 18"/>
          <p:cNvSpPr txBox="1"/>
          <p:nvPr/>
        </p:nvSpPr>
        <p:spPr>
          <a:xfrm>
            <a:off x="1371600" y="4114800"/>
            <a:ext cx="2560320" cy="411480"/>
          </a:xfrm>
          <a:prstGeom prst="rect">
            <a:avLst/>
          </a:prstGeom>
          <a:noFill/>
          <a:ln/>
        </p:spPr>
        <p:txBody>
          <a:bodyPr wrap="square" lIns="0" tIns="0" rIns="0" bIns="0" rtlCol="0" anchor="ctr"/>
          <a:lstStyle/>
          <a:p>
            <a:pPr indent="0" marL="0">
              <a:buNone/>
            </a:pPr>
            <a:r>
              <a:rPr lang="en-US" sz="1700" b="1" dirty="0">
                <a:solidFill>
                  <a:srgbClr val="0B3C49"/>
                </a:solidFill>
              </a:rPr>
              <a:t>Digital twin</a:t>
            </a:r>
            <a:endParaRPr lang="en-US" sz="1700" dirty="0"/>
          </a:p>
        </p:txBody>
      </p:sp>
      <p:sp>
        <p:nvSpPr>
          <p:cNvPr id="23" name="Text 19"/>
          <p:cNvSpPr txBox="1"/>
          <p:nvPr/>
        </p:nvSpPr>
        <p:spPr>
          <a:xfrm>
            <a:off x="749808" y="4709160"/>
            <a:ext cx="3154680" cy="1234440"/>
          </a:xfrm>
          <a:prstGeom prst="rect">
            <a:avLst/>
          </a:prstGeom>
          <a:noFill/>
          <a:ln/>
        </p:spPr>
        <p:txBody>
          <a:bodyPr wrap="square" lIns="0" tIns="0" rIns="0" bIns="0" rtlCol="0" anchor="t"/>
          <a:lstStyle/>
          <a:p>
            <a:pPr indent="0" marL="0">
              <a:buNone/>
            </a:pPr>
            <a:r>
              <a:rPr lang="en-US" sz="1400" dirty="0">
                <a:solidFill>
                  <a:srgbClr val="1B2430"/>
                </a:solidFill>
              </a:rPr>
              <a:t>One individual. Model + data assimilation + prediction + decision, updated over time.</a:t>
            </a:r>
            <a:endParaRPr lang="en-US" sz="1400" dirty="0"/>
          </a:p>
        </p:txBody>
      </p:sp>
      <p:sp>
        <p:nvSpPr>
          <p:cNvPr id="24" name="card Virtual cohort"/>
          <p:cNvSpPr/>
          <p:nvPr/>
        </p:nvSpPr>
        <p:spPr>
          <a:xfrm>
            <a:off x="4297680" y="3886200"/>
            <a:ext cx="3520440" cy="2194560"/>
          </a:xfrm>
          <a:prstGeom prst="rect">
            <a:avLst>
              <a:gd name="adj" fmla="val 3333"/>
            </a:avLst>
          </a:prstGeom>
          <a:solidFill>
            <a:srgbClr val="EEF4F5"/>
          </a:solidFill>
          <a:ln w="12700">
            <a:solidFill>
              <a:srgbClr val="EEF4F5"/>
            </a:solidFill>
            <a:prstDash val="solid"/>
          </a:ln>
        </p:spPr>
      </p:sp>
      <p:pic>
        <p:nvPicPr>
          <p:cNvPr id="25" name="icon circle" descr="preencoded.png">    </p:cNvPr>
          <p:cNvPicPr>
            <a:picLocks noChangeAspect="1"/>
          </p:cNvPicPr>
          <p:nvPr/>
        </p:nvPicPr>
        <p:blipFill>
          <a:blip r:embed="rId3"/>
          <a:stretch>
            <a:fillRect/>
          </a:stretch>
        </p:blipFill>
        <p:spPr>
          <a:xfrm>
            <a:off x="4498848" y="4069080"/>
            <a:ext cx="502920" cy="502920"/>
          </a:xfrm>
          <a:prstGeom prst="rect">
            <a:avLst/>
          </a:prstGeom>
        </p:spPr>
      </p:pic>
      <p:pic>
        <p:nvPicPr>
          <p:cNvPr id="26" name="icon" descr="preencoded.png">    </p:cNvPr>
          <p:cNvPicPr>
            <a:picLocks noChangeAspect="1"/>
          </p:cNvPicPr>
          <p:nvPr/>
        </p:nvPicPr>
        <p:blipFill>
          <a:blip r:embed="rId4"/>
          <a:stretch>
            <a:fillRect/>
          </a:stretch>
        </p:blipFill>
        <p:spPr>
          <a:xfrm>
            <a:off x="4609490" y="4179722"/>
            <a:ext cx="281635" cy="281635"/>
          </a:xfrm>
          <a:prstGeom prst="rect">
            <a:avLst/>
          </a:prstGeom>
        </p:spPr>
      </p:pic>
      <p:sp>
        <p:nvSpPr>
          <p:cNvPr id="27" name="Text 21"/>
          <p:cNvSpPr txBox="1"/>
          <p:nvPr/>
        </p:nvSpPr>
        <p:spPr>
          <a:xfrm>
            <a:off x="5120640" y="4114800"/>
            <a:ext cx="2560320" cy="411480"/>
          </a:xfrm>
          <a:prstGeom prst="rect">
            <a:avLst/>
          </a:prstGeom>
          <a:noFill/>
          <a:ln/>
        </p:spPr>
        <p:txBody>
          <a:bodyPr wrap="square" lIns="0" tIns="0" rIns="0" bIns="0" rtlCol="0" anchor="ctr"/>
          <a:lstStyle/>
          <a:p>
            <a:pPr indent="0" marL="0">
              <a:buNone/>
            </a:pPr>
            <a:r>
              <a:rPr lang="en-US" sz="1700" b="1" dirty="0">
                <a:solidFill>
                  <a:srgbClr val="0B3C49"/>
                </a:solidFill>
              </a:rPr>
              <a:t>Virtual cohort</a:t>
            </a:r>
            <a:endParaRPr lang="en-US" sz="1700" dirty="0"/>
          </a:p>
        </p:txBody>
      </p:sp>
      <p:sp>
        <p:nvSpPr>
          <p:cNvPr id="28" name="Text 22"/>
          <p:cNvSpPr txBox="1"/>
          <p:nvPr/>
        </p:nvSpPr>
        <p:spPr>
          <a:xfrm>
            <a:off x="4498848" y="4709160"/>
            <a:ext cx="3154680" cy="1234440"/>
          </a:xfrm>
          <a:prstGeom prst="rect">
            <a:avLst/>
          </a:prstGeom>
          <a:noFill/>
          <a:ln/>
        </p:spPr>
        <p:txBody>
          <a:bodyPr wrap="square" lIns="0" tIns="0" rIns="0" bIns="0" rtlCol="0" anchor="t"/>
          <a:lstStyle/>
          <a:p>
            <a:pPr indent="0" marL="0">
              <a:buNone/>
            </a:pPr>
            <a:r>
              <a:rPr lang="en-US" sz="1400" dirty="0">
                <a:solidFill>
                  <a:srgbClr val="1B2430"/>
                </a:solidFill>
              </a:rPr>
              <a:t>Many twins sampled from population models (Families 7, 11): realistic, diverse, plausible.</a:t>
            </a:r>
            <a:endParaRPr lang="en-US" sz="1400" dirty="0"/>
          </a:p>
        </p:txBody>
      </p:sp>
      <p:sp>
        <p:nvSpPr>
          <p:cNvPr id="29" name="card Virtual trial"/>
          <p:cNvSpPr/>
          <p:nvPr/>
        </p:nvSpPr>
        <p:spPr>
          <a:xfrm>
            <a:off x="8046720" y="3886200"/>
            <a:ext cx="3520440" cy="2194560"/>
          </a:xfrm>
          <a:prstGeom prst="rect">
            <a:avLst>
              <a:gd name="adj" fmla="val 3333"/>
            </a:avLst>
          </a:prstGeom>
          <a:solidFill>
            <a:srgbClr val="EEF4F5"/>
          </a:solidFill>
          <a:ln w="12700">
            <a:solidFill>
              <a:srgbClr val="EEF4F5"/>
            </a:solidFill>
            <a:prstDash val="solid"/>
          </a:ln>
        </p:spPr>
      </p:sp>
      <p:pic>
        <p:nvPicPr>
          <p:cNvPr id="30" name="icon circle" descr="preencoded.png">    </p:cNvPr>
          <p:cNvPicPr>
            <a:picLocks noChangeAspect="1"/>
          </p:cNvPicPr>
          <p:nvPr/>
        </p:nvPicPr>
        <p:blipFill>
          <a:blip r:embed="rId5"/>
          <a:stretch>
            <a:fillRect/>
          </a:stretch>
        </p:blipFill>
        <p:spPr>
          <a:xfrm>
            <a:off x="8247888" y="4069080"/>
            <a:ext cx="502920" cy="502920"/>
          </a:xfrm>
          <a:prstGeom prst="rect">
            <a:avLst/>
          </a:prstGeom>
        </p:spPr>
      </p:pic>
      <p:pic>
        <p:nvPicPr>
          <p:cNvPr id="31" name="icon" descr="preencoded.png">    </p:cNvPr>
          <p:cNvPicPr>
            <a:picLocks noChangeAspect="1"/>
          </p:cNvPicPr>
          <p:nvPr/>
        </p:nvPicPr>
        <p:blipFill>
          <a:blip r:embed="rId6"/>
          <a:stretch>
            <a:fillRect/>
          </a:stretch>
        </p:blipFill>
        <p:spPr>
          <a:xfrm>
            <a:off x="8358530" y="4179722"/>
            <a:ext cx="281635" cy="281635"/>
          </a:xfrm>
          <a:prstGeom prst="rect">
            <a:avLst/>
          </a:prstGeom>
        </p:spPr>
      </p:pic>
      <p:sp>
        <p:nvSpPr>
          <p:cNvPr id="32" name="Text 24"/>
          <p:cNvSpPr txBox="1"/>
          <p:nvPr/>
        </p:nvSpPr>
        <p:spPr>
          <a:xfrm>
            <a:off x="8869680" y="4114800"/>
            <a:ext cx="2560320" cy="411480"/>
          </a:xfrm>
          <a:prstGeom prst="rect">
            <a:avLst/>
          </a:prstGeom>
          <a:noFill/>
          <a:ln/>
        </p:spPr>
        <p:txBody>
          <a:bodyPr wrap="square" lIns="0" tIns="0" rIns="0" bIns="0" rtlCol="0" anchor="ctr"/>
          <a:lstStyle/>
          <a:p>
            <a:pPr indent="0" marL="0">
              <a:buNone/>
            </a:pPr>
            <a:r>
              <a:rPr lang="en-US" sz="1700" b="1" dirty="0">
                <a:solidFill>
                  <a:srgbClr val="0B3C49"/>
                </a:solidFill>
              </a:rPr>
              <a:t>Virtual trial</a:t>
            </a:r>
            <a:endParaRPr lang="en-US" sz="1700" dirty="0"/>
          </a:p>
        </p:txBody>
      </p:sp>
      <p:sp>
        <p:nvSpPr>
          <p:cNvPr id="33" name="Text 25"/>
          <p:cNvSpPr txBox="1"/>
          <p:nvPr/>
        </p:nvSpPr>
        <p:spPr>
          <a:xfrm>
            <a:off x="8247888" y="4709160"/>
            <a:ext cx="3154680" cy="1234440"/>
          </a:xfrm>
          <a:prstGeom prst="rect">
            <a:avLst/>
          </a:prstGeom>
          <a:noFill/>
          <a:ln/>
        </p:spPr>
        <p:txBody>
          <a:bodyPr wrap="square" lIns="0" tIns="0" rIns="0" bIns="0" rtlCol="0" anchor="t"/>
          <a:lstStyle/>
          <a:p>
            <a:pPr indent="0" marL="0">
              <a:buNone/>
            </a:pPr>
            <a:r>
              <a:rPr lang="en-US" sz="1400" dirty="0">
                <a:solidFill>
                  <a:srgbClr val="1B2430"/>
                </a:solidFill>
              </a:rPr>
              <a:t>Every arm applied to every virtual subject; endpoints analysed with trial statistics.</a:t>
            </a:r>
            <a:endParaRPr lang="en-US" sz="14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731520" y="2057400"/>
            <a:ext cx="10698480" cy="411480"/>
          </a:xfrm>
          <a:prstGeom prst="rect">
            <a:avLst/>
          </a:prstGeom>
          <a:noFill/>
          <a:ln/>
        </p:spPr>
        <p:txBody>
          <a:bodyPr wrap="square" rtlCol="0" anchor="t"/>
          <a:lstStyle/>
          <a:p>
            <a:pPr indent="0" marL="0">
              <a:buNone/>
            </a:pPr>
            <a:r>
              <a:rPr lang="en-US" sz="1600" b="1" dirty="0">
                <a:solidFill>
                  <a:srgbClr val="F2A541"/>
                </a:solidFill>
              </a:rPr>
              <a:t>PART I</a:t>
            </a:r>
            <a:endParaRPr lang="en-US" sz="1600" dirty="0"/>
          </a:p>
        </p:txBody>
      </p:sp>
      <p:sp>
        <p:nvSpPr>
          <p:cNvPr id="3" name="Text 0"/>
          <p:cNvSpPr/>
          <p:nvPr>
            <p:ph idx="101" type="title" hasCustomPrompt="1"/>
          </p:nvPr>
        </p:nvSpPr>
        <p:spPr>
          <a:xfrm>
            <a:off x="731520" y="2560320"/>
            <a:ext cx="10698480" cy="1371600"/>
          </a:xfrm>
          <a:prstGeom prst="rect">
            <a:avLst/>
          </a:prstGeom>
          <a:noFill/>
          <a:ln/>
        </p:spPr>
        <p:txBody>
          <a:bodyPr wrap="square" rtlCol="0" anchor="t"/>
          <a:lstStyle/>
          <a:p>
            <a:pPr algn="l" indent="0" marL="0">
              <a:buNone/>
            </a:pPr>
            <a:r>
              <a:rPr lang="en-US" sz="4000" b="1" dirty="0">
                <a:solidFill>
                  <a:srgbClr val="FFFFFF"/>
                </a:solidFill>
              </a:rPr>
              <a:t>Models of how the system behaves</a:t>
            </a:r>
            <a:endParaRPr lang="en-US" sz="4000" dirty="0"/>
          </a:p>
        </p:txBody>
      </p:sp>
      <p:sp>
        <p:nvSpPr>
          <p:cNvPr id="4" name="Text 0"/>
          <p:cNvSpPr/>
          <p:nvPr>
            <p:ph idx="102" type="body" hasCustomPrompt="1"/>
          </p:nvPr>
        </p:nvSpPr>
        <p:spPr>
          <a:xfrm>
            <a:off x="731520" y="4069080"/>
            <a:ext cx="9601200" cy="1463040"/>
          </a:xfrm>
          <a:prstGeom prst="rect">
            <a:avLst/>
          </a:prstGeom>
          <a:noFill/>
          <a:ln/>
        </p:spPr>
        <p:txBody>
          <a:bodyPr wrap="square" rtlCol="0" anchor="t"/>
          <a:lstStyle/>
          <a:p>
            <a:pPr indent="0" marL="0">
              <a:buNone/>
            </a:pPr>
            <a:r>
              <a:rPr lang="en-US" sz="1800" dirty="0">
                <a:solidFill>
                  <a:srgbClr val="EEF4F5"/>
                </a:solidFill>
              </a:rPr>
              <a:t>Families 1–6: dynamical formalism, pharmacology, disease, organ physiology and continuum physics</a:t>
            </a:r>
            <a:endParaRPr lang="en-US" sz="18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4F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29184"/>
          </a:xfrm>
          <a:prstGeom prst="rect">
            <a:avLst/>
          </a:prstGeom>
          <a:noFill/>
          <a:ln/>
        </p:spPr>
        <p:txBody>
          <a:bodyPr wrap="square" lIns="0" tIns="0" rIns="0" bIns="0" rtlCol="0" anchor="t"/>
          <a:lstStyle/>
          <a:p>
            <a:pPr indent="0" marL="0">
              <a:buNone/>
            </a:pPr>
            <a:r>
              <a:rPr lang="en-US" sz="1300" b="1" dirty="0">
                <a:solidFill>
                  <a:srgbClr val="1F7A70"/>
                </a:solidFill>
              </a:rPr>
              <a:t>FAMILY 1 · DIGITAL-TWIN FORMALISM</a:t>
            </a:r>
            <a:endParaRPr lang="en-US" sz="1300" dirty="0"/>
          </a:p>
        </p:txBody>
      </p:sp>
      <p:sp>
        <p:nvSpPr>
          <p:cNvPr id="3" name="Text 0"/>
          <p:cNvSpPr/>
          <p:nvPr>
            <p:ph idx="101" type="title" hasCustomPrompt="1"/>
          </p:nvPr>
        </p:nvSpPr>
        <p:spPr>
          <a:xfrm>
            <a:off x="548640" y="603504"/>
            <a:ext cx="11064240" cy="731520"/>
          </a:xfrm>
          <a:prstGeom prst="rect">
            <a:avLst/>
          </a:prstGeom>
          <a:noFill/>
          <a:ln/>
        </p:spPr>
        <p:txBody>
          <a:bodyPr wrap="square" lIns="0" tIns="0" rIns="0" bIns="0" rtlCol="0" anchor="t"/>
          <a:lstStyle/>
          <a:p>
            <a:pPr algn="l" indent="0" marL="0">
              <a:buNone/>
            </a:pPr>
            <a:r>
              <a:rPr lang="en-US" sz="3600" b="1" dirty="0">
                <a:solidFill>
                  <a:srgbClr val="0B3C49"/>
                </a:solidFill>
              </a:rPr>
              <a:t>Every twin is a state-space model</a:t>
            </a:r>
            <a:endParaRPr lang="en-US" sz="3600" dirty="0"/>
          </a:p>
        </p:txBody>
      </p:sp>
      <p:sp>
        <p:nvSpPr>
          <p:cNvPr id="4" name="card Discrete state-space model"/>
          <p:cNvSpPr/>
          <p:nvPr/>
        </p:nvSpPr>
        <p:spPr>
          <a:xfrm>
            <a:off x="548640" y="1554480"/>
            <a:ext cx="5394960" cy="2240280"/>
          </a:xfrm>
          <a:prstGeom prst="rect">
            <a:avLst>
              <a:gd name="adj" fmla="val 3265"/>
            </a:avLst>
          </a:prstGeom>
          <a:solidFill>
            <a:srgbClr val="EEF4F5"/>
          </a:solidFill>
          <a:ln w="12700">
            <a:solidFill>
              <a:srgbClr val="EEF4F5"/>
            </a:solidFill>
            <a:prstDash val="solid"/>
          </a:ln>
        </p:spPr>
      </p:sp>
      <p:sp>
        <p:nvSpPr>
          <p:cNvPr id="5" name="card title Discrete state-space model"/>
          <p:cNvSpPr txBox="1"/>
          <p:nvPr/>
        </p:nvSpPr>
        <p:spPr>
          <a:xfrm>
            <a:off x="74980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Discrete state-space model</a:t>
            </a:r>
            <a:endParaRPr lang="en-US" sz="1600" dirty="0"/>
          </a:p>
        </p:txBody>
      </p:sp>
      <p:sp>
        <p:nvSpPr>
          <p:cNvPr id="6" name="equation Discrete state-space model"/>
          <p:cNvSpPr txBox="1"/>
          <p:nvPr/>
        </p:nvSpPr>
        <p:spPr>
          <a:xfrm>
            <a:off x="749808" y="2103120"/>
            <a:ext cx="4992624" cy="822960"/>
          </a:xfrm>
          <a:prstGeom prst="rect">
            <a:avLst/>
          </a:prstGeom>
          <a:solidFill>
            <a:srgbClr val="FFFFFF"/>
          </a:solidFill>
          <a:ln/>
        </p:spPr>
        <p:txBody>
          <a:bodyPr wrap="square" lIns="762" tIns="762" rIns="762" bIns="762" rtlCol="0" anchor="ctr"/>
          <a:lstStyle/>
          <a:p>
            <a:pPr indent="0" marL="0">
              <a:buNone/>
            </a:pPr>
            <a:r>
              <a:rPr lang="en-US" sz="1600" dirty="0">
                <a:solidFill>
                  <a:srgbClr val="264653"/>
                </a:solidFill>
                <a:latin typeface="+mj-lt" pitchFamily="34" charset="0"/>
                <a:ea typeface="+mj-lt" pitchFamily="34" charset="-122"/>
                <a:cs typeface="+mj-lt" pitchFamily="34" charset="-120"/>
              </a:rPr>
              <a:t>xₖ₊₁ = f(xₖ, uₖ, θ) + wₖ</a:t>
            </a:r>
            <a:endParaRPr lang="en-US" sz="1600" dirty="0"/>
          </a:p>
          <a:p>
            <a:pPr indent="0" marL="0">
              <a:buNone/>
            </a:pPr>
            <a:r>
              <a:rPr lang="en-US" sz="1600" dirty="0">
                <a:solidFill>
                  <a:srgbClr val="264653"/>
                </a:solidFill>
                <a:latin typeface="+mj-lt" pitchFamily="34" charset="0"/>
                <a:ea typeface="+mj-lt" pitchFamily="34" charset="-122"/>
                <a:cs typeface="+mj-lt" pitchFamily="34" charset="-120"/>
              </a:rPr>
              <a:t>yₖ = h(xₖ) + vₖ</a:t>
            </a:r>
            <a:endParaRPr lang="en-US" sz="1600" dirty="0"/>
          </a:p>
        </p:txBody>
      </p:sp>
      <p:sp>
        <p:nvSpPr>
          <p:cNvPr id="7" name="desc Discrete state-space model"/>
          <p:cNvSpPr txBox="1"/>
          <p:nvPr/>
        </p:nvSpPr>
        <p:spPr>
          <a:xfrm>
            <a:off x="749808" y="3017520"/>
            <a:ext cx="4992624" cy="667512"/>
          </a:xfrm>
          <a:prstGeom prst="rect">
            <a:avLst/>
          </a:prstGeom>
          <a:noFill/>
          <a:ln/>
        </p:spPr>
        <p:txBody>
          <a:bodyPr wrap="square" lIns="0" tIns="0" rIns="0" bIns="0" rtlCol="0" anchor="t"/>
          <a:lstStyle/>
          <a:p>
            <a:pPr indent="0" marL="0">
              <a:buNone/>
            </a:pPr>
            <a:r>
              <a:rPr lang="en-US" sz="1400" dirty="0">
                <a:solidFill>
                  <a:srgbClr val="1B2430"/>
                </a:solidFill>
              </a:rPr>
              <a:t>State x, control u, parameters θ, observations y; process noise w, measurement noise v. The general DT definition.</a:t>
            </a:r>
            <a:endParaRPr lang="en-US" sz="1400" dirty="0"/>
          </a:p>
        </p:txBody>
      </p:sp>
      <p:sp>
        <p:nvSpPr>
          <p:cNvPr id="8" name="card Ordinary differential equations"/>
          <p:cNvSpPr/>
          <p:nvPr/>
        </p:nvSpPr>
        <p:spPr>
          <a:xfrm>
            <a:off x="6217920" y="1554480"/>
            <a:ext cx="5394960" cy="2240280"/>
          </a:xfrm>
          <a:prstGeom prst="rect">
            <a:avLst>
              <a:gd name="adj" fmla="val 3265"/>
            </a:avLst>
          </a:prstGeom>
          <a:solidFill>
            <a:srgbClr val="EEF4F5"/>
          </a:solidFill>
          <a:ln w="12700">
            <a:solidFill>
              <a:srgbClr val="EEF4F5"/>
            </a:solidFill>
            <a:prstDash val="solid"/>
          </a:ln>
        </p:spPr>
      </p:sp>
      <p:sp>
        <p:nvSpPr>
          <p:cNvPr id="9" name="card title Ordinary differential equations"/>
          <p:cNvSpPr txBox="1"/>
          <p:nvPr/>
        </p:nvSpPr>
        <p:spPr>
          <a:xfrm>
            <a:off x="641908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Ordinary differential equations</a:t>
            </a:r>
            <a:endParaRPr lang="en-US" sz="1600" dirty="0"/>
          </a:p>
        </p:txBody>
      </p:sp>
      <p:sp>
        <p:nvSpPr>
          <p:cNvPr id="10" name="equation Ordinary differential equations"/>
          <p:cNvSpPr txBox="1"/>
          <p:nvPr/>
        </p:nvSpPr>
        <p:spPr>
          <a:xfrm>
            <a:off x="6419088" y="2103120"/>
            <a:ext cx="4992624" cy="731520"/>
          </a:xfrm>
          <a:prstGeom prst="rect">
            <a:avLst/>
          </a:prstGeom>
          <a:solidFill>
            <a:srgbClr val="FFFFFF"/>
          </a:solidFill>
          <a:ln/>
        </p:spPr>
        <p:txBody>
          <a:bodyPr wrap="square" lIns="762" tIns="762" rIns="762" bIns="762" rtlCol="0" anchor="ctr"/>
          <a:lstStyle/>
          <a:p>
            <a:pPr indent="0" marL="0">
              <a:buNone/>
            </a:pPr>
            <a:r>
              <a:rPr lang="en-US" sz="1600" dirty="0">
                <a:solidFill>
                  <a:srgbClr val="264653"/>
                </a:solidFill>
                <a:latin typeface="+mj-lt" pitchFamily="34" charset="0"/>
                <a:ea typeface="+mj-lt" pitchFamily="34" charset="-122"/>
                <a:cs typeface="+mj-lt" pitchFamily="34" charset="-120"/>
              </a:rPr>
              <a:t>dx/dt = f(x(t), u(t), θ, t),   x(0) = x₀</a:t>
            </a:r>
            <a:endParaRPr lang="en-US" sz="1600" dirty="0"/>
          </a:p>
        </p:txBody>
      </p:sp>
      <p:sp>
        <p:nvSpPr>
          <p:cNvPr id="11" name="desc Ordinary differential equations"/>
          <p:cNvSpPr txBox="1"/>
          <p:nvPr/>
        </p:nvSpPr>
        <p:spPr>
          <a:xfrm>
            <a:off x="6419088" y="2926080"/>
            <a:ext cx="4992624" cy="758952"/>
          </a:xfrm>
          <a:prstGeom prst="rect">
            <a:avLst/>
          </a:prstGeom>
          <a:noFill/>
          <a:ln/>
        </p:spPr>
        <p:txBody>
          <a:bodyPr wrap="square" lIns="0" tIns="0" rIns="0" bIns="0" rtlCol="0" anchor="t"/>
          <a:lstStyle/>
          <a:p>
            <a:pPr indent="0" marL="0">
              <a:buNone/>
            </a:pPr>
            <a:r>
              <a:rPr lang="en-US" sz="1400" dirty="0">
                <a:solidFill>
                  <a:srgbClr val="1B2430"/>
                </a:solidFill>
              </a:rPr>
              <a:t>Well-mixed systems: compartments, kinetics, organ function. Solved with Runge–Kutta or stiff (BDF) solvers.</a:t>
            </a:r>
            <a:endParaRPr lang="en-US" sz="1400" dirty="0"/>
          </a:p>
        </p:txBody>
      </p:sp>
      <p:sp>
        <p:nvSpPr>
          <p:cNvPr id="12" name="card Stochastic differential equations"/>
          <p:cNvSpPr/>
          <p:nvPr/>
        </p:nvSpPr>
        <p:spPr>
          <a:xfrm>
            <a:off x="548640" y="4023360"/>
            <a:ext cx="5394960" cy="2240280"/>
          </a:xfrm>
          <a:prstGeom prst="rect">
            <a:avLst>
              <a:gd name="adj" fmla="val 3265"/>
            </a:avLst>
          </a:prstGeom>
          <a:solidFill>
            <a:srgbClr val="EEF4F5"/>
          </a:solidFill>
          <a:ln w="12700">
            <a:solidFill>
              <a:srgbClr val="EEF4F5"/>
            </a:solidFill>
            <a:prstDash val="solid"/>
          </a:ln>
        </p:spPr>
      </p:sp>
      <p:sp>
        <p:nvSpPr>
          <p:cNvPr id="13" name="card title Stochastic differential equations"/>
          <p:cNvSpPr txBox="1"/>
          <p:nvPr/>
        </p:nvSpPr>
        <p:spPr>
          <a:xfrm>
            <a:off x="749808" y="416052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Stochastic differential equations</a:t>
            </a:r>
            <a:endParaRPr lang="en-US" sz="1600" dirty="0"/>
          </a:p>
        </p:txBody>
      </p:sp>
      <p:sp>
        <p:nvSpPr>
          <p:cNvPr id="14" name="equation Stochastic differential equations"/>
          <p:cNvSpPr txBox="1"/>
          <p:nvPr/>
        </p:nvSpPr>
        <p:spPr>
          <a:xfrm>
            <a:off x="749808" y="4572000"/>
            <a:ext cx="4992624" cy="731520"/>
          </a:xfrm>
          <a:prstGeom prst="rect">
            <a:avLst/>
          </a:prstGeom>
          <a:solidFill>
            <a:srgbClr val="FFFFFF"/>
          </a:solidFill>
          <a:ln/>
        </p:spPr>
        <p:txBody>
          <a:bodyPr wrap="square" lIns="762" tIns="762" rIns="762" bIns="762" rtlCol="0" anchor="ctr"/>
          <a:lstStyle/>
          <a:p>
            <a:pPr indent="0" marL="0">
              <a:buNone/>
            </a:pPr>
            <a:r>
              <a:rPr lang="en-US" sz="1600" dirty="0">
                <a:solidFill>
                  <a:srgbClr val="264653"/>
                </a:solidFill>
                <a:latin typeface="+mj-lt" pitchFamily="34" charset="0"/>
                <a:ea typeface="+mj-lt" pitchFamily="34" charset="-122"/>
                <a:cs typeface="+mj-lt" pitchFamily="34" charset="-120"/>
              </a:rPr>
              <a:t>dXₜ = f(Xₜ, θ) dt + g(Xₜ, θ) dWₜ</a:t>
            </a:r>
            <a:endParaRPr lang="en-US" sz="1600" dirty="0"/>
          </a:p>
        </p:txBody>
      </p:sp>
      <p:sp>
        <p:nvSpPr>
          <p:cNvPr id="15" name="desc Stochastic differential equations"/>
          <p:cNvSpPr txBox="1"/>
          <p:nvPr/>
        </p:nvSpPr>
        <p:spPr>
          <a:xfrm>
            <a:off x="749808" y="5394960"/>
            <a:ext cx="4992624" cy="758952"/>
          </a:xfrm>
          <a:prstGeom prst="rect">
            <a:avLst/>
          </a:prstGeom>
          <a:noFill/>
          <a:ln/>
        </p:spPr>
        <p:txBody>
          <a:bodyPr wrap="square" lIns="0" tIns="0" rIns="0" bIns="0" rtlCol="0" anchor="t"/>
          <a:lstStyle/>
          <a:p>
            <a:pPr indent="0" marL="0">
              <a:buNone/>
            </a:pPr>
            <a:r>
              <a:rPr lang="en-US" sz="1400" dirty="0">
                <a:solidFill>
                  <a:srgbClr val="1B2430"/>
                </a:solidFill>
              </a:rPr>
              <a:t>Adds intrinsic noise via Brownian motion W. Use when variability within an individual matters (e.g. cell counts, glucose).</a:t>
            </a:r>
            <a:endParaRPr lang="en-US" sz="1400" dirty="0"/>
          </a:p>
        </p:txBody>
      </p:sp>
      <p:sp>
        <p:nvSpPr>
          <p:cNvPr id="16" name="card Partial differential equations"/>
          <p:cNvSpPr/>
          <p:nvPr/>
        </p:nvSpPr>
        <p:spPr>
          <a:xfrm>
            <a:off x="6217920" y="4023360"/>
            <a:ext cx="5394960" cy="2240280"/>
          </a:xfrm>
          <a:prstGeom prst="rect">
            <a:avLst>
              <a:gd name="adj" fmla="val 3265"/>
            </a:avLst>
          </a:prstGeom>
          <a:solidFill>
            <a:srgbClr val="EEF4F5"/>
          </a:solidFill>
          <a:ln w="12700">
            <a:solidFill>
              <a:srgbClr val="EEF4F5"/>
            </a:solidFill>
            <a:prstDash val="solid"/>
          </a:ln>
        </p:spPr>
      </p:sp>
      <p:sp>
        <p:nvSpPr>
          <p:cNvPr id="17" name="card title Partial differential equations"/>
          <p:cNvSpPr txBox="1"/>
          <p:nvPr/>
        </p:nvSpPr>
        <p:spPr>
          <a:xfrm>
            <a:off x="6419088" y="416052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Partial differential equations</a:t>
            </a:r>
            <a:endParaRPr lang="en-US" sz="1600" dirty="0"/>
          </a:p>
        </p:txBody>
      </p:sp>
      <p:sp>
        <p:nvSpPr>
          <p:cNvPr id="18" name="equation Partial differential equations"/>
          <p:cNvSpPr txBox="1"/>
          <p:nvPr/>
        </p:nvSpPr>
        <p:spPr>
          <a:xfrm>
            <a:off x="6419088" y="4572000"/>
            <a:ext cx="4992624" cy="731520"/>
          </a:xfrm>
          <a:prstGeom prst="rect">
            <a:avLst/>
          </a:prstGeom>
          <a:solidFill>
            <a:srgbClr val="FFFFFF"/>
          </a:solidFill>
          <a:ln/>
        </p:spPr>
        <p:txBody>
          <a:bodyPr wrap="square" lIns="762" tIns="762" rIns="762" bIns="762" rtlCol="0" anchor="ctr"/>
          <a:lstStyle/>
          <a:p>
            <a:pPr indent="0" marL="0">
              <a:buNone/>
            </a:pPr>
            <a:r>
              <a:rPr lang="en-US" sz="1500" dirty="0">
                <a:solidFill>
                  <a:srgbClr val="264653"/>
                </a:solidFill>
                <a:latin typeface="+mj-lt" pitchFamily="34" charset="0"/>
                <a:ea typeface="+mj-lt" pitchFamily="34" charset="-122"/>
                <a:cs typeface="+mj-lt" pitchFamily="34" charset="-120"/>
              </a:rPr>
              <a:t>∂u/∂t = L(u; θ) + s(x, t)  in Ω,  + boundary conditions</a:t>
            </a:r>
            <a:endParaRPr lang="en-US" sz="1500" dirty="0"/>
          </a:p>
        </p:txBody>
      </p:sp>
      <p:sp>
        <p:nvSpPr>
          <p:cNvPr id="19" name="desc Partial differential equations"/>
          <p:cNvSpPr txBox="1"/>
          <p:nvPr/>
        </p:nvSpPr>
        <p:spPr>
          <a:xfrm>
            <a:off x="6419088" y="5394960"/>
            <a:ext cx="4992624" cy="758952"/>
          </a:xfrm>
          <a:prstGeom prst="rect">
            <a:avLst/>
          </a:prstGeom>
          <a:noFill/>
          <a:ln/>
        </p:spPr>
        <p:txBody>
          <a:bodyPr wrap="square" lIns="0" tIns="0" rIns="0" bIns="0" rtlCol="0" anchor="t"/>
          <a:lstStyle/>
          <a:p>
            <a:pPr indent="0" marL="0">
              <a:buNone/>
            </a:pPr>
            <a:r>
              <a:rPr lang="en-US" sz="1400" dirty="0">
                <a:solidFill>
                  <a:srgbClr val="1B2430"/>
                </a:solidFill>
              </a:rPr>
              <a:t>Spatially resolved systems: tissue, flow, transport. Solved with finite elements, volumes or differences.</a:t>
            </a:r>
            <a:endParaRPr lang="en-US" sz="14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29184"/>
          </a:xfrm>
          <a:prstGeom prst="rect">
            <a:avLst/>
          </a:prstGeom>
          <a:noFill/>
          <a:ln/>
        </p:spPr>
        <p:txBody>
          <a:bodyPr wrap="square" lIns="0" tIns="0" rIns="0" bIns="0" rtlCol="0" anchor="t"/>
          <a:lstStyle/>
          <a:p>
            <a:pPr indent="0" marL="0">
              <a:buNone/>
            </a:pPr>
            <a:r>
              <a:rPr lang="en-US" sz="1300" b="1" dirty="0">
                <a:solidFill>
                  <a:srgbClr val="1F7A70"/>
                </a:solidFill>
              </a:rPr>
              <a:t>FAMILY 1 · DISCRETE AND RULE-BASED MODELS</a:t>
            </a:r>
            <a:endParaRPr lang="en-US" sz="1300" dirty="0"/>
          </a:p>
        </p:txBody>
      </p:sp>
      <p:sp>
        <p:nvSpPr>
          <p:cNvPr id="3" name="Text 0"/>
          <p:cNvSpPr/>
          <p:nvPr>
            <p:ph idx="101" type="title" hasCustomPrompt="1"/>
          </p:nvPr>
        </p:nvSpPr>
        <p:spPr>
          <a:xfrm>
            <a:off x="548640" y="603504"/>
            <a:ext cx="11064240" cy="731520"/>
          </a:xfrm>
          <a:prstGeom prst="rect">
            <a:avLst/>
          </a:prstGeom>
          <a:noFill/>
          <a:ln/>
        </p:spPr>
        <p:txBody>
          <a:bodyPr wrap="square" lIns="0" tIns="0" rIns="0" bIns="0" rtlCol="0" anchor="t"/>
          <a:lstStyle/>
          <a:p>
            <a:pPr algn="l" indent="0" marL="0">
              <a:buNone/>
            </a:pPr>
            <a:r>
              <a:rPr lang="en-US" sz="3600" b="1" dirty="0">
                <a:solidFill>
                  <a:srgbClr val="0B3C49"/>
                </a:solidFill>
              </a:rPr>
              <a:t>When states are discrete or agents interact</a:t>
            </a:r>
            <a:endParaRPr lang="en-US" sz="3600" dirty="0"/>
          </a:p>
        </p:txBody>
      </p:sp>
      <p:sp>
        <p:nvSpPr>
          <p:cNvPr id="4" name="card Markov chain"/>
          <p:cNvSpPr/>
          <p:nvPr/>
        </p:nvSpPr>
        <p:spPr>
          <a:xfrm>
            <a:off x="548640" y="1554480"/>
            <a:ext cx="5394960" cy="2240280"/>
          </a:xfrm>
          <a:prstGeom prst="rect">
            <a:avLst>
              <a:gd name="adj" fmla="val 3265"/>
            </a:avLst>
          </a:prstGeom>
          <a:solidFill>
            <a:srgbClr val="EEF4F5"/>
          </a:solidFill>
          <a:ln w="12700">
            <a:solidFill>
              <a:srgbClr val="EEF4F5"/>
            </a:solidFill>
            <a:prstDash val="solid"/>
          </a:ln>
        </p:spPr>
      </p:sp>
      <p:sp>
        <p:nvSpPr>
          <p:cNvPr id="5" name="card title Markov chain"/>
          <p:cNvSpPr txBox="1"/>
          <p:nvPr/>
        </p:nvSpPr>
        <p:spPr>
          <a:xfrm>
            <a:off x="74980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Markov chain</a:t>
            </a:r>
            <a:endParaRPr lang="en-US" sz="1600" dirty="0"/>
          </a:p>
        </p:txBody>
      </p:sp>
      <p:sp>
        <p:nvSpPr>
          <p:cNvPr id="6" name="equation Markov chain"/>
          <p:cNvSpPr txBox="1"/>
          <p:nvPr/>
        </p:nvSpPr>
        <p:spPr>
          <a:xfrm>
            <a:off x="749808" y="2103120"/>
            <a:ext cx="4992624" cy="822960"/>
          </a:xfrm>
          <a:prstGeom prst="rect">
            <a:avLst/>
          </a:prstGeom>
          <a:solidFill>
            <a:srgbClr val="FFFFFF"/>
          </a:solidFill>
          <a:ln/>
        </p:spPr>
        <p:txBody>
          <a:bodyPr wrap="square" lIns="762" tIns="762" rIns="762" bIns="762" rtlCol="0" anchor="ctr"/>
          <a:lstStyle/>
          <a:p>
            <a:pPr indent="0" marL="0">
              <a:buNone/>
            </a:pPr>
            <a:r>
              <a:rPr lang="en-US" sz="1600" dirty="0">
                <a:solidFill>
                  <a:srgbClr val="264653"/>
                </a:solidFill>
                <a:latin typeface="+mj-lt" pitchFamily="34" charset="0"/>
                <a:ea typeface="+mj-lt" pitchFamily="34" charset="-122"/>
                <a:cs typeface="+mj-lt" pitchFamily="34" charset="-120"/>
              </a:rPr>
              <a:t>π(t + 1) = π(t) P,   Σⱼ Pᵢⱼ = 1</a:t>
            </a:r>
            <a:endParaRPr lang="en-US" sz="1600" dirty="0"/>
          </a:p>
          <a:p>
            <a:pPr indent="0" marL="0">
              <a:buNone/>
            </a:pPr>
            <a:r>
              <a:rPr lang="en-US" sz="1600" dirty="0">
                <a:solidFill>
                  <a:srgbClr val="264653"/>
                </a:solidFill>
                <a:latin typeface="+mj-lt" pitchFamily="34" charset="0"/>
                <a:ea typeface="+mj-lt" pitchFamily="34" charset="-122"/>
                <a:cs typeface="+mj-lt" pitchFamily="34" charset="-120"/>
              </a:rPr>
              <a:t>continuous time: dπ/dt = π Q</a:t>
            </a:r>
            <a:endParaRPr lang="en-US" sz="1600" dirty="0"/>
          </a:p>
        </p:txBody>
      </p:sp>
      <p:sp>
        <p:nvSpPr>
          <p:cNvPr id="7" name="desc Markov chain"/>
          <p:cNvSpPr txBox="1"/>
          <p:nvPr/>
        </p:nvSpPr>
        <p:spPr>
          <a:xfrm>
            <a:off x="749808" y="3017520"/>
            <a:ext cx="4992624" cy="667512"/>
          </a:xfrm>
          <a:prstGeom prst="rect">
            <a:avLst/>
          </a:prstGeom>
          <a:noFill/>
          <a:ln/>
        </p:spPr>
        <p:txBody>
          <a:bodyPr wrap="square" lIns="0" tIns="0" rIns="0" bIns="0" rtlCol="0" anchor="t"/>
          <a:lstStyle/>
          <a:p>
            <a:pPr indent="0" marL="0">
              <a:buNone/>
            </a:pPr>
            <a:r>
              <a:rPr lang="en-US" sz="1400" dirty="0">
                <a:solidFill>
                  <a:srgbClr val="1B2430"/>
                </a:solidFill>
              </a:rPr>
              <a:t>Health states and transition probabilities. Basis of disease-progression and cost-effectiveness models.</a:t>
            </a:r>
            <a:endParaRPr lang="en-US" sz="1400" dirty="0"/>
          </a:p>
        </p:txBody>
      </p:sp>
      <p:sp>
        <p:nvSpPr>
          <p:cNvPr id="8" name="card Hidden Markov model"/>
          <p:cNvSpPr/>
          <p:nvPr/>
        </p:nvSpPr>
        <p:spPr>
          <a:xfrm>
            <a:off x="6217920" y="1554480"/>
            <a:ext cx="5394960" cy="2240280"/>
          </a:xfrm>
          <a:prstGeom prst="rect">
            <a:avLst>
              <a:gd name="adj" fmla="val 3265"/>
            </a:avLst>
          </a:prstGeom>
          <a:solidFill>
            <a:srgbClr val="EEF4F5"/>
          </a:solidFill>
          <a:ln w="12700">
            <a:solidFill>
              <a:srgbClr val="EEF4F5"/>
            </a:solidFill>
            <a:prstDash val="solid"/>
          </a:ln>
        </p:spPr>
      </p:sp>
      <p:sp>
        <p:nvSpPr>
          <p:cNvPr id="9" name="card title Hidden Markov model"/>
          <p:cNvSpPr txBox="1"/>
          <p:nvPr/>
        </p:nvSpPr>
        <p:spPr>
          <a:xfrm>
            <a:off x="641908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Hidden Markov model</a:t>
            </a:r>
            <a:endParaRPr lang="en-US" sz="1600" dirty="0"/>
          </a:p>
        </p:txBody>
      </p:sp>
      <p:sp>
        <p:nvSpPr>
          <p:cNvPr id="10" name="equation Hidden Markov model"/>
          <p:cNvSpPr txBox="1"/>
          <p:nvPr/>
        </p:nvSpPr>
        <p:spPr>
          <a:xfrm>
            <a:off x="6419088" y="2103120"/>
            <a:ext cx="4992624" cy="731520"/>
          </a:xfrm>
          <a:prstGeom prst="rect">
            <a:avLst/>
          </a:prstGeom>
          <a:solidFill>
            <a:srgbClr val="FFFFFF"/>
          </a:solidFill>
          <a:ln/>
        </p:spPr>
        <p:txBody>
          <a:bodyPr wrap="square" lIns="762" tIns="762" rIns="762" bIns="762" rtlCol="0" anchor="ctr"/>
          <a:lstStyle/>
          <a:p>
            <a:pPr indent="0" marL="0">
              <a:buNone/>
            </a:pPr>
            <a:r>
              <a:rPr lang="en-US" sz="1500" dirty="0">
                <a:solidFill>
                  <a:srgbClr val="264653"/>
                </a:solidFill>
                <a:latin typeface="+mj-lt" pitchFamily="34" charset="0"/>
                <a:ea typeface="+mj-lt" pitchFamily="34" charset="-122"/>
                <a:cs typeface="+mj-lt" pitchFamily="34" charset="-120"/>
              </a:rPr>
              <a:t>p(y₁:T) = Σ_z p(z₁) Πₜ p(zₜ | zₜ₋₁) p(yₜ | zₜ)</a:t>
            </a:r>
            <a:endParaRPr lang="en-US" sz="1500" dirty="0"/>
          </a:p>
        </p:txBody>
      </p:sp>
      <p:sp>
        <p:nvSpPr>
          <p:cNvPr id="11" name="desc Hidden Markov model"/>
          <p:cNvSpPr txBox="1"/>
          <p:nvPr/>
        </p:nvSpPr>
        <p:spPr>
          <a:xfrm>
            <a:off x="6419088" y="2926080"/>
            <a:ext cx="4992624" cy="758952"/>
          </a:xfrm>
          <a:prstGeom prst="rect">
            <a:avLst/>
          </a:prstGeom>
          <a:noFill/>
          <a:ln/>
        </p:spPr>
        <p:txBody>
          <a:bodyPr wrap="square" lIns="0" tIns="0" rIns="0" bIns="0" rtlCol="0" anchor="t"/>
          <a:lstStyle/>
          <a:p>
            <a:pPr indent="0" marL="0">
              <a:buNone/>
            </a:pPr>
            <a:r>
              <a:rPr lang="en-US" sz="1400" dirty="0">
                <a:solidFill>
                  <a:srgbClr val="1B2430"/>
                </a:solidFill>
              </a:rPr>
              <a:t>Unobserved disease stage z inferred from noisy observations y (forward–backward, Viterbi).</a:t>
            </a:r>
            <a:endParaRPr lang="en-US" sz="1400" dirty="0"/>
          </a:p>
        </p:txBody>
      </p:sp>
      <p:sp>
        <p:nvSpPr>
          <p:cNvPr id="12" name="card Agent-based model"/>
          <p:cNvSpPr/>
          <p:nvPr/>
        </p:nvSpPr>
        <p:spPr>
          <a:xfrm>
            <a:off x="548640" y="4023360"/>
            <a:ext cx="5394960" cy="2240280"/>
          </a:xfrm>
          <a:prstGeom prst="rect">
            <a:avLst>
              <a:gd name="adj" fmla="val 3265"/>
            </a:avLst>
          </a:prstGeom>
          <a:solidFill>
            <a:srgbClr val="EEF4F5"/>
          </a:solidFill>
          <a:ln w="12700">
            <a:solidFill>
              <a:srgbClr val="EEF4F5"/>
            </a:solidFill>
            <a:prstDash val="solid"/>
          </a:ln>
        </p:spPr>
      </p:sp>
      <p:sp>
        <p:nvSpPr>
          <p:cNvPr id="13" name="card title Agent-based model"/>
          <p:cNvSpPr txBox="1"/>
          <p:nvPr/>
        </p:nvSpPr>
        <p:spPr>
          <a:xfrm>
            <a:off x="749808" y="416052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Agent-based model</a:t>
            </a:r>
            <a:endParaRPr lang="en-US" sz="1600" dirty="0"/>
          </a:p>
        </p:txBody>
      </p:sp>
      <p:sp>
        <p:nvSpPr>
          <p:cNvPr id="14" name="equation Agent-based model"/>
          <p:cNvSpPr txBox="1"/>
          <p:nvPr/>
        </p:nvSpPr>
        <p:spPr>
          <a:xfrm>
            <a:off x="749808" y="4572000"/>
            <a:ext cx="4992624" cy="731520"/>
          </a:xfrm>
          <a:prstGeom prst="rect">
            <a:avLst/>
          </a:prstGeom>
          <a:solidFill>
            <a:srgbClr val="FFFFFF"/>
          </a:solidFill>
          <a:ln/>
        </p:spPr>
        <p:txBody>
          <a:bodyPr wrap="square" lIns="762" tIns="762" rIns="762" bIns="762" rtlCol="0" anchor="ctr"/>
          <a:lstStyle/>
          <a:p>
            <a:pPr indent="0" marL="0">
              <a:buNone/>
            </a:pPr>
            <a:r>
              <a:rPr lang="en-US" sz="1500" dirty="0">
                <a:solidFill>
                  <a:srgbClr val="264653"/>
                </a:solidFill>
                <a:latin typeface="+mj-lt" pitchFamily="34" charset="0"/>
                <a:ea typeface="+mj-lt" pitchFamily="34" charset="-122"/>
                <a:cs typeface="+mj-lt" pitchFamily="34" charset="-120"/>
              </a:rPr>
              <a:t>aᵢ(t + Δt) = R(aᵢ(t), neighbours, environment)</a:t>
            </a:r>
            <a:endParaRPr lang="en-US" sz="1500" dirty="0"/>
          </a:p>
        </p:txBody>
      </p:sp>
      <p:sp>
        <p:nvSpPr>
          <p:cNvPr id="15" name="desc Agent-based model"/>
          <p:cNvSpPr txBox="1"/>
          <p:nvPr/>
        </p:nvSpPr>
        <p:spPr>
          <a:xfrm>
            <a:off x="749808" y="5394960"/>
            <a:ext cx="4992624" cy="758952"/>
          </a:xfrm>
          <a:prstGeom prst="rect">
            <a:avLst/>
          </a:prstGeom>
          <a:noFill/>
          <a:ln/>
        </p:spPr>
        <p:txBody>
          <a:bodyPr wrap="square" lIns="0" tIns="0" rIns="0" bIns="0" rtlCol="0" anchor="t"/>
          <a:lstStyle/>
          <a:p>
            <a:pPr indent="0" marL="0">
              <a:buNone/>
            </a:pPr>
            <a:r>
              <a:rPr lang="en-US" sz="1400" dirty="0">
                <a:solidFill>
                  <a:srgbClr val="1B2430"/>
                </a:solidFill>
              </a:rPr>
              <a:t>Individual cells, patients or devices follow rules; population behaviour emerges. Calibrate on summary statistics.</a:t>
            </a:r>
            <a:endParaRPr lang="en-US" sz="1400" dirty="0"/>
          </a:p>
        </p:txBody>
      </p:sp>
      <p:sp>
        <p:nvSpPr>
          <p:cNvPr id="16" name="card Cellular automata and hybrid systems"/>
          <p:cNvSpPr/>
          <p:nvPr/>
        </p:nvSpPr>
        <p:spPr>
          <a:xfrm>
            <a:off x="6217920" y="4023360"/>
            <a:ext cx="5394960" cy="2240280"/>
          </a:xfrm>
          <a:prstGeom prst="rect">
            <a:avLst>
              <a:gd name="adj" fmla="val 3265"/>
            </a:avLst>
          </a:prstGeom>
          <a:solidFill>
            <a:srgbClr val="EEF4F5"/>
          </a:solidFill>
          <a:ln w="12700">
            <a:solidFill>
              <a:srgbClr val="EEF4F5"/>
            </a:solidFill>
            <a:prstDash val="solid"/>
          </a:ln>
        </p:spPr>
      </p:sp>
      <p:sp>
        <p:nvSpPr>
          <p:cNvPr id="17" name="card title Cellular automata and hybrid systems"/>
          <p:cNvSpPr txBox="1"/>
          <p:nvPr/>
        </p:nvSpPr>
        <p:spPr>
          <a:xfrm>
            <a:off x="6419088" y="416052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Cellular automata and hybrid systems</a:t>
            </a:r>
            <a:endParaRPr lang="en-US" sz="1600" dirty="0"/>
          </a:p>
        </p:txBody>
      </p:sp>
      <p:sp>
        <p:nvSpPr>
          <p:cNvPr id="18" name="equation Cellular automata and hybrid systems"/>
          <p:cNvSpPr txBox="1"/>
          <p:nvPr/>
        </p:nvSpPr>
        <p:spPr>
          <a:xfrm>
            <a:off x="6419088" y="4572000"/>
            <a:ext cx="4992624" cy="822960"/>
          </a:xfrm>
          <a:prstGeom prst="rect">
            <a:avLst/>
          </a:prstGeom>
          <a:solidFill>
            <a:srgbClr val="FFFFFF"/>
          </a:solidFill>
          <a:ln/>
        </p:spPr>
        <p:txBody>
          <a:bodyPr wrap="square" lIns="762" tIns="762" rIns="762" bIns="762" rtlCol="0" anchor="ctr"/>
          <a:lstStyle/>
          <a:p>
            <a:pPr indent="0" marL="0">
              <a:buNone/>
            </a:pPr>
            <a:r>
              <a:rPr lang="en-US" sz="1500" dirty="0">
                <a:solidFill>
                  <a:srgbClr val="264653"/>
                </a:solidFill>
                <a:latin typeface="+mj-lt" pitchFamily="34" charset="0"/>
                <a:ea typeface="+mj-lt" pitchFamily="34" charset="-122"/>
                <a:cs typeface="+mj-lt" pitchFamily="34" charset="-120"/>
              </a:rPr>
              <a:t>sᵢⱼ(t + 1) = F(neighbourhood of sᵢⱼ(t))</a:t>
            </a:r>
            <a:endParaRPr lang="en-US" sz="1500" dirty="0"/>
          </a:p>
          <a:p>
            <a:pPr indent="0" marL="0">
              <a:buNone/>
            </a:pPr>
            <a:r>
              <a:rPr lang="en-US" sz="1500" dirty="0">
                <a:solidFill>
                  <a:srgbClr val="264653"/>
                </a:solidFill>
                <a:latin typeface="+mj-lt" pitchFamily="34" charset="0"/>
                <a:ea typeface="+mj-lt" pitchFamily="34" charset="-122"/>
                <a:cs typeface="+mj-lt" pitchFamily="34" charset="-120"/>
              </a:rPr>
              <a:t>hybrid: dx/dt = f_q(x), q switches on events</a:t>
            </a:r>
            <a:endParaRPr lang="en-US" sz="1500" dirty="0"/>
          </a:p>
        </p:txBody>
      </p:sp>
      <p:sp>
        <p:nvSpPr>
          <p:cNvPr id="19" name="desc Cellular automata and hybrid systems"/>
          <p:cNvSpPr txBox="1"/>
          <p:nvPr/>
        </p:nvSpPr>
        <p:spPr>
          <a:xfrm>
            <a:off x="6419088" y="5486400"/>
            <a:ext cx="4992624" cy="667512"/>
          </a:xfrm>
          <a:prstGeom prst="rect">
            <a:avLst/>
          </a:prstGeom>
          <a:noFill/>
          <a:ln/>
        </p:spPr>
        <p:txBody>
          <a:bodyPr wrap="square" lIns="0" tIns="0" rIns="0" bIns="0" rtlCol="0" anchor="t"/>
          <a:lstStyle/>
          <a:p>
            <a:pPr indent="0" marL="0">
              <a:buNone/>
            </a:pPr>
            <a:r>
              <a:rPr lang="en-US" sz="1400" dirty="0">
                <a:solidFill>
                  <a:srgbClr val="1B2430"/>
                </a:solidFill>
              </a:rPr>
              <a:t>Lattice rules for tissue; hybrid models mix continuous flow with discrete events (e.g. dosing).</a:t>
            </a:r>
            <a:endParaRPr lang="en-US" sz="14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29184"/>
          </a:xfrm>
          <a:prstGeom prst="rect">
            <a:avLst/>
          </a:prstGeom>
          <a:noFill/>
          <a:ln/>
        </p:spPr>
        <p:txBody>
          <a:bodyPr wrap="square" lIns="0" tIns="0" rIns="0" bIns="0" rtlCol="0" anchor="t"/>
          <a:lstStyle/>
          <a:p>
            <a:pPr indent="0" marL="0">
              <a:buNone/>
            </a:pPr>
            <a:r>
              <a:rPr lang="en-US" sz="1300" b="1" dirty="0">
                <a:solidFill>
                  <a:srgbClr val="1F7A70"/>
                </a:solidFill>
              </a:rPr>
              <a:t>FAMILY 2 · PHARMACOKINETICS</a:t>
            </a:r>
            <a:endParaRPr lang="en-US" sz="1300" dirty="0"/>
          </a:p>
        </p:txBody>
      </p:sp>
      <p:sp>
        <p:nvSpPr>
          <p:cNvPr id="3" name="Text 0"/>
          <p:cNvSpPr/>
          <p:nvPr>
            <p:ph idx="101" type="title" hasCustomPrompt="1"/>
          </p:nvPr>
        </p:nvSpPr>
        <p:spPr>
          <a:xfrm>
            <a:off x="548640" y="603504"/>
            <a:ext cx="11064240" cy="731520"/>
          </a:xfrm>
          <a:prstGeom prst="rect">
            <a:avLst/>
          </a:prstGeom>
          <a:noFill/>
          <a:ln/>
        </p:spPr>
        <p:txBody>
          <a:bodyPr wrap="square" lIns="0" tIns="0" rIns="0" bIns="0" rtlCol="0" anchor="t"/>
          <a:lstStyle/>
          <a:p>
            <a:pPr algn="l" indent="0" marL="0">
              <a:buNone/>
            </a:pPr>
            <a:r>
              <a:rPr lang="en-US" sz="3600" b="1" dirty="0">
                <a:solidFill>
                  <a:srgbClr val="0B3C49"/>
                </a:solidFill>
              </a:rPr>
              <a:t>What the body does to a drug</a:t>
            </a:r>
            <a:endParaRPr lang="en-US" sz="3600" dirty="0"/>
          </a:p>
        </p:txBody>
      </p:sp>
      <p:sp>
        <p:nvSpPr>
          <p:cNvPr id="4" name="card One compartment, IV bolus"/>
          <p:cNvSpPr/>
          <p:nvPr/>
        </p:nvSpPr>
        <p:spPr>
          <a:xfrm>
            <a:off x="548640" y="1554480"/>
            <a:ext cx="5394960" cy="2240280"/>
          </a:xfrm>
          <a:prstGeom prst="rect">
            <a:avLst>
              <a:gd name="adj" fmla="val 3265"/>
            </a:avLst>
          </a:prstGeom>
          <a:solidFill>
            <a:srgbClr val="EEF4F5"/>
          </a:solidFill>
          <a:ln w="12700">
            <a:solidFill>
              <a:srgbClr val="EEF4F5"/>
            </a:solidFill>
            <a:prstDash val="solid"/>
          </a:ln>
        </p:spPr>
      </p:sp>
      <p:sp>
        <p:nvSpPr>
          <p:cNvPr id="5" name="card title One compartment, IV bolus"/>
          <p:cNvSpPr txBox="1"/>
          <p:nvPr/>
        </p:nvSpPr>
        <p:spPr>
          <a:xfrm>
            <a:off x="74980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One compartment, IV bolus</a:t>
            </a:r>
            <a:endParaRPr lang="en-US" sz="1600" dirty="0"/>
          </a:p>
        </p:txBody>
      </p:sp>
      <p:sp>
        <p:nvSpPr>
          <p:cNvPr id="6" name="equation One compartment, IV bolus"/>
          <p:cNvSpPr txBox="1"/>
          <p:nvPr/>
        </p:nvSpPr>
        <p:spPr>
          <a:xfrm>
            <a:off x="749808" y="2103120"/>
            <a:ext cx="4992624" cy="822960"/>
          </a:xfrm>
          <a:prstGeom prst="rect">
            <a:avLst/>
          </a:prstGeom>
          <a:solidFill>
            <a:srgbClr val="FFFFFF"/>
          </a:solidFill>
          <a:ln/>
        </p:spPr>
        <p:txBody>
          <a:bodyPr wrap="square" lIns="762" tIns="762" rIns="762" bIns="762" rtlCol="0" anchor="ctr"/>
          <a:lstStyle/>
          <a:p>
            <a:pPr indent="0" marL="0">
              <a:buNone/>
            </a:pPr>
            <a:r>
              <a:rPr lang="en-US" sz="1600" dirty="0">
                <a:solidFill>
                  <a:srgbClr val="264653"/>
                </a:solidFill>
                <a:latin typeface="+mj-lt" pitchFamily="34" charset="0"/>
                <a:ea typeface="+mj-lt" pitchFamily="34" charset="-122"/>
                <a:cs typeface="+mj-lt" pitchFamily="34" charset="-120"/>
              </a:rPr>
              <a:t>C(t) = (Dose / V) · e^(−k t),   k = CL / V</a:t>
            </a:r>
            <a:endParaRPr lang="en-US" sz="1600" dirty="0"/>
          </a:p>
          <a:p>
            <a:pPr indent="0" marL="0">
              <a:buNone/>
            </a:pPr>
            <a:r>
              <a:rPr lang="en-US" sz="1600" dirty="0">
                <a:solidFill>
                  <a:srgbClr val="264653"/>
                </a:solidFill>
                <a:latin typeface="+mj-lt" pitchFamily="34" charset="0"/>
                <a:ea typeface="+mj-lt" pitchFamily="34" charset="-122"/>
                <a:cs typeface="+mj-lt" pitchFamily="34" charset="-120"/>
              </a:rPr>
              <a:t>t½ = ln2 / k,   AUC = Dose / CL</a:t>
            </a:r>
            <a:endParaRPr lang="en-US" sz="1600" dirty="0"/>
          </a:p>
        </p:txBody>
      </p:sp>
      <p:sp>
        <p:nvSpPr>
          <p:cNvPr id="7" name="desc One compartment, IV bolus"/>
          <p:cNvSpPr txBox="1"/>
          <p:nvPr/>
        </p:nvSpPr>
        <p:spPr>
          <a:xfrm>
            <a:off x="749808" y="3017520"/>
            <a:ext cx="4992624" cy="667512"/>
          </a:xfrm>
          <a:prstGeom prst="rect">
            <a:avLst/>
          </a:prstGeom>
          <a:noFill/>
          <a:ln/>
        </p:spPr>
        <p:txBody>
          <a:bodyPr wrap="square" lIns="0" tIns="0" rIns="0" bIns="0" rtlCol="0" anchor="t"/>
          <a:lstStyle/>
          <a:p>
            <a:pPr indent="0" marL="0">
              <a:buNone/>
            </a:pPr>
            <a:r>
              <a:rPr lang="en-US" sz="1400" dirty="0">
                <a:solidFill>
                  <a:srgbClr val="1B2430"/>
                </a:solidFill>
              </a:rPr>
              <a:t>Volume V and clearance CL summarise distribution and elimination.</a:t>
            </a:r>
            <a:endParaRPr lang="en-US" sz="1400" dirty="0"/>
          </a:p>
        </p:txBody>
      </p:sp>
      <p:sp>
        <p:nvSpPr>
          <p:cNvPr id="8" name="card First-order absorption (Bateman)"/>
          <p:cNvSpPr/>
          <p:nvPr/>
        </p:nvSpPr>
        <p:spPr>
          <a:xfrm>
            <a:off x="6217920" y="1554480"/>
            <a:ext cx="5394960" cy="2240280"/>
          </a:xfrm>
          <a:prstGeom prst="rect">
            <a:avLst>
              <a:gd name="adj" fmla="val 3265"/>
            </a:avLst>
          </a:prstGeom>
          <a:solidFill>
            <a:srgbClr val="EEF4F5"/>
          </a:solidFill>
          <a:ln w="12700">
            <a:solidFill>
              <a:srgbClr val="EEF4F5"/>
            </a:solidFill>
            <a:prstDash val="solid"/>
          </a:ln>
        </p:spPr>
      </p:sp>
      <p:sp>
        <p:nvSpPr>
          <p:cNvPr id="9" name="card title First-order absorption (Bateman)"/>
          <p:cNvSpPr txBox="1"/>
          <p:nvPr/>
        </p:nvSpPr>
        <p:spPr>
          <a:xfrm>
            <a:off x="641908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First-order absorption (Bateman)</a:t>
            </a:r>
            <a:endParaRPr lang="en-US" sz="1600" dirty="0"/>
          </a:p>
        </p:txBody>
      </p:sp>
      <p:sp>
        <p:nvSpPr>
          <p:cNvPr id="10" name="equation First-order absorption (Bateman)"/>
          <p:cNvSpPr txBox="1"/>
          <p:nvPr/>
        </p:nvSpPr>
        <p:spPr>
          <a:xfrm>
            <a:off x="6419088" y="2103120"/>
            <a:ext cx="4992624" cy="731520"/>
          </a:xfrm>
          <a:prstGeom prst="rect">
            <a:avLst/>
          </a:prstGeom>
          <a:solidFill>
            <a:srgbClr val="FFFFFF"/>
          </a:solidFill>
          <a:ln/>
        </p:spPr>
        <p:txBody>
          <a:bodyPr wrap="square" lIns="762" tIns="762" rIns="762" bIns="762" rtlCol="0" anchor="ctr"/>
          <a:lstStyle/>
          <a:p>
            <a:pPr indent="0" marL="0">
              <a:buNone/>
            </a:pPr>
            <a:r>
              <a:rPr lang="en-US" sz="1500" dirty="0">
                <a:solidFill>
                  <a:srgbClr val="264653"/>
                </a:solidFill>
                <a:latin typeface="+mj-lt" pitchFamily="34" charset="0"/>
                <a:ea typeface="+mj-lt" pitchFamily="34" charset="-122"/>
                <a:cs typeface="+mj-lt" pitchFamily="34" charset="-120"/>
              </a:rPr>
              <a:t>C(t) = F·D·kₐ / (V(kₐ − k)) · (e^(−kt) − e^(−kₐt))</a:t>
            </a:r>
            <a:endParaRPr lang="en-US" sz="1500" dirty="0"/>
          </a:p>
        </p:txBody>
      </p:sp>
      <p:sp>
        <p:nvSpPr>
          <p:cNvPr id="11" name="desc First-order absorption (Bateman)"/>
          <p:cNvSpPr txBox="1"/>
          <p:nvPr/>
        </p:nvSpPr>
        <p:spPr>
          <a:xfrm>
            <a:off x="6419088" y="2926080"/>
            <a:ext cx="4992624" cy="758952"/>
          </a:xfrm>
          <a:prstGeom prst="rect">
            <a:avLst/>
          </a:prstGeom>
          <a:noFill/>
          <a:ln/>
        </p:spPr>
        <p:txBody>
          <a:bodyPr wrap="square" lIns="0" tIns="0" rIns="0" bIns="0" rtlCol="0" anchor="t"/>
          <a:lstStyle/>
          <a:p>
            <a:pPr indent="0" marL="0">
              <a:buNone/>
            </a:pPr>
            <a:r>
              <a:rPr lang="en-US" sz="1400" dirty="0">
                <a:solidFill>
                  <a:srgbClr val="1B2430"/>
                </a:solidFill>
              </a:rPr>
              <a:t>Oral dosing with bioavailability F and absorption rate kₐ. Gives Cmax and Tmax.</a:t>
            </a:r>
            <a:endParaRPr lang="en-US" sz="1400" dirty="0"/>
          </a:p>
        </p:txBody>
      </p:sp>
      <p:sp>
        <p:nvSpPr>
          <p:cNvPr id="12" name="card Two compartments"/>
          <p:cNvSpPr/>
          <p:nvPr/>
        </p:nvSpPr>
        <p:spPr>
          <a:xfrm>
            <a:off x="548640" y="4023360"/>
            <a:ext cx="5394960" cy="2240280"/>
          </a:xfrm>
          <a:prstGeom prst="rect">
            <a:avLst>
              <a:gd name="adj" fmla="val 3265"/>
            </a:avLst>
          </a:prstGeom>
          <a:solidFill>
            <a:srgbClr val="EEF4F5"/>
          </a:solidFill>
          <a:ln w="12700">
            <a:solidFill>
              <a:srgbClr val="EEF4F5"/>
            </a:solidFill>
            <a:prstDash val="solid"/>
          </a:ln>
        </p:spPr>
      </p:sp>
      <p:sp>
        <p:nvSpPr>
          <p:cNvPr id="13" name="card title Two compartments"/>
          <p:cNvSpPr txBox="1"/>
          <p:nvPr/>
        </p:nvSpPr>
        <p:spPr>
          <a:xfrm>
            <a:off x="749808" y="416052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Two compartments</a:t>
            </a:r>
            <a:endParaRPr lang="en-US" sz="1600" dirty="0"/>
          </a:p>
        </p:txBody>
      </p:sp>
      <p:sp>
        <p:nvSpPr>
          <p:cNvPr id="14" name="equation Two compartments"/>
          <p:cNvSpPr txBox="1"/>
          <p:nvPr/>
        </p:nvSpPr>
        <p:spPr>
          <a:xfrm>
            <a:off x="749808" y="4572000"/>
            <a:ext cx="4992624" cy="822960"/>
          </a:xfrm>
          <a:prstGeom prst="rect">
            <a:avLst/>
          </a:prstGeom>
          <a:solidFill>
            <a:srgbClr val="FFFFFF"/>
          </a:solidFill>
          <a:ln/>
        </p:spPr>
        <p:txBody>
          <a:bodyPr wrap="square" lIns="762" tIns="762" rIns="762" bIns="762" rtlCol="0" anchor="ctr"/>
          <a:lstStyle/>
          <a:p>
            <a:pPr indent="0" marL="0">
              <a:buNone/>
            </a:pPr>
            <a:r>
              <a:rPr lang="en-US" sz="1600" dirty="0">
                <a:solidFill>
                  <a:srgbClr val="264653"/>
                </a:solidFill>
                <a:latin typeface="+mj-lt" pitchFamily="34" charset="0"/>
                <a:ea typeface="+mj-lt" pitchFamily="34" charset="-122"/>
                <a:cs typeface="+mj-lt" pitchFamily="34" charset="-120"/>
              </a:rPr>
              <a:t>dA₁/dt = −(k₁₀ + k₁₂) A₁ + k₂₁ A₂</a:t>
            </a:r>
            <a:endParaRPr lang="en-US" sz="1600" dirty="0"/>
          </a:p>
          <a:p>
            <a:pPr indent="0" marL="0">
              <a:buNone/>
            </a:pPr>
            <a:r>
              <a:rPr lang="en-US" sz="1600" dirty="0">
                <a:solidFill>
                  <a:srgbClr val="264653"/>
                </a:solidFill>
                <a:latin typeface="+mj-lt" pitchFamily="34" charset="0"/>
                <a:ea typeface="+mj-lt" pitchFamily="34" charset="-122"/>
                <a:cs typeface="+mj-lt" pitchFamily="34" charset="-120"/>
              </a:rPr>
              <a:t>dA₂/dt = k₁₂ A₁ − k₂₁ A₂</a:t>
            </a:r>
            <a:endParaRPr lang="en-US" sz="1600" dirty="0"/>
          </a:p>
        </p:txBody>
      </p:sp>
      <p:sp>
        <p:nvSpPr>
          <p:cNvPr id="15" name="desc Two compartments"/>
          <p:cNvSpPr txBox="1"/>
          <p:nvPr/>
        </p:nvSpPr>
        <p:spPr>
          <a:xfrm>
            <a:off x="749808" y="5486400"/>
            <a:ext cx="4992624" cy="667512"/>
          </a:xfrm>
          <a:prstGeom prst="rect">
            <a:avLst/>
          </a:prstGeom>
          <a:noFill/>
          <a:ln/>
        </p:spPr>
        <p:txBody>
          <a:bodyPr wrap="square" lIns="0" tIns="0" rIns="0" bIns="0" rtlCol="0" anchor="t"/>
          <a:lstStyle/>
          <a:p>
            <a:pPr indent="0" marL="0">
              <a:buNone/>
            </a:pPr>
            <a:r>
              <a:rPr lang="en-US" sz="1400" dirty="0">
                <a:solidFill>
                  <a:srgbClr val="1B2430"/>
                </a:solidFill>
              </a:rPr>
              <a:t>Central and peripheral compartments; bi-exponential decline. Extends to n compartments.</a:t>
            </a:r>
            <a:endParaRPr lang="en-US" sz="1400" dirty="0"/>
          </a:p>
        </p:txBody>
      </p:sp>
      <p:sp>
        <p:nvSpPr>
          <p:cNvPr id="16" name="card PBPK (general)"/>
          <p:cNvSpPr/>
          <p:nvPr/>
        </p:nvSpPr>
        <p:spPr>
          <a:xfrm>
            <a:off x="6217920" y="4023360"/>
            <a:ext cx="5394960" cy="2240280"/>
          </a:xfrm>
          <a:prstGeom prst="rect">
            <a:avLst>
              <a:gd name="adj" fmla="val 3265"/>
            </a:avLst>
          </a:prstGeom>
          <a:solidFill>
            <a:srgbClr val="EEF4F5"/>
          </a:solidFill>
          <a:ln w="12700">
            <a:solidFill>
              <a:srgbClr val="EEF4F5"/>
            </a:solidFill>
            <a:prstDash val="solid"/>
          </a:ln>
        </p:spPr>
      </p:sp>
      <p:sp>
        <p:nvSpPr>
          <p:cNvPr id="17" name="card title PBPK (general)"/>
          <p:cNvSpPr txBox="1"/>
          <p:nvPr/>
        </p:nvSpPr>
        <p:spPr>
          <a:xfrm>
            <a:off x="6419088" y="416052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PBPK (general)</a:t>
            </a:r>
            <a:endParaRPr lang="en-US" sz="1600" dirty="0"/>
          </a:p>
        </p:txBody>
      </p:sp>
      <p:sp>
        <p:nvSpPr>
          <p:cNvPr id="18" name="equation PBPK (general)"/>
          <p:cNvSpPr txBox="1"/>
          <p:nvPr/>
        </p:nvSpPr>
        <p:spPr>
          <a:xfrm>
            <a:off x="6419088" y="4572000"/>
            <a:ext cx="4992624" cy="822960"/>
          </a:xfrm>
          <a:prstGeom prst="rect">
            <a:avLst/>
          </a:prstGeom>
          <a:solidFill>
            <a:srgbClr val="FFFFFF"/>
          </a:solidFill>
          <a:ln/>
        </p:spPr>
        <p:txBody>
          <a:bodyPr wrap="square" lIns="762" tIns="762" rIns="762" bIns="762" rtlCol="0" anchor="ctr"/>
          <a:lstStyle/>
          <a:p>
            <a:pPr indent="0" marL="0">
              <a:buNone/>
            </a:pPr>
            <a:r>
              <a:rPr lang="en-US" sz="1500" dirty="0">
                <a:solidFill>
                  <a:srgbClr val="264653"/>
                </a:solidFill>
                <a:latin typeface="+mj-lt" pitchFamily="34" charset="0"/>
                <a:ea typeface="+mj-lt" pitchFamily="34" charset="-122"/>
                <a:cs typeface="+mj-lt" pitchFamily="34" charset="-120"/>
              </a:rPr>
              <a:t>V_T dC_T/dt = Q_T (C_A − C_T / K_p,T) − CL_T C_T</a:t>
            </a:r>
            <a:endParaRPr lang="en-US" sz="1500" dirty="0"/>
          </a:p>
          <a:p>
            <a:pPr indent="0" marL="0">
              <a:buNone/>
            </a:pPr>
            <a:r>
              <a:rPr lang="en-US" sz="1500" dirty="0">
                <a:solidFill>
                  <a:srgbClr val="264653"/>
                </a:solidFill>
                <a:latin typeface="+mj-lt" pitchFamily="34" charset="0"/>
                <a:ea typeface="+mj-lt" pitchFamily="34" charset="-122"/>
                <a:cs typeface="+mj-lt" pitchFamily="34" charset="-120"/>
              </a:rPr>
              <a:t>venous: Σ Q_T C_T / K_p,T</a:t>
            </a:r>
            <a:endParaRPr lang="en-US" sz="1500" dirty="0"/>
          </a:p>
        </p:txBody>
      </p:sp>
      <p:sp>
        <p:nvSpPr>
          <p:cNvPr id="19" name="desc PBPK (general)"/>
          <p:cNvSpPr txBox="1"/>
          <p:nvPr/>
        </p:nvSpPr>
        <p:spPr>
          <a:xfrm>
            <a:off x="6419088" y="5486400"/>
            <a:ext cx="4992624" cy="667512"/>
          </a:xfrm>
          <a:prstGeom prst="rect">
            <a:avLst/>
          </a:prstGeom>
          <a:noFill/>
          <a:ln/>
        </p:spPr>
        <p:txBody>
          <a:bodyPr wrap="square" lIns="0" tIns="0" rIns="0" bIns="0" rtlCol="0" anchor="t"/>
          <a:lstStyle/>
          <a:p>
            <a:pPr indent="0" marL="0">
              <a:buNone/>
            </a:pPr>
            <a:r>
              <a:rPr lang="en-US" sz="1400" dirty="0">
                <a:solidFill>
                  <a:srgbClr val="1B2430"/>
                </a:solidFill>
              </a:rPr>
              <a:t>Organs linked by blood flow Q with partition coefficients K_p. Scales across species and populations.</a:t>
            </a:r>
            <a:endParaRPr lang="en-US" sz="14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29184"/>
          </a:xfrm>
          <a:prstGeom prst="rect">
            <a:avLst/>
          </a:prstGeom>
          <a:noFill/>
          <a:ln/>
        </p:spPr>
        <p:txBody>
          <a:bodyPr wrap="square" lIns="0" tIns="0" rIns="0" bIns="0" rtlCol="0" anchor="t"/>
          <a:lstStyle/>
          <a:p>
            <a:pPr indent="0" marL="0">
              <a:buNone/>
            </a:pPr>
            <a:r>
              <a:rPr lang="en-US" sz="1300" b="1" dirty="0">
                <a:solidFill>
                  <a:srgbClr val="1F7A70"/>
                </a:solidFill>
              </a:rPr>
              <a:t>FAMILY 3 · PHARMACODYNAMICS</a:t>
            </a:r>
            <a:endParaRPr lang="en-US" sz="1300" dirty="0"/>
          </a:p>
        </p:txBody>
      </p:sp>
      <p:sp>
        <p:nvSpPr>
          <p:cNvPr id="3" name="Text 0"/>
          <p:cNvSpPr/>
          <p:nvPr>
            <p:ph idx="101" type="title" hasCustomPrompt="1"/>
          </p:nvPr>
        </p:nvSpPr>
        <p:spPr>
          <a:xfrm>
            <a:off x="548640" y="603504"/>
            <a:ext cx="11064240" cy="731520"/>
          </a:xfrm>
          <a:prstGeom prst="rect">
            <a:avLst/>
          </a:prstGeom>
          <a:noFill/>
          <a:ln/>
        </p:spPr>
        <p:txBody>
          <a:bodyPr wrap="square" lIns="0" tIns="0" rIns="0" bIns="0" rtlCol="0" anchor="t"/>
          <a:lstStyle/>
          <a:p>
            <a:pPr algn="l" indent="0" marL="0">
              <a:buNone/>
            </a:pPr>
            <a:r>
              <a:rPr lang="en-US" sz="3600" b="1" dirty="0">
                <a:solidFill>
                  <a:srgbClr val="0B3C49"/>
                </a:solidFill>
              </a:rPr>
              <a:t>What the drug does to the body</a:t>
            </a:r>
            <a:endParaRPr lang="en-US" sz="3600" dirty="0"/>
          </a:p>
        </p:txBody>
      </p:sp>
      <p:sp>
        <p:nvSpPr>
          <p:cNvPr id="4" name="card Emax / Hill model"/>
          <p:cNvSpPr/>
          <p:nvPr/>
        </p:nvSpPr>
        <p:spPr>
          <a:xfrm>
            <a:off x="548640" y="1554480"/>
            <a:ext cx="5394960" cy="2240280"/>
          </a:xfrm>
          <a:prstGeom prst="rect">
            <a:avLst>
              <a:gd name="adj" fmla="val 3265"/>
            </a:avLst>
          </a:prstGeom>
          <a:solidFill>
            <a:srgbClr val="EEF4F5"/>
          </a:solidFill>
          <a:ln w="12700">
            <a:solidFill>
              <a:srgbClr val="EEF4F5"/>
            </a:solidFill>
            <a:prstDash val="solid"/>
          </a:ln>
        </p:spPr>
      </p:sp>
      <p:sp>
        <p:nvSpPr>
          <p:cNvPr id="5" name="card title Emax / Hill model"/>
          <p:cNvSpPr txBox="1"/>
          <p:nvPr/>
        </p:nvSpPr>
        <p:spPr>
          <a:xfrm>
            <a:off x="74980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Emax / Hill model</a:t>
            </a:r>
            <a:endParaRPr lang="en-US" sz="1600" dirty="0"/>
          </a:p>
        </p:txBody>
      </p:sp>
      <p:sp>
        <p:nvSpPr>
          <p:cNvPr id="6" name="equation Emax / Hill model"/>
          <p:cNvSpPr txBox="1"/>
          <p:nvPr/>
        </p:nvSpPr>
        <p:spPr>
          <a:xfrm>
            <a:off x="749808" y="2103120"/>
            <a:ext cx="4992624" cy="502920"/>
          </a:xfrm>
          <a:prstGeom prst="rect">
            <a:avLst/>
          </a:prstGeom>
          <a:solidFill>
            <a:srgbClr val="FFFFFF"/>
          </a:solidFill>
          <a:ln/>
        </p:spPr>
        <p:txBody>
          <a:bodyPr wrap="square" lIns="762" tIns="762" rIns="762" bIns="762" rtlCol="0" anchor="ctr"/>
          <a:lstStyle/>
          <a:p>
            <a:pPr indent="0" marL="0">
              <a:buNone/>
            </a:pPr>
            <a:r>
              <a:rPr lang="en-US" sz="1600" dirty="0">
                <a:solidFill>
                  <a:srgbClr val="264653"/>
                </a:solidFill>
                <a:latin typeface="+mj-lt" pitchFamily="34" charset="0"/>
                <a:ea typeface="+mj-lt" pitchFamily="34" charset="-122"/>
                <a:cs typeface="+mj-lt" pitchFamily="34" charset="-120"/>
              </a:rPr>
              <a:t>E = E₀ + E_max · Cⁿ / (EC₅₀ⁿ + Cⁿ)</a:t>
            </a:r>
            <a:endParaRPr lang="en-US" sz="1600" dirty="0"/>
          </a:p>
        </p:txBody>
      </p:sp>
      <p:sp>
        <p:nvSpPr>
          <p:cNvPr id="7" name="desc Emax / Hill model"/>
          <p:cNvSpPr txBox="1"/>
          <p:nvPr/>
        </p:nvSpPr>
        <p:spPr>
          <a:xfrm>
            <a:off x="749808" y="2697480"/>
            <a:ext cx="4992624" cy="987552"/>
          </a:xfrm>
          <a:prstGeom prst="rect">
            <a:avLst/>
          </a:prstGeom>
          <a:noFill/>
          <a:ln/>
        </p:spPr>
        <p:txBody>
          <a:bodyPr wrap="square" lIns="0" tIns="0" rIns="0" bIns="0" rtlCol="0" anchor="t"/>
          <a:lstStyle/>
          <a:p>
            <a:pPr indent="0" marL="0">
              <a:buNone/>
            </a:pPr>
            <a:r>
              <a:rPr lang="en-US" sz="1400" dirty="0">
                <a:solidFill>
                  <a:srgbClr val="1B2430"/>
                </a:solidFill>
              </a:rPr>
              <a:t>Saturating concentration–effect curve. Hill coefficient n sets steepness; EC₅₀ the potency. n = 1 is the classic Emax model.</a:t>
            </a:r>
            <a:endParaRPr lang="en-US" sz="1400" dirty="0"/>
          </a:p>
        </p:txBody>
      </p:sp>
      <p:sp>
        <p:nvSpPr>
          <p:cNvPr id="8" name="card Indirect response and effect site"/>
          <p:cNvSpPr/>
          <p:nvPr/>
        </p:nvSpPr>
        <p:spPr>
          <a:xfrm>
            <a:off x="548640" y="3977640"/>
            <a:ext cx="5394960" cy="2148840"/>
          </a:xfrm>
          <a:prstGeom prst="rect">
            <a:avLst>
              <a:gd name="adj" fmla="val 3404"/>
            </a:avLst>
          </a:prstGeom>
          <a:solidFill>
            <a:srgbClr val="EEF4F5"/>
          </a:solidFill>
          <a:ln w="12700">
            <a:solidFill>
              <a:srgbClr val="EEF4F5"/>
            </a:solidFill>
            <a:prstDash val="solid"/>
          </a:ln>
        </p:spPr>
      </p:sp>
      <p:sp>
        <p:nvSpPr>
          <p:cNvPr id="9" name="card title Indirect response and effect site"/>
          <p:cNvSpPr txBox="1"/>
          <p:nvPr/>
        </p:nvSpPr>
        <p:spPr>
          <a:xfrm>
            <a:off x="749808" y="411480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Indirect response and effect site</a:t>
            </a:r>
            <a:endParaRPr lang="en-US" sz="1600" dirty="0"/>
          </a:p>
        </p:txBody>
      </p:sp>
      <p:sp>
        <p:nvSpPr>
          <p:cNvPr id="10" name="equation Indirect response and effect site"/>
          <p:cNvSpPr txBox="1"/>
          <p:nvPr/>
        </p:nvSpPr>
        <p:spPr>
          <a:xfrm>
            <a:off x="749808" y="4526280"/>
            <a:ext cx="4992624" cy="822960"/>
          </a:xfrm>
          <a:prstGeom prst="rect">
            <a:avLst/>
          </a:prstGeom>
          <a:solidFill>
            <a:srgbClr val="FFFFFF"/>
          </a:solidFill>
          <a:ln/>
        </p:spPr>
        <p:txBody>
          <a:bodyPr wrap="square" lIns="762" tIns="762" rIns="762" bIns="762" rtlCol="0" anchor="ctr"/>
          <a:lstStyle/>
          <a:p>
            <a:pPr indent="0" marL="0">
              <a:buNone/>
            </a:pPr>
            <a:r>
              <a:rPr lang="en-US" sz="1600" dirty="0">
                <a:solidFill>
                  <a:srgbClr val="264653"/>
                </a:solidFill>
                <a:latin typeface="+mj-lt" pitchFamily="34" charset="0"/>
                <a:ea typeface="+mj-lt" pitchFamily="34" charset="-122"/>
                <a:cs typeface="+mj-lt" pitchFamily="34" charset="-120"/>
              </a:rPr>
              <a:t>dR/dt = k_in (1 − I(C)) − k_out R</a:t>
            </a:r>
            <a:endParaRPr lang="en-US" sz="1600" dirty="0"/>
          </a:p>
          <a:p>
            <a:pPr indent="0" marL="0">
              <a:buNone/>
            </a:pPr>
            <a:r>
              <a:rPr lang="en-US" sz="1600" dirty="0">
                <a:solidFill>
                  <a:srgbClr val="264653"/>
                </a:solidFill>
                <a:latin typeface="+mj-lt" pitchFamily="34" charset="0"/>
                <a:ea typeface="+mj-lt" pitchFamily="34" charset="-122"/>
                <a:cs typeface="+mj-lt" pitchFamily="34" charset="-120"/>
              </a:rPr>
              <a:t>dC_e/dt = k_e0 (C − C_e)</a:t>
            </a:r>
            <a:endParaRPr lang="en-US" sz="1600" dirty="0"/>
          </a:p>
        </p:txBody>
      </p:sp>
      <p:sp>
        <p:nvSpPr>
          <p:cNvPr id="11" name="desc Indirect response and effect site"/>
          <p:cNvSpPr txBox="1"/>
          <p:nvPr/>
        </p:nvSpPr>
        <p:spPr>
          <a:xfrm>
            <a:off x="749808" y="5440680"/>
            <a:ext cx="4992624" cy="576072"/>
          </a:xfrm>
          <a:prstGeom prst="rect">
            <a:avLst/>
          </a:prstGeom>
          <a:noFill/>
          <a:ln/>
        </p:spPr>
        <p:txBody>
          <a:bodyPr wrap="square" lIns="0" tIns="0" rIns="0" bIns="0" rtlCol="0" anchor="t"/>
          <a:lstStyle/>
          <a:p>
            <a:pPr indent="0" marL="0">
              <a:buNone/>
            </a:pPr>
            <a:r>
              <a:rPr lang="en-US" sz="1400" dirty="0">
                <a:solidFill>
                  <a:srgbClr val="1B2430"/>
                </a:solidFill>
              </a:rPr>
              <a:t>Drug alters production or loss of a response R; effect compartment C_e explains hysteresis.</a:t>
            </a:r>
            <a:endParaRPr lang="en-US" sz="1400" dirty="0"/>
          </a:p>
        </p:txBody>
      </p:sp>
      <p:graphicFrame>
        <p:nvGraphicFramePr>
          <p:cNvPr id="12" name="Hill chart" descr=""/>
          <p:cNvGraphicFramePr/>
          <p:nvPr/>
        </p:nvGraphicFramePr>
        <p:xfrm>
          <a:off x="6217920" y="1554480"/>
          <a:ext cx="5394960" cy="4206240"/>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6217920" y="5806440"/>
            <a:ext cx="5394960" cy="365760"/>
          </a:xfrm>
          <a:prstGeom prst="rect">
            <a:avLst/>
          </a:prstGeom>
          <a:noFill/>
          <a:ln/>
        </p:spPr>
        <p:txBody>
          <a:bodyPr wrap="square" lIns="0" tIns="0" rIns="0" bIns="0" rtlCol="0" anchor="ctr"/>
          <a:lstStyle/>
          <a:p>
            <a:pPr indent="0" marL="0">
              <a:buNone/>
            </a:pPr>
            <a:r>
              <a:rPr lang="en-US" sz="1200" i="1" dirty="0">
                <a:solidFill>
                  <a:srgbClr val="5F6B76"/>
                </a:solidFill>
              </a:rPr>
              <a:t>All curves cross 50 % at C = EC₅₀; larger n gives a sharper switch.</a:t>
            </a:r>
            <a:endParaRPr lang="en-US" sz="12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29184"/>
          </a:xfrm>
          <a:prstGeom prst="rect">
            <a:avLst/>
          </a:prstGeom>
          <a:noFill/>
          <a:ln/>
        </p:spPr>
        <p:txBody>
          <a:bodyPr wrap="square" lIns="0" tIns="0" rIns="0" bIns="0" rtlCol="0" anchor="t"/>
          <a:lstStyle/>
          <a:p>
            <a:pPr indent="0" marL="0">
              <a:buNone/>
            </a:pPr>
            <a:r>
              <a:rPr lang="en-US" sz="1300" b="1" dirty="0">
                <a:solidFill>
                  <a:srgbClr val="1F7A70"/>
                </a:solidFill>
              </a:rPr>
              <a:t>FAMILY 3 · QUANTITATIVE SYSTEMS PHARMACOLOGY</a:t>
            </a:r>
            <a:endParaRPr lang="en-US" sz="1300" dirty="0"/>
          </a:p>
        </p:txBody>
      </p:sp>
      <p:sp>
        <p:nvSpPr>
          <p:cNvPr id="3" name="Text 0"/>
          <p:cNvSpPr/>
          <p:nvPr>
            <p:ph idx="101" type="title" hasCustomPrompt="1"/>
          </p:nvPr>
        </p:nvSpPr>
        <p:spPr>
          <a:xfrm>
            <a:off x="548640" y="603504"/>
            <a:ext cx="11064240" cy="731520"/>
          </a:xfrm>
          <a:prstGeom prst="rect">
            <a:avLst/>
          </a:prstGeom>
          <a:noFill/>
          <a:ln/>
        </p:spPr>
        <p:txBody>
          <a:bodyPr wrap="square" lIns="0" tIns="0" rIns="0" bIns="0" rtlCol="0" anchor="t"/>
          <a:lstStyle/>
          <a:p>
            <a:pPr algn="l" indent="0" marL="0">
              <a:buNone/>
            </a:pPr>
            <a:r>
              <a:rPr lang="en-US" sz="3600" b="1" dirty="0">
                <a:solidFill>
                  <a:srgbClr val="0B3C49"/>
                </a:solidFill>
              </a:rPr>
              <a:t>Biochemical networks as equations</a:t>
            </a:r>
            <a:endParaRPr lang="en-US" sz="3600" dirty="0"/>
          </a:p>
        </p:txBody>
      </p:sp>
      <p:sp>
        <p:nvSpPr>
          <p:cNvPr id="4" name="card Mass-action kinetics"/>
          <p:cNvSpPr/>
          <p:nvPr/>
        </p:nvSpPr>
        <p:spPr>
          <a:xfrm>
            <a:off x="548640" y="1554480"/>
            <a:ext cx="5394960" cy="2240280"/>
          </a:xfrm>
          <a:prstGeom prst="rect">
            <a:avLst>
              <a:gd name="adj" fmla="val 3265"/>
            </a:avLst>
          </a:prstGeom>
          <a:solidFill>
            <a:srgbClr val="EEF4F5"/>
          </a:solidFill>
          <a:ln w="12700">
            <a:solidFill>
              <a:srgbClr val="EEF4F5"/>
            </a:solidFill>
            <a:prstDash val="solid"/>
          </a:ln>
        </p:spPr>
      </p:sp>
      <p:sp>
        <p:nvSpPr>
          <p:cNvPr id="5" name="card title Mass-action kinetics"/>
          <p:cNvSpPr txBox="1"/>
          <p:nvPr/>
        </p:nvSpPr>
        <p:spPr>
          <a:xfrm>
            <a:off x="74980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Mass-action kinetics</a:t>
            </a:r>
            <a:endParaRPr lang="en-US" sz="1600" dirty="0"/>
          </a:p>
        </p:txBody>
      </p:sp>
      <p:sp>
        <p:nvSpPr>
          <p:cNvPr id="6" name="equation Mass-action kinetics"/>
          <p:cNvSpPr txBox="1"/>
          <p:nvPr/>
        </p:nvSpPr>
        <p:spPr>
          <a:xfrm>
            <a:off x="749808" y="2103120"/>
            <a:ext cx="4992624" cy="822960"/>
          </a:xfrm>
          <a:prstGeom prst="rect">
            <a:avLst/>
          </a:prstGeom>
          <a:solidFill>
            <a:srgbClr val="FFFFFF"/>
          </a:solidFill>
          <a:ln/>
        </p:spPr>
        <p:txBody>
          <a:bodyPr wrap="square" lIns="762" tIns="762" rIns="762" bIns="762" rtlCol="0" anchor="ctr"/>
          <a:lstStyle/>
          <a:p>
            <a:pPr indent="0" marL="0">
              <a:buNone/>
            </a:pPr>
            <a:r>
              <a:rPr lang="en-US" sz="1600" dirty="0">
                <a:solidFill>
                  <a:srgbClr val="264653"/>
                </a:solidFill>
                <a:latin typeface="+mj-lt" pitchFamily="34" charset="0"/>
                <a:ea typeface="+mj-lt" pitchFamily="34" charset="-122"/>
                <a:cs typeface="+mj-lt" pitchFamily="34" charset="-120"/>
              </a:rPr>
              <a:t>A + B ⇌ C:  dC/dt = k_f [A][B] − k_r [C]</a:t>
            </a:r>
            <a:endParaRPr lang="en-US" sz="1600" dirty="0"/>
          </a:p>
          <a:p>
            <a:pPr indent="0" marL="0">
              <a:buNone/>
            </a:pPr>
            <a:r>
              <a:rPr lang="en-US" sz="1600" dirty="0">
                <a:solidFill>
                  <a:srgbClr val="264653"/>
                </a:solidFill>
                <a:latin typeface="+mj-lt" pitchFamily="34" charset="0"/>
                <a:ea typeface="+mj-lt" pitchFamily="34" charset="-122"/>
                <a:cs typeface="+mj-lt" pitchFamily="34" charset="-120"/>
              </a:rPr>
              <a:t>network: dx/dt = S · v(x, θ)</a:t>
            </a:r>
            <a:endParaRPr lang="en-US" sz="1600" dirty="0"/>
          </a:p>
        </p:txBody>
      </p:sp>
      <p:sp>
        <p:nvSpPr>
          <p:cNvPr id="7" name="desc Mass-action kinetics"/>
          <p:cNvSpPr txBox="1"/>
          <p:nvPr/>
        </p:nvSpPr>
        <p:spPr>
          <a:xfrm>
            <a:off x="749808" y="3017520"/>
            <a:ext cx="4992624" cy="667512"/>
          </a:xfrm>
          <a:prstGeom prst="rect">
            <a:avLst/>
          </a:prstGeom>
          <a:noFill/>
          <a:ln/>
        </p:spPr>
        <p:txBody>
          <a:bodyPr wrap="square" lIns="0" tIns="0" rIns="0" bIns="0" rtlCol="0" anchor="t"/>
          <a:lstStyle/>
          <a:p>
            <a:pPr indent="0" marL="0">
              <a:buNone/>
            </a:pPr>
            <a:r>
              <a:rPr lang="en-US" sz="1400" dirty="0">
                <a:solidFill>
                  <a:srgbClr val="1B2430"/>
                </a:solidFill>
              </a:rPr>
              <a:t>Stoichiometry matrix S times reaction rates v. The general QSP and systems-biology form.</a:t>
            </a:r>
            <a:endParaRPr lang="en-US" sz="1400" dirty="0"/>
          </a:p>
        </p:txBody>
      </p:sp>
      <p:sp>
        <p:nvSpPr>
          <p:cNvPr id="8" name="card Michaelis–Menten"/>
          <p:cNvSpPr/>
          <p:nvPr/>
        </p:nvSpPr>
        <p:spPr>
          <a:xfrm>
            <a:off x="6217920" y="1554480"/>
            <a:ext cx="5394960" cy="2240280"/>
          </a:xfrm>
          <a:prstGeom prst="rect">
            <a:avLst>
              <a:gd name="adj" fmla="val 3265"/>
            </a:avLst>
          </a:prstGeom>
          <a:solidFill>
            <a:srgbClr val="EEF4F5"/>
          </a:solidFill>
          <a:ln w="12700">
            <a:solidFill>
              <a:srgbClr val="EEF4F5"/>
            </a:solidFill>
            <a:prstDash val="solid"/>
          </a:ln>
        </p:spPr>
      </p:sp>
      <p:sp>
        <p:nvSpPr>
          <p:cNvPr id="9" name="card title Michaelis–Menten"/>
          <p:cNvSpPr txBox="1"/>
          <p:nvPr/>
        </p:nvSpPr>
        <p:spPr>
          <a:xfrm>
            <a:off x="641908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Michaelis–Menten</a:t>
            </a:r>
            <a:endParaRPr lang="en-US" sz="1600" dirty="0"/>
          </a:p>
        </p:txBody>
      </p:sp>
      <p:sp>
        <p:nvSpPr>
          <p:cNvPr id="10" name="equation Michaelis–Menten"/>
          <p:cNvSpPr txBox="1"/>
          <p:nvPr/>
        </p:nvSpPr>
        <p:spPr>
          <a:xfrm>
            <a:off x="6419088" y="2103120"/>
            <a:ext cx="4992624" cy="731520"/>
          </a:xfrm>
          <a:prstGeom prst="rect">
            <a:avLst/>
          </a:prstGeom>
          <a:solidFill>
            <a:srgbClr val="FFFFFF"/>
          </a:solidFill>
          <a:ln/>
        </p:spPr>
        <p:txBody>
          <a:bodyPr wrap="square" lIns="762" tIns="762" rIns="762" bIns="762" rtlCol="0" anchor="ctr"/>
          <a:lstStyle/>
          <a:p>
            <a:pPr indent="0" marL="0">
              <a:buNone/>
            </a:pPr>
            <a:r>
              <a:rPr lang="en-US" sz="1600" dirty="0">
                <a:solidFill>
                  <a:srgbClr val="264653"/>
                </a:solidFill>
                <a:latin typeface="+mj-lt" pitchFamily="34" charset="0"/>
                <a:ea typeface="+mj-lt" pitchFamily="34" charset="-122"/>
                <a:cs typeface="+mj-lt" pitchFamily="34" charset="-120"/>
              </a:rPr>
              <a:t>v = V_max [S] / (K_m + [S])</a:t>
            </a:r>
            <a:endParaRPr lang="en-US" sz="1600" dirty="0"/>
          </a:p>
        </p:txBody>
      </p:sp>
      <p:sp>
        <p:nvSpPr>
          <p:cNvPr id="11" name="desc Michaelis–Menten"/>
          <p:cNvSpPr txBox="1"/>
          <p:nvPr/>
        </p:nvSpPr>
        <p:spPr>
          <a:xfrm>
            <a:off x="6419088" y="2926080"/>
            <a:ext cx="4992624" cy="758952"/>
          </a:xfrm>
          <a:prstGeom prst="rect">
            <a:avLst/>
          </a:prstGeom>
          <a:noFill/>
          <a:ln/>
        </p:spPr>
        <p:txBody>
          <a:bodyPr wrap="square" lIns="0" tIns="0" rIns="0" bIns="0" rtlCol="0" anchor="t"/>
          <a:lstStyle/>
          <a:p>
            <a:pPr indent="0" marL="0">
              <a:buNone/>
            </a:pPr>
            <a:r>
              <a:rPr lang="en-US" sz="1400" dirty="0">
                <a:solidFill>
                  <a:srgbClr val="1B2430"/>
                </a:solidFill>
              </a:rPr>
              <a:t>Saturable enzyme kinetics or transport; also saturable (nonlinear) drug elimination.</a:t>
            </a:r>
            <a:endParaRPr lang="en-US" sz="1400" dirty="0"/>
          </a:p>
        </p:txBody>
      </p:sp>
      <p:sp>
        <p:nvSpPr>
          <p:cNvPr id="12" name="card Receptor occupancy"/>
          <p:cNvSpPr/>
          <p:nvPr/>
        </p:nvSpPr>
        <p:spPr>
          <a:xfrm>
            <a:off x="548640" y="4023360"/>
            <a:ext cx="5394960" cy="2240280"/>
          </a:xfrm>
          <a:prstGeom prst="rect">
            <a:avLst>
              <a:gd name="adj" fmla="val 3265"/>
            </a:avLst>
          </a:prstGeom>
          <a:solidFill>
            <a:srgbClr val="EEF4F5"/>
          </a:solidFill>
          <a:ln w="12700">
            <a:solidFill>
              <a:srgbClr val="EEF4F5"/>
            </a:solidFill>
            <a:prstDash val="solid"/>
          </a:ln>
        </p:spPr>
      </p:sp>
      <p:sp>
        <p:nvSpPr>
          <p:cNvPr id="13" name="card title Receptor occupancy"/>
          <p:cNvSpPr txBox="1"/>
          <p:nvPr/>
        </p:nvSpPr>
        <p:spPr>
          <a:xfrm>
            <a:off x="749808" y="416052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Receptor occupancy</a:t>
            </a:r>
            <a:endParaRPr lang="en-US" sz="1600" dirty="0"/>
          </a:p>
        </p:txBody>
      </p:sp>
      <p:sp>
        <p:nvSpPr>
          <p:cNvPr id="14" name="equation Receptor occupancy"/>
          <p:cNvSpPr txBox="1"/>
          <p:nvPr/>
        </p:nvSpPr>
        <p:spPr>
          <a:xfrm>
            <a:off x="749808" y="4572000"/>
            <a:ext cx="4992624" cy="822960"/>
          </a:xfrm>
          <a:prstGeom prst="rect">
            <a:avLst/>
          </a:prstGeom>
          <a:solidFill>
            <a:srgbClr val="FFFFFF"/>
          </a:solidFill>
          <a:ln/>
        </p:spPr>
        <p:txBody>
          <a:bodyPr wrap="square" lIns="762" tIns="762" rIns="762" bIns="762" rtlCol="0" anchor="ctr"/>
          <a:lstStyle/>
          <a:p>
            <a:pPr indent="0" marL="0">
              <a:buNone/>
            </a:pPr>
            <a:r>
              <a:rPr lang="en-US" sz="1600" dirty="0">
                <a:solidFill>
                  <a:srgbClr val="264653"/>
                </a:solidFill>
                <a:latin typeface="+mj-lt" pitchFamily="34" charset="0"/>
                <a:ea typeface="+mj-lt" pitchFamily="34" charset="-122"/>
                <a:cs typeface="+mj-lt" pitchFamily="34" charset="-120"/>
              </a:rPr>
              <a:t>L + R ⇌ LR,   K_d = k_off / k_on</a:t>
            </a:r>
            <a:endParaRPr lang="en-US" sz="1600" dirty="0"/>
          </a:p>
          <a:p>
            <a:pPr indent="0" marL="0">
              <a:buNone/>
            </a:pPr>
            <a:r>
              <a:rPr lang="en-US" sz="1600" dirty="0">
                <a:solidFill>
                  <a:srgbClr val="264653"/>
                </a:solidFill>
                <a:latin typeface="+mj-lt" pitchFamily="34" charset="0"/>
                <a:ea typeface="+mj-lt" pitchFamily="34" charset="-122"/>
                <a:cs typeface="+mj-lt" pitchFamily="34" charset="-120"/>
              </a:rPr>
              <a:t>occupancy = [L] / (K_d + [L])</a:t>
            </a:r>
            <a:endParaRPr lang="en-US" sz="1600" dirty="0"/>
          </a:p>
        </p:txBody>
      </p:sp>
      <p:sp>
        <p:nvSpPr>
          <p:cNvPr id="15" name="desc Receptor occupancy"/>
          <p:cNvSpPr txBox="1"/>
          <p:nvPr/>
        </p:nvSpPr>
        <p:spPr>
          <a:xfrm>
            <a:off x="749808" y="5486400"/>
            <a:ext cx="4992624" cy="667512"/>
          </a:xfrm>
          <a:prstGeom prst="rect">
            <a:avLst/>
          </a:prstGeom>
          <a:noFill/>
          <a:ln/>
        </p:spPr>
        <p:txBody>
          <a:bodyPr wrap="square" lIns="0" tIns="0" rIns="0" bIns="0" rtlCol="0" anchor="t"/>
          <a:lstStyle/>
          <a:p>
            <a:pPr indent="0" marL="0">
              <a:buNone/>
            </a:pPr>
            <a:r>
              <a:rPr lang="en-US" sz="1400" dirty="0">
                <a:solidFill>
                  <a:srgbClr val="1B2430"/>
                </a:solidFill>
              </a:rPr>
              <a:t>Binding drives effect; target-mediated drug disposition extends this to drug loss by binding.</a:t>
            </a:r>
            <a:endParaRPr lang="en-US" sz="1400" dirty="0"/>
          </a:p>
        </p:txBody>
      </p:sp>
      <p:sp>
        <p:nvSpPr>
          <p:cNvPr id="16" name="card Logical (Boolean) networks"/>
          <p:cNvSpPr/>
          <p:nvPr/>
        </p:nvSpPr>
        <p:spPr>
          <a:xfrm>
            <a:off x="6217920" y="4023360"/>
            <a:ext cx="5394960" cy="2240280"/>
          </a:xfrm>
          <a:prstGeom prst="rect">
            <a:avLst>
              <a:gd name="adj" fmla="val 3265"/>
            </a:avLst>
          </a:prstGeom>
          <a:solidFill>
            <a:srgbClr val="EEF4F5"/>
          </a:solidFill>
          <a:ln w="12700">
            <a:solidFill>
              <a:srgbClr val="EEF4F5"/>
            </a:solidFill>
            <a:prstDash val="solid"/>
          </a:ln>
        </p:spPr>
      </p:sp>
      <p:sp>
        <p:nvSpPr>
          <p:cNvPr id="17" name="card title Logical (Boolean) networks"/>
          <p:cNvSpPr txBox="1"/>
          <p:nvPr/>
        </p:nvSpPr>
        <p:spPr>
          <a:xfrm>
            <a:off x="6419088" y="416052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Logical (Boolean) networks</a:t>
            </a:r>
            <a:endParaRPr lang="en-US" sz="1600" dirty="0"/>
          </a:p>
        </p:txBody>
      </p:sp>
      <p:sp>
        <p:nvSpPr>
          <p:cNvPr id="18" name="equation Logical (Boolean) networks"/>
          <p:cNvSpPr txBox="1"/>
          <p:nvPr/>
        </p:nvSpPr>
        <p:spPr>
          <a:xfrm>
            <a:off x="6419088" y="4572000"/>
            <a:ext cx="4992624" cy="731520"/>
          </a:xfrm>
          <a:prstGeom prst="rect">
            <a:avLst/>
          </a:prstGeom>
          <a:solidFill>
            <a:srgbClr val="FFFFFF"/>
          </a:solidFill>
          <a:ln/>
        </p:spPr>
        <p:txBody>
          <a:bodyPr wrap="square" lIns="762" tIns="762" rIns="762" bIns="762" rtlCol="0" anchor="ctr"/>
          <a:lstStyle/>
          <a:p>
            <a:pPr indent="0" marL="0">
              <a:buNone/>
            </a:pPr>
            <a:r>
              <a:rPr lang="en-US" sz="1600" dirty="0">
                <a:solidFill>
                  <a:srgbClr val="264653"/>
                </a:solidFill>
                <a:latin typeface="+mj-lt" pitchFamily="34" charset="0"/>
                <a:ea typeface="+mj-lt" pitchFamily="34" charset="-122"/>
                <a:cs typeface="+mj-lt" pitchFamily="34" charset="-120"/>
              </a:rPr>
              <a:t>xᵢ(t + 1) = Fᵢ(x_inputs(t)),   xᵢ ∈ {0, 1}</a:t>
            </a:r>
            <a:endParaRPr lang="en-US" sz="1600" dirty="0"/>
          </a:p>
        </p:txBody>
      </p:sp>
      <p:sp>
        <p:nvSpPr>
          <p:cNvPr id="19" name="desc Logical (Boolean) networks"/>
          <p:cNvSpPr txBox="1"/>
          <p:nvPr/>
        </p:nvSpPr>
        <p:spPr>
          <a:xfrm>
            <a:off x="6419088" y="5394960"/>
            <a:ext cx="4992624" cy="758952"/>
          </a:xfrm>
          <a:prstGeom prst="rect">
            <a:avLst/>
          </a:prstGeom>
          <a:noFill/>
          <a:ln/>
        </p:spPr>
        <p:txBody>
          <a:bodyPr wrap="square" lIns="0" tIns="0" rIns="0" bIns="0" rtlCol="0" anchor="t"/>
          <a:lstStyle/>
          <a:p>
            <a:pPr indent="0" marL="0">
              <a:buNone/>
            </a:pPr>
            <a:r>
              <a:rPr lang="en-US" sz="1400" dirty="0">
                <a:solidFill>
                  <a:srgbClr val="1B2430"/>
                </a:solidFill>
              </a:rPr>
              <a:t>Signalling pathways when rate constants are unknown; finds attractors (cell fates) and drug targets.</a:t>
            </a:r>
            <a:endParaRPr lang="en-US" sz="14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29184"/>
          </a:xfrm>
          <a:prstGeom prst="rect">
            <a:avLst/>
          </a:prstGeom>
          <a:noFill/>
          <a:ln/>
        </p:spPr>
        <p:txBody>
          <a:bodyPr wrap="square" lIns="0" tIns="0" rIns="0" bIns="0" rtlCol="0" anchor="t"/>
          <a:lstStyle/>
          <a:p>
            <a:pPr indent="0" marL="0">
              <a:buNone/>
            </a:pPr>
            <a:r>
              <a:rPr lang="en-US" sz="1300" b="1" dirty="0">
                <a:solidFill>
                  <a:srgbClr val="1F7A70"/>
                </a:solidFill>
              </a:rPr>
              <a:t>FAMILY 4 · DISEASE DYNAMICS</a:t>
            </a:r>
            <a:endParaRPr lang="en-US" sz="1300" dirty="0"/>
          </a:p>
        </p:txBody>
      </p:sp>
      <p:sp>
        <p:nvSpPr>
          <p:cNvPr id="3" name="Text 0"/>
          <p:cNvSpPr/>
          <p:nvPr>
            <p:ph idx="101" type="title" hasCustomPrompt="1"/>
          </p:nvPr>
        </p:nvSpPr>
        <p:spPr>
          <a:xfrm>
            <a:off x="548640" y="603504"/>
            <a:ext cx="11064240" cy="731520"/>
          </a:xfrm>
          <a:prstGeom prst="rect">
            <a:avLst/>
          </a:prstGeom>
          <a:noFill/>
          <a:ln/>
        </p:spPr>
        <p:txBody>
          <a:bodyPr wrap="square" lIns="0" tIns="0" rIns="0" bIns="0" rtlCol="0" anchor="t"/>
          <a:lstStyle/>
          <a:p>
            <a:pPr algn="l" indent="0" marL="0">
              <a:buNone/>
            </a:pPr>
            <a:r>
              <a:rPr lang="en-US" sz="3600" b="1" dirty="0">
                <a:solidFill>
                  <a:srgbClr val="0B3C49"/>
                </a:solidFill>
              </a:rPr>
              <a:t>Growth models and treatment effect</a:t>
            </a:r>
            <a:endParaRPr lang="en-US" sz="3600" dirty="0"/>
          </a:p>
        </p:txBody>
      </p:sp>
      <p:sp>
        <p:nvSpPr>
          <p:cNvPr id="4" name="card Growth laws"/>
          <p:cNvSpPr/>
          <p:nvPr/>
        </p:nvSpPr>
        <p:spPr>
          <a:xfrm>
            <a:off x="548640" y="1554480"/>
            <a:ext cx="5394960" cy="2240280"/>
          </a:xfrm>
          <a:prstGeom prst="rect">
            <a:avLst>
              <a:gd name="adj" fmla="val 3265"/>
            </a:avLst>
          </a:prstGeom>
          <a:solidFill>
            <a:srgbClr val="EEF4F5"/>
          </a:solidFill>
          <a:ln w="12700">
            <a:solidFill>
              <a:srgbClr val="EEF4F5"/>
            </a:solidFill>
            <a:prstDash val="solid"/>
          </a:ln>
        </p:spPr>
      </p:sp>
      <p:sp>
        <p:nvSpPr>
          <p:cNvPr id="5" name="card title Growth laws"/>
          <p:cNvSpPr txBox="1"/>
          <p:nvPr/>
        </p:nvSpPr>
        <p:spPr>
          <a:xfrm>
            <a:off x="74980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Growth laws</a:t>
            </a:r>
            <a:endParaRPr lang="en-US" sz="1600" dirty="0"/>
          </a:p>
        </p:txBody>
      </p:sp>
      <p:sp>
        <p:nvSpPr>
          <p:cNvPr id="6" name="equation Growth laws"/>
          <p:cNvSpPr txBox="1"/>
          <p:nvPr/>
        </p:nvSpPr>
        <p:spPr>
          <a:xfrm>
            <a:off x="749808" y="2103120"/>
            <a:ext cx="4992624" cy="1051560"/>
          </a:xfrm>
          <a:prstGeom prst="rect">
            <a:avLst/>
          </a:prstGeom>
          <a:solidFill>
            <a:srgbClr val="FFFFFF"/>
          </a:solidFill>
          <a:ln/>
        </p:spPr>
        <p:txBody>
          <a:bodyPr wrap="square" lIns="762" tIns="762" rIns="762" bIns="762" rtlCol="0" anchor="ctr"/>
          <a:lstStyle/>
          <a:p>
            <a:pPr indent="0" marL="0">
              <a:buNone/>
            </a:pPr>
            <a:r>
              <a:rPr lang="en-US" sz="1500" dirty="0">
                <a:solidFill>
                  <a:srgbClr val="264653"/>
                </a:solidFill>
                <a:latin typeface="+mj-lt" pitchFamily="34" charset="0"/>
                <a:ea typeface="+mj-lt" pitchFamily="34" charset="-122"/>
                <a:cs typeface="+mj-lt" pitchFamily="34" charset="-120"/>
              </a:rPr>
              <a:t>exponential: dN/dt = rN</a:t>
            </a:r>
            <a:endParaRPr lang="en-US" sz="1500" dirty="0"/>
          </a:p>
          <a:p>
            <a:pPr indent="0" marL="0">
              <a:buNone/>
            </a:pPr>
            <a:r>
              <a:rPr lang="en-US" sz="1500" dirty="0">
                <a:solidFill>
                  <a:srgbClr val="264653"/>
                </a:solidFill>
                <a:latin typeface="+mj-lt" pitchFamily="34" charset="0"/>
                <a:ea typeface="+mj-lt" pitchFamily="34" charset="-122"/>
                <a:cs typeface="+mj-lt" pitchFamily="34" charset="-120"/>
              </a:rPr>
              <a:t>logistic: dN/dt = rN(1 − N/K)</a:t>
            </a:r>
            <a:endParaRPr lang="en-US" sz="1500" dirty="0"/>
          </a:p>
          <a:p>
            <a:pPr indent="0" marL="0">
              <a:buNone/>
            </a:pPr>
            <a:r>
              <a:rPr lang="en-US" sz="1500" dirty="0">
                <a:solidFill>
                  <a:srgbClr val="264653"/>
                </a:solidFill>
                <a:latin typeface="+mj-lt" pitchFamily="34" charset="0"/>
                <a:ea typeface="+mj-lt" pitchFamily="34" charset="-122"/>
                <a:cs typeface="+mj-lt" pitchFamily="34" charset="-120"/>
              </a:rPr>
              <a:t>Gompertz: dN/dt = rN ln(K/N)</a:t>
            </a:r>
            <a:endParaRPr lang="en-US" sz="1500" dirty="0"/>
          </a:p>
        </p:txBody>
      </p:sp>
      <p:sp>
        <p:nvSpPr>
          <p:cNvPr id="7" name="desc Growth laws"/>
          <p:cNvSpPr txBox="1"/>
          <p:nvPr/>
        </p:nvSpPr>
        <p:spPr>
          <a:xfrm>
            <a:off x="749808" y="3246120"/>
            <a:ext cx="4992624" cy="438912"/>
          </a:xfrm>
          <a:prstGeom prst="rect">
            <a:avLst/>
          </a:prstGeom>
          <a:noFill/>
          <a:ln/>
        </p:spPr>
        <p:txBody>
          <a:bodyPr wrap="square" lIns="0" tIns="0" rIns="0" bIns="0" rtlCol="0" anchor="t"/>
          <a:lstStyle/>
          <a:p>
            <a:pPr indent="0" marL="0">
              <a:buNone/>
            </a:pPr>
            <a:r>
              <a:rPr lang="en-US" sz="1400" dirty="0">
                <a:solidFill>
                  <a:srgbClr val="1B2430"/>
                </a:solidFill>
              </a:rPr>
              <a:t>Tumours, bacteria, cell cultures; K = carrying capacity.</a:t>
            </a:r>
            <a:endParaRPr lang="en-US" sz="1400" dirty="0"/>
          </a:p>
        </p:txBody>
      </p:sp>
      <p:sp>
        <p:nvSpPr>
          <p:cNvPr id="8" name="card Treatment effect (log-kill, TGI)"/>
          <p:cNvSpPr/>
          <p:nvPr/>
        </p:nvSpPr>
        <p:spPr>
          <a:xfrm>
            <a:off x="548640" y="3977640"/>
            <a:ext cx="5394960" cy="2148840"/>
          </a:xfrm>
          <a:prstGeom prst="rect">
            <a:avLst>
              <a:gd name="adj" fmla="val 3404"/>
            </a:avLst>
          </a:prstGeom>
          <a:solidFill>
            <a:srgbClr val="EEF4F5"/>
          </a:solidFill>
          <a:ln w="12700">
            <a:solidFill>
              <a:srgbClr val="EEF4F5"/>
            </a:solidFill>
            <a:prstDash val="solid"/>
          </a:ln>
        </p:spPr>
      </p:sp>
      <p:sp>
        <p:nvSpPr>
          <p:cNvPr id="9" name="card title Treatment effect (log-kill, TGI)"/>
          <p:cNvSpPr txBox="1"/>
          <p:nvPr/>
        </p:nvSpPr>
        <p:spPr>
          <a:xfrm>
            <a:off x="749808" y="411480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Treatment effect (log-kill, TGI)</a:t>
            </a:r>
            <a:endParaRPr lang="en-US" sz="1600" dirty="0"/>
          </a:p>
        </p:txBody>
      </p:sp>
      <p:sp>
        <p:nvSpPr>
          <p:cNvPr id="10" name="equation Treatment effect (log-kill, TGI)"/>
          <p:cNvSpPr txBox="1"/>
          <p:nvPr/>
        </p:nvSpPr>
        <p:spPr>
          <a:xfrm>
            <a:off x="749808" y="4526280"/>
            <a:ext cx="4992624" cy="822960"/>
          </a:xfrm>
          <a:prstGeom prst="rect">
            <a:avLst/>
          </a:prstGeom>
          <a:solidFill>
            <a:srgbClr val="FFFFFF"/>
          </a:solidFill>
          <a:ln/>
        </p:spPr>
        <p:txBody>
          <a:bodyPr wrap="square" lIns="762" tIns="762" rIns="762" bIns="762" rtlCol="0" anchor="ctr"/>
          <a:lstStyle/>
          <a:p>
            <a:pPr indent="0" marL="0">
              <a:buNone/>
            </a:pPr>
            <a:r>
              <a:rPr lang="en-US" sz="1500" dirty="0">
                <a:solidFill>
                  <a:srgbClr val="264653"/>
                </a:solidFill>
                <a:latin typeface="+mj-lt" pitchFamily="34" charset="0"/>
                <a:ea typeface="+mj-lt" pitchFamily="34" charset="-122"/>
                <a:cs typeface="+mj-lt" pitchFamily="34" charset="-120"/>
              </a:rPr>
              <a:t>dN/dt = g(N) − k_d · E(C(t)) · N</a:t>
            </a:r>
            <a:endParaRPr lang="en-US" sz="1500" dirty="0"/>
          </a:p>
          <a:p>
            <a:pPr indent="0" marL="0">
              <a:buNone/>
            </a:pPr>
            <a:r>
              <a:rPr lang="en-US" sz="1500" dirty="0">
                <a:solidFill>
                  <a:srgbClr val="264653"/>
                </a:solidFill>
                <a:latin typeface="+mj-lt" pitchFamily="34" charset="0"/>
                <a:ea typeface="+mj-lt" pitchFamily="34" charset="-122"/>
                <a:cs typeface="+mj-lt" pitchFamily="34" charset="-120"/>
              </a:rPr>
              <a:t>Norton–Simon: kill ∝ growth rate g(N)/N</a:t>
            </a:r>
            <a:endParaRPr lang="en-US" sz="1500" dirty="0"/>
          </a:p>
        </p:txBody>
      </p:sp>
      <p:sp>
        <p:nvSpPr>
          <p:cNvPr id="11" name="desc Treatment effect (log-kill, TGI)"/>
          <p:cNvSpPr txBox="1"/>
          <p:nvPr/>
        </p:nvSpPr>
        <p:spPr>
          <a:xfrm>
            <a:off x="749808" y="5440680"/>
            <a:ext cx="4992624" cy="576072"/>
          </a:xfrm>
          <a:prstGeom prst="rect">
            <a:avLst/>
          </a:prstGeom>
          <a:noFill/>
          <a:ln/>
        </p:spPr>
        <p:txBody>
          <a:bodyPr wrap="square" lIns="0" tIns="0" rIns="0" bIns="0" rtlCol="0" anchor="t"/>
          <a:lstStyle/>
          <a:p>
            <a:pPr indent="0" marL="0">
              <a:buNone/>
            </a:pPr>
            <a:r>
              <a:rPr lang="en-US" sz="1400" dirty="0">
                <a:solidFill>
                  <a:srgbClr val="1B2430"/>
                </a:solidFill>
              </a:rPr>
              <a:t>Drug kill proportional to exposure; tumour-growth-inhibition models (e.g. Simeoni) add delay compartments.</a:t>
            </a:r>
            <a:endParaRPr lang="en-US" sz="1400" dirty="0"/>
          </a:p>
        </p:txBody>
      </p:sp>
      <p:graphicFrame>
        <p:nvGraphicFramePr>
          <p:cNvPr id="12" name="growth chart" descr=""/>
          <p:cNvGraphicFramePr/>
          <p:nvPr/>
        </p:nvGraphicFramePr>
        <p:xfrm>
          <a:off x="6217920" y="1554480"/>
          <a:ext cx="5394960" cy="4206240"/>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6217920" y="5806440"/>
            <a:ext cx="5394960" cy="365760"/>
          </a:xfrm>
          <a:prstGeom prst="rect">
            <a:avLst/>
          </a:prstGeom>
          <a:noFill/>
          <a:ln/>
        </p:spPr>
        <p:txBody>
          <a:bodyPr wrap="square" lIns="0" tIns="0" rIns="0" bIns="0" rtlCol="0" anchor="ctr"/>
          <a:lstStyle/>
          <a:p>
            <a:pPr indent="0" marL="0">
              <a:buNone/>
            </a:pPr>
            <a:r>
              <a:rPr lang="en-US" sz="1200" i="1" dirty="0">
                <a:solidFill>
                  <a:srgbClr val="5F6B76"/>
                </a:solidFill>
              </a:rPr>
              <a:t>Exponential growth is unbounded; logistic and Gompertz saturate at K. Fit all three and compare by AIC.</a:t>
            </a:r>
            <a:endParaRPr lang="en-US" sz="12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29184"/>
          </a:xfrm>
          <a:prstGeom prst="rect">
            <a:avLst/>
          </a:prstGeom>
          <a:noFill/>
          <a:ln/>
        </p:spPr>
        <p:txBody>
          <a:bodyPr wrap="square" lIns="0" tIns="0" rIns="0" bIns="0" rtlCol="0" anchor="t"/>
          <a:lstStyle/>
          <a:p>
            <a:pPr indent="0" marL="0">
              <a:buNone/>
            </a:pPr>
            <a:r>
              <a:rPr lang="en-US" sz="1300" b="1" dirty="0">
                <a:solidFill>
                  <a:srgbClr val="1F7A70"/>
                </a:solidFill>
              </a:rPr>
              <a:t>FAMILY 4 · POPULATION SPREAD AND PROGRESSION</a:t>
            </a:r>
            <a:endParaRPr lang="en-US" sz="1300" dirty="0"/>
          </a:p>
        </p:txBody>
      </p:sp>
      <p:sp>
        <p:nvSpPr>
          <p:cNvPr id="3" name="Text 0"/>
          <p:cNvSpPr/>
          <p:nvPr>
            <p:ph idx="101" type="title" hasCustomPrompt="1"/>
          </p:nvPr>
        </p:nvSpPr>
        <p:spPr>
          <a:xfrm>
            <a:off x="548640" y="603504"/>
            <a:ext cx="11064240" cy="731520"/>
          </a:xfrm>
          <a:prstGeom prst="rect">
            <a:avLst/>
          </a:prstGeom>
          <a:noFill/>
          <a:ln/>
        </p:spPr>
        <p:txBody>
          <a:bodyPr wrap="square" lIns="0" tIns="0" rIns="0" bIns="0" rtlCol="0" anchor="t"/>
          <a:lstStyle/>
          <a:p>
            <a:pPr algn="l" indent="0" marL="0">
              <a:buNone/>
            </a:pPr>
            <a:r>
              <a:rPr lang="en-US" sz="3600" b="1" dirty="0">
                <a:solidFill>
                  <a:srgbClr val="0B3C49"/>
                </a:solidFill>
              </a:rPr>
              <a:t>Epidemics and chronic disease over time</a:t>
            </a:r>
            <a:endParaRPr lang="en-US" sz="3600" dirty="0"/>
          </a:p>
        </p:txBody>
      </p:sp>
      <p:sp>
        <p:nvSpPr>
          <p:cNvPr id="4" name="card SIR / SEIR epidemic model"/>
          <p:cNvSpPr/>
          <p:nvPr/>
        </p:nvSpPr>
        <p:spPr>
          <a:xfrm>
            <a:off x="548640" y="1554480"/>
            <a:ext cx="5394960" cy="2240280"/>
          </a:xfrm>
          <a:prstGeom prst="rect">
            <a:avLst>
              <a:gd name="adj" fmla="val 3265"/>
            </a:avLst>
          </a:prstGeom>
          <a:solidFill>
            <a:srgbClr val="EEF4F5"/>
          </a:solidFill>
          <a:ln w="12700">
            <a:solidFill>
              <a:srgbClr val="EEF4F5"/>
            </a:solidFill>
            <a:prstDash val="solid"/>
          </a:ln>
        </p:spPr>
      </p:sp>
      <p:sp>
        <p:nvSpPr>
          <p:cNvPr id="5" name="card title SIR / SEIR epidemic model"/>
          <p:cNvSpPr txBox="1"/>
          <p:nvPr/>
        </p:nvSpPr>
        <p:spPr>
          <a:xfrm>
            <a:off x="74980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SIR / SEIR epidemic model</a:t>
            </a:r>
            <a:endParaRPr lang="en-US" sz="1600" dirty="0"/>
          </a:p>
        </p:txBody>
      </p:sp>
      <p:sp>
        <p:nvSpPr>
          <p:cNvPr id="6" name="equation SIR / SEIR epidemic model"/>
          <p:cNvSpPr txBox="1"/>
          <p:nvPr/>
        </p:nvSpPr>
        <p:spPr>
          <a:xfrm>
            <a:off x="749808" y="2103120"/>
            <a:ext cx="4992624" cy="822960"/>
          </a:xfrm>
          <a:prstGeom prst="rect">
            <a:avLst/>
          </a:prstGeom>
          <a:solidFill>
            <a:srgbClr val="FFFFFF"/>
          </a:solidFill>
          <a:ln/>
        </p:spPr>
        <p:txBody>
          <a:bodyPr wrap="square" lIns="762" tIns="762" rIns="762" bIns="762" rtlCol="0" anchor="ctr"/>
          <a:lstStyle/>
          <a:p>
            <a:pPr indent="0" marL="0">
              <a:buNone/>
            </a:pPr>
            <a:r>
              <a:rPr lang="en-US" sz="1600" dirty="0">
                <a:solidFill>
                  <a:srgbClr val="264653"/>
                </a:solidFill>
                <a:latin typeface="+mj-lt" pitchFamily="34" charset="0"/>
                <a:ea typeface="+mj-lt" pitchFamily="34" charset="-122"/>
                <a:cs typeface="+mj-lt" pitchFamily="34" charset="-120"/>
              </a:rPr>
              <a:t>dS/dt = −βSI/N,  dI/dt = βSI/N − γI</a:t>
            </a:r>
            <a:endParaRPr lang="en-US" sz="1600" dirty="0"/>
          </a:p>
          <a:p>
            <a:pPr indent="0" marL="0">
              <a:buNone/>
            </a:pPr>
            <a:r>
              <a:rPr lang="en-US" sz="1600" dirty="0">
                <a:solidFill>
                  <a:srgbClr val="264653"/>
                </a:solidFill>
                <a:latin typeface="+mj-lt" pitchFamily="34" charset="0"/>
                <a:ea typeface="+mj-lt" pitchFamily="34" charset="-122"/>
                <a:cs typeface="+mj-lt" pitchFamily="34" charset="-120"/>
              </a:rPr>
              <a:t>dR/dt = γI,   R₀ = β / γ</a:t>
            </a:r>
            <a:endParaRPr lang="en-US" sz="1600" dirty="0"/>
          </a:p>
        </p:txBody>
      </p:sp>
      <p:sp>
        <p:nvSpPr>
          <p:cNvPr id="7" name="desc SIR / SEIR epidemic model"/>
          <p:cNvSpPr txBox="1"/>
          <p:nvPr/>
        </p:nvSpPr>
        <p:spPr>
          <a:xfrm>
            <a:off x="749808" y="3017520"/>
            <a:ext cx="4992624" cy="667512"/>
          </a:xfrm>
          <a:prstGeom prst="rect">
            <a:avLst/>
          </a:prstGeom>
          <a:noFill/>
          <a:ln/>
        </p:spPr>
        <p:txBody>
          <a:bodyPr wrap="square" lIns="0" tIns="0" rIns="0" bIns="0" rtlCol="0" anchor="t"/>
          <a:lstStyle/>
          <a:p>
            <a:pPr indent="0" marL="0">
              <a:buNone/>
            </a:pPr>
            <a:r>
              <a:rPr lang="en-US" sz="1400" dirty="0">
                <a:solidFill>
                  <a:srgbClr val="1B2430"/>
                </a:solidFill>
              </a:rPr>
              <a:t>Compartments of susceptible, infected, recovered; SEIR adds an exposed stage. Vaccination and contact changes as controls.</a:t>
            </a:r>
            <a:endParaRPr lang="en-US" sz="1400" dirty="0"/>
          </a:p>
        </p:txBody>
      </p:sp>
      <p:sp>
        <p:nvSpPr>
          <p:cNvPr id="8" name="card Disease-progression model"/>
          <p:cNvSpPr/>
          <p:nvPr/>
        </p:nvSpPr>
        <p:spPr>
          <a:xfrm>
            <a:off x="6217920" y="1554480"/>
            <a:ext cx="5394960" cy="2240280"/>
          </a:xfrm>
          <a:prstGeom prst="rect">
            <a:avLst>
              <a:gd name="adj" fmla="val 3265"/>
            </a:avLst>
          </a:prstGeom>
          <a:solidFill>
            <a:srgbClr val="EEF4F5"/>
          </a:solidFill>
          <a:ln w="12700">
            <a:solidFill>
              <a:srgbClr val="EEF4F5"/>
            </a:solidFill>
            <a:prstDash val="solid"/>
          </a:ln>
        </p:spPr>
      </p:sp>
      <p:sp>
        <p:nvSpPr>
          <p:cNvPr id="9" name="card title Disease-progression model"/>
          <p:cNvSpPr txBox="1"/>
          <p:nvPr/>
        </p:nvSpPr>
        <p:spPr>
          <a:xfrm>
            <a:off x="641908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Disease-progression model</a:t>
            </a:r>
            <a:endParaRPr lang="en-US" sz="1600" dirty="0"/>
          </a:p>
        </p:txBody>
      </p:sp>
      <p:sp>
        <p:nvSpPr>
          <p:cNvPr id="10" name="equation Disease-progression model"/>
          <p:cNvSpPr txBox="1"/>
          <p:nvPr/>
        </p:nvSpPr>
        <p:spPr>
          <a:xfrm>
            <a:off x="6419088" y="2103120"/>
            <a:ext cx="4992624" cy="731520"/>
          </a:xfrm>
          <a:prstGeom prst="rect">
            <a:avLst/>
          </a:prstGeom>
          <a:solidFill>
            <a:srgbClr val="FFFFFF"/>
          </a:solidFill>
          <a:ln/>
        </p:spPr>
        <p:txBody>
          <a:bodyPr wrap="square" lIns="762" tIns="762" rIns="762" bIns="762" rtlCol="0" anchor="ctr"/>
          <a:lstStyle/>
          <a:p>
            <a:pPr indent="0" marL="0">
              <a:buNone/>
            </a:pPr>
            <a:r>
              <a:rPr lang="en-US" sz="1500" dirty="0">
                <a:solidFill>
                  <a:srgbClr val="264653"/>
                </a:solidFill>
                <a:latin typeface="+mj-lt" pitchFamily="34" charset="0"/>
                <a:ea typeface="+mj-lt" pitchFamily="34" charset="-122"/>
                <a:cs typeface="+mj-lt" pitchFamily="34" charset="-120"/>
              </a:rPr>
              <a:t>S(t) = S₀ + α t + E_drug(t)  (symptomatic or protective)</a:t>
            </a:r>
            <a:endParaRPr lang="en-US" sz="1500" dirty="0"/>
          </a:p>
        </p:txBody>
      </p:sp>
      <p:sp>
        <p:nvSpPr>
          <p:cNvPr id="11" name="desc Disease-progression model"/>
          <p:cNvSpPr txBox="1"/>
          <p:nvPr/>
        </p:nvSpPr>
        <p:spPr>
          <a:xfrm>
            <a:off x="6419088" y="2926080"/>
            <a:ext cx="4992624" cy="758952"/>
          </a:xfrm>
          <a:prstGeom prst="rect">
            <a:avLst/>
          </a:prstGeom>
          <a:noFill/>
          <a:ln/>
        </p:spPr>
        <p:txBody>
          <a:bodyPr wrap="square" lIns="0" tIns="0" rIns="0" bIns="0" rtlCol="0" anchor="t"/>
          <a:lstStyle/>
          <a:p>
            <a:pPr indent="0" marL="0">
              <a:buNone/>
            </a:pPr>
            <a:r>
              <a:rPr lang="en-US" sz="1400" dirty="0">
                <a:solidFill>
                  <a:srgbClr val="1B2430"/>
                </a:solidFill>
              </a:rPr>
              <a:t>Natural decline of a clinical score; drug either offsets the score or slows the slope α.</a:t>
            </a:r>
            <a:endParaRPr lang="en-US" sz="1400" dirty="0"/>
          </a:p>
        </p:txBody>
      </p:sp>
      <p:sp>
        <p:nvSpPr>
          <p:cNvPr id="12" name="card Multistate (illness–death)"/>
          <p:cNvSpPr/>
          <p:nvPr/>
        </p:nvSpPr>
        <p:spPr>
          <a:xfrm>
            <a:off x="548640" y="4023360"/>
            <a:ext cx="5394960" cy="2240280"/>
          </a:xfrm>
          <a:prstGeom prst="rect">
            <a:avLst>
              <a:gd name="adj" fmla="val 3265"/>
            </a:avLst>
          </a:prstGeom>
          <a:solidFill>
            <a:srgbClr val="EEF4F5"/>
          </a:solidFill>
          <a:ln w="12700">
            <a:solidFill>
              <a:srgbClr val="EEF4F5"/>
            </a:solidFill>
            <a:prstDash val="solid"/>
          </a:ln>
        </p:spPr>
      </p:sp>
      <p:sp>
        <p:nvSpPr>
          <p:cNvPr id="13" name="card title Multistate (illness–death)"/>
          <p:cNvSpPr txBox="1"/>
          <p:nvPr/>
        </p:nvSpPr>
        <p:spPr>
          <a:xfrm>
            <a:off x="749808" y="416052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Multistate (illness–death)</a:t>
            </a:r>
            <a:endParaRPr lang="en-US" sz="1600" dirty="0"/>
          </a:p>
        </p:txBody>
      </p:sp>
      <p:sp>
        <p:nvSpPr>
          <p:cNvPr id="14" name="equation Multistate (illness–death)"/>
          <p:cNvSpPr txBox="1"/>
          <p:nvPr/>
        </p:nvSpPr>
        <p:spPr>
          <a:xfrm>
            <a:off x="749808" y="4572000"/>
            <a:ext cx="4992624" cy="731520"/>
          </a:xfrm>
          <a:prstGeom prst="rect">
            <a:avLst/>
          </a:prstGeom>
          <a:solidFill>
            <a:srgbClr val="FFFFFF"/>
          </a:solidFill>
          <a:ln/>
        </p:spPr>
        <p:txBody>
          <a:bodyPr wrap="square" lIns="762" tIns="762" rIns="762" bIns="762" rtlCol="0" anchor="ctr"/>
          <a:lstStyle/>
          <a:p>
            <a:pPr indent="0" marL="0">
              <a:buNone/>
            </a:pPr>
            <a:r>
              <a:rPr lang="en-US" sz="1600" dirty="0">
                <a:solidFill>
                  <a:srgbClr val="264653"/>
                </a:solidFill>
                <a:latin typeface="+mj-lt" pitchFamily="34" charset="0"/>
                <a:ea typeface="+mj-lt" pitchFamily="34" charset="-122"/>
                <a:cs typeface="+mj-lt" pitchFamily="34" charset="-120"/>
              </a:rPr>
              <a:t>λₕⱼ(t | x) = λₕⱼ,₀(t) exp(βₕⱼᵀ x)</a:t>
            </a:r>
            <a:endParaRPr lang="en-US" sz="1600" dirty="0"/>
          </a:p>
        </p:txBody>
      </p:sp>
      <p:sp>
        <p:nvSpPr>
          <p:cNvPr id="15" name="desc Multistate (illness–death)"/>
          <p:cNvSpPr txBox="1"/>
          <p:nvPr/>
        </p:nvSpPr>
        <p:spPr>
          <a:xfrm>
            <a:off x="749808" y="5394960"/>
            <a:ext cx="4992624" cy="758952"/>
          </a:xfrm>
          <a:prstGeom prst="rect">
            <a:avLst/>
          </a:prstGeom>
          <a:noFill/>
          <a:ln/>
        </p:spPr>
        <p:txBody>
          <a:bodyPr wrap="square" lIns="0" tIns="0" rIns="0" bIns="0" rtlCol="0" anchor="t"/>
          <a:lstStyle/>
          <a:p>
            <a:pPr indent="0" marL="0">
              <a:buNone/>
            </a:pPr>
            <a:r>
              <a:rPr lang="en-US" sz="1400" dirty="0">
                <a:solidFill>
                  <a:srgbClr val="1B2430"/>
                </a:solidFill>
              </a:rPr>
              <a:t>Transition hazards between healthy, ill and dead states; generalises survival analysis.</a:t>
            </a:r>
            <a:endParaRPr lang="en-US" sz="1400" dirty="0"/>
          </a:p>
        </p:txBody>
      </p:sp>
      <p:sp>
        <p:nvSpPr>
          <p:cNvPr id="16" name="card Pharmacometric time to event"/>
          <p:cNvSpPr/>
          <p:nvPr/>
        </p:nvSpPr>
        <p:spPr>
          <a:xfrm>
            <a:off x="6217920" y="4023360"/>
            <a:ext cx="5394960" cy="2240280"/>
          </a:xfrm>
          <a:prstGeom prst="rect">
            <a:avLst>
              <a:gd name="adj" fmla="val 3265"/>
            </a:avLst>
          </a:prstGeom>
          <a:solidFill>
            <a:srgbClr val="EEF4F5"/>
          </a:solidFill>
          <a:ln w="12700">
            <a:solidFill>
              <a:srgbClr val="EEF4F5"/>
            </a:solidFill>
            <a:prstDash val="solid"/>
          </a:ln>
        </p:spPr>
      </p:sp>
      <p:sp>
        <p:nvSpPr>
          <p:cNvPr id="17" name="card title Pharmacometric time to event"/>
          <p:cNvSpPr txBox="1"/>
          <p:nvPr/>
        </p:nvSpPr>
        <p:spPr>
          <a:xfrm>
            <a:off x="6419088" y="416052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Pharmacometric time to event</a:t>
            </a:r>
            <a:endParaRPr lang="en-US" sz="1600" dirty="0"/>
          </a:p>
        </p:txBody>
      </p:sp>
      <p:sp>
        <p:nvSpPr>
          <p:cNvPr id="18" name="equation Pharmacometric time to event"/>
          <p:cNvSpPr txBox="1"/>
          <p:nvPr/>
        </p:nvSpPr>
        <p:spPr>
          <a:xfrm>
            <a:off x="6419088" y="4572000"/>
            <a:ext cx="4992624" cy="731520"/>
          </a:xfrm>
          <a:prstGeom prst="rect">
            <a:avLst/>
          </a:prstGeom>
          <a:solidFill>
            <a:srgbClr val="FFFFFF"/>
          </a:solidFill>
          <a:ln/>
        </p:spPr>
        <p:txBody>
          <a:bodyPr wrap="square" lIns="762" tIns="762" rIns="762" bIns="762" rtlCol="0" anchor="ctr"/>
          <a:lstStyle/>
          <a:p>
            <a:pPr indent="0" marL="0">
              <a:buNone/>
            </a:pPr>
            <a:r>
              <a:rPr lang="en-US" sz="1600" dirty="0">
                <a:solidFill>
                  <a:srgbClr val="264653"/>
                </a:solidFill>
                <a:latin typeface="+mj-lt" pitchFamily="34" charset="0"/>
                <a:ea typeface="+mj-lt" pitchFamily="34" charset="-122"/>
                <a:cs typeface="+mj-lt" pitchFamily="34" charset="-120"/>
              </a:rPr>
              <a:t>S(t) = exp(−∫₀ᵗ h₀(s) e^(β·E(s)) ds)</a:t>
            </a:r>
            <a:endParaRPr lang="en-US" sz="1600" dirty="0"/>
          </a:p>
        </p:txBody>
      </p:sp>
      <p:sp>
        <p:nvSpPr>
          <p:cNvPr id="19" name="desc Pharmacometric time to event"/>
          <p:cNvSpPr txBox="1"/>
          <p:nvPr/>
        </p:nvSpPr>
        <p:spPr>
          <a:xfrm>
            <a:off x="6419088" y="5394960"/>
            <a:ext cx="4992624" cy="758952"/>
          </a:xfrm>
          <a:prstGeom prst="rect">
            <a:avLst/>
          </a:prstGeom>
          <a:noFill/>
          <a:ln/>
        </p:spPr>
        <p:txBody>
          <a:bodyPr wrap="square" lIns="0" tIns="0" rIns="0" bIns="0" rtlCol="0" anchor="t"/>
          <a:lstStyle/>
          <a:p>
            <a:pPr indent="0" marL="0">
              <a:buNone/>
            </a:pPr>
            <a:r>
              <a:rPr lang="en-US" sz="1400" dirty="0">
                <a:solidFill>
                  <a:srgbClr val="1B2430"/>
                </a:solidFill>
              </a:rPr>
              <a:t>Event hazard driven by a model-predicted, time-varying exposure or biomarker E(s).</a:t>
            </a:r>
            <a:endParaRPr lang="en-US" sz="14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29184"/>
          </a:xfrm>
          <a:prstGeom prst="rect">
            <a:avLst/>
          </a:prstGeom>
          <a:noFill/>
          <a:ln/>
        </p:spPr>
        <p:txBody>
          <a:bodyPr wrap="square" lIns="0" tIns="0" rIns="0" bIns="0" rtlCol="0" anchor="t"/>
          <a:lstStyle/>
          <a:p>
            <a:pPr indent="0" marL="0">
              <a:buNone/>
            </a:pPr>
            <a:r>
              <a:rPr lang="en-US" sz="1300" b="1" dirty="0">
                <a:solidFill>
                  <a:srgbClr val="1F7A70"/>
                </a:solidFill>
              </a:rPr>
              <a:t>FAMILY 5 · ORGAN PHYSIOLOGY</a:t>
            </a:r>
            <a:endParaRPr lang="en-US" sz="1300" dirty="0"/>
          </a:p>
        </p:txBody>
      </p:sp>
      <p:sp>
        <p:nvSpPr>
          <p:cNvPr id="3" name="Text 0"/>
          <p:cNvSpPr/>
          <p:nvPr>
            <p:ph idx="101" type="title" hasCustomPrompt="1"/>
          </p:nvPr>
        </p:nvSpPr>
        <p:spPr>
          <a:xfrm>
            <a:off x="548640" y="603504"/>
            <a:ext cx="11064240" cy="731520"/>
          </a:xfrm>
          <a:prstGeom prst="rect">
            <a:avLst/>
          </a:prstGeom>
          <a:noFill/>
          <a:ln/>
        </p:spPr>
        <p:txBody>
          <a:bodyPr wrap="square" lIns="0" tIns="0" rIns="0" bIns="0" rtlCol="0" anchor="t"/>
          <a:lstStyle/>
          <a:p>
            <a:pPr algn="l" indent="0" marL="0">
              <a:buNone/>
            </a:pPr>
            <a:r>
              <a:rPr lang="en-US" sz="3600" b="1" dirty="0">
                <a:solidFill>
                  <a:srgbClr val="0B3C49"/>
                </a:solidFill>
              </a:rPr>
              <a:t>Classic physiological twins</a:t>
            </a:r>
            <a:endParaRPr lang="en-US" sz="3600" dirty="0"/>
          </a:p>
        </p:txBody>
      </p:sp>
      <p:sp>
        <p:nvSpPr>
          <p:cNvPr id="4" name="card Windkessel (circulation)"/>
          <p:cNvSpPr/>
          <p:nvPr/>
        </p:nvSpPr>
        <p:spPr>
          <a:xfrm>
            <a:off x="548640" y="1554480"/>
            <a:ext cx="5394960" cy="2240280"/>
          </a:xfrm>
          <a:prstGeom prst="rect">
            <a:avLst>
              <a:gd name="adj" fmla="val 3265"/>
            </a:avLst>
          </a:prstGeom>
          <a:solidFill>
            <a:srgbClr val="EEF4F5"/>
          </a:solidFill>
          <a:ln w="12700">
            <a:solidFill>
              <a:srgbClr val="EEF4F5"/>
            </a:solidFill>
            <a:prstDash val="solid"/>
          </a:ln>
        </p:spPr>
      </p:sp>
      <p:sp>
        <p:nvSpPr>
          <p:cNvPr id="5" name="card title Windkessel (circulation)"/>
          <p:cNvSpPr txBox="1"/>
          <p:nvPr/>
        </p:nvSpPr>
        <p:spPr>
          <a:xfrm>
            <a:off x="74980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Windkessel (circulation)</a:t>
            </a:r>
            <a:endParaRPr lang="en-US" sz="1600" dirty="0"/>
          </a:p>
        </p:txBody>
      </p:sp>
      <p:sp>
        <p:nvSpPr>
          <p:cNvPr id="6" name="equation Windkessel (circulation)"/>
          <p:cNvSpPr txBox="1"/>
          <p:nvPr/>
        </p:nvSpPr>
        <p:spPr>
          <a:xfrm>
            <a:off x="749808" y="2103120"/>
            <a:ext cx="4992624" cy="822960"/>
          </a:xfrm>
          <a:prstGeom prst="rect">
            <a:avLst/>
          </a:prstGeom>
          <a:solidFill>
            <a:srgbClr val="FFFFFF"/>
          </a:solidFill>
          <a:ln/>
        </p:spPr>
        <p:txBody>
          <a:bodyPr wrap="square" lIns="762" tIns="762" rIns="762" bIns="762" rtlCol="0" anchor="ctr"/>
          <a:lstStyle/>
          <a:p>
            <a:pPr indent="0" marL="0">
              <a:buNone/>
            </a:pPr>
            <a:r>
              <a:rPr lang="en-US" sz="1600" dirty="0">
                <a:solidFill>
                  <a:srgbClr val="264653"/>
                </a:solidFill>
                <a:latin typeface="+mj-lt" pitchFamily="34" charset="0"/>
                <a:ea typeface="+mj-lt" pitchFamily="34" charset="-122"/>
                <a:cs typeface="+mj-lt" pitchFamily="34" charset="-120"/>
              </a:rPr>
              <a:t>C dP/dt = Q(t) − P / R</a:t>
            </a:r>
            <a:endParaRPr lang="en-US" sz="1600" dirty="0"/>
          </a:p>
          <a:p>
            <a:pPr indent="0" marL="0">
              <a:buNone/>
            </a:pPr>
            <a:r>
              <a:rPr lang="en-US" sz="1600" dirty="0">
                <a:solidFill>
                  <a:srgbClr val="264653"/>
                </a:solidFill>
                <a:latin typeface="+mj-lt" pitchFamily="34" charset="0"/>
                <a:ea typeface="+mj-lt" pitchFamily="34" charset="-122"/>
                <a:cs typeface="+mj-lt" pitchFamily="34" charset="-120"/>
              </a:rPr>
              <a:t>3-element: adds characteristic impedance Z</a:t>
            </a:r>
            <a:endParaRPr lang="en-US" sz="1600" dirty="0"/>
          </a:p>
        </p:txBody>
      </p:sp>
      <p:sp>
        <p:nvSpPr>
          <p:cNvPr id="7" name="desc Windkessel (circulation)"/>
          <p:cNvSpPr txBox="1"/>
          <p:nvPr/>
        </p:nvSpPr>
        <p:spPr>
          <a:xfrm>
            <a:off x="749808" y="3017520"/>
            <a:ext cx="4992624" cy="667512"/>
          </a:xfrm>
          <a:prstGeom prst="rect">
            <a:avLst/>
          </a:prstGeom>
          <a:noFill/>
          <a:ln/>
        </p:spPr>
        <p:txBody>
          <a:bodyPr wrap="square" lIns="0" tIns="0" rIns="0" bIns="0" rtlCol="0" anchor="t"/>
          <a:lstStyle/>
          <a:p>
            <a:pPr indent="0" marL="0">
              <a:buNone/>
            </a:pPr>
            <a:r>
              <a:rPr lang="en-US" sz="1400" dirty="0">
                <a:solidFill>
                  <a:srgbClr val="1B2430"/>
                </a:solidFill>
              </a:rPr>
              <a:t>Arterial pressure P from inflow Q, compliance C and resistance R. Lumped 0-D cardiovascular twin.</a:t>
            </a:r>
            <a:endParaRPr lang="en-US" sz="1400" dirty="0"/>
          </a:p>
        </p:txBody>
      </p:sp>
      <p:sp>
        <p:nvSpPr>
          <p:cNvPr id="8" name="card Cell excitation (Hodgkin–Huxley)"/>
          <p:cNvSpPr/>
          <p:nvPr/>
        </p:nvSpPr>
        <p:spPr>
          <a:xfrm>
            <a:off x="6217920" y="1554480"/>
            <a:ext cx="5394960" cy="2240280"/>
          </a:xfrm>
          <a:prstGeom prst="rect">
            <a:avLst>
              <a:gd name="adj" fmla="val 3265"/>
            </a:avLst>
          </a:prstGeom>
          <a:solidFill>
            <a:srgbClr val="EEF4F5"/>
          </a:solidFill>
          <a:ln w="12700">
            <a:solidFill>
              <a:srgbClr val="EEF4F5"/>
            </a:solidFill>
            <a:prstDash val="solid"/>
          </a:ln>
        </p:spPr>
      </p:sp>
      <p:sp>
        <p:nvSpPr>
          <p:cNvPr id="9" name="card title Cell excitation (Hodgkin–Huxley)"/>
          <p:cNvSpPr txBox="1"/>
          <p:nvPr/>
        </p:nvSpPr>
        <p:spPr>
          <a:xfrm>
            <a:off x="641908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Cell excitation (Hodgkin–Huxley)</a:t>
            </a:r>
            <a:endParaRPr lang="en-US" sz="1600" dirty="0"/>
          </a:p>
        </p:txBody>
      </p:sp>
      <p:sp>
        <p:nvSpPr>
          <p:cNvPr id="10" name="equation Cell excitation (Hodgkin–Huxley)"/>
          <p:cNvSpPr txBox="1"/>
          <p:nvPr/>
        </p:nvSpPr>
        <p:spPr>
          <a:xfrm>
            <a:off x="6419088" y="2103120"/>
            <a:ext cx="4992624" cy="822960"/>
          </a:xfrm>
          <a:prstGeom prst="rect">
            <a:avLst/>
          </a:prstGeom>
          <a:solidFill>
            <a:srgbClr val="FFFFFF"/>
          </a:solidFill>
          <a:ln/>
        </p:spPr>
        <p:txBody>
          <a:bodyPr wrap="square" lIns="762" tIns="762" rIns="762" bIns="762" rtlCol="0" anchor="ctr"/>
          <a:lstStyle/>
          <a:p>
            <a:pPr indent="0" marL="0">
              <a:buNone/>
            </a:pPr>
            <a:r>
              <a:rPr lang="en-US" sz="1600" dirty="0">
                <a:solidFill>
                  <a:srgbClr val="264653"/>
                </a:solidFill>
                <a:latin typeface="+mj-lt" pitchFamily="34" charset="0"/>
                <a:ea typeface="+mj-lt" pitchFamily="34" charset="-122"/>
                <a:cs typeface="+mj-lt" pitchFamily="34" charset="-120"/>
              </a:rPr>
              <a:t>C_m dV/dt = −Σ gᵢ(V, t)(V − Eᵢ) + I</a:t>
            </a:r>
            <a:endParaRPr lang="en-US" sz="1600" dirty="0"/>
          </a:p>
          <a:p>
            <a:pPr indent="0" marL="0">
              <a:buNone/>
            </a:pPr>
            <a:r>
              <a:rPr lang="en-US" sz="1600" dirty="0">
                <a:solidFill>
                  <a:srgbClr val="264653"/>
                </a:solidFill>
                <a:latin typeface="+mj-lt" pitchFamily="34" charset="0"/>
                <a:ea typeface="+mj-lt" pitchFamily="34" charset="-122"/>
                <a:cs typeface="+mj-lt" pitchFamily="34" charset="-120"/>
              </a:rPr>
              <a:t>FitzHugh–Nagumo: 2-variable reduction</a:t>
            </a:r>
            <a:endParaRPr lang="en-US" sz="1600" dirty="0"/>
          </a:p>
        </p:txBody>
      </p:sp>
      <p:sp>
        <p:nvSpPr>
          <p:cNvPr id="11" name="desc Cell excitation (Hodgkin–Huxley)"/>
          <p:cNvSpPr txBox="1"/>
          <p:nvPr/>
        </p:nvSpPr>
        <p:spPr>
          <a:xfrm>
            <a:off x="6419088" y="3017520"/>
            <a:ext cx="4992624" cy="667512"/>
          </a:xfrm>
          <a:prstGeom prst="rect">
            <a:avLst/>
          </a:prstGeom>
          <a:noFill/>
          <a:ln/>
        </p:spPr>
        <p:txBody>
          <a:bodyPr wrap="square" lIns="0" tIns="0" rIns="0" bIns="0" rtlCol="0" anchor="t"/>
          <a:lstStyle/>
          <a:p>
            <a:pPr indent="0" marL="0">
              <a:buNone/>
            </a:pPr>
            <a:r>
              <a:rPr lang="en-US" sz="1400" dirty="0">
                <a:solidFill>
                  <a:srgbClr val="1B2430"/>
                </a:solidFill>
              </a:rPr>
              <a:t>Action potentials from ion-channel conductances; basis of cardiac and neural electrophysiology twins.</a:t>
            </a:r>
            <a:endParaRPr lang="en-US" sz="1400" dirty="0"/>
          </a:p>
        </p:txBody>
      </p:sp>
      <p:sp>
        <p:nvSpPr>
          <p:cNvPr id="12" name="card Glucose–insulin (Bergman minimal)"/>
          <p:cNvSpPr/>
          <p:nvPr/>
        </p:nvSpPr>
        <p:spPr>
          <a:xfrm>
            <a:off x="548640" y="4023360"/>
            <a:ext cx="5394960" cy="2240280"/>
          </a:xfrm>
          <a:prstGeom prst="rect">
            <a:avLst>
              <a:gd name="adj" fmla="val 3265"/>
            </a:avLst>
          </a:prstGeom>
          <a:solidFill>
            <a:srgbClr val="EEF4F5"/>
          </a:solidFill>
          <a:ln w="12700">
            <a:solidFill>
              <a:srgbClr val="EEF4F5"/>
            </a:solidFill>
            <a:prstDash val="solid"/>
          </a:ln>
        </p:spPr>
      </p:sp>
      <p:sp>
        <p:nvSpPr>
          <p:cNvPr id="13" name="card title Glucose–insulin (Bergman minimal)"/>
          <p:cNvSpPr txBox="1"/>
          <p:nvPr/>
        </p:nvSpPr>
        <p:spPr>
          <a:xfrm>
            <a:off x="749808" y="416052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Glucose–insulin (Bergman minimal)</a:t>
            </a:r>
            <a:endParaRPr lang="en-US" sz="1600" dirty="0"/>
          </a:p>
        </p:txBody>
      </p:sp>
      <p:sp>
        <p:nvSpPr>
          <p:cNvPr id="14" name="equation Glucose–insulin (Bergman minimal)"/>
          <p:cNvSpPr txBox="1"/>
          <p:nvPr/>
        </p:nvSpPr>
        <p:spPr>
          <a:xfrm>
            <a:off x="749808" y="4572000"/>
            <a:ext cx="4992624" cy="822960"/>
          </a:xfrm>
          <a:prstGeom prst="rect">
            <a:avLst/>
          </a:prstGeom>
          <a:solidFill>
            <a:srgbClr val="FFFFFF"/>
          </a:solidFill>
          <a:ln/>
        </p:spPr>
        <p:txBody>
          <a:bodyPr wrap="square" lIns="762" tIns="762" rIns="762" bIns="762" rtlCol="0" anchor="ctr"/>
          <a:lstStyle/>
          <a:p>
            <a:pPr indent="0" marL="0">
              <a:buNone/>
            </a:pPr>
            <a:r>
              <a:rPr lang="en-US" sz="1600" dirty="0">
                <a:solidFill>
                  <a:srgbClr val="264653"/>
                </a:solidFill>
                <a:latin typeface="+mj-lt" pitchFamily="34" charset="0"/>
                <a:ea typeface="+mj-lt" pitchFamily="34" charset="-122"/>
                <a:cs typeface="+mj-lt" pitchFamily="34" charset="-120"/>
              </a:rPr>
              <a:t>dG/dt = −(p₁ + X) G + p₁ G_b</a:t>
            </a:r>
            <a:endParaRPr lang="en-US" sz="1600" dirty="0"/>
          </a:p>
          <a:p>
            <a:pPr indent="0" marL="0">
              <a:buNone/>
            </a:pPr>
            <a:r>
              <a:rPr lang="en-US" sz="1600" dirty="0">
                <a:solidFill>
                  <a:srgbClr val="264653"/>
                </a:solidFill>
                <a:latin typeface="+mj-lt" pitchFamily="34" charset="0"/>
                <a:ea typeface="+mj-lt" pitchFamily="34" charset="-122"/>
                <a:cs typeface="+mj-lt" pitchFamily="34" charset="-120"/>
              </a:rPr>
              <a:t>dX/dt = −p₂ X + p₃ (I − I_b)</a:t>
            </a:r>
            <a:endParaRPr lang="en-US" sz="1600" dirty="0"/>
          </a:p>
        </p:txBody>
      </p:sp>
      <p:sp>
        <p:nvSpPr>
          <p:cNvPr id="15" name="desc Glucose–insulin (Bergman minimal)"/>
          <p:cNvSpPr txBox="1"/>
          <p:nvPr/>
        </p:nvSpPr>
        <p:spPr>
          <a:xfrm>
            <a:off x="749808" y="5486400"/>
            <a:ext cx="4992624" cy="667512"/>
          </a:xfrm>
          <a:prstGeom prst="rect">
            <a:avLst/>
          </a:prstGeom>
          <a:noFill/>
          <a:ln/>
        </p:spPr>
        <p:txBody>
          <a:bodyPr wrap="square" lIns="0" tIns="0" rIns="0" bIns="0" rtlCol="0" anchor="t"/>
          <a:lstStyle/>
          <a:p>
            <a:pPr indent="0" marL="0">
              <a:buNone/>
            </a:pPr>
            <a:r>
              <a:rPr lang="en-US" sz="1400" dirty="0">
                <a:solidFill>
                  <a:srgbClr val="1B2430"/>
                </a:solidFill>
              </a:rPr>
              <a:t>Insulin sensitivity S_I = p₃/p₂ from a glucose tolerance test; artificial-pancreas twins.</a:t>
            </a:r>
            <a:endParaRPr lang="en-US" sz="1400" dirty="0"/>
          </a:p>
        </p:txBody>
      </p:sp>
      <p:sp>
        <p:nvSpPr>
          <p:cNvPr id="16" name="card Respiratory mechanics"/>
          <p:cNvSpPr/>
          <p:nvPr/>
        </p:nvSpPr>
        <p:spPr>
          <a:xfrm>
            <a:off x="6217920" y="4023360"/>
            <a:ext cx="5394960" cy="2240280"/>
          </a:xfrm>
          <a:prstGeom prst="rect">
            <a:avLst>
              <a:gd name="adj" fmla="val 3265"/>
            </a:avLst>
          </a:prstGeom>
          <a:solidFill>
            <a:srgbClr val="EEF4F5"/>
          </a:solidFill>
          <a:ln w="12700">
            <a:solidFill>
              <a:srgbClr val="EEF4F5"/>
            </a:solidFill>
            <a:prstDash val="solid"/>
          </a:ln>
        </p:spPr>
      </p:sp>
      <p:sp>
        <p:nvSpPr>
          <p:cNvPr id="17" name="card title Respiratory mechanics"/>
          <p:cNvSpPr txBox="1"/>
          <p:nvPr/>
        </p:nvSpPr>
        <p:spPr>
          <a:xfrm>
            <a:off x="6419088" y="416052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Respiratory mechanics</a:t>
            </a:r>
            <a:endParaRPr lang="en-US" sz="1600" dirty="0"/>
          </a:p>
        </p:txBody>
      </p:sp>
      <p:sp>
        <p:nvSpPr>
          <p:cNvPr id="18" name="equation Respiratory mechanics"/>
          <p:cNvSpPr txBox="1"/>
          <p:nvPr/>
        </p:nvSpPr>
        <p:spPr>
          <a:xfrm>
            <a:off x="6419088" y="4572000"/>
            <a:ext cx="4992624" cy="731520"/>
          </a:xfrm>
          <a:prstGeom prst="rect">
            <a:avLst/>
          </a:prstGeom>
          <a:solidFill>
            <a:srgbClr val="FFFFFF"/>
          </a:solidFill>
          <a:ln/>
        </p:spPr>
        <p:txBody>
          <a:bodyPr wrap="square" lIns="762" tIns="762" rIns="762" bIns="762" rtlCol="0" anchor="ctr"/>
          <a:lstStyle/>
          <a:p>
            <a:pPr indent="0" marL="0">
              <a:buNone/>
            </a:pPr>
            <a:r>
              <a:rPr lang="en-US" sz="1600" dirty="0">
                <a:solidFill>
                  <a:srgbClr val="264653"/>
                </a:solidFill>
                <a:latin typeface="+mj-lt" pitchFamily="34" charset="0"/>
                <a:ea typeface="+mj-lt" pitchFamily="34" charset="-122"/>
                <a:cs typeface="+mj-lt" pitchFamily="34" charset="-120"/>
              </a:rPr>
              <a:t>P_aw(t) = R · Q(t) + V(t) / C + PEEP</a:t>
            </a:r>
            <a:endParaRPr lang="en-US" sz="1600" dirty="0"/>
          </a:p>
        </p:txBody>
      </p:sp>
      <p:sp>
        <p:nvSpPr>
          <p:cNvPr id="19" name="desc Respiratory mechanics"/>
          <p:cNvSpPr txBox="1"/>
          <p:nvPr/>
        </p:nvSpPr>
        <p:spPr>
          <a:xfrm>
            <a:off x="6419088" y="5394960"/>
            <a:ext cx="4992624" cy="758952"/>
          </a:xfrm>
          <a:prstGeom prst="rect">
            <a:avLst/>
          </a:prstGeom>
          <a:noFill/>
          <a:ln/>
        </p:spPr>
        <p:txBody>
          <a:bodyPr wrap="square" lIns="0" tIns="0" rIns="0" bIns="0" rtlCol="0" anchor="t"/>
          <a:lstStyle/>
          <a:p>
            <a:pPr indent="0" marL="0">
              <a:buNone/>
            </a:pPr>
            <a:r>
              <a:rPr lang="en-US" sz="1400" dirty="0">
                <a:solidFill>
                  <a:srgbClr val="1B2430"/>
                </a:solidFill>
              </a:rPr>
              <a:t>Airway pressure from flow, volume, resistance R and compliance C; ventilator-setting twins.</a:t>
            </a:r>
            <a:endParaRPr lang="en-US" sz="14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29184"/>
          </a:xfrm>
          <a:prstGeom prst="rect">
            <a:avLst/>
          </a:prstGeom>
          <a:noFill/>
          <a:ln/>
        </p:spPr>
        <p:txBody>
          <a:bodyPr wrap="square" lIns="0" tIns="0" rIns="0" bIns="0" rtlCol="0" anchor="t"/>
          <a:lstStyle/>
          <a:p>
            <a:pPr indent="0" marL="0">
              <a:buNone/>
            </a:pPr>
            <a:r>
              <a:rPr lang="en-US" sz="1300" b="1" dirty="0">
                <a:solidFill>
                  <a:srgbClr val="1F7A70"/>
                </a:solidFill>
              </a:rPr>
              <a:t>FAMILY 6 · CONTINUUM PHYSICS</a:t>
            </a:r>
            <a:endParaRPr lang="en-US" sz="1300" dirty="0"/>
          </a:p>
        </p:txBody>
      </p:sp>
      <p:sp>
        <p:nvSpPr>
          <p:cNvPr id="3" name="Text 0"/>
          <p:cNvSpPr/>
          <p:nvPr>
            <p:ph idx="101" type="title" hasCustomPrompt="1"/>
          </p:nvPr>
        </p:nvSpPr>
        <p:spPr>
          <a:xfrm>
            <a:off x="548640" y="603504"/>
            <a:ext cx="11064240" cy="731520"/>
          </a:xfrm>
          <a:prstGeom prst="rect">
            <a:avLst/>
          </a:prstGeom>
          <a:noFill/>
          <a:ln/>
        </p:spPr>
        <p:txBody>
          <a:bodyPr wrap="square" lIns="0" tIns="0" rIns="0" bIns="0" rtlCol="0" anchor="t"/>
          <a:lstStyle/>
          <a:p>
            <a:pPr algn="l" indent="0" marL="0">
              <a:buNone/>
            </a:pPr>
            <a:r>
              <a:rPr lang="en-US" sz="3600" b="1" dirty="0">
                <a:solidFill>
                  <a:srgbClr val="0B3C49"/>
                </a:solidFill>
              </a:rPr>
              <a:t>Space-resolved mechanics, flow and transport</a:t>
            </a:r>
            <a:endParaRPr lang="en-US" sz="3600" dirty="0"/>
          </a:p>
        </p:txBody>
      </p:sp>
      <p:sp>
        <p:nvSpPr>
          <p:cNvPr id="4" name="card Solid mechanics (FEM)"/>
          <p:cNvSpPr/>
          <p:nvPr/>
        </p:nvSpPr>
        <p:spPr>
          <a:xfrm>
            <a:off x="548640" y="1554480"/>
            <a:ext cx="5394960" cy="2240280"/>
          </a:xfrm>
          <a:prstGeom prst="rect">
            <a:avLst>
              <a:gd name="adj" fmla="val 3265"/>
            </a:avLst>
          </a:prstGeom>
          <a:solidFill>
            <a:srgbClr val="EEF4F5"/>
          </a:solidFill>
          <a:ln w="12700">
            <a:solidFill>
              <a:srgbClr val="EEF4F5"/>
            </a:solidFill>
            <a:prstDash val="solid"/>
          </a:ln>
        </p:spPr>
      </p:sp>
      <p:sp>
        <p:nvSpPr>
          <p:cNvPr id="5" name="card title Solid mechanics (FEM)"/>
          <p:cNvSpPr txBox="1"/>
          <p:nvPr/>
        </p:nvSpPr>
        <p:spPr>
          <a:xfrm>
            <a:off x="74980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Solid mechanics (FEM)</a:t>
            </a:r>
            <a:endParaRPr lang="en-US" sz="1600" dirty="0"/>
          </a:p>
        </p:txBody>
      </p:sp>
      <p:sp>
        <p:nvSpPr>
          <p:cNvPr id="6" name="equation Solid mechanics (FEM)"/>
          <p:cNvSpPr txBox="1"/>
          <p:nvPr/>
        </p:nvSpPr>
        <p:spPr>
          <a:xfrm>
            <a:off x="749808" y="2103120"/>
            <a:ext cx="4992624" cy="822960"/>
          </a:xfrm>
          <a:prstGeom prst="rect">
            <a:avLst/>
          </a:prstGeom>
          <a:solidFill>
            <a:srgbClr val="FFFFFF"/>
          </a:solidFill>
          <a:ln/>
        </p:spPr>
        <p:txBody>
          <a:bodyPr wrap="square" lIns="762" tIns="762" rIns="762" bIns="762" rtlCol="0" anchor="ctr"/>
          <a:lstStyle/>
          <a:p>
            <a:pPr indent="0" marL="0">
              <a:buNone/>
            </a:pPr>
            <a:r>
              <a:rPr lang="en-US" sz="1600" dirty="0">
                <a:solidFill>
                  <a:srgbClr val="264653"/>
                </a:solidFill>
                <a:latin typeface="+mj-lt" pitchFamily="34" charset="0"/>
                <a:ea typeface="+mj-lt" pitchFamily="34" charset="-122"/>
                <a:cs typeface="+mj-lt" pitchFamily="34" charset="-120"/>
              </a:rPr>
              <a:t>∇·σ + f = 0,   σ = ∂W/∂ε</a:t>
            </a:r>
            <a:endParaRPr lang="en-US" sz="1600" dirty="0"/>
          </a:p>
          <a:p>
            <a:pPr indent="0" marL="0">
              <a:buNone/>
            </a:pPr>
            <a:r>
              <a:rPr lang="en-US" sz="1600" dirty="0">
                <a:solidFill>
                  <a:srgbClr val="264653"/>
                </a:solidFill>
                <a:latin typeface="+mj-lt" pitchFamily="34" charset="0"/>
                <a:ea typeface="+mj-lt" pitchFamily="34" charset="-122"/>
                <a:cs typeface="+mj-lt" pitchFamily="34" charset="-120"/>
              </a:rPr>
              <a:t>Neo-Hookean: W = μ/2 (I₁ − 3);  FEM: K u = F</a:t>
            </a:r>
            <a:endParaRPr lang="en-US" sz="1600" dirty="0"/>
          </a:p>
        </p:txBody>
      </p:sp>
      <p:sp>
        <p:nvSpPr>
          <p:cNvPr id="7" name="desc Solid mechanics (FEM)"/>
          <p:cNvSpPr txBox="1"/>
          <p:nvPr/>
        </p:nvSpPr>
        <p:spPr>
          <a:xfrm>
            <a:off x="749808" y="3017520"/>
            <a:ext cx="4992624" cy="667512"/>
          </a:xfrm>
          <a:prstGeom prst="rect">
            <a:avLst/>
          </a:prstGeom>
          <a:noFill/>
          <a:ln/>
        </p:spPr>
        <p:txBody>
          <a:bodyPr wrap="square" lIns="0" tIns="0" rIns="0" bIns="0" rtlCol="0" anchor="t"/>
          <a:lstStyle/>
          <a:p>
            <a:pPr indent="0" marL="0">
              <a:buNone/>
            </a:pPr>
            <a:r>
              <a:rPr lang="en-US" sz="1400" dirty="0">
                <a:solidFill>
                  <a:srgbClr val="1B2430"/>
                </a:solidFill>
              </a:rPr>
              <a:t>Tissue, bone, implants and devices. Hyperelastic laws for soft tissue.</a:t>
            </a:r>
            <a:endParaRPr lang="en-US" sz="1400" dirty="0"/>
          </a:p>
        </p:txBody>
      </p:sp>
      <p:sp>
        <p:nvSpPr>
          <p:cNvPr id="8" name="card Fluid flow (Navier–Stokes)"/>
          <p:cNvSpPr/>
          <p:nvPr/>
        </p:nvSpPr>
        <p:spPr>
          <a:xfrm>
            <a:off x="6217920" y="1554480"/>
            <a:ext cx="5394960" cy="2240280"/>
          </a:xfrm>
          <a:prstGeom prst="rect">
            <a:avLst>
              <a:gd name="adj" fmla="val 3265"/>
            </a:avLst>
          </a:prstGeom>
          <a:solidFill>
            <a:srgbClr val="EEF4F5"/>
          </a:solidFill>
          <a:ln w="12700">
            <a:solidFill>
              <a:srgbClr val="EEF4F5"/>
            </a:solidFill>
            <a:prstDash val="solid"/>
          </a:ln>
        </p:spPr>
      </p:sp>
      <p:sp>
        <p:nvSpPr>
          <p:cNvPr id="9" name="card title Fluid flow (Navier–Stokes)"/>
          <p:cNvSpPr txBox="1"/>
          <p:nvPr/>
        </p:nvSpPr>
        <p:spPr>
          <a:xfrm>
            <a:off x="641908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Fluid flow (Navier–Stokes)</a:t>
            </a:r>
            <a:endParaRPr lang="en-US" sz="1600" dirty="0"/>
          </a:p>
        </p:txBody>
      </p:sp>
      <p:sp>
        <p:nvSpPr>
          <p:cNvPr id="10" name="equation Fluid flow (Navier–Stokes)"/>
          <p:cNvSpPr txBox="1"/>
          <p:nvPr/>
        </p:nvSpPr>
        <p:spPr>
          <a:xfrm>
            <a:off x="6419088" y="2103120"/>
            <a:ext cx="4992624" cy="822960"/>
          </a:xfrm>
          <a:prstGeom prst="rect">
            <a:avLst/>
          </a:prstGeom>
          <a:solidFill>
            <a:srgbClr val="FFFFFF"/>
          </a:solidFill>
          <a:ln/>
        </p:spPr>
        <p:txBody>
          <a:bodyPr wrap="square" lIns="762" tIns="762" rIns="762" bIns="762" rtlCol="0" anchor="ctr"/>
          <a:lstStyle/>
          <a:p>
            <a:pPr indent="0" marL="0">
              <a:buNone/>
            </a:pPr>
            <a:r>
              <a:rPr lang="en-US" sz="1500" dirty="0">
                <a:solidFill>
                  <a:srgbClr val="264653"/>
                </a:solidFill>
                <a:latin typeface="+mj-lt" pitchFamily="34" charset="0"/>
                <a:ea typeface="+mj-lt" pitchFamily="34" charset="-122"/>
                <a:cs typeface="+mj-lt" pitchFamily="34" charset="-120"/>
              </a:rPr>
              <a:t>ρ(∂v/∂t + v·∇v) = −∇p + μ∇²v,  ∇·v = 0</a:t>
            </a:r>
            <a:endParaRPr lang="en-US" sz="1500" dirty="0"/>
          </a:p>
          <a:p>
            <a:pPr indent="0" marL="0">
              <a:buNone/>
            </a:pPr>
            <a:r>
              <a:rPr lang="en-US" sz="1500" dirty="0">
                <a:solidFill>
                  <a:srgbClr val="264653"/>
                </a:solidFill>
                <a:latin typeface="+mj-lt" pitchFamily="34" charset="0"/>
                <a:ea typeface="+mj-lt" pitchFamily="34" charset="-122"/>
                <a:cs typeface="+mj-lt" pitchFamily="34" charset="-120"/>
              </a:rPr>
              <a:t>porous tissue (Darcy): v = −(k/μ) ∇p</a:t>
            </a:r>
            <a:endParaRPr lang="en-US" sz="1500" dirty="0"/>
          </a:p>
        </p:txBody>
      </p:sp>
      <p:sp>
        <p:nvSpPr>
          <p:cNvPr id="11" name="desc Fluid flow (Navier–Stokes)"/>
          <p:cNvSpPr txBox="1"/>
          <p:nvPr/>
        </p:nvSpPr>
        <p:spPr>
          <a:xfrm>
            <a:off x="6419088" y="3017520"/>
            <a:ext cx="4992624" cy="667512"/>
          </a:xfrm>
          <a:prstGeom prst="rect">
            <a:avLst/>
          </a:prstGeom>
          <a:noFill/>
          <a:ln/>
        </p:spPr>
        <p:txBody>
          <a:bodyPr wrap="square" lIns="0" tIns="0" rIns="0" bIns="0" rtlCol="0" anchor="t"/>
          <a:lstStyle/>
          <a:p>
            <a:pPr indent="0" marL="0">
              <a:buNone/>
            </a:pPr>
            <a:r>
              <a:rPr lang="en-US" sz="1400" dirty="0">
                <a:solidFill>
                  <a:srgbClr val="1B2430"/>
                </a:solidFill>
              </a:rPr>
              <a:t>Blood flow, airflow, CSF; fluid–structure interaction couples it to mechanics.</a:t>
            </a:r>
            <a:endParaRPr lang="en-US" sz="1400" dirty="0"/>
          </a:p>
        </p:txBody>
      </p:sp>
      <p:sp>
        <p:nvSpPr>
          <p:cNvPr id="12" name="card Advection–diffusion–reaction"/>
          <p:cNvSpPr/>
          <p:nvPr/>
        </p:nvSpPr>
        <p:spPr>
          <a:xfrm>
            <a:off x="548640" y="4023360"/>
            <a:ext cx="5394960" cy="2240280"/>
          </a:xfrm>
          <a:prstGeom prst="rect">
            <a:avLst>
              <a:gd name="adj" fmla="val 3265"/>
            </a:avLst>
          </a:prstGeom>
          <a:solidFill>
            <a:srgbClr val="EEF4F5"/>
          </a:solidFill>
          <a:ln w="12700">
            <a:solidFill>
              <a:srgbClr val="EEF4F5"/>
            </a:solidFill>
            <a:prstDash val="solid"/>
          </a:ln>
        </p:spPr>
      </p:sp>
      <p:sp>
        <p:nvSpPr>
          <p:cNvPr id="13" name="card title Advection–diffusion–reaction"/>
          <p:cNvSpPr txBox="1"/>
          <p:nvPr/>
        </p:nvSpPr>
        <p:spPr>
          <a:xfrm>
            <a:off x="749808" y="416052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Advection–diffusion–reaction</a:t>
            </a:r>
            <a:endParaRPr lang="en-US" sz="1600" dirty="0"/>
          </a:p>
        </p:txBody>
      </p:sp>
      <p:sp>
        <p:nvSpPr>
          <p:cNvPr id="14" name="equation Advection–diffusion–reaction"/>
          <p:cNvSpPr txBox="1"/>
          <p:nvPr/>
        </p:nvSpPr>
        <p:spPr>
          <a:xfrm>
            <a:off x="749808" y="4572000"/>
            <a:ext cx="4992624" cy="731520"/>
          </a:xfrm>
          <a:prstGeom prst="rect">
            <a:avLst/>
          </a:prstGeom>
          <a:solidFill>
            <a:srgbClr val="FFFFFF"/>
          </a:solidFill>
          <a:ln/>
        </p:spPr>
        <p:txBody>
          <a:bodyPr wrap="square" lIns="762" tIns="762" rIns="762" bIns="762" rtlCol="0" anchor="ctr"/>
          <a:lstStyle/>
          <a:p>
            <a:pPr indent="0" marL="0">
              <a:buNone/>
            </a:pPr>
            <a:r>
              <a:rPr lang="en-US" sz="1600" dirty="0">
                <a:solidFill>
                  <a:srgbClr val="264653"/>
                </a:solidFill>
                <a:latin typeface="+mj-lt" pitchFamily="34" charset="0"/>
                <a:ea typeface="+mj-lt" pitchFamily="34" charset="-122"/>
                <a:cs typeface="+mj-lt" pitchFamily="34" charset="-120"/>
              </a:rPr>
              <a:t>∂c/∂t + v·∇c = ∇·(D∇c) + R(c)</a:t>
            </a:r>
            <a:endParaRPr lang="en-US" sz="1600" dirty="0"/>
          </a:p>
        </p:txBody>
      </p:sp>
      <p:sp>
        <p:nvSpPr>
          <p:cNvPr id="15" name="desc Advection–diffusion–reaction"/>
          <p:cNvSpPr txBox="1"/>
          <p:nvPr/>
        </p:nvSpPr>
        <p:spPr>
          <a:xfrm>
            <a:off x="749808" y="5394960"/>
            <a:ext cx="4992624" cy="758952"/>
          </a:xfrm>
          <a:prstGeom prst="rect">
            <a:avLst/>
          </a:prstGeom>
          <a:noFill/>
          <a:ln/>
        </p:spPr>
        <p:txBody>
          <a:bodyPr wrap="square" lIns="0" tIns="0" rIns="0" bIns="0" rtlCol="0" anchor="t"/>
          <a:lstStyle/>
          <a:p>
            <a:pPr indent="0" marL="0">
              <a:buNone/>
            </a:pPr>
            <a:r>
              <a:rPr lang="en-US" sz="1400" dirty="0">
                <a:solidFill>
                  <a:srgbClr val="1B2430"/>
                </a:solidFill>
              </a:rPr>
              <a:t>Drug, oxygen or nutrient transport in tissue; reaction–diffusion for invading cells (Fisher–KPP).</a:t>
            </a:r>
            <a:endParaRPr lang="en-US" sz="1400" dirty="0"/>
          </a:p>
        </p:txBody>
      </p:sp>
      <p:sp>
        <p:nvSpPr>
          <p:cNvPr id="16" name="card Heat transfer (Pennes bioheat)"/>
          <p:cNvSpPr/>
          <p:nvPr/>
        </p:nvSpPr>
        <p:spPr>
          <a:xfrm>
            <a:off x="6217920" y="4023360"/>
            <a:ext cx="5394960" cy="2240280"/>
          </a:xfrm>
          <a:prstGeom prst="rect">
            <a:avLst>
              <a:gd name="adj" fmla="val 3265"/>
            </a:avLst>
          </a:prstGeom>
          <a:solidFill>
            <a:srgbClr val="EEF4F5"/>
          </a:solidFill>
          <a:ln w="12700">
            <a:solidFill>
              <a:srgbClr val="EEF4F5"/>
            </a:solidFill>
            <a:prstDash val="solid"/>
          </a:ln>
        </p:spPr>
      </p:sp>
      <p:sp>
        <p:nvSpPr>
          <p:cNvPr id="17" name="card title Heat transfer (Pennes bioheat)"/>
          <p:cNvSpPr txBox="1"/>
          <p:nvPr/>
        </p:nvSpPr>
        <p:spPr>
          <a:xfrm>
            <a:off x="6419088" y="416052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Heat transfer (Pennes bioheat)</a:t>
            </a:r>
            <a:endParaRPr lang="en-US" sz="1600" dirty="0"/>
          </a:p>
        </p:txBody>
      </p:sp>
      <p:sp>
        <p:nvSpPr>
          <p:cNvPr id="18" name="equation Heat transfer (Pennes bioheat)"/>
          <p:cNvSpPr txBox="1"/>
          <p:nvPr/>
        </p:nvSpPr>
        <p:spPr>
          <a:xfrm>
            <a:off x="6419088" y="4572000"/>
            <a:ext cx="4992624" cy="731520"/>
          </a:xfrm>
          <a:prstGeom prst="rect">
            <a:avLst/>
          </a:prstGeom>
          <a:solidFill>
            <a:srgbClr val="FFFFFF"/>
          </a:solidFill>
          <a:ln/>
        </p:spPr>
        <p:txBody>
          <a:bodyPr wrap="square" lIns="762" tIns="762" rIns="762" bIns="762" rtlCol="0" anchor="ctr"/>
          <a:lstStyle/>
          <a:p>
            <a:pPr indent="0" marL="0">
              <a:buNone/>
            </a:pPr>
            <a:r>
              <a:rPr lang="en-US" sz="1500" dirty="0">
                <a:solidFill>
                  <a:srgbClr val="264653"/>
                </a:solidFill>
                <a:latin typeface="+mj-lt" pitchFamily="34" charset="0"/>
                <a:ea typeface="+mj-lt" pitchFamily="34" charset="-122"/>
                <a:cs typeface="+mj-lt" pitchFamily="34" charset="-120"/>
              </a:rPr>
              <a:t>ρc ∂T/∂t = ∇·(k∇T) + ω_b c_b (T_a − T) + Q</a:t>
            </a:r>
            <a:endParaRPr lang="en-US" sz="1500" dirty="0"/>
          </a:p>
        </p:txBody>
      </p:sp>
      <p:sp>
        <p:nvSpPr>
          <p:cNvPr id="19" name="desc Heat transfer (Pennes bioheat)"/>
          <p:cNvSpPr txBox="1"/>
          <p:nvPr/>
        </p:nvSpPr>
        <p:spPr>
          <a:xfrm>
            <a:off x="6419088" y="5394960"/>
            <a:ext cx="4992624" cy="758952"/>
          </a:xfrm>
          <a:prstGeom prst="rect">
            <a:avLst/>
          </a:prstGeom>
          <a:noFill/>
          <a:ln/>
        </p:spPr>
        <p:txBody>
          <a:bodyPr wrap="square" lIns="0" tIns="0" rIns="0" bIns="0" rtlCol="0" anchor="t"/>
          <a:lstStyle/>
          <a:p>
            <a:pPr indent="0" marL="0">
              <a:buNone/>
            </a:pPr>
            <a:r>
              <a:rPr lang="en-US" sz="1400" dirty="0">
                <a:solidFill>
                  <a:srgbClr val="1B2430"/>
                </a:solidFill>
              </a:rPr>
              <a:t>Tissue temperature with blood perfusion ω_b; ablation, hyperthermia and device-safety twins.</a:t>
            </a:r>
            <a:endParaRPr lang="en-US" sz="14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731520" y="2057400"/>
            <a:ext cx="10698480" cy="411480"/>
          </a:xfrm>
          <a:prstGeom prst="rect">
            <a:avLst/>
          </a:prstGeom>
          <a:noFill/>
          <a:ln/>
        </p:spPr>
        <p:txBody>
          <a:bodyPr wrap="square" rtlCol="0" anchor="t"/>
          <a:lstStyle/>
          <a:p>
            <a:pPr indent="0" marL="0">
              <a:buNone/>
            </a:pPr>
            <a:r>
              <a:rPr lang="en-US" sz="1600" b="1" dirty="0">
                <a:solidFill>
                  <a:srgbClr val="F2A541"/>
                </a:solidFill>
              </a:rPr>
              <a:t>PART II</a:t>
            </a:r>
            <a:endParaRPr lang="en-US" sz="1600" dirty="0"/>
          </a:p>
        </p:txBody>
      </p:sp>
      <p:sp>
        <p:nvSpPr>
          <p:cNvPr id="3" name="Text 0"/>
          <p:cNvSpPr/>
          <p:nvPr>
            <p:ph idx="101" type="title" hasCustomPrompt="1"/>
          </p:nvPr>
        </p:nvSpPr>
        <p:spPr>
          <a:xfrm>
            <a:off x="731520" y="2560320"/>
            <a:ext cx="10698480" cy="1371600"/>
          </a:xfrm>
          <a:prstGeom prst="rect">
            <a:avLst/>
          </a:prstGeom>
          <a:noFill/>
          <a:ln/>
        </p:spPr>
        <p:txBody>
          <a:bodyPr wrap="square" rtlCol="0" anchor="t"/>
          <a:lstStyle/>
          <a:p>
            <a:pPr algn="l" indent="0" marL="0">
              <a:buNone/>
            </a:pPr>
            <a:r>
              <a:rPr lang="en-US" sz="4000" b="1" dirty="0">
                <a:solidFill>
                  <a:srgbClr val="FFFFFF"/>
                </a:solidFill>
              </a:rPr>
              <a:t>Models of variability and of the data</a:t>
            </a:r>
            <a:endParaRPr lang="en-US" sz="4000" dirty="0"/>
          </a:p>
        </p:txBody>
      </p:sp>
      <p:sp>
        <p:nvSpPr>
          <p:cNvPr id="4" name="Text 0"/>
          <p:cNvSpPr/>
          <p:nvPr>
            <p:ph idx="102" type="body" hasCustomPrompt="1"/>
          </p:nvPr>
        </p:nvSpPr>
        <p:spPr>
          <a:xfrm>
            <a:off x="731520" y="4069080"/>
            <a:ext cx="9601200" cy="1463040"/>
          </a:xfrm>
          <a:prstGeom prst="rect">
            <a:avLst/>
          </a:prstGeom>
          <a:noFill/>
          <a:ln/>
        </p:spPr>
        <p:txBody>
          <a:bodyPr wrap="square" rtlCol="0" anchor="t"/>
          <a:lstStyle/>
          <a:p>
            <a:pPr indent="0" marL="0">
              <a:buNone/>
            </a:pPr>
            <a:r>
              <a:rPr lang="en-US" sz="1800" dirty="0">
                <a:solidFill>
                  <a:srgbClr val="EEF4F5"/>
                </a:solidFill>
              </a:rPr>
              <a:t>Families 7–10: population statistics, data assimilation, uncertainty and sensitivity, and surrogate models</a:t>
            </a:r>
            <a:endParaRPr lang="en-US" sz="18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4F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29184"/>
          </a:xfrm>
          <a:prstGeom prst="rect">
            <a:avLst/>
          </a:prstGeom>
          <a:noFill/>
          <a:ln/>
        </p:spPr>
        <p:txBody>
          <a:bodyPr wrap="square" lIns="0" tIns="0" rIns="0" bIns="0" rtlCol="0" anchor="t"/>
          <a:lstStyle/>
          <a:p>
            <a:pPr indent="0" marL="0">
              <a:buNone/>
            </a:pPr>
            <a:r>
              <a:rPr lang="en-US" sz="1300" b="1" dirty="0">
                <a:solidFill>
                  <a:srgbClr val="1F7A70"/>
                </a:solidFill>
              </a:rPr>
              <a:t>FAMILY 7 · POPULATION MODELS</a:t>
            </a:r>
            <a:endParaRPr lang="en-US" sz="1300" dirty="0"/>
          </a:p>
        </p:txBody>
      </p:sp>
      <p:sp>
        <p:nvSpPr>
          <p:cNvPr id="3" name="Text 0"/>
          <p:cNvSpPr/>
          <p:nvPr>
            <p:ph idx="101" type="title" hasCustomPrompt="1"/>
          </p:nvPr>
        </p:nvSpPr>
        <p:spPr>
          <a:xfrm>
            <a:off x="548640" y="603504"/>
            <a:ext cx="11064240" cy="731520"/>
          </a:xfrm>
          <a:prstGeom prst="rect">
            <a:avLst/>
          </a:prstGeom>
          <a:noFill/>
          <a:ln/>
        </p:spPr>
        <p:txBody>
          <a:bodyPr wrap="square" lIns="0" tIns="0" rIns="0" bIns="0" rtlCol="0" anchor="t"/>
          <a:lstStyle/>
          <a:p>
            <a:pPr algn="l" indent="0" marL="0">
              <a:buNone/>
            </a:pPr>
            <a:r>
              <a:rPr lang="en-US" sz="3600" b="1" dirty="0">
                <a:solidFill>
                  <a:srgbClr val="0B3C49"/>
                </a:solidFill>
              </a:rPr>
              <a:t>Variability between and within individuals</a:t>
            </a:r>
            <a:endParaRPr lang="en-US" sz="3600" dirty="0"/>
          </a:p>
        </p:txBody>
      </p:sp>
      <p:sp>
        <p:nvSpPr>
          <p:cNvPr id="4" name="card Nonlinear mixed effects (NLME)"/>
          <p:cNvSpPr/>
          <p:nvPr/>
        </p:nvSpPr>
        <p:spPr>
          <a:xfrm>
            <a:off x="548640" y="1554480"/>
            <a:ext cx="5394960" cy="2240280"/>
          </a:xfrm>
          <a:prstGeom prst="rect">
            <a:avLst>
              <a:gd name="adj" fmla="val 3265"/>
            </a:avLst>
          </a:prstGeom>
          <a:solidFill>
            <a:srgbClr val="EEF4F5"/>
          </a:solidFill>
          <a:ln w="12700">
            <a:solidFill>
              <a:srgbClr val="EEF4F5"/>
            </a:solidFill>
            <a:prstDash val="solid"/>
          </a:ln>
        </p:spPr>
      </p:sp>
      <p:sp>
        <p:nvSpPr>
          <p:cNvPr id="5" name="card title Nonlinear mixed effects (NLME)"/>
          <p:cNvSpPr txBox="1"/>
          <p:nvPr/>
        </p:nvSpPr>
        <p:spPr>
          <a:xfrm>
            <a:off x="74980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Nonlinear mixed effects (NLME)</a:t>
            </a:r>
            <a:endParaRPr lang="en-US" sz="1600" dirty="0"/>
          </a:p>
        </p:txBody>
      </p:sp>
      <p:sp>
        <p:nvSpPr>
          <p:cNvPr id="6" name="equation Nonlinear mixed effects (NLME)"/>
          <p:cNvSpPr txBox="1"/>
          <p:nvPr/>
        </p:nvSpPr>
        <p:spPr>
          <a:xfrm>
            <a:off x="749808" y="2103120"/>
            <a:ext cx="4992624" cy="822960"/>
          </a:xfrm>
          <a:prstGeom prst="rect">
            <a:avLst/>
          </a:prstGeom>
          <a:solidFill>
            <a:srgbClr val="FFFFFF"/>
          </a:solidFill>
          <a:ln/>
        </p:spPr>
        <p:txBody>
          <a:bodyPr wrap="square" lIns="762" tIns="762" rIns="762" bIns="762" rtlCol="0" anchor="ctr"/>
          <a:lstStyle/>
          <a:p>
            <a:pPr indent="0" marL="0">
              <a:buNone/>
            </a:pPr>
            <a:r>
              <a:rPr lang="en-US" sz="1500" dirty="0">
                <a:solidFill>
                  <a:srgbClr val="264653"/>
                </a:solidFill>
                <a:latin typeface="+mj-lt" pitchFamily="34" charset="0"/>
                <a:ea typeface="+mj-lt" pitchFamily="34" charset="-122"/>
                <a:cs typeface="+mj-lt" pitchFamily="34" charset="-120"/>
              </a:rPr>
              <a:t>y_ij = f(t_ij, θᵢ) + ε_ij,   ε ~ N(0, σ²)</a:t>
            </a:r>
            <a:endParaRPr lang="en-US" sz="1500" dirty="0"/>
          </a:p>
          <a:p>
            <a:pPr indent="0" marL="0">
              <a:buNone/>
            </a:pPr>
            <a:r>
              <a:rPr lang="en-US" sz="1500" dirty="0">
                <a:solidFill>
                  <a:srgbClr val="264653"/>
                </a:solidFill>
                <a:latin typeface="+mj-lt" pitchFamily="34" charset="0"/>
                <a:ea typeface="+mj-lt" pitchFamily="34" charset="-122"/>
                <a:cs typeface="+mj-lt" pitchFamily="34" charset="-120"/>
              </a:rPr>
              <a:t>θᵢ = θ_pop · exp(β·covᵢ + ηᵢ),  η ~ N(0, Ω)</a:t>
            </a:r>
            <a:endParaRPr lang="en-US" sz="1500" dirty="0"/>
          </a:p>
        </p:txBody>
      </p:sp>
      <p:sp>
        <p:nvSpPr>
          <p:cNvPr id="7" name="desc Nonlinear mixed effects (NLME)"/>
          <p:cNvSpPr txBox="1"/>
          <p:nvPr/>
        </p:nvSpPr>
        <p:spPr>
          <a:xfrm>
            <a:off x="749808" y="3017520"/>
            <a:ext cx="4992624" cy="667512"/>
          </a:xfrm>
          <a:prstGeom prst="rect">
            <a:avLst/>
          </a:prstGeom>
          <a:noFill/>
          <a:ln/>
        </p:spPr>
        <p:txBody>
          <a:bodyPr wrap="square" lIns="0" tIns="0" rIns="0" bIns="0" rtlCol="0" anchor="t"/>
          <a:lstStyle/>
          <a:p>
            <a:pPr indent="0" marL="0">
              <a:buNone/>
            </a:pPr>
            <a:r>
              <a:rPr lang="en-US" sz="1400" dirty="0">
                <a:solidFill>
                  <a:srgbClr val="1B2430"/>
                </a:solidFill>
              </a:rPr>
              <a:t>The core population model: typical value, covariate effects, between-subject variability Ω.</a:t>
            </a:r>
            <a:endParaRPr lang="en-US" sz="1400" dirty="0"/>
          </a:p>
        </p:txBody>
      </p:sp>
      <p:sp>
        <p:nvSpPr>
          <p:cNvPr id="8" name="card Linear mixed model"/>
          <p:cNvSpPr/>
          <p:nvPr/>
        </p:nvSpPr>
        <p:spPr>
          <a:xfrm>
            <a:off x="6217920" y="1554480"/>
            <a:ext cx="5394960" cy="2240280"/>
          </a:xfrm>
          <a:prstGeom prst="rect">
            <a:avLst>
              <a:gd name="adj" fmla="val 3265"/>
            </a:avLst>
          </a:prstGeom>
          <a:solidFill>
            <a:srgbClr val="EEF4F5"/>
          </a:solidFill>
          <a:ln w="12700">
            <a:solidFill>
              <a:srgbClr val="EEF4F5"/>
            </a:solidFill>
            <a:prstDash val="solid"/>
          </a:ln>
        </p:spPr>
      </p:sp>
      <p:sp>
        <p:nvSpPr>
          <p:cNvPr id="9" name="card title Linear mixed model"/>
          <p:cNvSpPr txBox="1"/>
          <p:nvPr/>
        </p:nvSpPr>
        <p:spPr>
          <a:xfrm>
            <a:off x="641908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Linear mixed model</a:t>
            </a:r>
            <a:endParaRPr lang="en-US" sz="1600" dirty="0"/>
          </a:p>
        </p:txBody>
      </p:sp>
      <p:sp>
        <p:nvSpPr>
          <p:cNvPr id="10" name="equation Linear mixed model"/>
          <p:cNvSpPr txBox="1"/>
          <p:nvPr/>
        </p:nvSpPr>
        <p:spPr>
          <a:xfrm>
            <a:off x="6419088" y="2103120"/>
            <a:ext cx="4992624" cy="731520"/>
          </a:xfrm>
          <a:prstGeom prst="rect">
            <a:avLst/>
          </a:prstGeom>
          <a:solidFill>
            <a:srgbClr val="FFFFFF"/>
          </a:solidFill>
          <a:ln/>
        </p:spPr>
        <p:txBody>
          <a:bodyPr wrap="square" lIns="762" tIns="762" rIns="762" bIns="762" rtlCol="0" anchor="ctr"/>
          <a:lstStyle/>
          <a:p>
            <a:pPr indent="0" marL="0">
              <a:buNone/>
            </a:pPr>
            <a:r>
              <a:rPr lang="en-US" sz="1600" dirty="0">
                <a:solidFill>
                  <a:srgbClr val="264653"/>
                </a:solidFill>
                <a:latin typeface="+mj-lt" pitchFamily="34" charset="0"/>
                <a:ea typeface="+mj-lt" pitchFamily="34" charset="-122"/>
                <a:cs typeface="+mj-lt" pitchFamily="34" charset="-120"/>
              </a:rPr>
              <a:t>y = Xβ + Zb + ε,   b ~ N(0, G),  ε ~ N(0, R)</a:t>
            </a:r>
            <a:endParaRPr lang="en-US" sz="1600" dirty="0"/>
          </a:p>
        </p:txBody>
      </p:sp>
      <p:sp>
        <p:nvSpPr>
          <p:cNvPr id="11" name="desc Linear mixed model"/>
          <p:cNvSpPr txBox="1"/>
          <p:nvPr/>
        </p:nvSpPr>
        <p:spPr>
          <a:xfrm>
            <a:off x="6419088" y="2926080"/>
            <a:ext cx="4992624" cy="758952"/>
          </a:xfrm>
          <a:prstGeom prst="rect">
            <a:avLst/>
          </a:prstGeom>
          <a:noFill/>
          <a:ln/>
        </p:spPr>
        <p:txBody>
          <a:bodyPr wrap="square" lIns="0" tIns="0" rIns="0" bIns="0" rtlCol="0" anchor="t"/>
          <a:lstStyle/>
          <a:p>
            <a:pPr indent="0" marL="0">
              <a:buNone/>
            </a:pPr>
            <a:r>
              <a:rPr lang="en-US" sz="1400" dirty="0">
                <a:solidFill>
                  <a:srgbClr val="1B2430"/>
                </a:solidFill>
              </a:rPr>
              <a:t>Fixed effects β and random effects b for repeated measures; longitudinal biomarkers.</a:t>
            </a:r>
            <a:endParaRPr lang="en-US" sz="1400" dirty="0"/>
          </a:p>
        </p:txBody>
      </p:sp>
      <p:sp>
        <p:nvSpPr>
          <p:cNvPr id="12" name="card Generalised linear models"/>
          <p:cNvSpPr/>
          <p:nvPr/>
        </p:nvSpPr>
        <p:spPr>
          <a:xfrm>
            <a:off x="548640" y="4023360"/>
            <a:ext cx="5394960" cy="2240280"/>
          </a:xfrm>
          <a:prstGeom prst="rect">
            <a:avLst>
              <a:gd name="adj" fmla="val 3265"/>
            </a:avLst>
          </a:prstGeom>
          <a:solidFill>
            <a:srgbClr val="EEF4F5"/>
          </a:solidFill>
          <a:ln w="12700">
            <a:solidFill>
              <a:srgbClr val="EEF4F5"/>
            </a:solidFill>
            <a:prstDash val="solid"/>
          </a:ln>
        </p:spPr>
      </p:sp>
      <p:sp>
        <p:nvSpPr>
          <p:cNvPr id="13" name="card title Generalised linear models"/>
          <p:cNvSpPr txBox="1"/>
          <p:nvPr/>
        </p:nvSpPr>
        <p:spPr>
          <a:xfrm>
            <a:off x="749808" y="416052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Generalised linear models</a:t>
            </a:r>
            <a:endParaRPr lang="en-US" sz="1600" dirty="0"/>
          </a:p>
        </p:txBody>
      </p:sp>
      <p:sp>
        <p:nvSpPr>
          <p:cNvPr id="14" name="equation Generalised linear models"/>
          <p:cNvSpPr txBox="1"/>
          <p:nvPr/>
        </p:nvSpPr>
        <p:spPr>
          <a:xfrm>
            <a:off x="749808" y="4572000"/>
            <a:ext cx="4992624" cy="822960"/>
          </a:xfrm>
          <a:prstGeom prst="rect">
            <a:avLst/>
          </a:prstGeom>
          <a:solidFill>
            <a:srgbClr val="FFFFFF"/>
          </a:solidFill>
          <a:ln/>
        </p:spPr>
        <p:txBody>
          <a:bodyPr wrap="square" lIns="762" tIns="762" rIns="762" bIns="762" rtlCol="0" anchor="ctr"/>
          <a:lstStyle/>
          <a:p>
            <a:pPr indent="0" marL="0">
              <a:buNone/>
            </a:pPr>
            <a:r>
              <a:rPr lang="en-US" sz="1600" dirty="0">
                <a:solidFill>
                  <a:srgbClr val="264653"/>
                </a:solidFill>
                <a:latin typeface="+mj-lt" pitchFamily="34" charset="0"/>
                <a:ea typeface="+mj-lt" pitchFamily="34" charset="-122"/>
                <a:cs typeface="+mj-lt" pitchFamily="34" charset="-120"/>
              </a:rPr>
              <a:t>g(E[y]) = Xβ;  logistic: p = 1 / (1 + e^(−Xβ))</a:t>
            </a:r>
            <a:endParaRPr lang="en-US" sz="1600" dirty="0"/>
          </a:p>
          <a:p>
            <a:pPr indent="0" marL="0">
              <a:buNone/>
            </a:pPr>
            <a:r>
              <a:rPr lang="en-US" sz="1600" dirty="0">
                <a:solidFill>
                  <a:srgbClr val="264653"/>
                </a:solidFill>
                <a:latin typeface="+mj-lt" pitchFamily="34" charset="0"/>
                <a:ea typeface="+mj-lt" pitchFamily="34" charset="-122"/>
                <a:cs typeface="+mj-lt" pitchFamily="34" charset="-120"/>
              </a:rPr>
              <a:t>Poisson: log λ = Xβ</a:t>
            </a:r>
            <a:endParaRPr lang="en-US" sz="1600" dirty="0"/>
          </a:p>
        </p:txBody>
      </p:sp>
      <p:sp>
        <p:nvSpPr>
          <p:cNvPr id="15" name="desc Generalised linear models"/>
          <p:cNvSpPr txBox="1"/>
          <p:nvPr/>
        </p:nvSpPr>
        <p:spPr>
          <a:xfrm>
            <a:off x="749808" y="5486400"/>
            <a:ext cx="4992624" cy="667512"/>
          </a:xfrm>
          <a:prstGeom prst="rect">
            <a:avLst/>
          </a:prstGeom>
          <a:noFill/>
          <a:ln/>
        </p:spPr>
        <p:txBody>
          <a:bodyPr wrap="square" lIns="0" tIns="0" rIns="0" bIns="0" rtlCol="0" anchor="t"/>
          <a:lstStyle/>
          <a:p>
            <a:pPr indent="0" marL="0">
              <a:buNone/>
            </a:pPr>
            <a:r>
              <a:rPr lang="en-US" sz="1400" dirty="0">
                <a:solidFill>
                  <a:srgbClr val="1B2430"/>
                </a:solidFill>
              </a:rPr>
              <a:t>Binary, count and rate outcomes; dose–response with logit or probit links.</a:t>
            </a:r>
            <a:endParaRPr lang="en-US" sz="1400" dirty="0"/>
          </a:p>
        </p:txBody>
      </p:sp>
      <p:sp>
        <p:nvSpPr>
          <p:cNvPr id="16" name="card Bayesian hierarchical model"/>
          <p:cNvSpPr/>
          <p:nvPr/>
        </p:nvSpPr>
        <p:spPr>
          <a:xfrm>
            <a:off x="6217920" y="4023360"/>
            <a:ext cx="5394960" cy="2240280"/>
          </a:xfrm>
          <a:prstGeom prst="rect">
            <a:avLst>
              <a:gd name="adj" fmla="val 3265"/>
            </a:avLst>
          </a:prstGeom>
          <a:solidFill>
            <a:srgbClr val="EEF4F5"/>
          </a:solidFill>
          <a:ln w="12700">
            <a:solidFill>
              <a:srgbClr val="EEF4F5"/>
            </a:solidFill>
            <a:prstDash val="solid"/>
          </a:ln>
        </p:spPr>
      </p:sp>
      <p:sp>
        <p:nvSpPr>
          <p:cNvPr id="17" name="card title Bayesian hierarchical model"/>
          <p:cNvSpPr txBox="1"/>
          <p:nvPr/>
        </p:nvSpPr>
        <p:spPr>
          <a:xfrm>
            <a:off x="6419088" y="416052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Bayesian hierarchical model</a:t>
            </a:r>
            <a:endParaRPr lang="en-US" sz="1600" dirty="0"/>
          </a:p>
        </p:txBody>
      </p:sp>
      <p:sp>
        <p:nvSpPr>
          <p:cNvPr id="18" name="equation Bayesian hierarchical model"/>
          <p:cNvSpPr txBox="1"/>
          <p:nvPr/>
        </p:nvSpPr>
        <p:spPr>
          <a:xfrm>
            <a:off x="6419088" y="4572000"/>
            <a:ext cx="4992624" cy="822960"/>
          </a:xfrm>
          <a:prstGeom prst="rect">
            <a:avLst/>
          </a:prstGeom>
          <a:solidFill>
            <a:srgbClr val="FFFFFF"/>
          </a:solidFill>
          <a:ln/>
        </p:spPr>
        <p:txBody>
          <a:bodyPr wrap="square" lIns="762" tIns="762" rIns="762" bIns="762" rtlCol="0" anchor="ctr"/>
          <a:lstStyle/>
          <a:p>
            <a:pPr indent="0" marL="0">
              <a:buNone/>
            </a:pPr>
            <a:r>
              <a:rPr lang="en-US" sz="1500" dirty="0">
                <a:solidFill>
                  <a:srgbClr val="264653"/>
                </a:solidFill>
                <a:latin typeface="+mj-lt" pitchFamily="34" charset="0"/>
                <a:ea typeface="+mj-lt" pitchFamily="34" charset="-122"/>
                <a:cs typeface="+mj-lt" pitchFamily="34" charset="-120"/>
              </a:rPr>
              <a:t>p(θ, φ | y) ∝ Πᵢ p(yᵢ | θᵢ) p(θᵢ | φ) · p(φ)</a:t>
            </a:r>
            <a:endParaRPr lang="en-US" sz="1500" dirty="0"/>
          </a:p>
          <a:p>
            <a:pPr indent="0" marL="0">
              <a:buNone/>
            </a:pPr>
            <a:r>
              <a:rPr lang="en-US" sz="1500" dirty="0">
                <a:solidFill>
                  <a:srgbClr val="264653"/>
                </a:solidFill>
                <a:latin typeface="+mj-lt" pitchFamily="34" charset="0"/>
                <a:ea typeface="+mj-lt" pitchFamily="34" charset="-122"/>
                <a:cs typeface="+mj-lt" pitchFamily="34" charset="-120"/>
              </a:rPr>
              <a:t>partial pooling between individuals</a:t>
            </a:r>
            <a:endParaRPr lang="en-US" sz="1500" dirty="0"/>
          </a:p>
        </p:txBody>
      </p:sp>
      <p:sp>
        <p:nvSpPr>
          <p:cNvPr id="19" name="desc Bayesian hierarchical model"/>
          <p:cNvSpPr txBox="1"/>
          <p:nvPr/>
        </p:nvSpPr>
        <p:spPr>
          <a:xfrm>
            <a:off x="6419088" y="5486400"/>
            <a:ext cx="4992624" cy="667512"/>
          </a:xfrm>
          <a:prstGeom prst="rect">
            <a:avLst/>
          </a:prstGeom>
          <a:noFill/>
          <a:ln/>
        </p:spPr>
        <p:txBody>
          <a:bodyPr wrap="square" lIns="0" tIns="0" rIns="0" bIns="0" rtlCol="0" anchor="t"/>
          <a:lstStyle/>
          <a:p>
            <a:pPr indent="0" marL="0">
              <a:buNone/>
            </a:pPr>
            <a:r>
              <a:rPr lang="en-US" sz="1400" dirty="0">
                <a:solidFill>
                  <a:srgbClr val="1B2430"/>
                </a:solidFill>
              </a:rPr>
              <a:t>Borrow strength across patients, sites or studies; priors encode prior knowledge.</a:t>
            </a:r>
            <a:endParaRPr lang="en-US" sz="14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29184"/>
          </a:xfrm>
          <a:prstGeom prst="rect">
            <a:avLst/>
          </a:prstGeom>
          <a:noFill/>
          <a:ln/>
        </p:spPr>
        <p:txBody>
          <a:bodyPr wrap="square" lIns="0" tIns="0" rIns="0" bIns="0" rtlCol="0" anchor="t"/>
          <a:lstStyle/>
          <a:p>
            <a:pPr indent="0" marL="0">
              <a:buNone/>
            </a:pPr>
            <a:r>
              <a:rPr lang="en-US" sz="1300" b="1" dirty="0">
                <a:solidFill>
                  <a:srgbClr val="1F7A70"/>
                </a:solidFill>
              </a:rPr>
              <a:t>FAMILY 7 · TIME-TO-EVENT MODELS</a:t>
            </a:r>
            <a:endParaRPr lang="en-US" sz="1300" dirty="0"/>
          </a:p>
        </p:txBody>
      </p:sp>
      <p:sp>
        <p:nvSpPr>
          <p:cNvPr id="3" name="Text 0"/>
          <p:cNvSpPr/>
          <p:nvPr>
            <p:ph idx="101" type="title" hasCustomPrompt="1"/>
          </p:nvPr>
        </p:nvSpPr>
        <p:spPr>
          <a:xfrm>
            <a:off x="548640" y="603504"/>
            <a:ext cx="11064240" cy="731520"/>
          </a:xfrm>
          <a:prstGeom prst="rect">
            <a:avLst/>
          </a:prstGeom>
          <a:noFill/>
          <a:ln/>
        </p:spPr>
        <p:txBody>
          <a:bodyPr wrap="square" lIns="0" tIns="0" rIns="0" bIns="0" rtlCol="0" anchor="t"/>
          <a:lstStyle/>
          <a:p>
            <a:pPr algn="l" indent="0" marL="0">
              <a:buNone/>
            </a:pPr>
            <a:r>
              <a:rPr lang="en-US" sz="3600" b="1" dirty="0">
                <a:solidFill>
                  <a:srgbClr val="0B3C49"/>
                </a:solidFill>
              </a:rPr>
              <a:t>Survival and event endpoints</a:t>
            </a:r>
            <a:endParaRPr lang="en-US" sz="3600" dirty="0"/>
          </a:p>
        </p:txBody>
      </p:sp>
      <p:sp>
        <p:nvSpPr>
          <p:cNvPr id="4" name="card Kaplan–Meier estimator"/>
          <p:cNvSpPr/>
          <p:nvPr/>
        </p:nvSpPr>
        <p:spPr>
          <a:xfrm>
            <a:off x="548640" y="1554480"/>
            <a:ext cx="5394960" cy="2240280"/>
          </a:xfrm>
          <a:prstGeom prst="rect">
            <a:avLst>
              <a:gd name="adj" fmla="val 3265"/>
            </a:avLst>
          </a:prstGeom>
          <a:solidFill>
            <a:srgbClr val="EEF4F5"/>
          </a:solidFill>
          <a:ln w="12700">
            <a:solidFill>
              <a:srgbClr val="EEF4F5"/>
            </a:solidFill>
            <a:prstDash val="solid"/>
          </a:ln>
        </p:spPr>
      </p:sp>
      <p:sp>
        <p:nvSpPr>
          <p:cNvPr id="5" name="card title Kaplan–Meier estimator"/>
          <p:cNvSpPr txBox="1"/>
          <p:nvPr/>
        </p:nvSpPr>
        <p:spPr>
          <a:xfrm>
            <a:off x="74980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Kaplan–Meier estimator</a:t>
            </a:r>
            <a:endParaRPr lang="en-US" sz="1600" dirty="0"/>
          </a:p>
        </p:txBody>
      </p:sp>
      <p:sp>
        <p:nvSpPr>
          <p:cNvPr id="6" name="equation Kaplan–Meier estimator"/>
          <p:cNvSpPr txBox="1"/>
          <p:nvPr/>
        </p:nvSpPr>
        <p:spPr>
          <a:xfrm>
            <a:off x="749808" y="2103120"/>
            <a:ext cx="4992624" cy="731520"/>
          </a:xfrm>
          <a:prstGeom prst="rect">
            <a:avLst/>
          </a:prstGeom>
          <a:solidFill>
            <a:srgbClr val="FFFFFF"/>
          </a:solidFill>
          <a:ln/>
        </p:spPr>
        <p:txBody>
          <a:bodyPr wrap="square" lIns="762" tIns="762" rIns="762" bIns="762" rtlCol="0" anchor="ctr"/>
          <a:lstStyle/>
          <a:p>
            <a:pPr indent="0" marL="0">
              <a:buNone/>
            </a:pPr>
            <a:r>
              <a:rPr lang="en-US" sz="1600" dirty="0">
                <a:solidFill>
                  <a:srgbClr val="264653"/>
                </a:solidFill>
                <a:latin typeface="+mj-lt" pitchFamily="34" charset="0"/>
                <a:ea typeface="+mj-lt" pitchFamily="34" charset="-122"/>
                <a:cs typeface="+mj-lt" pitchFamily="34" charset="-120"/>
              </a:rPr>
              <a:t>Ŝ(t) = Π_{tᵢ ≤ t} (1 − dᵢ / nᵢ)</a:t>
            </a:r>
            <a:endParaRPr lang="en-US" sz="1600" dirty="0"/>
          </a:p>
        </p:txBody>
      </p:sp>
      <p:sp>
        <p:nvSpPr>
          <p:cNvPr id="7" name="desc Kaplan–Meier estimator"/>
          <p:cNvSpPr txBox="1"/>
          <p:nvPr/>
        </p:nvSpPr>
        <p:spPr>
          <a:xfrm>
            <a:off x="749808" y="2926080"/>
            <a:ext cx="4992624" cy="758952"/>
          </a:xfrm>
          <a:prstGeom prst="rect">
            <a:avLst/>
          </a:prstGeom>
          <a:noFill/>
          <a:ln/>
        </p:spPr>
        <p:txBody>
          <a:bodyPr wrap="square" lIns="0" tIns="0" rIns="0" bIns="0" rtlCol="0" anchor="t"/>
          <a:lstStyle/>
          <a:p>
            <a:pPr indent="0" marL="0">
              <a:buNone/>
            </a:pPr>
            <a:r>
              <a:rPr lang="en-US" sz="1400" dirty="0">
                <a:solidFill>
                  <a:srgbClr val="1B2430"/>
                </a:solidFill>
              </a:rPr>
              <a:t>Non-parametric survival with censoring; dᵢ events among nᵢ at risk. Compared with the log-rank test.</a:t>
            </a:r>
            <a:endParaRPr lang="en-US" sz="1400" dirty="0"/>
          </a:p>
        </p:txBody>
      </p:sp>
      <p:sp>
        <p:nvSpPr>
          <p:cNvPr id="8" name="card Cox proportional hazards"/>
          <p:cNvSpPr/>
          <p:nvPr/>
        </p:nvSpPr>
        <p:spPr>
          <a:xfrm>
            <a:off x="6217920" y="1554480"/>
            <a:ext cx="5394960" cy="2240280"/>
          </a:xfrm>
          <a:prstGeom prst="rect">
            <a:avLst>
              <a:gd name="adj" fmla="val 3265"/>
            </a:avLst>
          </a:prstGeom>
          <a:solidFill>
            <a:srgbClr val="EEF4F5"/>
          </a:solidFill>
          <a:ln w="12700">
            <a:solidFill>
              <a:srgbClr val="EEF4F5"/>
            </a:solidFill>
            <a:prstDash val="solid"/>
          </a:ln>
        </p:spPr>
      </p:sp>
      <p:sp>
        <p:nvSpPr>
          <p:cNvPr id="9" name="card title Cox proportional hazards"/>
          <p:cNvSpPr txBox="1"/>
          <p:nvPr/>
        </p:nvSpPr>
        <p:spPr>
          <a:xfrm>
            <a:off x="641908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Cox proportional hazards</a:t>
            </a:r>
            <a:endParaRPr lang="en-US" sz="1600" dirty="0"/>
          </a:p>
        </p:txBody>
      </p:sp>
      <p:sp>
        <p:nvSpPr>
          <p:cNvPr id="10" name="equation Cox proportional hazards"/>
          <p:cNvSpPr txBox="1"/>
          <p:nvPr/>
        </p:nvSpPr>
        <p:spPr>
          <a:xfrm>
            <a:off x="6419088" y="2103120"/>
            <a:ext cx="4992624" cy="731520"/>
          </a:xfrm>
          <a:prstGeom prst="rect">
            <a:avLst/>
          </a:prstGeom>
          <a:solidFill>
            <a:srgbClr val="FFFFFF"/>
          </a:solidFill>
          <a:ln/>
        </p:spPr>
        <p:txBody>
          <a:bodyPr wrap="square" lIns="762" tIns="762" rIns="762" bIns="762" rtlCol="0" anchor="ctr"/>
          <a:lstStyle/>
          <a:p>
            <a:pPr indent="0" marL="0">
              <a:buNone/>
            </a:pPr>
            <a:r>
              <a:rPr lang="en-US" sz="1600" dirty="0">
                <a:solidFill>
                  <a:srgbClr val="264653"/>
                </a:solidFill>
                <a:latin typeface="+mj-lt" pitchFamily="34" charset="0"/>
                <a:ea typeface="+mj-lt" pitchFamily="34" charset="-122"/>
                <a:cs typeface="+mj-lt" pitchFamily="34" charset="-120"/>
              </a:rPr>
              <a:t>h(t | x) = h₀(t) · exp(βᵀx),   HR = e^β</a:t>
            </a:r>
            <a:endParaRPr lang="en-US" sz="1600" dirty="0"/>
          </a:p>
        </p:txBody>
      </p:sp>
      <p:sp>
        <p:nvSpPr>
          <p:cNvPr id="11" name="desc Cox proportional hazards"/>
          <p:cNvSpPr txBox="1"/>
          <p:nvPr/>
        </p:nvSpPr>
        <p:spPr>
          <a:xfrm>
            <a:off x="6419088" y="2926080"/>
            <a:ext cx="4992624" cy="758952"/>
          </a:xfrm>
          <a:prstGeom prst="rect">
            <a:avLst/>
          </a:prstGeom>
          <a:noFill/>
          <a:ln/>
        </p:spPr>
        <p:txBody>
          <a:bodyPr wrap="square" lIns="0" tIns="0" rIns="0" bIns="0" rtlCol="0" anchor="t"/>
          <a:lstStyle/>
          <a:p>
            <a:pPr indent="0" marL="0">
              <a:buNone/>
            </a:pPr>
            <a:r>
              <a:rPr lang="en-US" sz="1400" dirty="0">
                <a:solidFill>
                  <a:srgbClr val="1B2430"/>
                </a:solidFill>
              </a:rPr>
              <a:t>Covariate effects as hazard ratios without specifying h₀; check proportional hazards.</a:t>
            </a:r>
            <a:endParaRPr lang="en-US" sz="1400" dirty="0"/>
          </a:p>
        </p:txBody>
      </p:sp>
      <p:sp>
        <p:nvSpPr>
          <p:cNvPr id="12" name="card Parametric survival (Weibull, AFT)"/>
          <p:cNvSpPr/>
          <p:nvPr/>
        </p:nvSpPr>
        <p:spPr>
          <a:xfrm>
            <a:off x="548640" y="4023360"/>
            <a:ext cx="5394960" cy="2240280"/>
          </a:xfrm>
          <a:prstGeom prst="rect">
            <a:avLst>
              <a:gd name="adj" fmla="val 3265"/>
            </a:avLst>
          </a:prstGeom>
          <a:solidFill>
            <a:srgbClr val="EEF4F5"/>
          </a:solidFill>
          <a:ln w="12700">
            <a:solidFill>
              <a:srgbClr val="EEF4F5"/>
            </a:solidFill>
            <a:prstDash val="solid"/>
          </a:ln>
        </p:spPr>
      </p:sp>
      <p:sp>
        <p:nvSpPr>
          <p:cNvPr id="13" name="card title Parametric survival (Weibull, AFT)"/>
          <p:cNvSpPr txBox="1"/>
          <p:nvPr/>
        </p:nvSpPr>
        <p:spPr>
          <a:xfrm>
            <a:off x="749808" y="416052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Parametric survival (Weibull, AFT)</a:t>
            </a:r>
            <a:endParaRPr lang="en-US" sz="1600" dirty="0"/>
          </a:p>
        </p:txBody>
      </p:sp>
      <p:sp>
        <p:nvSpPr>
          <p:cNvPr id="14" name="equation Parametric survival (Weibull, AFT)"/>
          <p:cNvSpPr txBox="1"/>
          <p:nvPr/>
        </p:nvSpPr>
        <p:spPr>
          <a:xfrm>
            <a:off x="749808" y="4572000"/>
            <a:ext cx="4992624" cy="822960"/>
          </a:xfrm>
          <a:prstGeom prst="rect">
            <a:avLst/>
          </a:prstGeom>
          <a:solidFill>
            <a:srgbClr val="FFFFFF"/>
          </a:solidFill>
          <a:ln/>
        </p:spPr>
        <p:txBody>
          <a:bodyPr wrap="square" lIns="762" tIns="762" rIns="762" bIns="762" rtlCol="0" anchor="ctr"/>
          <a:lstStyle/>
          <a:p>
            <a:pPr indent="0" marL="0">
              <a:buNone/>
            </a:pPr>
            <a:r>
              <a:rPr lang="en-US" sz="1600" dirty="0">
                <a:solidFill>
                  <a:srgbClr val="264653"/>
                </a:solidFill>
                <a:latin typeface="+mj-lt" pitchFamily="34" charset="0"/>
                <a:ea typeface="+mj-lt" pitchFamily="34" charset="-122"/>
                <a:cs typeface="+mj-lt" pitchFamily="34" charset="-120"/>
              </a:rPr>
              <a:t>S(t) = exp(−(λt)ᵏ)</a:t>
            </a:r>
            <a:endParaRPr lang="en-US" sz="1600" dirty="0"/>
          </a:p>
          <a:p>
            <a:pPr indent="0" marL="0">
              <a:buNone/>
            </a:pPr>
            <a:r>
              <a:rPr lang="en-US" sz="1600" dirty="0">
                <a:solidFill>
                  <a:srgbClr val="264653"/>
                </a:solidFill>
                <a:latin typeface="+mj-lt" pitchFamily="34" charset="0"/>
                <a:ea typeface="+mj-lt" pitchFamily="34" charset="-122"/>
                <a:cs typeface="+mj-lt" pitchFamily="34" charset="-120"/>
              </a:rPr>
              <a:t>AFT: log T = βᵀx + σε</a:t>
            </a:r>
            <a:endParaRPr lang="en-US" sz="1600" dirty="0"/>
          </a:p>
        </p:txBody>
      </p:sp>
      <p:sp>
        <p:nvSpPr>
          <p:cNvPr id="15" name="desc Parametric survival (Weibull, AFT)"/>
          <p:cNvSpPr txBox="1"/>
          <p:nvPr/>
        </p:nvSpPr>
        <p:spPr>
          <a:xfrm>
            <a:off x="749808" y="5486400"/>
            <a:ext cx="4992624" cy="667512"/>
          </a:xfrm>
          <a:prstGeom prst="rect">
            <a:avLst/>
          </a:prstGeom>
          <a:noFill/>
          <a:ln/>
        </p:spPr>
        <p:txBody>
          <a:bodyPr wrap="square" lIns="0" tIns="0" rIns="0" bIns="0" rtlCol="0" anchor="t"/>
          <a:lstStyle/>
          <a:p>
            <a:pPr indent="0" marL="0">
              <a:buNone/>
            </a:pPr>
            <a:r>
              <a:rPr lang="en-US" sz="1400" dirty="0">
                <a:solidFill>
                  <a:srgbClr val="1B2430"/>
                </a:solidFill>
              </a:rPr>
              <a:t>Needed to extrapolate beyond follow-up and to simulate event times in virtual trials.</a:t>
            </a:r>
            <a:endParaRPr lang="en-US" sz="1400" dirty="0"/>
          </a:p>
        </p:txBody>
      </p:sp>
      <p:sp>
        <p:nvSpPr>
          <p:cNvPr id="16" name="card Joint longitudinal–survival model"/>
          <p:cNvSpPr/>
          <p:nvPr/>
        </p:nvSpPr>
        <p:spPr>
          <a:xfrm>
            <a:off x="6217920" y="4023360"/>
            <a:ext cx="5394960" cy="2240280"/>
          </a:xfrm>
          <a:prstGeom prst="rect">
            <a:avLst>
              <a:gd name="adj" fmla="val 3265"/>
            </a:avLst>
          </a:prstGeom>
          <a:solidFill>
            <a:srgbClr val="EEF4F5"/>
          </a:solidFill>
          <a:ln w="12700">
            <a:solidFill>
              <a:srgbClr val="EEF4F5"/>
            </a:solidFill>
            <a:prstDash val="solid"/>
          </a:ln>
        </p:spPr>
      </p:sp>
      <p:sp>
        <p:nvSpPr>
          <p:cNvPr id="17" name="card title Joint longitudinal–survival model"/>
          <p:cNvSpPr txBox="1"/>
          <p:nvPr/>
        </p:nvSpPr>
        <p:spPr>
          <a:xfrm>
            <a:off x="6419088" y="416052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Joint longitudinal–survival model</a:t>
            </a:r>
            <a:endParaRPr lang="en-US" sz="1600" dirty="0"/>
          </a:p>
        </p:txBody>
      </p:sp>
      <p:sp>
        <p:nvSpPr>
          <p:cNvPr id="18" name="equation Joint longitudinal–survival model"/>
          <p:cNvSpPr txBox="1"/>
          <p:nvPr/>
        </p:nvSpPr>
        <p:spPr>
          <a:xfrm>
            <a:off x="6419088" y="4572000"/>
            <a:ext cx="4992624" cy="502920"/>
          </a:xfrm>
          <a:prstGeom prst="rect">
            <a:avLst/>
          </a:prstGeom>
          <a:solidFill>
            <a:srgbClr val="FFFFFF"/>
          </a:solidFill>
          <a:ln/>
        </p:spPr>
        <p:txBody>
          <a:bodyPr wrap="square" lIns="762" tIns="762" rIns="762" bIns="762" rtlCol="0" anchor="ctr"/>
          <a:lstStyle/>
          <a:p>
            <a:pPr indent="0" marL="0">
              <a:buNone/>
            </a:pPr>
            <a:r>
              <a:rPr lang="en-US" sz="1500" dirty="0">
                <a:solidFill>
                  <a:srgbClr val="264653"/>
                </a:solidFill>
                <a:latin typeface="+mj-lt" pitchFamily="34" charset="0"/>
                <a:ea typeface="+mj-lt" pitchFamily="34" charset="-122"/>
                <a:cs typeface="+mj-lt" pitchFamily="34" charset="-120"/>
              </a:rPr>
              <a:t>yᵢ(t) = mᵢ(t) + ε,   hᵢ(t) = h₀(t) e^(γᵀw + α mᵢ(t))</a:t>
            </a:r>
            <a:endParaRPr lang="en-US" sz="1500" dirty="0"/>
          </a:p>
        </p:txBody>
      </p:sp>
      <p:sp>
        <p:nvSpPr>
          <p:cNvPr id="19" name="desc Joint longitudinal–survival model"/>
          <p:cNvSpPr txBox="1"/>
          <p:nvPr/>
        </p:nvSpPr>
        <p:spPr>
          <a:xfrm>
            <a:off x="6419088" y="5166360"/>
            <a:ext cx="4992624" cy="987552"/>
          </a:xfrm>
          <a:prstGeom prst="rect">
            <a:avLst/>
          </a:prstGeom>
          <a:noFill/>
          <a:ln/>
        </p:spPr>
        <p:txBody>
          <a:bodyPr wrap="square" lIns="0" tIns="0" rIns="0" bIns="0" rtlCol="0" anchor="t"/>
          <a:lstStyle/>
          <a:p>
            <a:pPr indent="0" marL="0">
              <a:buNone/>
            </a:pPr>
            <a:r>
              <a:rPr lang="en-US" sz="1400" dirty="0">
                <a:solidFill>
                  <a:srgbClr val="1B2430"/>
                </a:solidFill>
              </a:rPr>
              <a:t>Links a biomarker trajectory mᵢ(t) to event risk; dynamic individual predictions for twins.</a:t>
            </a:r>
            <a:endParaRPr lang="en-US" sz="14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29184"/>
          </a:xfrm>
          <a:prstGeom prst="rect">
            <a:avLst/>
          </a:prstGeom>
          <a:noFill/>
          <a:ln/>
        </p:spPr>
        <p:txBody>
          <a:bodyPr wrap="square" lIns="0" tIns="0" rIns="0" bIns="0" rtlCol="0" anchor="t"/>
          <a:lstStyle/>
          <a:p>
            <a:pPr indent="0" marL="0">
              <a:buNone/>
            </a:pPr>
            <a:r>
              <a:rPr lang="en-US" sz="1300" b="1" dirty="0">
                <a:solidFill>
                  <a:srgbClr val="1F7A70"/>
                </a:solidFill>
              </a:rPr>
              <a:t>FAMILY 8 · DATA ASSIMILATION</a:t>
            </a:r>
            <a:endParaRPr lang="en-US" sz="1300" dirty="0"/>
          </a:p>
        </p:txBody>
      </p:sp>
      <p:sp>
        <p:nvSpPr>
          <p:cNvPr id="3" name="Text 0"/>
          <p:cNvSpPr/>
          <p:nvPr>
            <p:ph idx="101" type="title" hasCustomPrompt="1"/>
          </p:nvPr>
        </p:nvSpPr>
        <p:spPr>
          <a:xfrm>
            <a:off x="548640" y="603504"/>
            <a:ext cx="11064240" cy="731520"/>
          </a:xfrm>
          <a:prstGeom prst="rect">
            <a:avLst/>
          </a:prstGeom>
          <a:noFill/>
          <a:ln/>
        </p:spPr>
        <p:txBody>
          <a:bodyPr wrap="square" lIns="0" tIns="0" rIns="0" bIns="0" rtlCol="0" anchor="t"/>
          <a:lstStyle/>
          <a:p>
            <a:pPr algn="l" indent="0" marL="0">
              <a:buNone/>
            </a:pPr>
            <a:r>
              <a:rPr lang="en-US" sz="3600" b="1" dirty="0">
                <a:solidFill>
                  <a:srgbClr val="0B3C49"/>
                </a:solidFill>
              </a:rPr>
              <a:t>Keeping the twin synchronised with reality</a:t>
            </a:r>
            <a:endParaRPr lang="en-US" sz="3600" dirty="0"/>
          </a:p>
        </p:txBody>
      </p:sp>
      <p:sp>
        <p:nvSpPr>
          <p:cNvPr id="4" name="card Kalman filter (linear Gaussian)"/>
          <p:cNvSpPr/>
          <p:nvPr/>
        </p:nvSpPr>
        <p:spPr>
          <a:xfrm>
            <a:off x="548640" y="1554480"/>
            <a:ext cx="5394960" cy="2240280"/>
          </a:xfrm>
          <a:prstGeom prst="rect">
            <a:avLst>
              <a:gd name="adj" fmla="val 3265"/>
            </a:avLst>
          </a:prstGeom>
          <a:solidFill>
            <a:srgbClr val="EEF4F5"/>
          </a:solidFill>
          <a:ln w="12700">
            <a:solidFill>
              <a:srgbClr val="EEF4F5"/>
            </a:solidFill>
            <a:prstDash val="solid"/>
          </a:ln>
        </p:spPr>
      </p:sp>
      <p:sp>
        <p:nvSpPr>
          <p:cNvPr id="5" name="card title Kalman filter (linear Gaussian)"/>
          <p:cNvSpPr txBox="1"/>
          <p:nvPr/>
        </p:nvSpPr>
        <p:spPr>
          <a:xfrm>
            <a:off x="74980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Kalman filter (linear Gaussian)</a:t>
            </a:r>
            <a:endParaRPr lang="en-US" sz="1600" dirty="0"/>
          </a:p>
        </p:txBody>
      </p:sp>
      <p:sp>
        <p:nvSpPr>
          <p:cNvPr id="6" name="equation Kalman filter (linear Gaussian)"/>
          <p:cNvSpPr txBox="1"/>
          <p:nvPr/>
        </p:nvSpPr>
        <p:spPr>
          <a:xfrm>
            <a:off x="749808" y="2103120"/>
            <a:ext cx="4992624" cy="822960"/>
          </a:xfrm>
          <a:prstGeom prst="rect">
            <a:avLst/>
          </a:prstGeom>
          <a:solidFill>
            <a:srgbClr val="FFFFFF"/>
          </a:solidFill>
          <a:ln/>
        </p:spPr>
        <p:txBody>
          <a:bodyPr wrap="square" lIns="762" tIns="762" rIns="762" bIns="762" rtlCol="0" anchor="ctr"/>
          <a:lstStyle/>
          <a:p>
            <a:pPr indent="0" marL="0">
              <a:buNone/>
            </a:pPr>
            <a:r>
              <a:rPr lang="en-US" sz="1400" dirty="0">
                <a:solidFill>
                  <a:srgbClr val="264653"/>
                </a:solidFill>
                <a:latin typeface="+mj-lt" pitchFamily="34" charset="0"/>
                <a:ea typeface="+mj-lt" pitchFamily="34" charset="-122"/>
                <a:cs typeface="+mj-lt" pitchFamily="34" charset="-120"/>
              </a:rPr>
              <a:t>predict: x⁻ = A x̂,  P⁻ = A P Aᵀ + Q</a:t>
            </a:r>
            <a:endParaRPr lang="en-US" sz="1400" dirty="0"/>
          </a:p>
          <a:p>
            <a:pPr indent="0" marL="0">
              <a:buNone/>
            </a:pPr>
            <a:r>
              <a:rPr lang="en-US" sz="1400" dirty="0">
                <a:solidFill>
                  <a:srgbClr val="264653"/>
                </a:solidFill>
                <a:latin typeface="+mj-lt" pitchFamily="34" charset="0"/>
                <a:ea typeface="+mj-lt" pitchFamily="34" charset="-122"/>
                <a:cs typeface="+mj-lt" pitchFamily="34" charset="-120"/>
              </a:rPr>
              <a:t>update: K = P⁻Hᵀ(HP⁻Hᵀ + R)⁻¹,  x̂ = x⁻ + K(y − Hx⁻)</a:t>
            </a:r>
            <a:endParaRPr lang="en-US" sz="1400" dirty="0"/>
          </a:p>
        </p:txBody>
      </p:sp>
      <p:sp>
        <p:nvSpPr>
          <p:cNvPr id="7" name="desc Kalman filter (linear Gaussian)"/>
          <p:cNvSpPr txBox="1"/>
          <p:nvPr/>
        </p:nvSpPr>
        <p:spPr>
          <a:xfrm>
            <a:off x="749808" y="3017520"/>
            <a:ext cx="4992624" cy="667512"/>
          </a:xfrm>
          <a:prstGeom prst="rect">
            <a:avLst/>
          </a:prstGeom>
          <a:noFill/>
          <a:ln/>
        </p:spPr>
        <p:txBody>
          <a:bodyPr wrap="square" lIns="0" tIns="0" rIns="0" bIns="0" rtlCol="0" anchor="t"/>
          <a:lstStyle/>
          <a:p>
            <a:pPr indent="0" marL="0">
              <a:buNone/>
            </a:pPr>
            <a:r>
              <a:rPr lang="en-US" sz="1400" dirty="0">
                <a:solidFill>
                  <a:srgbClr val="1B2430"/>
                </a:solidFill>
              </a:rPr>
              <a:t>Optimal state estimate; gain K weighs model against measurement uncertainty.</a:t>
            </a:r>
            <a:endParaRPr lang="en-US" sz="1400" dirty="0"/>
          </a:p>
        </p:txBody>
      </p:sp>
      <p:sp>
        <p:nvSpPr>
          <p:cNvPr id="8" name="card Extended / unscented / ensemble KF"/>
          <p:cNvSpPr/>
          <p:nvPr/>
        </p:nvSpPr>
        <p:spPr>
          <a:xfrm>
            <a:off x="6217920" y="1554480"/>
            <a:ext cx="5394960" cy="2240280"/>
          </a:xfrm>
          <a:prstGeom prst="rect">
            <a:avLst>
              <a:gd name="adj" fmla="val 3265"/>
            </a:avLst>
          </a:prstGeom>
          <a:solidFill>
            <a:srgbClr val="EEF4F5"/>
          </a:solidFill>
          <a:ln w="12700">
            <a:solidFill>
              <a:srgbClr val="EEF4F5"/>
            </a:solidFill>
            <a:prstDash val="solid"/>
          </a:ln>
        </p:spPr>
      </p:sp>
      <p:sp>
        <p:nvSpPr>
          <p:cNvPr id="9" name="card title Extended / unscented / ensemble KF"/>
          <p:cNvSpPr txBox="1"/>
          <p:nvPr/>
        </p:nvSpPr>
        <p:spPr>
          <a:xfrm>
            <a:off x="641908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Extended / unscented / ensemble KF</a:t>
            </a:r>
            <a:endParaRPr lang="en-US" sz="1600" dirty="0"/>
          </a:p>
        </p:txBody>
      </p:sp>
      <p:sp>
        <p:nvSpPr>
          <p:cNvPr id="10" name="equation Extended / unscented / ensemble KF"/>
          <p:cNvSpPr txBox="1"/>
          <p:nvPr/>
        </p:nvSpPr>
        <p:spPr>
          <a:xfrm>
            <a:off x="6419088" y="2103120"/>
            <a:ext cx="4992624" cy="822960"/>
          </a:xfrm>
          <a:prstGeom prst="rect">
            <a:avLst/>
          </a:prstGeom>
          <a:solidFill>
            <a:srgbClr val="FFFFFF"/>
          </a:solidFill>
          <a:ln/>
        </p:spPr>
        <p:txBody>
          <a:bodyPr wrap="square" lIns="762" tIns="762" rIns="762" bIns="762" rtlCol="0" anchor="ctr"/>
          <a:lstStyle/>
          <a:p>
            <a:pPr indent="0" marL="0">
              <a:buNone/>
            </a:pPr>
            <a:r>
              <a:rPr lang="en-US" sz="1500" dirty="0">
                <a:solidFill>
                  <a:srgbClr val="264653"/>
                </a:solidFill>
                <a:latin typeface="+mj-lt" pitchFamily="34" charset="0"/>
                <a:ea typeface="+mj-lt" pitchFamily="34" charset="-122"/>
                <a:cs typeface="+mj-lt" pitchFamily="34" charset="-120"/>
              </a:rPr>
              <a:t>EKF: linearise f, h with Jacobians</a:t>
            </a:r>
            <a:endParaRPr lang="en-US" sz="1500" dirty="0"/>
          </a:p>
          <a:p>
            <a:pPr indent="0" marL="0">
              <a:buNone/>
            </a:pPr>
            <a:r>
              <a:rPr lang="en-US" sz="1500" dirty="0">
                <a:solidFill>
                  <a:srgbClr val="264653"/>
                </a:solidFill>
                <a:latin typeface="+mj-lt" pitchFamily="34" charset="0"/>
                <a:ea typeface="+mj-lt" pitchFamily="34" charset="-122"/>
                <a:cs typeface="+mj-lt" pitchFamily="34" charset="-120"/>
              </a:rPr>
              <a:t>EnKF: P ≈ sample covariance of N members</a:t>
            </a:r>
            <a:endParaRPr lang="en-US" sz="1500" dirty="0"/>
          </a:p>
        </p:txBody>
      </p:sp>
      <p:sp>
        <p:nvSpPr>
          <p:cNvPr id="11" name="desc Extended / unscented / ensemble KF"/>
          <p:cNvSpPr txBox="1"/>
          <p:nvPr/>
        </p:nvSpPr>
        <p:spPr>
          <a:xfrm>
            <a:off x="6419088" y="3017520"/>
            <a:ext cx="4992624" cy="667512"/>
          </a:xfrm>
          <a:prstGeom prst="rect">
            <a:avLst/>
          </a:prstGeom>
          <a:noFill/>
          <a:ln/>
        </p:spPr>
        <p:txBody>
          <a:bodyPr wrap="square" lIns="0" tIns="0" rIns="0" bIns="0" rtlCol="0" anchor="t"/>
          <a:lstStyle/>
          <a:p>
            <a:pPr indent="0" marL="0">
              <a:buNone/>
            </a:pPr>
            <a:r>
              <a:rPr lang="en-US" sz="1400" dirty="0">
                <a:solidFill>
                  <a:srgbClr val="1B2430"/>
                </a:solidFill>
              </a:rPr>
              <a:t>Nonlinear and high-dimensional systems; also estimates parameters by augmenting the state.</a:t>
            </a:r>
            <a:endParaRPr lang="en-US" sz="1400" dirty="0"/>
          </a:p>
        </p:txBody>
      </p:sp>
      <p:sp>
        <p:nvSpPr>
          <p:cNvPr id="12" name="card Particle filter"/>
          <p:cNvSpPr/>
          <p:nvPr/>
        </p:nvSpPr>
        <p:spPr>
          <a:xfrm>
            <a:off x="548640" y="4023360"/>
            <a:ext cx="5394960" cy="2240280"/>
          </a:xfrm>
          <a:prstGeom prst="rect">
            <a:avLst>
              <a:gd name="adj" fmla="val 3265"/>
            </a:avLst>
          </a:prstGeom>
          <a:solidFill>
            <a:srgbClr val="EEF4F5"/>
          </a:solidFill>
          <a:ln w="12700">
            <a:solidFill>
              <a:srgbClr val="EEF4F5"/>
            </a:solidFill>
            <a:prstDash val="solid"/>
          </a:ln>
        </p:spPr>
      </p:sp>
      <p:sp>
        <p:nvSpPr>
          <p:cNvPr id="13" name="card title Particle filter"/>
          <p:cNvSpPr txBox="1"/>
          <p:nvPr/>
        </p:nvSpPr>
        <p:spPr>
          <a:xfrm>
            <a:off x="749808" y="416052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Particle filter</a:t>
            </a:r>
            <a:endParaRPr lang="en-US" sz="1600" dirty="0"/>
          </a:p>
        </p:txBody>
      </p:sp>
      <p:sp>
        <p:nvSpPr>
          <p:cNvPr id="14" name="equation Particle filter"/>
          <p:cNvSpPr txBox="1"/>
          <p:nvPr/>
        </p:nvSpPr>
        <p:spPr>
          <a:xfrm>
            <a:off x="749808" y="4572000"/>
            <a:ext cx="4992624" cy="822960"/>
          </a:xfrm>
          <a:prstGeom prst="rect">
            <a:avLst/>
          </a:prstGeom>
          <a:solidFill>
            <a:srgbClr val="FFFFFF"/>
          </a:solidFill>
          <a:ln/>
        </p:spPr>
        <p:txBody>
          <a:bodyPr wrap="square" lIns="762" tIns="762" rIns="762" bIns="762" rtlCol="0" anchor="ctr"/>
          <a:lstStyle/>
          <a:p>
            <a:pPr indent="0" marL="0">
              <a:buNone/>
            </a:pPr>
            <a:r>
              <a:rPr lang="en-US" sz="1400" dirty="0">
                <a:solidFill>
                  <a:srgbClr val="264653"/>
                </a:solidFill>
                <a:latin typeface="+mj-lt" pitchFamily="34" charset="0"/>
                <a:ea typeface="+mj-lt" pitchFamily="34" charset="-122"/>
                <a:cs typeface="+mj-lt" pitchFamily="34" charset="-120"/>
              </a:rPr>
              <a:t>xₖ⁽ⁱ⁾ ~ p(xₖ | xₖ₋₁⁽ⁱ⁾),   wₖ⁽ⁱ⁾ ∝ wₖ₋₁⁽ⁱ⁾ p(yₖ | xₖ⁽ⁱ⁾)</a:t>
            </a:r>
            <a:endParaRPr lang="en-US" sz="1400" dirty="0"/>
          </a:p>
          <a:p>
            <a:pPr indent="0" marL="0">
              <a:buNone/>
            </a:pPr>
            <a:r>
              <a:rPr lang="en-US" sz="1400" dirty="0">
                <a:solidFill>
                  <a:srgbClr val="264653"/>
                </a:solidFill>
                <a:latin typeface="+mj-lt" pitchFamily="34" charset="0"/>
                <a:ea typeface="+mj-lt" pitchFamily="34" charset="-122"/>
                <a:cs typeface="+mj-lt" pitchFamily="34" charset="-120"/>
              </a:rPr>
              <a:t>resample when N_eff = 1 / Σ w² is small</a:t>
            </a:r>
            <a:endParaRPr lang="en-US" sz="1400" dirty="0"/>
          </a:p>
        </p:txBody>
      </p:sp>
      <p:sp>
        <p:nvSpPr>
          <p:cNvPr id="15" name="desc Particle filter"/>
          <p:cNvSpPr txBox="1"/>
          <p:nvPr/>
        </p:nvSpPr>
        <p:spPr>
          <a:xfrm>
            <a:off x="749808" y="5486400"/>
            <a:ext cx="4992624" cy="667512"/>
          </a:xfrm>
          <a:prstGeom prst="rect">
            <a:avLst/>
          </a:prstGeom>
          <a:noFill/>
          <a:ln/>
        </p:spPr>
        <p:txBody>
          <a:bodyPr wrap="square" lIns="0" tIns="0" rIns="0" bIns="0" rtlCol="0" anchor="t"/>
          <a:lstStyle/>
          <a:p>
            <a:pPr indent="0" marL="0">
              <a:buNone/>
            </a:pPr>
            <a:r>
              <a:rPr lang="en-US" sz="1400" dirty="0">
                <a:solidFill>
                  <a:srgbClr val="1B2430"/>
                </a:solidFill>
              </a:rPr>
              <a:t>Sequential Monte Carlo; any nonlinearity or noise distribution.</a:t>
            </a:r>
            <a:endParaRPr lang="en-US" sz="1400" dirty="0"/>
          </a:p>
        </p:txBody>
      </p:sp>
      <p:sp>
        <p:nvSpPr>
          <p:cNvPr id="16" name="card Variational assimilation (4D-Var)"/>
          <p:cNvSpPr/>
          <p:nvPr/>
        </p:nvSpPr>
        <p:spPr>
          <a:xfrm>
            <a:off x="6217920" y="4023360"/>
            <a:ext cx="5394960" cy="2240280"/>
          </a:xfrm>
          <a:prstGeom prst="rect">
            <a:avLst>
              <a:gd name="adj" fmla="val 3265"/>
            </a:avLst>
          </a:prstGeom>
          <a:solidFill>
            <a:srgbClr val="EEF4F5"/>
          </a:solidFill>
          <a:ln w="12700">
            <a:solidFill>
              <a:srgbClr val="EEF4F5"/>
            </a:solidFill>
            <a:prstDash val="solid"/>
          </a:ln>
        </p:spPr>
      </p:sp>
      <p:sp>
        <p:nvSpPr>
          <p:cNvPr id="17" name="card title Variational assimilation (4D-Var)"/>
          <p:cNvSpPr txBox="1"/>
          <p:nvPr/>
        </p:nvSpPr>
        <p:spPr>
          <a:xfrm>
            <a:off x="6419088" y="416052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Variational assimilation (4D-Var)</a:t>
            </a:r>
            <a:endParaRPr lang="en-US" sz="1600" dirty="0"/>
          </a:p>
        </p:txBody>
      </p:sp>
      <p:sp>
        <p:nvSpPr>
          <p:cNvPr id="18" name="equation Variational assimilation (4D-Var)"/>
          <p:cNvSpPr txBox="1"/>
          <p:nvPr/>
        </p:nvSpPr>
        <p:spPr>
          <a:xfrm>
            <a:off x="6419088" y="4572000"/>
            <a:ext cx="4992624" cy="731520"/>
          </a:xfrm>
          <a:prstGeom prst="rect">
            <a:avLst/>
          </a:prstGeom>
          <a:solidFill>
            <a:srgbClr val="FFFFFF"/>
          </a:solidFill>
          <a:ln/>
        </p:spPr>
        <p:txBody>
          <a:bodyPr wrap="square" lIns="762" tIns="762" rIns="762" bIns="762" rtlCol="0" anchor="ctr"/>
          <a:lstStyle/>
          <a:p>
            <a:pPr indent="0" marL="0">
              <a:buNone/>
            </a:pPr>
            <a:r>
              <a:rPr lang="en-US" sz="1400" dirty="0">
                <a:solidFill>
                  <a:srgbClr val="264653"/>
                </a:solidFill>
                <a:latin typeface="+mj-lt" pitchFamily="34" charset="0"/>
                <a:ea typeface="+mj-lt" pitchFamily="34" charset="-122"/>
                <a:cs typeface="+mj-lt" pitchFamily="34" charset="-120"/>
              </a:rPr>
              <a:t>J(x₀) = ‖x₀ − x_b‖²_{B⁻¹} + Σₖ ‖yₖ − h(xₖ)‖²_{R⁻¹}</a:t>
            </a:r>
            <a:endParaRPr lang="en-US" sz="1400" dirty="0"/>
          </a:p>
        </p:txBody>
      </p:sp>
      <p:sp>
        <p:nvSpPr>
          <p:cNvPr id="19" name="desc Variational assimilation (4D-Var)"/>
          <p:cNvSpPr txBox="1"/>
          <p:nvPr/>
        </p:nvSpPr>
        <p:spPr>
          <a:xfrm>
            <a:off x="6419088" y="5394960"/>
            <a:ext cx="4992624" cy="758952"/>
          </a:xfrm>
          <a:prstGeom prst="rect">
            <a:avLst/>
          </a:prstGeom>
          <a:noFill/>
          <a:ln/>
        </p:spPr>
        <p:txBody>
          <a:bodyPr wrap="square" lIns="0" tIns="0" rIns="0" bIns="0" rtlCol="0" anchor="t"/>
          <a:lstStyle/>
          <a:p>
            <a:pPr indent="0" marL="0">
              <a:buNone/>
            </a:pPr>
            <a:r>
              <a:rPr lang="en-US" sz="1400" dirty="0">
                <a:solidFill>
                  <a:srgbClr val="1B2430"/>
                </a:solidFill>
              </a:rPr>
              <a:t>Fit the initial state over a time window by optimisation with adjoints; weather-forecast heritage.</a:t>
            </a:r>
            <a:endParaRPr lang="en-US" sz="14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29184"/>
          </a:xfrm>
          <a:prstGeom prst="rect">
            <a:avLst/>
          </a:prstGeom>
          <a:noFill/>
          <a:ln/>
        </p:spPr>
        <p:txBody>
          <a:bodyPr wrap="square" lIns="0" tIns="0" rIns="0" bIns="0" rtlCol="0" anchor="t"/>
          <a:lstStyle/>
          <a:p>
            <a:pPr indent="0" marL="0">
              <a:buNone/>
            </a:pPr>
            <a:r>
              <a:rPr lang="en-US" sz="1300" b="1" dirty="0">
                <a:solidFill>
                  <a:srgbClr val="1F7A70"/>
                </a:solidFill>
              </a:rPr>
              <a:t>FAMILY 8 · CALIBRATION AND IDENTIFIABILITY</a:t>
            </a:r>
            <a:endParaRPr lang="en-US" sz="1300" dirty="0"/>
          </a:p>
        </p:txBody>
      </p:sp>
      <p:sp>
        <p:nvSpPr>
          <p:cNvPr id="3" name="Text 0"/>
          <p:cNvSpPr/>
          <p:nvPr>
            <p:ph idx="101" type="title" hasCustomPrompt="1"/>
          </p:nvPr>
        </p:nvSpPr>
        <p:spPr>
          <a:xfrm>
            <a:off x="548640" y="603504"/>
            <a:ext cx="11064240" cy="731520"/>
          </a:xfrm>
          <a:prstGeom prst="rect">
            <a:avLst/>
          </a:prstGeom>
          <a:noFill/>
          <a:ln/>
        </p:spPr>
        <p:txBody>
          <a:bodyPr wrap="square" lIns="0" tIns="0" rIns="0" bIns="0" rtlCol="0" anchor="t"/>
          <a:lstStyle/>
          <a:p>
            <a:pPr algn="l" indent="0" marL="0">
              <a:buNone/>
            </a:pPr>
            <a:r>
              <a:rPr lang="en-US" sz="3600" b="1" dirty="0">
                <a:solidFill>
                  <a:srgbClr val="0B3C49"/>
                </a:solidFill>
              </a:rPr>
              <a:t>Estimating parameters, and knowing when you can</a:t>
            </a:r>
            <a:endParaRPr lang="en-US" sz="3600" dirty="0"/>
          </a:p>
        </p:txBody>
      </p:sp>
      <p:sp>
        <p:nvSpPr>
          <p:cNvPr id="4" name="card Least squares and likelihood"/>
          <p:cNvSpPr/>
          <p:nvPr/>
        </p:nvSpPr>
        <p:spPr>
          <a:xfrm>
            <a:off x="548640" y="1554480"/>
            <a:ext cx="5394960" cy="2240280"/>
          </a:xfrm>
          <a:prstGeom prst="rect">
            <a:avLst>
              <a:gd name="adj" fmla="val 3265"/>
            </a:avLst>
          </a:prstGeom>
          <a:solidFill>
            <a:srgbClr val="EEF4F5"/>
          </a:solidFill>
          <a:ln w="12700">
            <a:solidFill>
              <a:srgbClr val="EEF4F5"/>
            </a:solidFill>
            <a:prstDash val="solid"/>
          </a:ln>
        </p:spPr>
      </p:sp>
      <p:sp>
        <p:nvSpPr>
          <p:cNvPr id="5" name="card title Least squares and likelihood"/>
          <p:cNvSpPr txBox="1"/>
          <p:nvPr/>
        </p:nvSpPr>
        <p:spPr>
          <a:xfrm>
            <a:off x="74980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Least squares and likelihood</a:t>
            </a:r>
            <a:endParaRPr lang="en-US" sz="1600" dirty="0"/>
          </a:p>
        </p:txBody>
      </p:sp>
      <p:sp>
        <p:nvSpPr>
          <p:cNvPr id="6" name="equation Least squares and likelihood"/>
          <p:cNvSpPr txBox="1"/>
          <p:nvPr/>
        </p:nvSpPr>
        <p:spPr>
          <a:xfrm>
            <a:off x="749808" y="2103120"/>
            <a:ext cx="4992624" cy="822960"/>
          </a:xfrm>
          <a:prstGeom prst="rect">
            <a:avLst/>
          </a:prstGeom>
          <a:solidFill>
            <a:srgbClr val="FFFFFF"/>
          </a:solidFill>
          <a:ln/>
        </p:spPr>
        <p:txBody>
          <a:bodyPr wrap="square" lIns="762" tIns="762" rIns="762" bIns="762" rtlCol="0" anchor="ctr"/>
          <a:lstStyle/>
          <a:p>
            <a:pPr indent="0" marL="0">
              <a:buNone/>
            </a:pPr>
            <a:r>
              <a:rPr lang="en-US" sz="1600" dirty="0">
                <a:solidFill>
                  <a:srgbClr val="264653"/>
                </a:solidFill>
                <a:latin typeface="+mj-lt" pitchFamily="34" charset="0"/>
                <a:ea typeface="+mj-lt" pitchFamily="34" charset="-122"/>
                <a:cs typeface="+mj-lt" pitchFamily="34" charset="-120"/>
              </a:rPr>
              <a:t>θ̂ = argmin Σ (yᵢ − f(tᵢ, θ))² / σᵢ²</a:t>
            </a:r>
            <a:endParaRPr lang="en-US" sz="1600" dirty="0"/>
          </a:p>
          <a:p>
            <a:pPr indent="0" marL="0">
              <a:buNone/>
            </a:pPr>
            <a:r>
              <a:rPr lang="en-US" sz="1600" dirty="0">
                <a:solidFill>
                  <a:srgbClr val="264653"/>
                </a:solidFill>
                <a:latin typeface="+mj-lt" pitchFamily="34" charset="0"/>
                <a:ea typeface="+mj-lt" pitchFamily="34" charset="-122"/>
                <a:cs typeface="+mj-lt" pitchFamily="34" charset="-120"/>
              </a:rPr>
              <a:t>MLE: θ̂ = argmax log p(y | θ)</a:t>
            </a:r>
            <a:endParaRPr lang="en-US" sz="1600" dirty="0"/>
          </a:p>
        </p:txBody>
      </p:sp>
      <p:sp>
        <p:nvSpPr>
          <p:cNvPr id="7" name="desc Least squares and likelihood"/>
          <p:cNvSpPr txBox="1"/>
          <p:nvPr/>
        </p:nvSpPr>
        <p:spPr>
          <a:xfrm>
            <a:off x="749808" y="3017520"/>
            <a:ext cx="4992624" cy="667512"/>
          </a:xfrm>
          <a:prstGeom prst="rect">
            <a:avLst/>
          </a:prstGeom>
          <a:noFill/>
          <a:ln/>
        </p:spPr>
        <p:txBody>
          <a:bodyPr wrap="square" lIns="0" tIns="0" rIns="0" bIns="0" rtlCol="0" anchor="t"/>
          <a:lstStyle/>
          <a:p>
            <a:pPr indent="0" marL="0">
              <a:buNone/>
            </a:pPr>
            <a:r>
              <a:rPr lang="en-US" sz="1400" dirty="0">
                <a:solidFill>
                  <a:srgbClr val="1B2430"/>
                </a:solidFill>
              </a:rPr>
              <a:t>Standard fitting; weighted least squares equals MLE for Gaussian noise.</a:t>
            </a:r>
            <a:endParaRPr lang="en-US" sz="1400" dirty="0"/>
          </a:p>
        </p:txBody>
      </p:sp>
      <p:sp>
        <p:nvSpPr>
          <p:cNvPr id="8" name="card Bayesian inference (MCMC)"/>
          <p:cNvSpPr/>
          <p:nvPr/>
        </p:nvSpPr>
        <p:spPr>
          <a:xfrm>
            <a:off x="6217920" y="1554480"/>
            <a:ext cx="5394960" cy="2240280"/>
          </a:xfrm>
          <a:prstGeom prst="rect">
            <a:avLst>
              <a:gd name="adj" fmla="val 3265"/>
            </a:avLst>
          </a:prstGeom>
          <a:solidFill>
            <a:srgbClr val="EEF4F5"/>
          </a:solidFill>
          <a:ln w="12700">
            <a:solidFill>
              <a:srgbClr val="EEF4F5"/>
            </a:solidFill>
            <a:prstDash val="solid"/>
          </a:ln>
        </p:spPr>
      </p:sp>
      <p:sp>
        <p:nvSpPr>
          <p:cNvPr id="9" name="card title Bayesian inference (MCMC)"/>
          <p:cNvSpPr txBox="1"/>
          <p:nvPr/>
        </p:nvSpPr>
        <p:spPr>
          <a:xfrm>
            <a:off x="641908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Bayesian inference (MCMC)</a:t>
            </a:r>
            <a:endParaRPr lang="en-US" sz="1600" dirty="0"/>
          </a:p>
        </p:txBody>
      </p:sp>
      <p:sp>
        <p:nvSpPr>
          <p:cNvPr id="10" name="equation Bayesian inference (MCMC)"/>
          <p:cNvSpPr txBox="1"/>
          <p:nvPr/>
        </p:nvSpPr>
        <p:spPr>
          <a:xfrm>
            <a:off x="6419088" y="2103120"/>
            <a:ext cx="4992624" cy="822960"/>
          </a:xfrm>
          <a:prstGeom prst="rect">
            <a:avLst/>
          </a:prstGeom>
          <a:solidFill>
            <a:srgbClr val="FFFFFF"/>
          </a:solidFill>
          <a:ln/>
        </p:spPr>
        <p:txBody>
          <a:bodyPr wrap="square" lIns="762" tIns="762" rIns="762" bIns="762" rtlCol="0" anchor="ctr"/>
          <a:lstStyle/>
          <a:p>
            <a:pPr indent="0" marL="0">
              <a:buNone/>
            </a:pPr>
            <a:r>
              <a:rPr lang="en-US" sz="1500" dirty="0">
                <a:solidFill>
                  <a:srgbClr val="264653"/>
                </a:solidFill>
                <a:latin typeface="+mj-lt" pitchFamily="34" charset="0"/>
                <a:ea typeface="+mj-lt" pitchFamily="34" charset="-122"/>
                <a:cs typeface="+mj-lt" pitchFamily="34" charset="-120"/>
              </a:rPr>
              <a:t>p(θ | y) ∝ p(y | θ) p(θ)</a:t>
            </a:r>
            <a:endParaRPr lang="en-US" sz="1500" dirty="0"/>
          </a:p>
          <a:p>
            <a:pPr indent="0" marL="0">
              <a:buNone/>
            </a:pPr>
            <a:r>
              <a:rPr lang="en-US" sz="1500" dirty="0">
                <a:solidFill>
                  <a:srgbClr val="264653"/>
                </a:solidFill>
                <a:latin typeface="+mj-lt" pitchFamily="34" charset="0"/>
                <a:ea typeface="+mj-lt" pitchFamily="34" charset="-122"/>
                <a:cs typeface="+mj-lt" pitchFamily="34" charset="-120"/>
              </a:rPr>
              <a:t>Metropolis: accept θ′ with min(1, p(θ′|y) / p(θ|y))</a:t>
            </a:r>
            <a:endParaRPr lang="en-US" sz="1500" dirty="0"/>
          </a:p>
        </p:txBody>
      </p:sp>
      <p:sp>
        <p:nvSpPr>
          <p:cNvPr id="11" name="desc Bayesian inference (MCMC)"/>
          <p:cNvSpPr txBox="1"/>
          <p:nvPr/>
        </p:nvSpPr>
        <p:spPr>
          <a:xfrm>
            <a:off x="6419088" y="3017520"/>
            <a:ext cx="4992624" cy="667512"/>
          </a:xfrm>
          <a:prstGeom prst="rect">
            <a:avLst/>
          </a:prstGeom>
          <a:noFill/>
          <a:ln/>
        </p:spPr>
        <p:txBody>
          <a:bodyPr wrap="square" lIns="0" tIns="0" rIns="0" bIns="0" rtlCol="0" anchor="t"/>
          <a:lstStyle/>
          <a:p>
            <a:pPr indent="0" marL="0">
              <a:buNone/>
            </a:pPr>
            <a:r>
              <a:rPr lang="en-US" sz="1400" dirty="0">
                <a:solidFill>
                  <a:srgbClr val="1B2430"/>
                </a:solidFill>
              </a:rPr>
              <a:t>Full posterior for parameters and predictions; Hamiltonian MC (Stan) for many parameters.</a:t>
            </a:r>
            <a:endParaRPr lang="en-US" sz="1400" dirty="0"/>
          </a:p>
        </p:txBody>
      </p:sp>
      <p:sp>
        <p:nvSpPr>
          <p:cNvPr id="12" name="card Fisher information, Cramér–Rao"/>
          <p:cNvSpPr/>
          <p:nvPr/>
        </p:nvSpPr>
        <p:spPr>
          <a:xfrm>
            <a:off x="548640" y="4023360"/>
            <a:ext cx="5394960" cy="2240280"/>
          </a:xfrm>
          <a:prstGeom prst="rect">
            <a:avLst>
              <a:gd name="adj" fmla="val 3265"/>
            </a:avLst>
          </a:prstGeom>
          <a:solidFill>
            <a:srgbClr val="EEF4F5"/>
          </a:solidFill>
          <a:ln w="12700">
            <a:solidFill>
              <a:srgbClr val="EEF4F5"/>
            </a:solidFill>
            <a:prstDash val="solid"/>
          </a:ln>
        </p:spPr>
      </p:sp>
      <p:sp>
        <p:nvSpPr>
          <p:cNvPr id="13" name="card title Fisher information, Cramér–Rao"/>
          <p:cNvSpPr txBox="1"/>
          <p:nvPr/>
        </p:nvSpPr>
        <p:spPr>
          <a:xfrm>
            <a:off x="749808" y="416052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Fisher information, Cramér–Rao</a:t>
            </a:r>
            <a:endParaRPr lang="en-US" sz="1600" dirty="0"/>
          </a:p>
        </p:txBody>
      </p:sp>
      <p:sp>
        <p:nvSpPr>
          <p:cNvPr id="14" name="equation Fisher information, Cramér–Rao"/>
          <p:cNvSpPr txBox="1"/>
          <p:nvPr/>
        </p:nvSpPr>
        <p:spPr>
          <a:xfrm>
            <a:off x="749808" y="4572000"/>
            <a:ext cx="4992624" cy="822960"/>
          </a:xfrm>
          <a:prstGeom prst="rect">
            <a:avLst/>
          </a:prstGeom>
          <a:solidFill>
            <a:srgbClr val="FFFFFF"/>
          </a:solidFill>
          <a:ln/>
        </p:spPr>
        <p:txBody>
          <a:bodyPr wrap="square" lIns="762" tIns="762" rIns="762" bIns="762" rtlCol="0" anchor="ctr"/>
          <a:lstStyle/>
          <a:p>
            <a:pPr indent="0" marL="0">
              <a:buNone/>
            </a:pPr>
            <a:r>
              <a:rPr lang="en-US" sz="1600" dirty="0">
                <a:solidFill>
                  <a:srgbClr val="264653"/>
                </a:solidFill>
                <a:latin typeface="+mj-lt" pitchFamily="34" charset="0"/>
                <a:ea typeface="+mj-lt" pitchFamily="34" charset="-122"/>
                <a:cs typeface="+mj-lt" pitchFamily="34" charset="-120"/>
              </a:rPr>
              <a:t>FIM = Jᵀ Σ⁻¹ J,   J = ∂f/∂θ</a:t>
            </a:r>
            <a:endParaRPr lang="en-US" sz="1600" dirty="0"/>
          </a:p>
          <a:p>
            <a:pPr indent="0" marL="0">
              <a:buNone/>
            </a:pPr>
            <a:r>
              <a:rPr lang="en-US" sz="1600" dirty="0">
                <a:solidFill>
                  <a:srgbClr val="264653"/>
                </a:solidFill>
                <a:latin typeface="+mj-lt" pitchFamily="34" charset="0"/>
                <a:ea typeface="+mj-lt" pitchFamily="34" charset="-122"/>
                <a:cs typeface="+mj-lt" pitchFamily="34" charset="-120"/>
              </a:rPr>
              <a:t>Var(θ̂ⱼ) ≥ [FIM⁻¹]ⱼⱼ</a:t>
            </a:r>
            <a:endParaRPr lang="en-US" sz="1600" dirty="0"/>
          </a:p>
        </p:txBody>
      </p:sp>
      <p:sp>
        <p:nvSpPr>
          <p:cNvPr id="15" name="desc Fisher information, Cramér–Rao"/>
          <p:cNvSpPr txBox="1"/>
          <p:nvPr/>
        </p:nvSpPr>
        <p:spPr>
          <a:xfrm>
            <a:off x="749808" y="5486400"/>
            <a:ext cx="4992624" cy="667512"/>
          </a:xfrm>
          <a:prstGeom prst="rect">
            <a:avLst/>
          </a:prstGeom>
          <a:noFill/>
          <a:ln/>
        </p:spPr>
        <p:txBody>
          <a:bodyPr wrap="square" lIns="0" tIns="0" rIns="0" bIns="0" rtlCol="0" anchor="t"/>
          <a:lstStyle/>
          <a:p>
            <a:pPr indent="0" marL="0">
              <a:buNone/>
            </a:pPr>
            <a:r>
              <a:rPr lang="en-US" sz="1400" dirty="0">
                <a:solidFill>
                  <a:srgbClr val="1B2430"/>
                </a:solidFill>
              </a:rPr>
              <a:t>Practical identifiability and optimal experimental design (D-optimal: maximise det FIM).</a:t>
            </a:r>
            <a:endParaRPr lang="en-US" sz="1400" dirty="0"/>
          </a:p>
        </p:txBody>
      </p:sp>
      <p:sp>
        <p:nvSpPr>
          <p:cNvPr id="16" name="card Approximate Bayesian computation"/>
          <p:cNvSpPr/>
          <p:nvPr/>
        </p:nvSpPr>
        <p:spPr>
          <a:xfrm>
            <a:off x="6217920" y="4023360"/>
            <a:ext cx="5394960" cy="2240280"/>
          </a:xfrm>
          <a:prstGeom prst="rect">
            <a:avLst>
              <a:gd name="adj" fmla="val 3265"/>
            </a:avLst>
          </a:prstGeom>
          <a:solidFill>
            <a:srgbClr val="EEF4F5"/>
          </a:solidFill>
          <a:ln w="12700">
            <a:solidFill>
              <a:srgbClr val="EEF4F5"/>
            </a:solidFill>
            <a:prstDash val="solid"/>
          </a:ln>
        </p:spPr>
      </p:sp>
      <p:sp>
        <p:nvSpPr>
          <p:cNvPr id="17" name="card title Approximate Bayesian computation"/>
          <p:cNvSpPr txBox="1"/>
          <p:nvPr/>
        </p:nvSpPr>
        <p:spPr>
          <a:xfrm>
            <a:off x="6419088" y="416052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Approximate Bayesian computation</a:t>
            </a:r>
            <a:endParaRPr lang="en-US" sz="1600" dirty="0"/>
          </a:p>
        </p:txBody>
      </p:sp>
      <p:sp>
        <p:nvSpPr>
          <p:cNvPr id="18" name="equation Approximate Bayesian computation"/>
          <p:cNvSpPr txBox="1"/>
          <p:nvPr/>
        </p:nvSpPr>
        <p:spPr>
          <a:xfrm>
            <a:off x="6419088" y="4572000"/>
            <a:ext cx="4992624" cy="731520"/>
          </a:xfrm>
          <a:prstGeom prst="rect">
            <a:avLst/>
          </a:prstGeom>
          <a:solidFill>
            <a:srgbClr val="FFFFFF"/>
          </a:solidFill>
          <a:ln/>
        </p:spPr>
        <p:txBody>
          <a:bodyPr wrap="square" lIns="762" tIns="762" rIns="762" bIns="762" rtlCol="0" anchor="ctr"/>
          <a:lstStyle/>
          <a:p>
            <a:pPr indent="0" marL="0">
              <a:buNone/>
            </a:pPr>
            <a:r>
              <a:rPr lang="en-US" sz="1600" dirty="0">
                <a:solidFill>
                  <a:srgbClr val="264653"/>
                </a:solidFill>
                <a:latin typeface="+mj-lt" pitchFamily="34" charset="0"/>
                <a:ea typeface="+mj-lt" pitchFamily="34" charset="-122"/>
                <a:cs typeface="+mj-lt" pitchFamily="34" charset="-120"/>
              </a:rPr>
              <a:t>accept θ if ρ(s(y_sim(θ)), s(y_obs)) &lt; ε</a:t>
            </a:r>
            <a:endParaRPr lang="en-US" sz="1600" dirty="0"/>
          </a:p>
        </p:txBody>
      </p:sp>
      <p:sp>
        <p:nvSpPr>
          <p:cNvPr id="19" name="desc Approximate Bayesian computation"/>
          <p:cNvSpPr txBox="1"/>
          <p:nvPr/>
        </p:nvSpPr>
        <p:spPr>
          <a:xfrm>
            <a:off x="6419088" y="5394960"/>
            <a:ext cx="4992624" cy="758952"/>
          </a:xfrm>
          <a:prstGeom prst="rect">
            <a:avLst/>
          </a:prstGeom>
          <a:noFill/>
          <a:ln/>
        </p:spPr>
        <p:txBody>
          <a:bodyPr wrap="square" lIns="0" tIns="0" rIns="0" bIns="0" rtlCol="0" anchor="t"/>
          <a:lstStyle/>
          <a:p>
            <a:pPr indent="0" marL="0">
              <a:buNone/>
            </a:pPr>
            <a:r>
              <a:rPr lang="en-US" sz="1400" dirty="0">
                <a:solidFill>
                  <a:srgbClr val="1B2430"/>
                </a:solidFill>
              </a:rPr>
              <a:t>Likelihood-free calibration with summary statistics s; for agent-based and stochastic models.</a:t>
            </a:r>
            <a:endParaRPr lang="en-US" sz="14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29184"/>
          </a:xfrm>
          <a:prstGeom prst="rect">
            <a:avLst/>
          </a:prstGeom>
          <a:noFill/>
          <a:ln/>
        </p:spPr>
        <p:txBody>
          <a:bodyPr wrap="square" lIns="0" tIns="0" rIns="0" bIns="0" rtlCol="0" anchor="t"/>
          <a:lstStyle/>
          <a:p>
            <a:pPr indent="0" marL="0">
              <a:buNone/>
            </a:pPr>
            <a:r>
              <a:rPr lang="en-US" sz="1300" b="1" dirty="0">
                <a:solidFill>
                  <a:srgbClr val="1F7A70"/>
                </a:solidFill>
              </a:rPr>
              <a:t>FAMILY 9 · UNCERTAINTY QUANTIFICATION</a:t>
            </a:r>
            <a:endParaRPr lang="en-US" sz="1300" dirty="0"/>
          </a:p>
        </p:txBody>
      </p:sp>
      <p:sp>
        <p:nvSpPr>
          <p:cNvPr id="3" name="Text 0"/>
          <p:cNvSpPr/>
          <p:nvPr>
            <p:ph idx="101" type="title" hasCustomPrompt="1"/>
          </p:nvPr>
        </p:nvSpPr>
        <p:spPr>
          <a:xfrm>
            <a:off x="548640" y="603504"/>
            <a:ext cx="11064240" cy="731520"/>
          </a:xfrm>
          <a:prstGeom prst="rect">
            <a:avLst/>
          </a:prstGeom>
          <a:noFill/>
          <a:ln/>
        </p:spPr>
        <p:txBody>
          <a:bodyPr wrap="square" lIns="0" tIns="0" rIns="0" bIns="0" rtlCol="0" anchor="t"/>
          <a:lstStyle/>
          <a:p>
            <a:pPr algn="l" indent="0" marL="0">
              <a:buNone/>
            </a:pPr>
            <a:r>
              <a:rPr lang="en-US" sz="3600" b="1" dirty="0">
                <a:solidFill>
                  <a:srgbClr val="0B3C49"/>
                </a:solidFill>
              </a:rPr>
              <a:t>Propagating what we do not know</a:t>
            </a:r>
            <a:endParaRPr lang="en-US" sz="3600" dirty="0"/>
          </a:p>
        </p:txBody>
      </p:sp>
      <p:sp>
        <p:nvSpPr>
          <p:cNvPr id="4" name="card Monte Carlo propagation"/>
          <p:cNvSpPr/>
          <p:nvPr/>
        </p:nvSpPr>
        <p:spPr>
          <a:xfrm>
            <a:off x="548640" y="1554480"/>
            <a:ext cx="5394960" cy="2240280"/>
          </a:xfrm>
          <a:prstGeom prst="rect">
            <a:avLst>
              <a:gd name="adj" fmla="val 3265"/>
            </a:avLst>
          </a:prstGeom>
          <a:solidFill>
            <a:srgbClr val="EEF4F5"/>
          </a:solidFill>
          <a:ln w="12700">
            <a:solidFill>
              <a:srgbClr val="EEF4F5"/>
            </a:solidFill>
            <a:prstDash val="solid"/>
          </a:ln>
        </p:spPr>
      </p:sp>
      <p:sp>
        <p:nvSpPr>
          <p:cNvPr id="5" name="card title Monte Carlo propagation"/>
          <p:cNvSpPr txBox="1"/>
          <p:nvPr/>
        </p:nvSpPr>
        <p:spPr>
          <a:xfrm>
            <a:off x="74980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Monte Carlo propagation</a:t>
            </a:r>
            <a:endParaRPr lang="en-US" sz="1600" dirty="0"/>
          </a:p>
        </p:txBody>
      </p:sp>
      <p:sp>
        <p:nvSpPr>
          <p:cNvPr id="6" name="equation Monte Carlo propagation"/>
          <p:cNvSpPr txBox="1"/>
          <p:nvPr/>
        </p:nvSpPr>
        <p:spPr>
          <a:xfrm>
            <a:off x="749808" y="2103120"/>
            <a:ext cx="4992624" cy="822960"/>
          </a:xfrm>
          <a:prstGeom prst="rect">
            <a:avLst/>
          </a:prstGeom>
          <a:solidFill>
            <a:srgbClr val="FFFFFF"/>
          </a:solidFill>
          <a:ln/>
        </p:spPr>
        <p:txBody>
          <a:bodyPr wrap="square" lIns="762" tIns="762" rIns="762" bIns="762" rtlCol="0" anchor="ctr"/>
          <a:lstStyle/>
          <a:p>
            <a:pPr indent="0" marL="0">
              <a:buNone/>
            </a:pPr>
            <a:r>
              <a:rPr lang="en-US" sz="1600" dirty="0">
                <a:solidFill>
                  <a:srgbClr val="264653"/>
                </a:solidFill>
                <a:latin typeface="+mj-lt" pitchFamily="34" charset="0"/>
                <a:ea typeface="+mj-lt" pitchFamily="34" charset="-122"/>
                <a:cs typeface="+mj-lt" pitchFamily="34" charset="-120"/>
              </a:rPr>
              <a:t>Y⁽ᵏ⁾ = g(X⁽ᵏ⁾),  X⁽ᵏ⁾ ~ p(X),  k = 1…N</a:t>
            </a:r>
            <a:endParaRPr lang="en-US" sz="1600" dirty="0"/>
          </a:p>
          <a:p>
            <a:pPr indent="0" marL="0">
              <a:buNone/>
            </a:pPr>
            <a:r>
              <a:rPr lang="en-US" sz="1600" dirty="0">
                <a:solidFill>
                  <a:srgbClr val="264653"/>
                </a:solidFill>
                <a:latin typeface="+mj-lt" pitchFamily="34" charset="0"/>
                <a:ea typeface="+mj-lt" pitchFamily="34" charset="-122"/>
                <a:cs typeface="+mj-lt" pitchFamily="34" charset="-120"/>
              </a:rPr>
              <a:t>error of the mean ∝ σ / √N</a:t>
            </a:r>
            <a:endParaRPr lang="en-US" sz="1600" dirty="0"/>
          </a:p>
        </p:txBody>
      </p:sp>
      <p:sp>
        <p:nvSpPr>
          <p:cNvPr id="7" name="desc Monte Carlo propagation"/>
          <p:cNvSpPr txBox="1"/>
          <p:nvPr/>
        </p:nvSpPr>
        <p:spPr>
          <a:xfrm>
            <a:off x="749808" y="3017520"/>
            <a:ext cx="4992624" cy="667512"/>
          </a:xfrm>
          <a:prstGeom prst="rect">
            <a:avLst/>
          </a:prstGeom>
          <a:noFill/>
          <a:ln/>
        </p:spPr>
        <p:txBody>
          <a:bodyPr wrap="square" lIns="0" tIns="0" rIns="0" bIns="0" rtlCol="0" anchor="t"/>
          <a:lstStyle/>
          <a:p>
            <a:pPr indent="0" marL="0">
              <a:buNone/>
            </a:pPr>
            <a:r>
              <a:rPr lang="en-US" sz="1400" dirty="0">
                <a:solidFill>
                  <a:srgbClr val="1B2430"/>
                </a:solidFill>
              </a:rPr>
              <a:t>Simple and general; Latin hypercube sampling reduces variance for the same N.</a:t>
            </a:r>
            <a:endParaRPr lang="en-US" sz="1400" dirty="0"/>
          </a:p>
        </p:txBody>
      </p:sp>
      <p:sp>
        <p:nvSpPr>
          <p:cNvPr id="8" name="card Polynomial chaos expansion"/>
          <p:cNvSpPr/>
          <p:nvPr/>
        </p:nvSpPr>
        <p:spPr>
          <a:xfrm>
            <a:off x="6217920" y="1554480"/>
            <a:ext cx="5394960" cy="2240280"/>
          </a:xfrm>
          <a:prstGeom prst="rect">
            <a:avLst>
              <a:gd name="adj" fmla="val 3265"/>
            </a:avLst>
          </a:prstGeom>
          <a:solidFill>
            <a:srgbClr val="EEF4F5"/>
          </a:solidFill>
          <a:ln w="12700">
            <a:solidFill>
              <a:srgbClr val="EEF4F5"/>
            </a:solidFill>
            <a:prstDash val="solid"/>
          </a:ln>
        </p:spPr>
      </p:sp>
      <p:sp>
        <p:nvSpPr>
          <p:cNvPr id="9" name="card title Polynomial chaos expansion"/>
          <p:cNvSpPr txBox="1"/>
          <p:nvPr/>
        </p:nvSpPr>
        <p:spPr>
          <a:xfrm>
            <a:off x="641908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Polynomial chaos expansion</a:t>
            </a:r>
            <a:endParaRPr lang="en-US" sz="1600" dirty="0"/>
          </a:p>
        </p:txBody>
      </p:sp>
      <p:sp>
        <p:nvSpPr>
          <p:cNvPr id="10" name="equation Polynomial chaos expansion"/>
          <p:cNvSpPr txBox="1"/>
          <p:nvPr/>
        </p:nvSpPr>
        <p:spPr>
          <a:xfrm>
            <a:off x="6419088" y="2103120"/>
            <a:ext cx="4992624" cy="731520"/>
          </a:xfrm>
          <a:prstGeom prst="rect">
            <a:avLst/>
          </a:prstGeom>
          <a:solidFill>
            <a:srgbClr val="FFFFFF"/>
          </a:solidFill>
          <a:ln/>
        </p:spPr>
        <p:txBody>
          <a:bodyPr wrap="square" lIns="762" tIns="762" rIns="762" bIns="762" rtlCol="0" anchor="ctr"/>
          <a:lstStyle/>
          <a:p>
            <a:pPr indent="0" marL="0">
              <a:buNone/>
            </a:pPr>
            <a:r>
              <a:rPr lang="en-US" sz="1600" dirty="0">
                <a:solidFill>
                  <a:srgbClr val="264653"/>
                </a:solidFill>
                <a:latin typeface="+mj-lt" pitchFamily="34" charset="0"/>
                <a:ea typeface="+mj-lt" pitchFamily="34" charset="-122"/>
                <a:cs typeface="+mj-lt" pitchFamily="34" charset="-120"/>
              </a:rPr>
              <a:t>Y ≈ Σ_α c_α Ψ_α(ξ),   c_α = E[Y Ψ_α] / E[Ψ_α²]</a:t>
            </a:r>
            <a:endParaRPr lang="en-US" sz="1600" dirty="0"/>
          </a:p>
        </p:txBody>
      </p:sp>
      <p:sp>
        <p:nvSpPr>
          <p:cNvPr id="11" name="desc Polynomial chaos expansion"/>
          <p:cNvSpPr txBox="1"/>
          <p:nvPr/>
        </p:nvSpPr>
        <p:spPr>
          <a:xfrm>
            <a:off x="6419088" y="2926080"/>
            <a:ext cx="4992624" cy="758952"/>
          </a:xfrm>
          <a:prstGeom prst="rect">
            <a:avLst/>
          </a:prstGeom>
          <a:noFill/>
          <a:ln/>
        </p:spPr>
        <p:txBody>
          <a:bodyPr wrap="square" lIns="0" tIns="0" rIns="0" bIns="0" rtlCol="0" anchor="t"/>
          <a:lstStyle/>
          <a:p>
            <a:pPr indent="0" marL="0">
              <a:buNone/>
            </a:pPr>
            <a:r>
              <a:rPr lang="en-US" sz="1400" dirty="0">
                <a:solidFill>
                  <a:srgbClr val="1B2430"/>
                </a:solidFill>
              </a:rPr>
              <a:t>Orthogonal polynomials in random inputs ξ; mean and variance come straight from the coefficients.</a:t>
            </a:r>
            <a:endParaRPr lang="en-US" sz="1400" dirty="0"/>
          </a:p>
        </p:txBody>
      </p:sp>
      <p:sp>
        <p:nvSpPr>
          <p:cNvPr id="12" name="card Bayesian calibration (Kennedy–O'Hagan)"/>
          <p:cNvSpPr/>
          <p:nvPr/>
        </p:nvSpPr>
        <p:spPr>
          <a:xfrm>
            <a:off x="548640" y="4023360"/>
            <a:ext cx="5394960" cy="2240280"/>
          </a:xfrm>
          <a:prstGeom prst="rect">
            <a:avLst>
              <a:gd name="adj" fmla="val 3265"/>
            </a:avLst>
          </a:prstGeom>
          <a:solidFill>
            <a:srgbClr val="EEF4F5"/>
          </a:solidFill>
          <a:ln w="12700">
            <a:solidFill>
              <a:srgbClr val="EEF4F5"/>
            </a:solidFill>
            <a:prstDash val="solid"/>
          </a:ln>
        </p:spPr>
      </p:sp>
      <p:sp>
        <p:nvSpPr>
          <p:cNvPr id="13" name="card title Bayesian calibration (Kennedy–O&amp;apos;Hagan)"/>
          <p:cNvSpPr txBox="1"/>
          <p:nvPr/>
        </p:nvSpPr>
        <p:spPr>
          <a:xfrm>
            <a:off x="749808" y="416052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Bayesian calibration (Kennedy–O'Hagan)</a:t>
            </a:r>
            <a:endParaRPr lang="en-US" sz="1600" dirty="0"/>
          </a:p>
        </p:txBody>
      </p:sp>
      <p:sp>
        <p:nvSpPr>
          <p:cNvPr id="14" name="equation Bayesian calibration (Kennedy–O'Hagan)"/>
          <p:cNvSpPr txBox="1"/>
          <p:nvPr/>
        </p:nvSpPr>
        <p:spPr>
          <a:xfrm>
            <a:off x="749808" y="4572000"/>
            <a:ext cx="4992624" cy="731520"/>
          </a:xfrm>
          <a:prstGeom prst="rect">
            <a:avLst/>
          </a:prstGeom>
          <a:solidFill>
            <a:srgbClr val="FFFFFF"/>
          </a:solidFill>
          <a:ln/>
        </p:spPr>
        <p:txBody>
          <a:bodyPr wrap="square" lIns="762" tIns="762" rIns="762" bIns="762" rtlCol="0" anchor="ctr"/>
          <a:lstStyle/>
          <a:p>
            <a:pPr indent="0" marL="0">
              <a:buNone/>
            </a:pPr>
            <a:r>
              <a:rPr lang="en-US" sz="1600" dirty="0">
                <a:solidFill>
                  <a:srgbClr val="264653"/>
                </a:solidFill>
                <a:latin typeface="+mj-lt" pitchFamily="34" charset="0"/>
                <a:ea typeface="+mj-lt" pitchFamily="34" charset="-122"/>
                <a:cs typeface="+mj-lt" pitchFamily="34" charset="-120"/>
              </a:rPr>
              <a:t>y_obs(x) = η(x, θ) + δ(x) + ε</a:t>
            </a:r>
            <a:endParaRPr lang="en-US" sz="1600" dirty="0"/>
          </a:p>
        </p:txBody>
      </p:sp>
      <p:sp>
        <p:nvSpPr>
          <p:cNvPr id="15" name="desc Bayesian calibration (Kennedy–O&amp;apos;Hagan)"/>
          <p:cNvSpPr txBox="1"/>
          <p:nvPr/>
        </p:nvSpPr>
        <p:spPr>
          <a:xfrm>
            <a:off x="749808" y="5394960"/>
            <a:ext cx="4992624" cy="758952"/>
          </a:xfrm>
          <a:prstGeom prst="rect">
            <a:avLst/>
          </a:prstGeom>
          <a:noFill/>
          <a:ln/>
        </p:spPr>
        <p:txBody>
          <a:bodyPr wrap="square" lIns="0" tIns="0" rIns="0" bIns="0" rtlCol="0" anchor="t"/>
          <a:lstStyle/>
          <a:p>
            <a:pPr indent="0" marL="0">
              <a:buNone/>
            </a:pPr>
            <a:r>
              <a:rPr lang="en-US" sz="1400" dirty="0">
                <a:solidFill>
                  <a:srgbClr val="1B2430"/>
                </a:solidFill>
              </a:rPr>
              <a:t>Simulator η, model discrepancy δ (a GP) and noise ε, so the model is not assumed perfect.</a:t>
            </a:r>
            <a:endParaRPr lang="en-US" sz="1400" dirty="0"/>
          </a:p>
        </p:txBody>
      </p:sp>
      <p:sp>
        <p:nvSpPr>
          <p:cNvPr id="16" name="card Aleatory vs epistemic"/>
          <p:cNvSpPr/>
          <p:nvPr/>
        </p:nvSpPr>
        <p:spPr>
          <a:xfrm>
            <a:off x="6217920" y="4023360"/>
            <a:ext cx="5394960" cy="2240280"/>
          </a:xfrm>
          <a:prstGeom prst="rect">
            <a:avLst>
              <a:gd name="adj" fmla="val 3265"/>
            </a:avLst>
          </a:prstGeom>
          <a:solidFill>
            <a:srgbClr val="EEF4F5"/>
          </a:solidFill>
          <a:ln w="12700">
            <a:solidFill>
              <a:srgbClr val="EEF4F5"/>
            </a:solidFill>
            <a:prstDash val="solid"/>
          </a:ln>
        </p:spPr>
      </p:sp>
      <p:sp>
        <p:nvSpPr>
          <p:cNvPr id="17" name="card title Aleatory vs epistemic"/>
          <p:cNvSpPr txBox="1"/>
          <p:nvPr/>
        </p:nvSpPr>
        <p:spPr>
          <a:xfrm>
            <a:off x="6419088" y="416052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Aleatory vs epistemic</a:t>
            </a:r>
            <a:endParaRPr lang="en-US" sz="1600" dirty="0"/>
          </a:p>
        </p:txBody>
      </p:sp>
      <p:sp>
        <p:nvSpPr>
          <p:cNvPr id="18" name="equation Aleatory vs epistemic"/>
          <p:cNvSpPr txBox="1"/>
          <p:nvPr/>
        </p:nvSpPr>
        <p:spPr>
          <a:xfrm>
            <a:off x="6419088" y="4572000"/>
            <a:ext cx="4992624" cy="731520"/>
          </a:xfrm>
          <a:prstGeom prst="rect">
            <a:avLst/>
          </a:prstGeom>
          <a:solidFill>
            <a:srgbClr val="FFFFFF"/>
          </a:solidFill>
          <a:ln/>
        </p:spPr>
        <p:txBody>
          <a:bodyPr wrap="square" lIns="762" tIns="762" rIns="762" bIns="762" rtlCol="0" anchor="ctr"/>
          <a:lstStyle/>
          <a:p>
            <a:pPr indent="0" marL="0">
              <a:buNone/>
            </a:pPr>
            <a:r>
              <a:rPr lang="en-US" sz="1600" dirty="0">
                <a:solidFill>
                  <a:srgbClr val="264653"/>
                </a:solidFill>
                <a:latin typeface="+mj-lt" pitchFamily="34" charset="0"/>
                <a:ea typeface="+mj-lt" pitchFamily="34" charset="-122"/>
                <a:cs typeface="+mj-lt" pitchFamily="34" charset="-120"/>
              </a:rPr>
              <a:t>Var(Y) = E_θ[Var(Y | θ)] + Var_θ(E[Y | θ])</a:t>
            </a:r>
            <a:endParaRPr lang="en-US" sz="1600" dirty="0"/>
          </a:p>
        </p:txBody>
      </p:sp>
      <p:sp>
        <p:nvSpPr>
          <p:cNvPr id="19" name="desc Aleatory vs epistemic"/>
          <p:cNvSpPr txBox="1"/>
          <p:nvPr/>
        </p:nvSpPr>
        <p:spPr>
          <a:xfrm>
            <a:off x="6419088" y="5394960"/>
            <a:ext cx="4992624" cy="758952"/>
          </a:xfrm>
          <a:prstGeom prst="rect">
            <a:avLst/>
          </a:prstGeom>
          <a:noFill/>
          <a:ln/>
        </p:spPr>
        <p:txBody>
          <a:bodyPr wrap="square" lIns="0" tIns="0" rIns="0" bIns="0" rtlCol="0" anchor="t"/>
          <a:lstStyle/>
          <a:p>
            <a:pPr indent="0" marL="0">
              <a:buNone/>
            </a:pPr>
            <a:r>
              <a:rPr lang="en-US" sz="1400" dirty="0">
                <a:solidFill>
                  <a:srgbClr val="1B2430"/>
                </a:solidFill>
              </a:rPr>
              <a:t>Law of total variance splits natural variability from lack of knowledge about θ.</a:t>
            </a:r>
            <a:endParaRPr lang="en-US" sz="14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29184"/>
          </a:xfrm>
          <a:prstGeom prst="rect">
            <a:avLst/>
          </a:prstGeom>
          <a:noFill/>
          <a:ln/>
        </p:spPr>
        <p:txBody>
          <a:bodyPr wrap="square" lIns="0" tIns="0" rIns="0" bIns="0" rtlCol="0" anchor="t"/>
          <a:lstStyle/>
          <a:p>
            <a:pPr indent="0" marL="0">
              <a:buNone/>
            </a:pPr>
            <a:r>
              <a:rPr lang="en-US" sz="1300" b="1" dirty="0">
                <a:solidFill>
                  <a:srgbClr val="1F7A70"/>
                </a:solidFill>
              </a:rPr>
              <a:t>FAMILY 9 · SENSITIVITY ANALYSIS</a:t>
            </a:r>
            <a:endParaRPr lang="en-US" sz="1300" dirty="0"/>
          </a:p>
        </p:txBody>
      </p:sp>
      <p:sp>
        <p:nvSpPr>
          <p:cNvPr id="3" name="Text 0"/>
          <p:cNvSpPr/>
          <p:nvPr>
            <p:ph idx="101" type="title" hasCustomPrompt="1"/>
          </p:nvPr>
        </p:nvSpPr>
        <p:spPr>
          <a:xfrm>
            <a:off x="548640" y="603504"/>
            <a:ext cx="11064240" cy="731520"/>
          </a:xfrm>
          <a:prstGeom prst="rect">
            <a:avLst/>
          </a:prstGeom>
          <a:noFill/>
          <a:ln/>
        </p:spPr>
        <p:txBody>
          <a:bodyPr wrap="square" lIns="0" tIns="0" rIns="0" bIns="0" rtlCol="0" anchor="t"/>
          <a:lstStyle/>
          <a:p>
            <a:pPr algn="l" indent="0" marL="0">
              <a:buNone/>
            </a:pPr>
            <a:r>
              <a:rPr lang="en-US" sz="3600" b="1" dirty="0">
                <a:solidFill>
                  <a:srgbClr val="0B3C49"/>
                </a:solidFill>
              </a:rPr>
              <a:t>Which inputs drive the output?</a:t>
            </a:r>
            <a:endParaRPr lang="en-US" sz="3600" dirty="0"/>
          </a:p>
        </p:txBody>
      </p:sp>
      <p:sp>
        <p:nvSpPr>
          <p:cNvPr id="4" name="card Local (normalised) sensitivity"/>
          <p:cNvSpPr/>
          <p:nvPr/>
        </p:nvSpPr>
        <p:spPr>
          <a:xfrm>
            <a:off x="548640" y="1554480"/>
            <a:ext cx="5394960" cy="2240280"/>
          </a:xfrm>
          <a:prstGeom prst="rect">
            <a:avLst>
              <a:gd name="adj" fmla="val 3265"/>
            </a:avLst>
          </a:prstGeom>
          <a:solidFill>
            <a:srgbClr val="EEF4F5"/>
          </a:solidFill>
          <a:ln w="12700">
            <a:solidFill>
              <a:srgbClr val="EEF4F5"/>
            </a:solidFill>
            <a:prstDash val="solid"/>
          </a:ln>
        </p:spPr>
      </p:sp>
      <p:sp>
        <p:nvSpPr>
          <p:cNvPr id="5" name="card title Local (normalised) sensitivity"/>
          <p:cNvSpPr txBox="1"/>
          <p:nvPr/>
        </p:nvSpPr>
        <p:spPr>
          <a:xfrm>
            <a:off x="74980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Local (normalised) sensitivity</a:t>
            </a:r>
            <a:endParaRPr lang="en-US" sz="1600" dirty="0"/>
          </a:p>
        </p:txBody>
      </p:sp>
      <p:sp>
        <p:nvSpPr>
          <p:cNvPr id="6" name="equation Local (normalised) sensitivity"/>
          <p:cNvSpPr txBox="1"/>
          <p:nvPr/>
        </p:nvSpPr>
        <p:spPr>
          <a:xfrm>
            <a:off x="749808" y="2103120"/>
            <a:ext cx="4992624" cy="731520"/>
          </a:xfrm>
          <a:prstGeom prst="rect">
            <a:avLst/>
          </a:prstGeom>
          <a:solidFill>
            <a:srgbClr val="FFFFFF"/>
          </a:solidFill>
          <a:ln/>
        </p:spPr>
        <p:txBody>
          <a:bodyPr wrap="square" lIns="762" tIns="762" rIns="762" bIns="762" rtlCol="0" anchor="ctr"/>
          <a:lstStyle/>
          <a:p>
            <a:pPr indent="0" marL="0">
              <a:buNone/>
            </a:pPr>
            <a:r>
              <a:rPr lang="en-US" sz="1600" dirty="0">
                <a:solidFill>
                  <a:srgbClr val="264653"/>
                </a:solidFill>
                <a:latin typeface="+mj-lt" pitchFamily="34" charset="0"/>
                <a:ea typeface="+mj-lt" pitchFamily="34" charset="-122"/>
                <a:cs typeface="+mj-lt" pitchFamily="34" charset="-120"/>
              </a:rPr>
              <a:t>Sⱼ = (∂y / ∂θⱼ) · (θⱼ / y)</a:t>
            </a:r>
            <a:endParaRPr lang="en-US" sz="1600" dirty="0"/>
          </a:p>
        </p:txBody>
      </p:sp>
      <p:sp>
        <p:nvSpPr>
          <p:cNvPr id="7" name="desc Local (normalised) sensitivity"/>
          <p:cNvSpPr txBox="1"/>
          <p:nvPr/>
        </p:nvSpPr>
        <p:spPr>
          <a:xfrm>
            <a:off x="749808" y="2926080"/>
            <a:ext cx="4992624" cy="758952"/>
          </a:xfrm>
          <a:prstGeom prst="rect">
            <a:avLst/>
          </a:prstGeom>
          <a:noFill/>
          <a:ln/>
        </p:spPr>
        <p:txBody>
          <a:bodyPr wrap="square" lIns="0" tIns="0" rIns="0" bIns="0" rtlCol="0" anchor="t"/>
          <a:lstStyle/>
          <a:p>
            <a:pPr indent="0" marL="0">
              <a:buNone/>
            </a:pPr>
            <a:r>
              <a:rPr lang="en-US" sz="1400" dirty="0">
                <a:solidFill>
                  <a:srgbClr val="1B2430"/>
                </a:solidFill>
              </a:rPr>
              <a:t>Percent change in output per percent change in a parameter, at one point. Cheap but local.</a:t>
            </a:r>
            <a:endParaRPr lang="en-US" sz="1400" dirty="0"/>
          </a:p>
        </p:txBody>
      </p:sp>
      <p:sp>
        <p:nvSpPr>
          <p:cNvPr id="8" name="card Morris elementary effects"/>
          <p:cNvSpPr/>
          <p:nvPr/>
        </p:nvSpPr>
        <p:spPr>
          <a:xfrm>
            <a:off x="6217920" y="1554480"/>
            <a:ext cx="5394960" cy="2240280"/>
          </a:xfrm>
          <a:prstGeom prst="rect">
            <a:avLst>
              <a:gd name="adj" fmla="val 3265"/>
            </a:avLst>
          </a:prstGeom>
          <a:solidFill>
            <a:srgbClr val="EEF4F5"/>
          </a:solidFill>
          <a:ln w="12700">
            <a:solidFill>
              <a:srgbClr val="EEF4F5"/>
            </a:solidFill>
            <a:prstDash val="solid"/>
          </a:ln>
        </p:spPr>
      </p:sp>
      <p:sp>
        <p:nvSpPr>
          <p:cNvPr id="9" name="card title Morris elementary effects"/>
          <p:cNvSpPr txBox="1"/>
          <p:nvPr/>
        </p:nvSpPr>
        <p:spPr>
          <a:xfrm>
            <a:off x="641908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Morris elementary effects</a:t>
            </a:r>
            <a:endParaRPr lang="en-US" sz="1600" dirty="0"/>
          </a:p>
        </p:txBody>
      </p:sp>
      <p:sp>
        <p:nvSpPr>
          <p:cNvPr id="10" name="equation Morris elementary effects"/>
          <p:cNvSpPr txBox="1"/>
          <p:nvPr/>
        </p:nvSpPr>
        <p:spPr>
          <a:xfrm>
            <a:off x="6419088" y="2103120"/>
            <a:ext cx="4992624" cy="731520"/>
          </a:xfrm>
          <a:prstGeom prst="rect">
            <a:avLst/>
          </a:prstGeom>
          <a:solidFill>
            <a:srgbClr val="FFFFFF"/>
          </a:solidFill>
          <a:ln/>
        </p:spPr>
        <p:txBody>
          <a:bodyPr wrap="square" lIns="762" tIns="762" rIns="762" bIns="762" rtlCol="0" anchor="ctr"/>
          <a:lstStyle/>
          <a:p>
            <a:pPr indent="0" marL="0">
              <a:buNone/>
            </a:pPr>
            <a:r>
              <a:rPr lang="en-US" sz="1600" dirty="0">
                <a:solidFill>
                  <a:srgbClr val="264653"/>
                </a:solidFill>
                <a:latin typeface="+mj-lt" pitchFamily="34" charset="0"/>
                <a:ea typeface="+mj-lt" pitchFamily="34" charset="-122"/>
                <a:cs typeface="+mj-lt" pitchFamily="34" charset="-120"/>
              </a:rPr>
              <a:t>EEⱼ = [y(θ + Δeⱼ) − y(θ)] / Δ;   μ*ⱼ, σⱼ</a:t>
            </a:r>
            <a:endParaRPr lang="en-US" sz="1600" dirty="0"/>
          </a:p>
        </p:txBody>
      </p:sp>
      <p:sp>
        <p:nvSpPr>
          <p:cNvPr id="11" name="desc Morris elementary effects"/>
          <p:cNvSpPr txBox="1"/>
          <p:nvPr/>
        </p:nvSpPr>
        <p:spPr>
          <a:xfrm>
            <a:off x="6419088" y="2926080"/>
            <a:ext cx="4992624" cy="758952"/>
          </a:xfrm>
          <a:prstGeom prst="rect">
            <a:avLst/>
          </a:prstGeom>
          <a:noFill/>
          <a:ln/>
        </p:spPr>
        <p:txBody>
          <a:bodyPr wrap="square" lIns="0" tIns="0" rIns="0" bIns="0" rtlCol="0" anchor="t"/>
          <a:lstStyle/>
          <a:p>
            <a:pPr indent="0" marL="0">
              <a:buNone/>
            </a:pPr>
            <a:r>
              <a:rPr lang="en-US" sz="1400" dirty="0">
                <a:solidFill>
                  <a:srgbClr val="1B2430"/>
                </a:solidFill>
              </a:rPr>
              <a:t>Global screening with few runs: μ* ranks importance, σ flags nonlinearity and interactions.</a:t>
            </a:r>
            <a:endParaRPr lang="en-US" sz="1400" dirty="0"/>
          </a:p>
        </p:txBody>
      </p:sp>
      <p:sp>
        <p:nvSpPr>
          <p:cNvPr id="12" name="card Sobol variance indices"/>
          <p:cNvSpPr/>
          <p:nvPr/>
        </p:nvSpPr>
        <p:spPr>
          <a:xfrm>
            <a:off x="548640" y="4023360"/>
            <a:ext cx="5394960" cy="2240280"/>
          </a:xfrm>
          <a:prstGeom prst="rect">
            <a:avLst>
              <a:gd name="adj" fmla="val 3265"/>
            </a:avLst>
          </a:prstGeom>
          <a:solidFill>
            <a:srgbClr val="EEF4F5"/>
          </a:solidFill>
          <a:ln w="12700">
            <a:solidFill>
              <a:srgbClr val="EEF4F5"/>
            </a:solidFill>
            <a:prstDash val="solid"/>
          </a:ln>
        </p:spPr>
      </p:sp>
      <p:sp>
        <p:nvSpPr>
          <p:cNvPr id="13" name="card title Sobol variance indices"/>
          <p:cNvSpPr txBox="1"/>
          <p:nvPr/>
        </p:nvSpPr>
        <p:spPr>
          <a:xfrm>
            <a:off x="749808" y="416052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Sobol variance indices</a:t>
            </a:r>
            <a:endParaRPr lang="en-US" sz="1600" dirty="0"/>
          </a:p>
        </p:txBody>
      </p:sp>
      <p:sp>
        <p:nvSpPr>
          <p:cNvPr id="14" name="equation Sobol variance indices"/>
          <p:cNvSpPr txBox="1"/>
          <p:nvPr/>
        </p:nvSpPr>
        <p:spPr>
          <a:xfrm>
            <a:off x="749808" y="4572000"/>
            <a:ext cx="4992624" cy="822960"/>
          </a:xfrm>
          <a:prstGeom prst="rect">
            <a:avLst/>
          </a:prstGeom>
          <a:solidFill>
            <a:srgbClr val="FFFFFF"/>
          </a:solidFill>
          <a:ln/>
        </p:spPr>
        <p:txBody>
          <a:bodyPr wrap="square" lIns="762" tIns="762" rIns="762" bIns="762" rtlCol="0" anchor="ctr"/>
          <a:lstStyle/>
          <a:p>
            <a:pPr indent="0" marL="0">
              <a:buNone/>
            </a:pPr>
            <a:r>
              <a:rPr lang="en-US" sz="1600" dirty="0">
                <a:solidFill>
                  <a:srgbClr val="264653"/>
                </a:solidFill>
                <a:latin typeface="+mj-lt" pitchFamily="34" charset="0"/>
                <a:ea typeface="+mj-lt" pitchFamily="34" charset="-122"/>
                <a:cs typeface="+mj-lt" pitchFamily="34" charset="-120"/>
              </a:rPr>
              <a:t>Sⱼ = Var(E[Y | Xⱼ]) / Var(Y)</a:t>
            </a:r>
            <a:endParaRPr lang="en-US" sz="1600" dirty="0"/>
          </a:p>
          <a:p>
            <a:pPr indent="0" marL="0">
              <a:buNone/>
            </a:pPr>
            <a:r>
              <a:rPr lang="en-US" sz="1600" dirty="0">
                <a:solidFill>
                  <a:srgbClr val="264653"/>
                </a:solidFill>
                <a:latin typeface="+mj-lt" pitchFamily="34" charset="0"/>
                <a:ea typeface="+mj-lt" pitchFamily="34" charset="-122"/>
                <a:cs typeface="+mj-lt" pitchFamily="34" charset="-120"/>
              </a:rPr>
              <a:t>S_Tj = E[Var(Y | X₋ⱼ)] / Var(Y)</a:t>
            </a:r>
            <a:endParaRPr lang="en-US" sz="1600" dirty="0"/>
          </a:p>
        </p:txBody>
      </p:sp>
      <p:sp>
        <p:nvSpPr>
          <p:cNvPr id="15" name="desc Sobol variance indices"/>
          <p:cNvSpPr txBox="1"/>
          <p:nvPr/>
        </p:nvSpPr>
        <p:spPr>
          <a:xfrm>
            <a:off x="749808" y="5486400"/>
            <a:ext cx="4992624" cy="667512"/>
          </a:xfrm>
          <a:prstGeom prst="rect">
            <a:avLst/>
          </a:prstGeom>
          <a:noFill/>
          <a:ln/>
        </p:spPr>
        <p:txBody>
          <a:bodyPr wrap="square" lIns="0" tIns="0" rIns="0" bIns="0" rtlCol="0" anchor="t"/>
          <a:lstStyle/>
          <a:p>
            <a:pPr indent="0" marL="0">
              <a:buNone/>
            </a:pPr>
            <a:r>
              <a:rPr lang="en-US" sz="1400" dirty="0">
                <a:solidFill>
                  <a:srgbClr val="1B2430"/>
                </a:solidFill>
              </a:rPr>
              <a:t>First-order and total effects; the reference global method (Saltelli estimators).</a:t>
            </a:r>
            <a:endParaRPr lang="en-US" sz="1400" dirty="0"/>
          </a:p>
        </p:txBody>
      </p:sp>
      <p:sp>
        <p:nvSpPr>
          <p:cNvPr id="16" name="card PRCC"/>
          <p:cNvSpPr/>
          <p:nvPr/>
        </p:nvSpPr>
        <p:spPr>
          <a:xfrm>
            <a:off x="6217920" y="4023360"/>
            <a:ext cx="5394960" cy="2240280"/>
          </a:xfrm>
          <a:prstGeom prst="rect">
            <a:avLst>
              <a:gd name="adj" fmla="val 3265"/>
            </a:avLst>
          </a:prstGeom>
          <a:solidFill>
            <a:srgbClr val="EEF4F5"/>
          </a:solidFill>
          <a:ln w="12700">
            <a:solidFill>
              <a:srgbClr val="EEF4F5"/>
            </a:solidFill>
            <a:prstDash val="solid"/>
          </a:ln>
        </p:spPr>
      </p:sp>
      <p:sp>
        <p:nvSpPr>
          <p:cNvPr id="17" name="card title PRCC"/>
          <p:cNvSpPr txBox="1"/>
          <p:nvPr/>
        </p:nvSpPr>
        <p:spPr>
          <a:xfrm>
            <a:off x="6419088" y="416052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PRCC</a:t>
            </a:r>
            <a:endParaRPr lang="en-US" sz="1600" dirty="0"/>
          </a:p>
        </p:txBody>
      </p:sp>
      <p:sp>
        <p:nvSpPr>
          <p:cNvPr id="18" name="equation PRCC"/>
          <p:cNvSpPr txBox="1"/>
          <p:nvPr/>
        </p:nvSpPr>
        <p:spPr>
          <a:xfrm>
            <a:off x="6419088" y="4572000"/>
            <a:ext cx="4992624" cy="731520"/>
          </a:xfrm>
          <a:prstGeom prst="rect">
            <a:avLst/>
          </a:prstGeom>
          <a:solidFill>
            <a:srgbClr val="FFFFFF"/>
          </a:solidFill>
          <a:ln/>
        </p:spPr>
        <p:txBody>
          <a:bodyPr wrap="square" lIns="762" tIns="762" rIns="762" bIns="762" rtlCol="0" anchor="ctr"/>
          <a:lstStyle/>
          <a:p>
            <a:pPr indent="0" marL="0">
              <a:buNone/>
            </a:pPr>
            <a:r>
              <a:rPr lang="en-US" sz="1600" dirty="0">
                <a:solidFill>
                  <a:srgbClr val="264653"/>
                </a:solidFill>
                <a:latin typeface="+mj-lt" pitchFamily="34" charset="0"/>
                <a:ea typeface="+mj-lt" pitchFamily="34" charset="-122"/>
                <a:cs typeface="+mj-lt" pitchFamily="34" charset="-120"/>
              </a:rPr>
              <a:t>ρ(rank Xⱼ, rank Y | other inputs)</a:t>
            </a:r>
            <a:endParaRPr lang="en-US" sz="1600" dirty="0"/>
          </a:p>
        </p:txBody>
      </p:sp>
      <p:sp>
        <p:nvSpPr>
          <p:cNvPr id="19" name="desc PRCC"/>
          <p:cNvSpPr txBox="1"/>
          <p:nvPr/>
        </p:nvSpPr>
        <p:spPr>
          <a:xfrm>
            <a:off x="6419088" y="5394960"/>
            <a:ext cx="4992624" cy="758952"/>
          </a:xfrm>
          <a:prstGeom prst="rect">
            <a:avLst/>
          </a:prstGeom>
          <a:noFill/>
          <a:ln/>
        </p:spPr>
        <p:txBody>
          <a:bodyPr wrap="square" lIns="0" tIns="0" rIns="0" bIns="0" rtlCol="0" anchor="t"/>
          <a:lstStyle/>
          <a:p>
            <a:pPr indent="0" marL="0">
              <a:buNone/>
            </a:pPr>
            <a:r>
              <a:rPr lang="en-US" sz="1400" dirty="0">
                <a:solidFill>
                  <a:srgbClr val="1B2430"/>
                </a:solidFill>
              </a:rPr>
              <a:t>Partial rank correlation with Latin hypercube sampling; monotonic relations, common in biology.</a:t>
            </a:r>
            <a:endParaRPr lang="en-US" sz="14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29184"/>
          </a:xfrm>
          <a:prstGeom prst="rect">
            <a:avLst/>
          </a:prstGeom>
          <a:noFill/>
          <a:ln/>
        </p:spPr>
        <p:txBody>
          <a:bodyPr wrap="square" lIns="0" tIns="0" rIns="0" bIns="0" rtlCol="0" anchor="t"/>
          <a:lstStyle/>
          <a:p>
            <a:pPr indent="0" marL="0">
              <a:buNone/>
            </a:pPr>
            <a:r>
              <a:rPr lang="en-US" sz="1300" b="1" dirty="0">
                <a:solidFill>
                  <a:srgbClr val="1F7A70"/>
                </a:solidFill>
              </a:rPr>
              <a:t>FAMILY 10 · SURROGATES AND REDUCED-ORDER MODELS</a:t>
            </a:r>
            <a:endParaRPr lang="en-US" sz="1300" dirty="0"/>
          </a:p>
        </p:txBody>
      </p:sp>
      <p:sp>
        <p:nvSpPr>
          <p:cNvPr id="3" name="Text 0"/>
          <p:cNvSpPr/>
          <p:nvPr>
            <p:ph idx="101" type="title" hasCustomPrompt="1"/>
          </p:nvPr>
        </p:nvSpPr>
        <p:spPr>
          <a:xfrm>
            <a:off x="548640" y="603504"/>
            <a:ext cx="11064240" cy="731520"/>
          </a:xfrm>
          <a:prstGeom prst="rect">
            <a:avLst/>
          </a:prstGeom>
          <a:noFill/>
          <a:ln/>
        </p:spPr>
        <p:txBody>
          <a:bodyPr wrap="square" lIns="0" tIns="0" rIns="0" bIns="0" rtlCol="0" anchor="t"/>
          <a:lstStyle/>
          <a:p>
            <a:pPr algn="l" indent="0" marL="0">
              <a:buNone/>
            </a:pPr>
            <a:r>
              <a:rPr lang="en-US" sz="3600" b="1" dirty="0">
                <a:solidFill>
                  <a:srgbClr val="0B3C49"/>
                </a:solidFill>
              </a:rPr>
              <a:t>Making twins fast enough to use</a:t>
            </a:r>
            <a:endParaRPr lang="en-US" sz="3600" dirty="0"/>
          </a:p>
        </p:txBody>
      </p:sp>
      <p:sp>
        <p:nvSpPr>
          <p:cNvPr id="4" name="card POD / PCA reduced basis"/>
          <p:cNvSpPr/>
          <p:nvPr/>
        </p:nvSpPr>
        <p:spPr>
          <a:xfrm>
            <a:off x="548640" y="1554480"/>
            <a:ext cx="5394960" cy="2240280"/>
          </a:xfrm>
          <a:prstGeom prst="rect">
            <a:avLst>
              <a:gd name="adj" fmla="val 3265"/>
            </a:avLst>
          </a:prstGeom>
          <a:solidFill>
            <a:srgbClr val="EEF4F5"/>
          </a:solidFill>
          <a:ln w="12700">
            <a:solidFill>
              <a:srgbClr val="EEF4F5"/>
            </a:solidFill>
            <a:prstDash val="solid"/>
          </a:ln>
        </p:spPr>
      </p:sp>
      <p:sp>
        <p:nvSpPr>
          <p:cNvPr id="5" name="card title POD / PCA reduced basis"/>
          <p:cNvSpPr txBox="1"/>
          <p:nvPr/>
        </p:nvSpPr>
        <p:spPr>
          <a:xfrm>
            <a:off x="74980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POD / PCA reduced basis</a:t>
            </a:r>
            <a:endParaRPr lang="en-US" sz="1600" dirty="0"/>
          </a:p>
        </p:txBody>
      </p:sp>
      <p:sp>
        <p:nvSpPr>
          <p:cNvPr id="6" name="equation POD / PCA reduced basis"/>
          <p:cNvSpPr txBox="1"/>
          <p:nvPr/>
        </p:nvSpPr>
        <p:spPr>
          <a:xfrm>
            <a:off x="749808" y="2103120"/>
            <a:ext cx="4992624" cy="822960"/>
          </a:xfrm>
          <a:prstGeom prst="rect">
            <a:avLst/>
          </a:prstGeom>
          <a:solidFill>
            <a:srgbClr val="FFFFFF"/>
          </a:solidFill>
          <a:ln/>
        </p:spPr>
        <p:txBody>
          <a:bodyPr wrap="square" lIns="762" tIns="762" rIns="762" bIns="762" rtlCol="0" anchor="ctr"/>
          <a:lstStyle/>
          <a:p>
            <a:pPr indent="0" marL="0">
              <a:buNone/>
            </a:pPr>
            <a:r>
              <a:rPr lang="en-US" sz="1600" dirty="0">
                <a:solidFill>
                  <a:srgbClr val="264653"/>
                </a:solidFill>
                <a:latin typeface="+mj-lt" pitchFamily="34" charset="0"/>
                <a:ea typeface="+mj-lt" pitchFamily="34" charset="-122"/>
                <a:cs typeface="+mj-lt" pitchFamily="34" charset="-120"/>
              </a:rPr>
              <a:t>U = Φ Σ Vᵀ (SVD of snapshots)</a:t>
            </a:r>
            <a:endParaRPr lang="en-US" sz="1600" dirty="0"/>
          </a:p>
          <a:p>
            <a:pPr indent="0" marL="0">
              <a:buNone/>
            </a:pPr>
            <a:r>
              <a:rPr lang="en-US" sz="1600" dirty="0">
                <a:solidFill>
                  <a:srgbClr val="264653"/>
                </a:solidFill>
                <a:latin typeface="+mj-lt" pitchFamily="34" charset="0"/>
                <a:ea typeface="+mj-lt" pitchFamily="34" charset="-122"/>
                <a:cs typeface="+mj-lt" pitchFamily="34" charset="-120"/>
              </a:rPr>
              <a:t>u(x, t) ≈ Σᵢ₌₁ʳ aᵢ(t) φᵢ(x),  r ≪ n</a:t>
            </a:r>
            <a:endParaRPr lang="en-US" sz="1600" dirty="0"/>
          </a:p>
        </p:txBody>
      </p:sp>
      <p:sp>
        <p:nvSpPr>
          <p:cNvPr id="7" name="desc POD / PCA reduced basis"/>
          <p:cNvSpPr txBox="1"/>
          <p:nvPr/>
        </p:nvSpPr>
        <p:spPr>
          <a:xfrm>
            <a:off x="749808" y="3017520"/>
            <a:ext cx="4992624" cy="667512"/>
          </a:xfrm>
          <a:prstGeom prst="rect">
            <a:avLst/>
          </a:prstGeom>
          <a:noFill/>
          <a:ln/>
        </p:spPr>
        <p:txBody>
          <a:bodyPr wrap="square" lIns="0" tIns="0" rIns="0" bIns="0" rtlCol="0" anchor="t"/>
          <a:lstStyle/>
          <a:p>
            <a:pPr indent="0" marL="0">
              <a:buNone/>
            </a:pPr>
            <a:r>
              <a:rPr lang="en-US" sz="1400" dirty="0">
                <a:solidFill>
                  <a:srgbClr val="1B2430"/>
                </a:solidFill>
              </a:rPr>
              <a:t>Project PDE onto a few dominant modes; Galerkin ROMs run orders of magnitude faster.</a:t>
            </a:r>
            <a:endParaRPr lang="en-US" sz="1400" dirty="0"/>
          </a:p>
        </p:txBody>
      </p:sp>
      <p:sp>
        <p:nvSpPr>
          <p:cNvPr id="8" name="card Dynamic mode decomposition"/>
          <p:cNvSpPr/>
          <p:nvPr/>
        </p:nvSpPr>
        <p:spPr>
          <a:xfrm>
            <a:off x="6217920" y="1554480"/>
            <a:ext cx="5394960" cy="2240280"/>
          </a:xfrm>
          <a:prstGeom prst="rect">
            <a:avLst>
              <a:gd name="adj" fmla="val 3265"/>
            </a:avLst>
          </a:prstGeom>
          <a:solidFill>
            <a:srgbClr val="EEF4F5"/>
          </a:solidFill>
          <a:ln w="12700">
            <a:solidFill>
              <a:srgbClr val="EEF4F5"/>
            </a:solidFill>
            <a:prstDash val="solid"/>
          </a:ln>
        </p:spPr>
      </p:sp>
      <p:sp>
        <p:nvSpPr>
          <p:cNvPr id="9" name="card title Dynamic mode decomposition"/>
          <p:cNvSpPr txBox="1"/>
          <p:nvPr/>
        </p:nvSpPr>
        <p:spPr>
          <a:xfrm>
            <a:off x="641908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Dynamic mode decomposition</a:t>
            </a:r>
            <a:endParaRPr lang="en-US" sz="1600" dirty="0"/>
          </a:p>
        </p:txBody>
      </p:sp>
      <p:sp>
        <p:nvSpPr>
          <p:cNvPr id="10" name="equation Dynamic mode decomposition"/>
          <p:cNvSpPr txBox="1"/>
          <p:nvPr/>
        </p:nvSpPr>
        <p:spPr>
          <a:xfrm>
            <a:off x="6419088" y="2103120"/>
            <a:ext cx="4992624" cy="731520"/>
          </a:xfrm>
          <a:prstGeom prst="rect">
            <a:avLst/>
          </a:prstGeom>
          <a:solidFill>
            <a:srgbClr val="FFFFFF"/>
          </a:solidFill>
          <a:ln/>
        </p:spPr>
        <p:txBody>
          <a:bodyPr wrap="square" lIns="762" tIns="762" rIns="762" bIns="762" rtlCol="0" anchor="ctr"/>
          <a:lstStyle/>
          <a:p>
            <a:pPr indent="0" marL="0">
              <a:buNone/>
            </a:pPr>
            <a:r>
              <a:rPr lang="en-US" sz="1600" dirty="0">
                <a:solidFill>
                  <a:srgbClr val="264653"/>
                </a:solidFill>
                <a:latin typeface="+mj-lt" pitchFamily="34" charset="0"/>
                <a:ea typeface="+mj-lt" pitchFamily="34" charset="-122"/>
                <a:cs typeface="+mj-lt" pitchFamily="34" charset="-120"/>
              </a:rPr>
              <a:t>xₖ₊₁ ≈ A xₖ,   A = X′ X⁺ ;  modes = eig(A)</a:t>
            </a:r>
            <a:endParaRPr lang="en-US" sz="1600" dirty="0"/>
          </a:p>
        </p:txBody>
      </p:sp>
      <p:sp>
        <p:nvSpPr>
          <p:cNvPr id="11" name="desc Dynamic mode decomposition"/>
          <p:cNvSpPr txBox="1"/>
          <p:nvPr/>
        </p:nvSpPr>
        <p:spPr>
          <a:xfrm>
            <a:off x="6419088" y="2926080"/>
            <a:ext cx="4992624" cy="758952"/>
          </a:xfrm>
          <a:prstGeom prst="rect">
            <a:avLst/>
          </a:prstGeom>
          <a:noFill/>
          <a:ln/>
        </p:spPr>
        <p:txBody>
          <a:bodyPr wrap="square" lIns="0" tIns="0" rIns="0" bIns="0" rtlCol="0" anchor="t"/>
          <a:lstStyle/>
          <a:p>
            <a:pPr indent="0" marL="0">
              <a:buNone/>
            </a:pPr>
            <a:r>
              <a:rPr lang="en-US" sz="1400" dirty="0">
                <a:solidFill>
                  <a:srgbClr val="1B2430"/>
                </a:solidFill>
              </a:rPr>
              <a:t>Linear dynamics learned from data; growth rates and frequencies of each mode.</a:t>
            </a:r>
            <a:endParaRPr lang="en-US" sz="1400" dirty="0"/>
          </a:p>
        </p:txBody>
      </p:sp>
      <p:sp>
        <p:nvSpPr>
          <p:cNvPr id="12" name="card Gaussian-process emulator"/>
          <p:cNvSpPr/>
          <p:nvPr/>
        </p:nvSpPr>
        <p:spPr>
          <a:xfrm>
            <a:off x="548640" y="4023360"/>
            <a:ext cx="5394960" cy="2240280"/>
          </a:xfrm>
          <a:prstGeom prst="rect">
            <a:avLst>
              <a:gd name="adj" fmla="val 3265"/>
            </a:avLst>
          </a:prstGeom>
          <a:solidFill>
            <a:srgbClr val="EEF4F5"/>
          </a:solidFill>
          <a:ln w="12700">
            <a:solidFill>
              <a:srgbClr val="EEF4F5"/>
            </a:solidFill>
            <a:prstDash val="solid"/>
          </a:ln>
        </p:spPr>
      </p:sp>
      <p:sp>
        <p:nvSpPr>
          <p:cNvPr id="13" name="card title Gaussian-process emulator"/>
          <p:cNvSpPr txBox="1"/>
          <p:nvPr/>
        </p:nvSpPr>
        <p:spPr>
          <a:xfrm>
            <a:off x="749808" y="416052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Gaussian-process emulator</a:t>
            </a:r>
            <a:endParaRPr lang="en-US" sz="1600" dirty="0"/>
          </a:p>
        </p:txBody>
      </p:sp>
      <p:sp>
        <p:nvSpPr>
          <p:cNvPr id="14" name="equation Gaussian-process emulator"/>
          <p:cNvSpPr txBox="1"/>
          <p:nvPr/>
        </p:nvSpPr>
        <p:spPr>
          <a:xfrm>
            <a:off x="749808" y="4572000"/>
            <a:ext cx="4992624" cy="822960"/>
          </a:xfrm>
          <a:prstGeom prst="rect">
            <a:avLst/>
          </a:prstGeom>
          <a:solidFill>
            <a:srgbClr val="FFFFFF"/>
          </a:solidFill>
          <a:ln/>
        </p:spPr>
        <p:txBody>
          <a:bodyPr wrap="square" lIns="762" tIns="762" rIns="762" bIns="762" rtlCol="0" anchor="ctr"/>
          <a:lstStyle/>
          <a:p>
            <a:pPr indent="0" marL="0">
              <a:buNone/>
            </a:pPr>
            <a:r>
              <a:rPr lang="en-US" sz="1600" dirty="0">
                <a:solidFill>
                  <a:srgbClr val="264653"/>
                </a:solidFill>
                <a:latin typeface="+mj-lt" pitchFamily="34" charset="0"/>
                <a:ea typeface="+mj-lt" pitchFamily="34" charset="-122"/>
                <a:cs typeface="+mj-lt" pitchFamily="34" charset="-120"/>
              </a:rPr>
              <a:t>μ(x*) = k*ᵀ (K + σ²I)⁻¹ y</a:t>
            </a:r>
            <a:endParaRPr lang="en-US" sz="1600" dirty="0"/>
          </a:p>
          <a:p>
            <a:pPr indent="0" marL="0">
              <a:buNone/>
            </a:pPr>
            <a:r>
              <a:rPr lang="en-US" sz="1600" dirty="0">
                <a:solidFill>
                  <a:srgbClr val="264653"/>
                </a:solidFill>
                <a:latin typeface="+mj-lt" pitchFamily="34" charset="0"/>
                <a:ea typeface="+mj-lt" pitchFamily="34" charset="-122"/>
                <a:cs typeface="+mj-lt" pitchFamily="34" charset="-120"/>
              </a:rPr>
              <a:t>σ²(x*) = k** − k*ᵀ (K + σ²I)⁻¹ k*</a:t>
            </a:r>
            <a:endParaRPr lang="en-US" sz="1600" dirty="0"/>
          </a:p>
        </p:txBody>
      </p:sp>
      <p:sp>
        <p:nvSpPr>
          <p:cNvPr id="15" name="desc Gaussian-process emulator"/>
          <p:cNvSpPr txBox="1"/>
          <p:nvPr/>
        </p:nvSpPr>
        <p:spPr>
          <a:xfrm>
            <a:off x="749808" y="5486400"/>
            <a:ext cx="4992624" cy="667512"/>
          </a:xfrm>
          <a:prstGeom prst="rect">
            <a:avLst/>
          </a:prstGeom>
          <a:noFill/>
          <a:ln/>
        </p:spPr>
        <p:txBody>
          <a:bodyPr wrap="square" lIns="0" tIns="0" rIns="0" bIns="0" rtlCol="0" anchor="t"/>
          <a:lstStyle/>
          <a:p>
            <a:pPr indent="0" marL="0">
              <a:buNone/>
            </a:pPr>
            <a:r>
              <a:rPr lang="en-US" sz="1400" dirty="0">
                <a:solidFill>
                  <a:srgbClr val="1B2430"/>
                </a:solidFill>
              </a:rPr>
              <a:t>Surrogate with its own error bar from ~10 runs per input; drives calibration and design.</a:t>
            </a:r>
            <a:endParaRPr lang="en-US" sz="1400" dirty="0"/>
          </a:p>
        </p:txBody>
      </p:sp>
      <p:sp>
        <p:nvSpPr>
          <p:cNvPr id="16" name="card Neural surrogates"/>
          <p:cNvSpPr/>
          <p:nvPr/>
        </p:nvSpPr>
        <p:spPr>
          <a:xfrm>
            <a:off x="6217920" y="4023360"/>
            <a:ext cx="5394960" cy="2240280"/>
          </a:xfrm>
          <a:prstGeom prst="rect">
            <a:avLst>
              <a:gd name="adj" fmla="val 3265"/>
            </a:avLst>
          </a:prstGeom>
          <a:solidFill>
            <a:srgbClr val="EEF4F5"/>
          </a:solidFill>
          <a:ln w="12700">
            <a:solidFill>
              <a:srgbClr val="EEF4F5"/>
            </a:solidFill>
            <a:prstDash val="solid"/>
          </a:ln>
        </p:spPr>
      </p:sp>
      <p:sp>
        <p:nvSpPr>
          <p:cNvPr id="17" name="card title Neural surrogates"/>
          <p:cNvSpPr txBox="1"/>
          <p:nvPr/>
        </p:nvSpPr>
        <p:spPr>
          <a:xfrm>
            <a:off x="6419088" y="416052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Neural surrogates</a:t>
            </a:r>
            <a:endParaRPr lang="en-US" sz="1600" dirty="0"/>
          </a:p>
        </p:txBody>
      </p:sp>
      <p:sp>
        <p:nvSpPr>
          <p:cNvPr id="18" name="equation Neural surrogates"/>
          <p:cNvSpPr txBox="1"/>
          <p:nvPr/>
        </p:nvSpPr>
        <p:spPr>
          <a:xfrm>
            <a:off x="6419088" y="4572000"/>
            <a:ext cx="4992624" cy="822960"/>
          </a:xfrm>
          <a:prstGeom prst="rect">
            <a:avLst/>
          </a:prstGeom>
          <a:solidFill>
            <a:srgbClr val="FFFFFF"/>
          </a:solidFill>
          <a:ln/>
        </p:spPr>
        <p:txBody>
          <a:bodyPr wrap="square" lIns="762" tIns="762" rIns="762" bIns="762" rtlCol="0" anchor="ctr"/>
          <a:lstStyle/>
          <a:p>
            <a:pPr indent="0" marL="0">
              <a:buNone/>
            </a:pPr>
            <a:r>
              <a:rPr lang="en-US" sz="1600" dirty="0">
                <a:solidFill>
                  <a:srgbClr val="264653"/>
                </a:solidFill>
                <a:latin typeface="+mj-lt" pitchFamily="34" charset="0"/>
                <a:ea typeface="+mj-lt" pitchFamily="34" charset="-122"/>
                <a:cs typeface="+mj-lt" pitchFamily="34" charset="-120"/>
              </a:rPr>
              <a:t>PINN: L = L_data + λ ‖r(u_θ)‖²  (r = PDE residual)</a:t>
            </a:r>
            <a:endParaRPr lang="en-US" sz="1600" dirty="0"/>
          </a:p>
          <a:p>
            <a:pPr indent="0" marL="0">
              <a:buNone/>
            </a:pPr>
            <a:r>
              <a:rPr lang="en-US" sz="1600" dirty="0">
                <a:solidFill>
                  <a:srgbClr val="264653"/>
                </a:solidFill>
                <a:latin typeface="+mj-lt" pitchFamily="34" charset="0"/>
                <a:ea typeface="+mj-lt" pitchFamily="34" charset="-122"/>
                <a:cs typeface="+mj-lt" pitchFamily="34" charset="-120"/>
              </a:rPr>
              <a:t>operator: G_θ : input field → solution field</a:t>
            </a:r>
            <a:endParaRPr lang="en-US" sz="1600" dirty="0"/>
          </a:p>
        </p:txBody>
      </p:sp>
      <p:sp>
        <p:nvSpPr>
          <p:cNvPr id="19" name="desc Neural surrogates"/>
          <p:cNvSpPr txBox="1"/>
          <p:nvPr/>
        </p:nvSpPr>
        <p:spPr>
          <a:xfrm>
            <a:off x="6419088" y="5486400"/>
            <a:ext cx="4992624" cy="667512"/>
          </a:xfrm>
          <a:prstGeom prst="rect">
            <a:avLst/>
          </a:prstGeom>
          <a:noFill/>
          <a:ln/>
        </p:spPr>
        <p:txBody>
          <a:bodyPr wrap="square" lIns="0" tIns="0" rIns="0" bIns="0" rtlCol="0" anchor="t"/>
          <a:lstStyle/>
          <a:p>
            <a:pPr indent="0" marL="0">
              <a:buNone/>
            </a:pPr>
            <a:r>
              <a:rPr lang="en-US" sz="1400" dirty="0">
                <a:solidFill>
                  <a:srgbClr val="1B2430"/>
                </a:solidFill>
              </a:rPr>
              <a:t>Neural networks, physics-informed nets, neural ODEs and neural operators for large data.</a:t>
            </a:r>
            <a:endParaRPr lang="en-US" sz="14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731520" y="2057400"/>
            <a:ext cx="10698480" cy="411480"/>
          </a:xfrm>
          <a:prstGeom prst="rect">
            <a:avLst/>
          </a:prstGeom>
          <a:noFill/>
          <a:ln/>
        </p:spPr>
        <p:txBody>
          <a:bodyPr wrap="square" rtlCol="0" anchor="t"/>
          <a:lstStyle/>
          <a:p>
            <a:pPr indent="0" marL="0">
              <a:buNone/>
            </a:pPr>
            <a:r>
              <a:rPr lang="en-US" sz="1600" b="1" dirty="0">
                <a:solidFill>
                  <a:srgbClr val="F2A541"/>
                </a:solidFill>
              </a:rPr>
              <a:t>PART III</a:t>
            </a:r>
            <a:endParaRPr lang="en-US" sz="1600" dirty="0"/>
          </a:p>
        </p:txBody>
      </p:sp>
      <p:sp>
        <p:nvSpPr>
          <p:cNvPr id="3" name="Text 0"/>
          <p:cNvSpPr/>
          <p:nvPr>
            <p:ph idx="101" type="title" hasCustomPrompt="1"/>
          </p:nvPr>
        </p:nvSpPr>
        <p:spPr>
          <a:xfrm>
            <a:off x="731520" y="2560320"/>
            <a:ext cx="10698480" cy="1371600"/>
          </a:xfrm>
          <a:prstGeom prst="rect">
            <a:avLst/>
          </a:prstGeom>
          <a:noFill/>
          <a:ln/>
        </p:spPr>
        <p:txBody>
          <a:bodyPr wrap="square" rtlCol="0" anchor="t"/>
          <a:lstStyle/>
          <a:p>
            <a:pPr algn="l" indent="0" marL="0">
              <a:buNone/>
            </a:pPr>
            <a:r>
              <a:rPr lang="en-US" sz="4000" b="1" dirty="0">
                <a:solidFill>
                  <a:srgbClr val="FFFFFF"/>
                </a:solidFill>
              </a:rPr>
              <a:t>From twins to trials and decisions</a:t>
            </a:r>
            <a:endParaRPr lang="en-US" sz="4000" dirty="0"/>
          </a:p>
        </p:txBody>
      </p:sp>
      <p:sp>
        <p:nvSpPr>
          <p:cNvPr id="4" name="Text 0"/>
          <p:cNvSpPr/>
          <p:nvPr>
            <p:ph idx="102" type="body" hasCustomPrompt="1"/>
          </p:nvPr>
        </p:nvSpPr>
        <p:spPr>
          <a:xfrm>
            <a:off x="731520" y="4069080"/>
            <a:ext cx="9601200" cy="1463040"/>
          </a:xfrm>
          <a:prstGeom prst="rect">
            <a:avLst/>
          </a:prstGeom>
          <a:noFill/>
          <a:ln/>
        </p:spPr>
        <p:txBody>
          <a:bodyPr wrap="square" rtlCol="0" anchor="t"/>
          <a:lstStyle/>
          <a:p>
            <a:pPr indent="0" marL="0">
              <a:buNone/>
            </a:pPr>
            <a:r>
              <a:rPr lang="en-US" sz="1800" dirty="0">
                <a:solidFill>
                  <a:srgbClr val="EEF4F5"/>
                </a:solidFill>
              </a:rPr>
              <a:t>Families 11–12: generating virtual populations, designing and analysing virtual trials, optimal control and validation</a:t>
            </a:r>
            <a:endParaRPr lang="en-US" sz="18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4F5"/>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29184"/>
          </a:xfrm>
          <a:prstGeom prst="rect">
            <a:avLst/>
          </a:prstGeom>
          <a:noFill/>
          <a:ln/>
        </p:spPr>
        <p:txBody>
          <a:bodyPr wrap="square" lIns="0" tIns="0" rIns="0" bIns="0" rtlCol="0" anchor="t"/>
          <a:lstStyle/>
          <a:p>
            <a:pPr indent="0" marL="0">
              <a:buNone/>
            </a:pPr>
            <a:r>
              <a:rPr lang="en-US" sz="1300" b="1" dirty="0">
                <a:solidFill>
                  <a:srgbClr val="1F7A70"/>
                </a:solidFill>
              </a:rPr>
              <a:t>FAMILY 11 · VIRTUAL POPULATIONS</a:t>
            </a:r>
            <a:endParaRPr lang="en-US" sz="1300" dirty="0"/>
          </a:p>
        </p:txBody>
      </p:sp>
      <p:sp>
        <p:nvSpPr>
          <p:cNvPr id="3" name="Text 0"/>
          <p:cNvSpPr/>
          <p:nvPr>
            <p:ph idx="101" type="title" hasCustomPrompt="1"/>
          </p:nvPr>
        </p:nvSpPr>
        <p:spPr>
          <a:xfrm>
            <a:off x="548640" y="603504"/>
            <a:ext cx="11064240" cy="731520"/>
          </a:xfrm>
          <a:prstGeom prst="rect">
            <a:avLst/>
          </a:prstGeom>
          <a:noFill/>
          <a:ln/>
        </p:spPr>
        <p:txBody>
          <a:bodyPr wrap="square" lIns="0" tIns="0" rIns="0" bIns="0" rtlCol="0" anchor="t"/>
          <a:lstStyle/>
          <a:p>
            <a:pPr algn="l" indent="0" marL="0">
              <a:buNone/>
            </a:pPr>
            <a:r>
              <a:rPr lang="en-US" sz="3600" b="1" dirty="0">
                <a:solidFill>
                  <a:srgbClr val="0B3C49"/>
                </a:solidFill>
              </a:rPr>
              <a:t>Generating realistic virtual subjects</a:t>
            </a:r>
            <a:endParaRPr lang="en-US" sz="3600" dirty="0"/>
          </a:p>
        </p:txBody>
      </p:sp>
      <p:sp>
        <p:nvSpPr>
          <p:cNvPr id="4" name="card Sampling covariates with copulas"/>
          <p:cNvSpPr/>
          <p:nvPr/>
        </p:nvSpPr>
        <p:spPr>
          <a:xfrm>
            <a:off x="548640" y="1554480"/>
            <a:ext cx="5394960" cy="2240280"/>
          </a:xfrm>
          <a:prstGeom prst="rect">
            <a:avLst>
              <a:gd name="adj" fmla="val 3265"/>
            </a:avLst>
          </a:prstGeom>
          <a:solidFill>
            <a:srgbClr val="EEF4F5"/>
          </a:solidFill>
          <a:ln w="12700">
            <a:solidFill>
              <a:srgbClr val="EEF4F5"/>
            </a:solidFill>
            <a:prstDash val="solid"/>
          </a:ln>
        </p:spPr>
      </p:sp>
      <p:sp>
        <p:nvSpPr>
          <p:cNvPr id="5" name="card title Sampling covariates with copulas"/>
          <p:cNvSpPr txBox="1"/>
          <p:nvPr/>
        </p:nvSpPr>
        <p:spPr>
          <a:xfrm>
            <a:off x="74980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Sampling covariates with copulas</a:t>
            </a:r>
            <a:endParaRPr lang="en-US" sz="1600" dirty="0"/>
          </a:p>
        </p:txBody>
      </p:sp>
      <p:sp>
        <p:nvSpPr>
          <p:cNvPr id="6" name="equation Sampling covariates with copulas"/>
          <p:cNvSpPr txBox="1"/>
          <p:nvPr/>
        </p:nvSpPr>
        <p:spPr>
          <a:xfrm>
            <a:off x="749808" y="2103120"/>
            <a:ext cx="4992624" cy="822960"/>
          </a:xfrm>
          <a:prstGeom prst="rect">
            <a:avLst/>
          </a:prstGeom>
          <a:solidFill>
            <a:srgbClr val="FFFFFF"/>
          </a:solidFill>
          <a:ln/>
        </p:spPr>
        <p:txBody>
          <a:bodyPr wrap="square" lIns="762" tIns="762" rIns="762" bIns="762" rtlCol="0" anchor="ctr"/>
          <a:lstStyle/>
          <a:p>
            <a:pPr indent="0" marL="0">
              <a:buNone/>
            </a:pPr>
            <a:r>
              <a:rPr lang="en-US" sz="1600" dirty="0">
                <a:solidFill>
                  <a:srgbClr val="264653"/>
                </a:solidFill>
                <a:latin typeface="+mj-lt" pitchFamily="34" charset="0"/>
                <a:ea typeface="+mj-lt" pitchFamily="34" charset="-122"/>
                <a:cs typeface="+mj-lt" pitchFamily="34" charset="-120"/>
              </a:rPr>
              <a:t>F(x₁…x_d) = C(F₁(x₁), …, F_d(x_d))</a:t>
            </a:r>
            <a:endParaRPr lang="en-US" sz="1600" dirty="0"/>
          </a:p>
          <a:p>
            <a:pPr indent="0" marL="0">
              <a:buNone/>
            </a:pPr>
            <a:r>
              <a:rPr lang="en-US" sz="1600" dirty="0">
                <a:solidFill>
                  <a:srgbClr val="264653"/>
                </a:solidFill>
                <a:latin typeface="+mj-lt" pitchFamily="34" charset="0"/>
                <a:ea typeface="+mj-lt" pitchFamily="34" charset="-122"/>
                <a:cs typeface="+mj-lt" pitchFamily="34" charset="-120"/>
              </a:rPr>
              <a:t>(Sklar's theorem)</a:t>
            </a:r>
            <a:endParaRPr lang="en-US" sz="1600" dirty="0"/>
          </a:p>
        </p:txBody>
      </p:sp>
      <p:sp>
        <p:nvSpPr>
          <p:cNvPr id="7" name="desc Sampling covariates with copulas"/>
          <p:cNvSpPr txBox="1"/>
          <p:nvPr/>
        </p:nvSpPr>
        <p:spPr>
          <a:xfrm>
            <a:off x="749808" y="3017520"/>
            <a:ext cx="4992624" cy="667512"/>
          </a:xfrm>
          <a:prstGeom prst="rect">
            <a:avLst/>
          </a:prstGeom>
          <a:noFill/>
          <a:ln/>
        </p:spPr>
        <p:txBody>
          <a:bodyPr wrap="square" lIns="0" tIns="0" rIns="0" bIns="0" rtlCol="0" anchor="t"/>
          <a:lstStyle/>
          <a:p>
            <a:pPr indent="0" marL="0">
              <a:buNone/>
            </a:pPr>
            <a:r>
              <a:rPr lang="en-US" sz="1400" dirty="0">
                <a:solidFill>
                  <a:srgbClr val="1B2430"/>
                </a:solidFill>
              </a:rPr>
              <a:t>Correct marginals plus correct correlations (age, weight, renal function, biomarkers).</a:t>
            </a:r>
            <a:endParaRPr lang="en-US" sz="1400" dirty="0"/>
          </a:p>
        </p:txBody>
      </p:sp>
      <p:sp>
        <p:nvSpPr>
          <p:cNvPr id="8" name="card Plausible-patient selection"/>
          <p:cNvSpPr/>
          <p:nvPr/>
        </p:nvSpPr>
        <p:spPr>
          <a:xfrm>
            <a:off x="6217920" y="1554480"/>
            <a:ext cx="5394960" cy="2240280"/>
          </a:xfrm>
          <a:prstGeom prst="rect">
            <a:avLst>
              <a:gd name="adj" fmla="val 3265"/>
            </a:avLst>
          </a:prstGeom>
          <a:solidFill>
            <a:srgbClr val="EEF4F5"/>
          </a:solidFill>
          <a:ln w="12700">
            <a:solidFill>
              <a:srgbClr val="EEF4F5"/>
            </a:solidFill>
            <a:prstDash val="solid"/>
          </a:ln>
        </p:spPr>
      </p:sp>
      <p:sp>
        <p:nvSpPr>
          <p:cNvPr id="9" name="card title Plausible-patient selection"/>
          <p:cNvSpPr txBox="1"/>
          <p:nvPr/>
        </p:nvSpPr>
        <p:spPr>
          <a:xfrm>
            <a:off x="641908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Plausible-patient selection</a:t>
            </a:r>
            <a:endParaRPr lang="en-US" sz="1600" dirty="0"/>
          </a:p>
        </p:txBody>
      </p:sp>
      <p:sp>
        <p:nvSpPr>
          <p:cNvPr id="10" name="equation Plausible-patient selection"/>
          <p:cNvSpPr txBox="1"/>
          <p:nvPr/>
        </p:nvSpPr>
        <p:spPr>
          <a:xfrm>
            <a:off x="6419088" y="2103120"/>
            <a:ext cx="4992624" cy="822960"/>
          </a:xfrm>
          <a:prstGeom prst="rect">
            <a:avLst/>
          </a:prstGeom>
          <a:solidFill>
            <a:srgbClr val="FFFFFF"/>
          </a:solidFill>
          <a:ln/>
        </p:spPr>
        <p:txBody>
          <a:bodyPr wrap="square" lIns="762" tIns="762" rIns="762" bIns="762" rtlCol="0" anchor="ctr"/>
          <a:lstStyle/>
          <a:p>
            <a:pPr indent="0" marL="0">
              <a:buNone/>
            </a:pPr>
            <a:r>
              <a:rPr lang="en-US" sz="1400" dirty="0">
                <a:solidFill>
                  <a:srgbClr val="264653"/>
                </a:solidFill>
                <a:latin typeface="+mj-lt" pitchFamily="34" charset="0"/>
                <a:ea typeface="+mj-lt" pitchFamily="34" charset="-122"/>
                <a:cs typeface="+mj-lt" pitchFamily="34" charset="-120"/>
              </a:rPr>
              <a:t>θ ~ prior box;  keep if model output ∈ physiological range</a:t>
            </a:r>
            <a:endParaRPr lang="en-US" sz="1400" dirty="0"/>
          </a:p>
          <a:p>
            <a:pPr indent="0" marL="0">
              <a:buNone/>
            </a:pPr>
            <a:r>
              <a:rPr lang="en-US" sz="1400" dirty="0">
                <a:solidFill>
                  <a:srgbClr val="264653"/>
                </a:solidFill>
                <a:latin typeface="+mj-lt" pitchFamily="34" charset="0"/>
                <a:ea typeface="+mj-lt" pitchFamily="34" charset="-122"/>
                <a:cs typeface="+mj-lt" pitchFamily="34" charset="-120"/>
              </a:rPr>
              <a:t>weight to match observed distribution</a:t>
            </a:r>
            <a:endParaRPr lang="en-US" sz="1400" dirty="0"/>
          </a:p>
        </p:txBody>
      </p:sp>
      <p:sp>
        <p:nvSpPr>
          <p:cNvPr id="11" name="desc Plausible-patient selection"/>
          <p:cNvSpPr txBox="1"/>
          <p:nvPr/>
        </p:nvSpPr>
        <p:spPr>
          <a:xfrm>
            <a:off x="6419088" y="3017520"/>
            <a:ext cx="4992624" cy="667512"/>
          </a:xfrm>
          <a:prstGeom prst="rect">
            <a:avLst/>
          </a:prstGeom>
          <a:noFill/>
          <a:ln/>
        </p:spPr>
        <p:txBody>
          <a:bodyPr wrap="square" lIns="0" tIns="0" rIns="0" bIns="0" rtlCol="0" anchor="t"/>
          <a:lstStyle/>
          <a:p>
            <a:pPr indent="0" marL="0">
              <a:buNone/>
            </a:pPr>
            <a:r>
              <a:rPr lang="en-US" sz="1400" dirty="0">
                <a:solidFill>
                  <a:srgbClr val="1B2430"/>
                </a:solidFill>
              </a:rPr>
              <a:t>Accept–reject or prevalence weighting builds virtual populations matching real data (Allen et al. 2016).</a:t>
            </a:r>
            <a:endParaRPr lang="en-US" sz="1400" dirty="0"/>
          </a:p>
        </p:txBody>
      </p:sp>
      <p:sp>
        <p:nvSpPr>
          <p:cNvPr id="12" name="card Parameter posterior sampling"/>
          <p:cNvSpPr/>
          <p:nvPr/>
        </p:nvSpPr>
        <p:spPr>
          <a:xfrm>
            <a:off x="548640" y="4023360"/>
            <a:ext cx="5394960" cy="2240280"/>
          </a:xfrm>
          <a:prstGeom prst="rect">
            <a:avLst>
              <a:gd name="adj" fmla="val 3265"/>
            </a:avLst>
          </a:prstGeom>
          <a:solidFill>
            <a:srgbClr val="EEF4F5"/>
          </a:solidFill>
          <a:ln w="12700">
            <a:solidFill>
              <a:srgbClr val="EEF4F5"/>
            </a:solidFill>
            <a:prstDash val="solid"/>
          </a:ln>
        </p:spPr>
      </p:sp>
      <p:sp>
        <p:nvSpPr>
          <p:cNvPr id="13" name="card title Parameter posterior sampling"/>
          <p:cNvSpPr txBox="1"/>
          <p:nvPr/>
        </p:nvSpPr>
        <p:spPr>
          <a:xfrm>
            <a:off x="749808" y="416052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Parameter posterior sampling</a:t>
            </a:r>
            <a:endParaRPr lang="en-US" sz="1600" dirty="0"/>
          </a:p>
        </p:txBody>
      </p:sp>
      <p:sp>
        <p:nvSpPr>
          <p:cNvPr id="14" name="equation Parameter posterior sampling"/>
          <p:cNvSpPr txBox="1"/>
          <p:nvPr/>
        </p:nvSpPr>
        <p:spPr>
          <a:xfrm>
            <a:off x="749808" y="4572000"/>
            <a:ext cx="4992624" cy="731520"/>
          </a:xfrm>
          <a:prstGeom prst="rect">
            <a:avLst/>
          </a:prstGeom>
          <a:solidFill>
            <a:srgbClr val="FFFFFF"/>
          </a:solidFill>
          <a:ln/>
        </p:spPr>
        <p:txBody>
          <a:bodyPr wrap="square" lIns="762" tIns="762" rIns="762" bIns="762" rtlCol="0" anchor="ctr"/>
          <a:lstStyle/>
          <a:p>
            <a:pPr indent="0" marL="0">
              <a:buNone/>
            </a:pPr>
            <a:r>
              <a:rPr lang="en-US" sz="1600" dirty="0">
                <a:solidFill>
                  <a:srgbClr val="264653"/>
                </a:solidFill>
                <a:latin typeface="+mj-lt" pitchFamily="34" charset="0"/>
                <a:ea typeface="+mj-lt" pitchFamily="34" charset="-122"/>
                <a:cs typeface="+mj-lt" pitchFamily="34" charset="-120"/>
              </a:rPr>
              <a:t>θ⁽ᵏ⁾ ~ p(θ | data)  via MCMC / ABC / SBI</a:t>
            </a:r>
            <a:endParaRPr lang="en-US" sz="1600" dirty="0"/>
          </a:p>
        </p:txBody>
      </p:sp>
      <p:sp>
        <p:nvSpPr>
          <p:cNvPr id="15" name="desc Parameter posterior sampling"/>
          <p:cNvSpPr txBox="1"/>
          <p:nvPr/>
        </p:nvSpPr>
        <p:spPr>
          <a:xfrm>
            <a:off x="749808" y="5394960"/>
            <a:ext cx="4992624" cy="758952"/>
          </a:xfrm>
          <a:prstGeom prst="rect">
            <a:avLst/>
          </a:prstGeom>
          <a:noFill/>
          <a:ln/>
        </p:spPr>
        <p:txBody>
          <a:bodyPr wrap="square" lIns="0" tIns="0" rIns="0" bIns="0" rtlCol="0" anchor="t"/>
          <a:lstStyle/>
          <a:p>
            <a:pPr indent="0" marL="0">
              <a:buNone/>
            </a:pPr>
            <a:r>
              <a:rPr lang="en-US" sz="1400" dirty="0">
                <a:solidFill>
                  <a:srgbClr val="1B2430"/>
                </a:solidFill>
              </a:rPr>
              <a:t>Each draw is one virtual subject consistent with observed data and its uncertainty.</a:t>
            </a:r>
            <a:endParaRPr lang="en-US" sz="1400" dirty="0"/>
          </a:p>
        </p:txBody>
      </p:sp>
      <p:sp>
        <p:nvSpPr>
          <p:cNvPr id="16" name="card Deep generative models"/>
          <p:cNvSpPr/>
          <p:nvPr/>
        </p:nvSpPr>
        <p:spPr>
          <a:xfrm>
            <a:off x="6217920" y="4023360"/>
            <a:ext cx="5394960" cy="2240280"/>
          </a:xfrm>
          <a:prstGeom prst="rect">
            <a:avLst>
              <a:gd name="adj" fmla="val 3265"/>
            </a:avLst>
          </a:prstGeom>
          <a:solidFill>
            <a:srgbClr val="EEF4F5"/>
          </a:solidFill>
          <a:ln w="12700">
            <a:solidFill>
              <a:srgbClr val="EEF4F5"/>
            </a:solidFill>
            <a:prstDash val="solid"/>
          </a:ln>
        </p:spPr>
      </p:sp>
      <p:sp>
        <p:nvSpPr>
          <p:cNvPr id="17" name="card title Deep generative models"/>
          <p:cNvSpPr txBox="1"/>
          <p:nvPr/>
        </p:nvSpPr>
        <p:spPr>
          <a:xfrm>
            <a:off x="6419088" y="416052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Deep generative models</a:t>
            </a:r>
            <a:endParaRPr lang="en-US" sz="1600" dirty="0"/>
          </a:p>
        </p:txBody>
      </p:sp>
      <p:sp>
        <p:nvSpPr>
          <p:cNvPr id="18" name="equation Deep generative models"/>
          <p:cNvSpPr txBox="1"/>
          <p:nvPr/>
        </p:nvSpPr>
        <p:spPr>
          <a:xfrm>
            <a:off x="6419088" y="4572000"/>
            <a:ext cx="4992624" cy="822960"/>
          </a:xfrm>
          <a:prstGeom prst="rect">
            <a:avLst/>
          </a:prstGeom>
          <a:solidFill>
            <a:srgbClr val="FFFFFF"/>
          </a:solidFill>
          <a:ln/>
        </p:spPr>
        <p:txBody>
          <a:bodyPr wrap="square" lIns="762" tIns="762" rIns="762" bIns="762" rtlCol="0" anchor="ctr"/>
          <a:lstStyle/>
          <a:p>
            <a:pPr indent="0" marL="0">
              <a:buNone/>
            </a:pPr>
            <a:r>
              <a:rPr lang="en-US" sz="1500" dirty="0">
                <a:solidFill>
                  <a:srgbClr val="264653"/>
                </a:solidFill>
                <a:latin typeface="+mj-lt" pitchFamily="34" charset="0"/>
                <a:ea typeface="+mj-lt" pitchFamily="34" charset="-122"/>
                <a:cs typeface="+mj-lt" pitchFamily="34" charset="-120"/>
              </a:rPr>
              <a:t>VAE: max E_q[log p(x|z)] − KL(q(z|x) ‖ p(z))</a:t>
            </a:r>
            <a:endParaRPr lang="en-US" sz="1500" dirty="0"/>
          </a:p>
          <a:p>
            <a:pPr indent="0" marL="0">
              <a:buNone/>
            </a:pPr>
            <a:r>
              <a:rPr lang="en-US" sz="1500" dirty="0">
                <a:solidFill>
                  <a:srgbClr val="264653"/>
                </a:solidFill>
                <a:latin typeface="+mj-lt" pitchFamily="34" charset="0"/>
                <a:ea typeface="+mj-lt" pitchFamily="34" charset="-122"/>
                <a:cs typeface="+mj-lt" pitchFamily="34" charset="-120"/>
              </a:rPr>
              <a:t>GAN / diffusion for images and records</a:t>
            </a:r>
            <a:endParaRPr lang="en-US" sz="1500" dirty="0"/>
          </a:p>
        </p:txBody>
      </p:sp>
      <p:sp>
        <p:nvSpPr>
          <p:cNvPr id="19" name="desc Deep generative models"/>
          <p:cNvSpPr txBox="1"/>
          <p:nvPr/>
        </p:nvSpPr>
        <p:spPr>
          <a:xfrm>
            <a:off x="6419088" y="5486400"/>
            <a:ext cx="4992624" cy="667512"/>
          </a:xfrm>
          <a:prstGeom prst="rect">
            <a:avLst/>
          </a:prstGeom>
          <a:noFill/>
          <a:ln/>
        </p:spPr>
        <p:txBody>
          <a:bodyPr wrap="square" lIns="0" tIns="0" rIns="0" bIns="0" rtlCol="0" anchor="t"/>
          <a:lstStyle/>
          <a:p>
            <a:pPr indent="0" marL="0">
              <a:buNone/>
            </a:pPr>
            <a:r>
              <a:rPr lang="en-US" sz="1400" dirty="0">
                <a:solidFill>
                  <a:srgbClr val="1B2430"/>
                </a:solidFill>
              </a:rPr>
              <a:t>Synthetic anatomies and records; check realism, coverage of rare cases and privacy.</a:t>
            </a:r>
            <a:endParaRPr lang="en-US" sz="14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29184"/>
          </a:xfrm>
          <a:prstGeom prst="rect">
            <a:avLst/>
          </a:prstGeom>
          <a:noFill/>
          <a:ln/>
        </p:spPr>
        <p:txBody>
          <a:bodyPr wrap="square" lIns="0" tIns="0" rIns="0" bIns="0" rtlCol="0" anchor="t"/>
          <a:lstStyle/>
          <a:p>
            <a:pPr indent="0" marL="0">
              <a:buNone/>
            </a:pPr>
            <a:r>
              <a:rPr lang="en-US" sz="1300" b="1" dirty="0">
                <a:solidFill>
                  <a:srgbClr val="1F7A70"/>
                </a:solidFill>
              </a:rPr>
              <a:t>FAMILY 11 · VIRTUAL TRIAL DESIGN</a:t>
            </a:r>
            <a:endParaRPr lang="en-US" sz="1300" dirty="0"/>
          </a:p>
        </p:txBody>
      </p:sp>
      <p:sp>
        <p:nvSpPr>
          <p:cNvPr id="3" name="Text 0"/>
          <p:cNvSpPr/>
          <p:nvPr>
            <p:ph idx="101" type="title" hasCustomPrompt="1"/>
          </p:nvPr>
        </p:nvSpPr>
        <p:spPr>
          <a:xfrm>
            <a:off x="548640" y="603504"/>
            <a:ext cx="11064240" cy="731520"/>
          </a:xfrm>
          <a:prstGeom prst="rect">
            <a:avLst/>
          </a:prstGeom>
          <a:noFill/>
          <a:ln/>
        </p:spPr>
        <p:txBody>
          <a:bodyPr wrap="square" lIns="0" tIns="0" rIns="0" bIns="0" rtlCol="0" anchor="t"/>
          <a:lstStyle/>
          <a:p>
            <a:pPr algn="l" indent="0" marL="0">
              <a:buNone/>
            </a:pPr>
            <a:r>
              <a:rPr lang="en-US" sz="3600" b="1" dirty="0">
                <a:solidFill>
                  <a:srgbClr val="0B3C49"/>
                </a:solidFill>
              </a:rPr>
              <a:t>Estimands, power and adaptive designs</a:t>
            </a:r>
            <a:endParaRPr lang="en-US" sz="3600" dirty="0"/>
          </a:p>
        </p:txBody>
      </p:sp>
      <p:sp>
        <p:nvSpPr>
          <p:cNvPr id="4" name="card Potential outcomes"/>
          <p:cNvSpPr/>
          <p:nvPr/>
        </p:nvSpPr>
        <p:spPr>
          <a:xfrm>
            <a:off x="548640" y="1554480"/>
            <a:ext cx="5394960" cy="2240280"/>
          </a:xfrm>
          <a:prstGeom prst="rect">
            <a:avLst>
              <a:gd name="adj" fmla="val 3265"/>
            </a:avLst>
          </a:prstGeom>
          <a:solidFill>
            <a:srgbClr val="EEF4F5"/>
          </a:solidFill>
          <a:ln w="12700">
            <a:solidFill>
              <a:srgbClr val="EEF4F5"/>
            </a:solidFill>
            <a:prstDash val="solid"/>
          </a:ln>
        </p:spPr>
      </p:sp>
      <p:sp>
        <p:nvSpPr>
          <p:cNvPr id="5" name="card title Potential outcomes"/>
          <p:cNvSpPr txBox="1"/>
          <p:nvPr/>
        </p:nvSpPr>
        <p:spPr>
          <a:xfrm>
            <a:off x="74980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Potential outcomes</a:t>
            </a:r>
            <a:endParaRPr lang="en-US" sz="1600" dirty="0"/>
          </a:p>
        </p:txBody>
      </p:sp>
      <p:sp>
        <p:nvSpPr>
          <p:cNvPr id="6" name="equation Potential outcomes"/>
          <p:cNvSpPr txBox="1"/>
          <p:nvPr/>
        </p:nvSpPr>
        <p:spPr>
          <a:xfrm>
            <a:off x="749808" y="2103120"/>
            <a:ext cx="4992624" cy="822960"/>
          </a:xfrm>
          <a:prstGeom prst="rect">
            <a:avLst/>
          </a:prstGeom>
          <a:solidFill>
            <a:srgbClr val="FFFFFF"/>
          </a:solidFill>
          <a:ln/>
        </p:spPr>
        <p:txBody>
          <a:bodyPr wrap="square" lIns="762" tIns="762" rIns="762" bIns="762" rtlCol="0" anchor="ctr"/>
          <a:lstStyle/>
          <a:p>
            <a:pPr indent="0" marL="0">
              <a:buNone/>
            </a:pPr>
            <a:r>
              <a:rPr lang="en-US" sz="1500" dirty="0">
                <a:solidFill>
                  <a:srgbClr val="264653"/>
                </a:solidFill>
                <a:latin typeface="+mj-lt" pitchFamily="34" charset="0"/>
                <a:ea typeface="+mj-lt" pitchFamily="34" charset="-122"/>
                <a:cs typeface="+mj-lt" pitchFamily="34" charset="-120"/>
              </a:rPr>
              <a:t>ATE = E[Y(1) − Y(0)];  ITE ᵢ = Yᵢ(1) − Yᵢ(0)</a:t>
            </a:r>
            <a:endParaRPr lang="en-US" sz="1500" dirty="0"/>
          </a:p>
          <a:p>
            <a:pPr indent="0" marL="0">
              <a:buNone/>
            </a:pPr>
            <a:r>
              <a:rPr lang="en-US" sz="1500" dirty="0">
                <a:solidFill>
                  <a:srgbClr val="264653"/>
                </a:solidFill>
                <a:latin typeface="+mj-lt" pitchFamily="34" charset="0"/>
                <a:ea typeface="+mj-lt" pitchFamily="34" charset="-122"/>
                <a:cs typeface="+mj-lt" pitchFamily="34" charset="-120"/>
              </a:rPr>
              <a:t>twins observe both arms for each subject</a:t>
            </a:r>
            <a:endParaRPr lang="en-US" sz="1500" dirty="0"/>
          </a:p>
        </p:txBody>
      </p:sp>
      <p:sp>
        <p:nvSpPr>
          <p:cNvPr id="7" name="desc Potential outcomes"/>
          <p:cNvSpPr txBox="1"/>
          <p:nvPr/>
        </p:nvSpPr>
        <p:spPr>
          <a:xfrm>
            <a:off x="749808" y="3017520"/>
            <a:ext cx="4992624" cy="667512"/>
          </a:xfrm>
          <a:prstGeom prst="rect">
            <a:avLst/>
          </a:prstGeom>
          <a:noFill/>
          <a:ln/>
        </p:spPr>
        <p:txBody>
          <a:bodyPr wrap="square" lIns="0" tIns="0" rIns="0" bIns="0" rtlCol="0" anchor="t"/>
          <a:lstStyle/>
          <a:p>
            <a:pPr indent="0" marL="0">
              <a:buNone/>
            </a:pPr>
            <a:r>
              <a:rPr lang="en-US" sz="1400" dirty="0">
                <a:solidFill>
                  <a:srgbClr val="1B2430"/>
                </a:solidFill>
              </a:rPr>
              <a:t>Virtual subjects receive every arm, so individual effects are directly computable.</a:t>
            </a:r>
            <a:endParaRPr lang="en-US" sz="1400" dirty="0"/>
          </a:p>
        </p:txBody>
      </p:sp>
      <p:sp>
        <p:nvSpPr>
          <p:cNvPr id="8" name="card Sample size and power"/>
          <p:cNvSpPr/>
          <p:nvPr/>
        </p:nvSpPr>
        <p:spPr>
          <a:xfrm>
            <a:off x="6217920" y="1554480"/>
            <a:ext cx="5394960" cy="2240280"/>
          </a:xfrm>
          <a:prstGeom prst="rect">
            <a:avLst>
              <a:gd name="adj" fmla="val 3265"/>
            </a:avLst>
          </a:prstGeom>
          <a:solidFill>
            <a:srgbClr val="EEF4F5"/>
          </a:solidFill>
          <a:ln w="12700">
            <a:solidFill>
              <a:srgbClr val="EEF4F5"/>
            </a:solidFill>
            <a:prstDash val="solid"/>
          </a:ln>
        </p:spPr>
      </p:sp>
      <p:sp>
        <p:nvSpPr>
          <p:cNvPr id="9" name="card title Sample size and power"/>
          <p:cNvSpPr txBox="1"/>
          <p:nvPr/>
        </p:nvSpPr>
        <p:spPr>
          <a:xfrm>
            <a:off x="641908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Sample size and power</a:t>
            </a:r>
            <a:endParaRPr lang="en-US" sz="1600" dirty="0"/>
          </a:p>
        </p:txBody>
      </p:sp>
      <p:sp>
        <p:nvSpPr>
          <p:cNvPr id="10" name="equation Sample size and power"/>
          <p:cNvSpPr txBox="1"/>
          <p:nvPr/>
        </p:nvSpPr>
        <p:spPr>
          <a:xfrm>
            <a:off x="6419088" y="2103120"/>
            <a:ext cx="4992624" cy="822960"/>
          </a:xfrm>
          <a:prstGeom prst="rect">
            <a:avLst/>
          </a:prstGeom>
          <a:solidFill>
            <a:srgbClr val="FFFFFF"/>
          </a:solidFill>
          <a:ln/>
        </p:spPr>
        <p:txBody>
          <a:bodyPr wrap="square" lIns="762" tIns="762" rIns="762" bIns="762" rtlCol="0" anchor="ctr"/>
          <a:lstStyle/>
          <a:p>
            <a:pPr indent="0" marL="0">
              <a:buNone/>
            </a:pPr>
            <a:r>
              <a:rPr lang="en-US" sz="1500" dirty="0">
                <a:solidFill>
                  <a:srgbClr val="264653"/>
                </a:solidFill>
                <a:latin typeface="+mj-lt" pitchFamily="34" charset="0"/>
                <a:ea typeface="+mj-lt" pitchFamily="34" charset="-122"/>
                <a:cs typeface="+mj-lt" pitchFamily="34" charset="-120"/>
              </a:rPr>
              <a:t>parallel: n = 2(z₁₋α/₂ + z₁₋β)² σ² / δ²</a:t>
            </a:r>
            <a:endParaRPr lang="en-US" sz="1500" dirty="0"/>
          </a:p>
          <a:p>
            <a:pPr indent="0" marL="0">
              <a:buNone/>
            </a:pPr>
            <a:r>
              <a:rPr lang="en-US" sz="1500" dirty="0">
                <a:solidFill>
                  <a:srgbClr val="264653"/>
                </a:solidFill>
                <a:latin typeface="+mj-lt" pitchFamily="34" charset="0"/>
                <a:ea typeface="+mj-lt" pitchFamily="34" charset="-122"/>
                <a:cs typeface="+mj-lt" pitchFamily="34" charset="-120"/>
              </a:rPr>
              <a:t>paired: n = (z₁₋α/₂ + z₁₋β)² σ_Δ² / δ²</a:t>
            </a:r>
            <a:endParaRPr lang="en-US" sz="1500" dirty="0"/>
          </a:p>
        </p:txBody>
      </p:sp>
      <p:sp>
        <p:nvSpPr>
          <p:cNvPr id="11" name="desc Sample size and power"/>
          <p:cNvSpPr txBox="1"/>
          <p:nvPr/>
        </p:nvSpPr>
        <p:spPr>
          <a:xfrm>
            <a:off x="6419088" y="3017520"/>
            <a:ext cx="4992624" cy="667512"/>
          </a:xfrm>
          <a:prstGeom prst="rect">
            <a:avLst/>
          </a:prstGeom>
          <a:noFill/>
          <a:ln/>
        </p:spPr>
        <p:txBody>
          <a:bodyPr wrap="square" lIns="0" tIns="0" rIns="0" bIns="0" rtlCol="0" anchor="t"/>
          <a:lstStyle/>
          <a:p>
            <a:pPr indent="0" marL="0">
              <a:buNone/>
            </a:pPr>
            <a:r>
              <a:rPr lang="en-US" sz="1400" dirty="0">
                <a:solidFill>
                  <a:srgbClr val="1B2430"/>
                </a:solidFill>
              </a:rPr>
              <a:t>Simulated trials estimate power directly: the fraction of replicate trials that succeed.</a:t>
            </a:r>
            <a:endParaRPr lang="en-US" sz="1400" dirty="0"/>
          </a:p>
        </p:txBody>
      </p:sp>
      <p:sp>
        <p:nvSpPr>
          <p:cNvPr id="12" name="card Bayesian adaptive design"/>
          <p:cNvSpPr/>
          <p:nvPr/>
        </p:nvSpPr>
        <p:spPr>
          <a:xfrm>
            <a:off x="548640" y="4023360"/>
            <a:ext cx="5394960" cy="2240280"/>
          </a:xfrm>
          <a:prstGeom prst="rect">
            <a:avLst>
              <a:gd name="adj" fmla="val 3265"/>
            </a:avLst>
          </a:prstGeom>
          <a:solidFill>
            <a:srgbClr val="EEF4F5"/>
          </a:solidFill>
          <a:ln w="12700">
            <a:solidFill>
              <a:srgbClr val="EEF4F5"/>
            </a:solidFill>
            <a:prstDash val="solid"/>
          </a:ln>
        </p:spPr>
      </p:sp>
      <p:sp>
        <p:nvSpPr>
          <p:cNvPr id="13" name="card title Bayesian adaptive design"/>
          <p:cNvSpPr txBox="1"/>
          <p:nvPr/>
        </p:nvSpPr>
        <p:spPr>
          <a:xfrm>
            <a:off x="749808" y="416052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Bayesian adaptive design</a:t>
            </a:r>
            <a:endParaRPr lang="en-US" sz="1600" dirty="0"/>
          </a:p>
        </p:txBody>
      </p:sp>
      <p:sp>
        <p:nvSpPr>
          <p:cNvPr id="14" name="equation Bayesian adaptive design"/>
          <p:cNvSpPr txBox="1"/>
          <p:nvPr/>
        </p:nvSpPr>
        <p:spPr>
          <a:xfrm>
            <a:off x="749808" y="4572000"/>
            <a:ext cx="4992624" cy="822960"/>
          </a:xfrm>
          <a:prstGeom prst="rect">
            <a:avLst/>
          </a:prstGeom>
          <a:solidFill>
            <a:srgbClr val="FFFFFF"/>
          </a:solidFill>
          <a:ln/>
        </p:spPr>
        <p:txBody>
          <a:bodyPr wrap="square" lIns="762" tIns="762" rIns="762" bIns="762" rtlCol="0" anchor="ctr"/>
          <a:lstStyle/>
          <a:p>
            <a:pPr indent="0" marL="0">
              <a:buNone/>
            </a:pPr>
            <a:r>
              <a:rPr lang="en-US" sz="1600" dirty="0">
                <a:solidFill>
                  <a:srgbClr val="264653"/>
                </a:solidFill>
                <a:latin typeface="+mj-lt" pitchFamily="34" charset="0"/>
                <a:ea typeface="+mj-lt" pitchFamily="34" charset="-122"/>
                <a:cs typeface="+mj-lt" pitchFamily="34" charset="-120"/>
              </a:rPr>
              <a:t>stop if P(δ &gt; 0 | data) &gt; 0.975</a:t>
            </a:r>
            <a:endParaRPr lang="en-US" sz="1600" dirty="0"/>
          </a:p>
          <a:p>
            <a:pPr indent="0" marL="0">
              <a:buNone/>
            </a:pPr>
            <a:r>
              <a:rPr lang="en-US" sz="1600" dirty="0">
                <a:solidFill>
                  <a:srgbClr val="264653"/>
                </a:solidFill>
                <a:latin typeface="+mj-lt" pitchFamily="34" charset="0"/>
                <a:ea typeface="+mj-lt" pitchFamily="34" charset="-122"/>
                <a:cs typeface="+mj-lt" pitchFamily="34" charset="-120"/>
              </a:rPr>
              <a:t>Thompson: assign arm a with P(a is best)</a:t>
            </a:r>
            <a:endParaRPr lang="en-US" sz="1600" dirty="0"/>
          </a:p>
        </p:txBody>
      </p:sp>
      <p:sp>
        <p:nvSpPr>
          <p:cNvPr id="15" name="desc Bayesian adaptive design"/>
          <p:cNvSpPr txBox="1"/>
          <p:nvPr/>
        </p:nvSpPr>
        <p:spPr>
          <a:xfrm>
            <a:off x="749808" y="5486400"/>
            <a:ext cx="4992624" cy="667512"/>
          </a:xfrm>
          <a:prstGeom prst="rect">
            <a:avLst/>
          </a:prstGeom>
          <a:noFill/>
          <a:ln/>
        </p:spPr>
        <p:txBody>
          <a:bodyPr wrap="square" lIns="0" tIns="0" rIns="0" bIns="0" rtlCol="0" anchor="t"/>
          <a:lstStyle/>
          <a:p>
            <a:pPr indent="0" marL="0">
              <a:buNone/>
            </a:pPr>
            <a:r>
              <a:rPr lang="en-US" sz="1400" dirty="0">
                <a:solidFill>
                  <a:srgbClr val="1B2430"/>
                </a:solidFill>
              </a:rPr>
              <a:t>Interim decisions and response-adaptive randomisation; operating characteristics found by simulation.</a:t>
            </a:r>
            <a:endParaRPr lang="en-US" sz="1400" dirty="0"/>
          </a:p>
        </p:txBody>
      </p:sp>
      <p:sp>
        <p:nvSpPr>
          <p:cNvPr id="16" name="card Dose-finding (CRM)"/>
          <p:cNvSpPr/>
          <p:nvPr/>
        </p:nvSpPr>
        <p:spPr>
          <a:xfrm>
            <a:off x="6217920" y="4023360"/>
            <a:ext cx="5394960" cy="2240280"/>
          </a:xfrm>
          <a:prstGeom prst="rect">
            <a:avLst>
              <a:gd name="adj" fmla="val 3265"/>
            </a:avLst>
          </a:prstGeom>
          <a:solidFill>
            <a:srgbClr val="EEF4F5"/>
          </a:solidFill>
          <a:ln w="12700">
            <a:solidFill>
              <a:srgbClr val="EEF4F5"/>
            </a:solidFill>
            <a:prstDash val="solid"/>
          </a:ln>
        </p:spPr>
      </p:sp>
      <p:sp>
        <p:nvSpPr>
          <p:cNvPr id="17" name="card title Dose-finding (CRM)"/>
          <p:cNvSpPr txBox="1"/>
          <p:nvPr/>
        </p:nvSpPr>
        <p:spPr>
          <a:xfrm>
            <a:off x="6419088" y="416052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Dose-finding (CRM)</a:t>
            </a:r>
            <a:endParaRPr lang="en-US" sz="1600" dirty="0"/>
          </a:p>
        </p:txBody>
      </p:sp>
      <p:sp>
        <p:nvSpPr>
          <p:cNvPr id="18" name="equation Dose-finding (CRM)"/>
          <p:cNvSpPr txBox="1"/>
          <p:nvPr/>
        </p:nvSpPr>
        <p:spPr>
          <a:xfrm>
            <a:off x="6419088" y="4572000"/>
            <a:ext cx="4992624" cy="731520"/>
          </a:xfrm>
          <a:prstGeom prst="rect">
            <a:avLst/>
          </a:prstGeom>
          <a:solidFill>
            <a:srgbClr val="FFFFFF"/>
          </a:solidFill>
          <a:ln/>
        </p:spPr>
        <p:txBody>
          <a:bodyPr wrap="square" lIns="762" tIns="762" rIns="762" bIns="762" rtlCol="0" anchor="ctr"/>
          <a:lstStyle/>
          <a:p>
            <a:pPr indent="0" marL="0">
              <a:buNone/>
            </a:pPr>
            <a:r>
              <a:rPr lang="en-US" sz="1600" dirty="0">
                <a:solidFill>
                  <a:srgbClr val="264653"/>
                </a:solidFill>
                <a:latin typeface="+mj-lt" pitchFamily="34" charset="0"/>
                <a:ea typeface="+mj-lt" pitchFamily="34" charset="-122"/>
                <a:cs typeface="+mj-lt" pitchFamily="34" charset="-120"/>
              </a:rPr>
              <a:t>P(tox | dᵢ) = pᵢ^exp(a);  next dose ≈ target probability</a:t>
            </a:r>
            <a:endParaRPr lang="en-US" sz="1600" dirty="0"/>
          </a:p>
        </p:txBody>
      </p:sp>
      <p:sp>
        <p:nvSpPr>
          <p:cNvPr id="19" name="desc Dose-finding (CRM)"/>
          <p:cNvSpPr txBox="1"/>
          <p:nvPr/>
        </p:nvSpPr>
        <p:spPr>
          <a:xfrm>
            <a:off x="6419088" y="5394960"/>
            <a:ext cx="4992624" cy="758952"/>
          </a:xfrm>
          <a:prstGeom prst="rect">
            <a:avLst/>
          </a:prstGeom>
          <a:noFill/>
          <a:ln/>
        </p:spPr>
        <p:txBody>
          <a:bodyPr wrap="square" lIns="0" tIns="0" rIns="0" bIns="0" rtlCol="0" anchor="t"/>
          <a:lstStyle/>
          <a:p>
            <a:pPr indent="0" marL="0">
              <a:buNone/>
            </a:pPr>
            <a:r>
              <a:rPr lang="en-US" sz="1400" dirty="0">
                <a:solidFill>
                  <a:srgbClr val="1B2430"/>
                </a:solidFill>
              </a:rPr>
              <a:t>Continual reassessment method updates the dose–toxicity curve after each cohort.</a:t>
            </a:r>
            <a:endParaRPr lang="en-US" sz="14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29184"/>
          </a:xfrm>
          <a:prstGeom prst="rect">
            <a:avLst/>
          </a:prstGeom>
          <a:noFill/>
          <a:ln/>
        </p:spPr>
        <p:txBody>
          <a:bodyPr wrap="square" lIns="0" tIns="0" rIns="0" bIns="0" rtlCol="0" anchor="t"/>
          <a:lstStyle/>
          <a:p>
            <a:pPr indent="0" marL="0">
              <a:buNone/>
            </a:pPr>
            <a:r>
              <a:rPr lang="en-US" sz="1300" b="1" dirty="0">
                <a:solidFill>
                  <a:srgbClr val="1F7A70"/>
                </a:solidFill>
              </a:rPr>
              <a:t>FAMILY 11 · TWINS INSIDE REAL TRIALS</a:t>
            </a:r>
            <a:endParaRPr lang="en-US" sz="1300" dirty="0"/>
          </a:p>
        </p:txBody>
      </p:sp>
      <p:sp>
        <p:nvSpPr>
          <p:cNvPr id="3" name="Text 0"/>
          <p:cNvSpPr/>
          <p:nvPr>
            <p:ph idx="101" type="title" hasCustomPrompt="1"/>
          </p:nvPr>
        </p:nvSpPr>
        <p:spPr>
          <a:xfrm>
            <a:off x="548640" y="603504"/>
            <a:ext cx="11064240" cy="731520"/>
          </a:xfrm>
          <a:prstGeom prst="rect">
            <a:avLst/>
          </a:prstGeom>
          <a:noFill/>
          <a:ln/>
        </p:spPr>
        <p:txBody>
          <a:bodyPr wrap="square" lIns="0" tIns="0" rIns="0" bIns="0" rtlCol="0" anchor="t"/>
          <a:lstStyle/>
          <a:p>
            <a:pPr algn="l" indent="0" marL="0">
              <a:buNone/>
            </a:pPr>
            <a:r>
              <a:rPr lang="en-US" sz="3600" b="1" dirty="0">
                <a:solidFill>
                  <a:srgbClr val="0B3C49"/>
                </a:solidFill>
              </a:rPr>
              <a:t>Augmenting, not replacing, clinical evidence</a:t>
            </a:r>
            <a:endParaRPr lang="en-US" sz="3600" dirty="0"/>
          </a:p>
        </p:txBody>
      </p:sp>
      <p:sp>
        <p:nvSpPr>
          <p:cNvPr id="4" name="card Prognostic covariate adjustment"/>
          <p:cNvSpPr/>
          <p:nvPr/>
        </p:nvSpPr>
        <p:spPr>
          <a:xfrm>
            <a:off x="548640" y="1554480"/>
            <a:ext cx="5394960" cy="2240280"/>
          </a:xfrm>
          <a:prstGeom prst="rect">
            <a:avLst>
              <a:gd name="adj" fmla="val 3265"/>
            </a:avLst>
          </a:prstGeom>
          <a:solidFill>
            <a:srgbClr val="EEF4F5"/>
          </a:solidFill>
          <a:ln w="12700">
            <a:solidFill>
              <a:srgbClr val="EEF4F5"/>
            </a:solidFill>
            <a:prstDash val="solid"/>
          </a:ln>
        </p:spPr>
      </p:sp>
      <p:sp>
        <p:nvSpPr>
          <p:cNvPr id="5" name="card title Prognostic covariate adjustment"/>
          <p:cNvSpPr txBox="1"/>
          <p:nvPr/>
        </p:nvSpPr>
        <p:spPr>
          <a:xfrm>
            <a:off x="74980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Prognostic covariate adjustment</a:t>
            </a:r>
            <a:endParaRPr lang="en-US" sz="1600" dirty="0"/>
          </a:p>
        </p:txBody>
      </p:sp>
      <p:sp>
        <p:nvSpPr>
          <p:cNvPr id="6" name="equation Prognostic covariate adjustment"/>
          <p:cNvSpPr txBox="1"/>
          <p:nvPr/>
        </p:nvSpPr>
        <p:spPr>
          <a:xfrm>
            <a:off x="749808" y="2103120"/>
            <a:ext cx="4992624" cy="731520"/>
          </a:xfrm>
          <a:prstGeom prst="rect">
            <a:avLst/>
          </a:prstGeom>
          <a:solidFill>
            <a:srgbClr val="FFFFFF"/>
          </a:solidFill>
          <a:ln/>
        </p:spPr>
        <p:txBody>
          <a:bodyPr wrap="square" lIns="762" tIns="762" rIns="762" bIns="762" rtlCol="0" anchor="ctr"/>
          <a:lstStyle/>
          <a:p>
            <a:pPr indent="0" marL="0">
              <a:buNone/>
            </a:pPr>
            <a:r>
              <a:rPr lang="en-US" sz="1600" dirty="0">
                <a:solidFill>
                  <a:srgbClr val="264653"/>
                </a:solidFill>
                <a:latin typeface="+mj-lt" pitchFamily="34" charset="0"/>
                <a:ea typeface="+mj-lt" pitchFamily="34" charset="-122"/>
                <a:cs typeface="+mj-lt" pitchFamily="34" charset="-120"/>
              </a:rPr>
              <a:t>Yᵢ = β₀ + τ Tᵢ + β₁ m̂ᵢ + εᵢ   (PROCOVA)</a:t>
            </a:r>
            <a:endParaRPr lang="en-US" sz="1600" dirty="0"/>
          </a:p>
        </p:txBody>
      </p:sp>
      <p:sp>
        <p:nvSpPr>
          <p:cNvPr id="7" name="desc Prognostic covariate adjustment"/>
          <p:cNvSpPr txBox="1"/>
          <p:nvPr/>
        </p:nvSpPr>
        <p:spPr>
          <a:xfrm>
            <a:off x="749808" y="2926080"/>
            <a:ext cx="4992624" cy="758952"/>
          </a:xfrm>
          <a:prstGeom prst="rect">
            <a:avLst/>
          </a:prstGeom>
          <a:noFill/>
          <a:ln/>
        </p:spPr>
        <p:txBody>
          <a:bodyPr wrap="square" lIns="0" tIns="0" rIns="0" bIns="0" rtlCol="0" anchor="t"/>
          <a:lstStyle/>
          <a:p>
            <a:pPr indent="0" marL="0">
              <a:buNone/>
            </a:pPr>
            <a:r>
              <a:rPr lang="en-US" sz="1400" dirty="0">
                <a:solidFill>
                  <a:srgbClr val="1B2430"/>
                </a:solidFill>
              </a:rPr>
              <a:t>Twin-predicted control outcome m̂ᵢ as covariate; smaller variance, fewer patients for the same power.</a:t>
            </a:r>
            <a:endParaRPr lang="en-US" sz="1400" dirty="0"/>
          </a:p>
        </p:txBody>
      </p:sp>
      <p:sp>
        <p:nvSpPr>
          <p:cNvPr id="8" name="card Synthetic / external control arm"/>
          <p:cNvSpPr/>
          <p:nvPr/>
        </p:nvSpPr>
        <p:spPr>
          <a:xfrm>
            <a:off x="6217920" y="1554480"/>
            <a:ext cx="5394960" cy="2240280"/>
          </a:xfrm>
          <a:prstGeom prst="rect">
            <a:avLst>
              <a:gd name="adj" fmla="val 3265"/>
            </a:avLst>
          </a:prstGeom>
          <a:solidFill>
            <a:srgbClr val="EEF4F5"/>
          </a:solidFill>
          <a:ln w="12700">
            <a:solidFill>
              <a:srgbClr val="EEF4F5"/>
            </a:solidFill>
            <a:prstDash val="solid"/>
          </a:ln>
        </p:spPr>
      </p:sp>
      <p:sp>
        <p:nvSpPr>
          <p:cNvPr id="9" name="card title Synthetic / external control arm"/>
          <p:cNvSpPr txBox="1"/>
          <p:nvPr/>
        </p:nvSpPr>
        <p:spPr>
          <a:xfrm>
            <a:off x="641908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Synthetic / external control arm</a:t>
            </a:r>
            <a:endParaRPr lang="en-US" sz="1600" dirty="0"/>
          </a:p>
        </p:txBody>
      </p:sp>
      <p:sp>
        <p:nvSpPr>
          <p:cNvPr id="10" name="equation Synthetic / external control arm"/>
          <p:cNvSpPr txBox="1"/>
          <p:nvPr/>
        </p:nvSpPr>
        <p:spPr>
          <a:xfrm>
            <a:off x="6419088" y="2103120"/>
            <a:ext cx="4992624" cy="822960"/>
          </a:xfrm>
          <a:prstGeom prst="rect">
            <a:avLst/>
          </a:prstGeom>
          <a:solidFill>
            <a:srgbClr val="FFFFFF"/>
          </a:solidFill>
          <a:ln/>
        </p:spPr>
        <p:txBody>
          <a:bodyPr wrap="square" lIns="762" tIns="762" rIns="762" bIns="762" rtlCol="0" anchor="ctr"/>
          <a:lstStyle/>
          <a:p>
            <a:pPr indent="0" marL="0">
              <a:buNone/>
            </a:pPr>
            <a:r>
              <a:rPr lang="en-US" sz="1500" dirty="0">
                <a:solidFill>
                  <a:srgbClr val="264653"/>
                </a:solidFill>
                <a:latin typeface="+mj-lt" pitchFamily="34" charset="0"/>
                <a:ea typeface="+mj-lt" pitchFamily="34" charset="-122"/>
                <a:cs typeface="+mj-lt" pitchFamily="34" charset="-120"/>
              </a:rPr>
              <a:t>e(x) = P(T = 1 | x),  weights 1/e(x), 1/(1 − e(x))</a:t>
            </a:r>
            <a:endParaRPr lang="en-US" sz="1500" dirty="0"/>
          </a:p>
          <a:p>
            <a:pPr indent="0" marL="0">
              <a:buNone/>
            </a:pPr>
            <a:r>
              <a:rPr lang="en-US" sz="1500" dirty="0">
                <a:solidFill>
                  <a:srgbClr val="264653"/>
                </a:solidFill>
                <a:latin typeface="+mj-lt" pitchFamily="34" charset="0"/>
                <a:ea typeface="+mj-lt" pitchFamily="34" charset="-122"/>
                <a:cs typeface="+mj-lt" pitchFamily="34" charset="-120"/>
              </a:rPr>
              <a:t>ATE_IPTW = mean weighted difference</a:t>
            </a:r>
            <a:endParaRPr lang="en-US" sz="1500" dirty="0"/>
          </a:p>
        </p:txBody>
      </p:sp>
      <p:sp>
        <p:nvSpPr>
          <p:cNvPr id="11" name="desc Synthetic / external control arm"/>
          <p:cNvSpPr txBox="1"/>
          <p:nvPr/>
        </p:nvSpPr>
        <p:spPr>
          <a:xfrm>
            <a:off x="6419088" y="3017520"/>
            <a:ext cx="4992624" cy="667512"/>
          </a:xfrm>
          <a:prstGeom prst="rect">
            <a:avLst/>
          </a:prstGeom>
          <a:noFill/>
          <a:ln/>
        </p:spPr>
        <p:txBody>
          <a:bodyPr wrap="square" lIns="0" tIns="0" rIns="0" bIns="0" rtlCol="0" anchor="t"/>
          <a:lstStyle/>
          <a:p>
            <a:pPr indent="0" marL="0">
              <a:buNone/>
            </a:pPr>
            <a:r>
              <a:rPr lang="en-US" sz="1400" dirty="0">
                <a:solidFill>
                  <a:srgbClr val="1B2430"/>
                </a:solidFill>
              </a:rPr>
              <a:t>Propensity scores balance external or simulated controls against treated patients.</a:t>
            </a:r>
            <a:endParaRPr lang="en-US" sz="1400" dirty="0"/>
          </a:p>
        </p:txBody>
      </p:sp>
      <p:sp>
        <p:nvSpPr>
          <p:cNvPr id="12" name="card Model observers for imaging trials"/>
          <p:cNvSpPr/>
          <p:nvPr/>
        </p:nvSpPr>
        <p:spPr>
          <a:xfrm>
            <a:off x="548640" y="4023360"/>
            <a:ext cx="5394960" cy="2240280"/>
          </a:xfrm>
          <a:prstGeom prst="rect">
            <a:avLst>
              <a:gd name="adj" fmla="val 3265"/>
            </a:avLst>
          </a:prstGeom>
          <a:solidFill>
            <a:srgbClr val="EEF4F5"/>
          </a:solidFill>
          <a:ln w="12700">
            <a:solidFill>
              <a:srgbClr val="EEF4F5"/>
            </a:solidFill>
            <a:prstDash val="solid"/>
          </a:ln>
        </p:spPr>
      </p:sp>
      <p:sp>
        <p:nvSpPr>
          <p:cNvPr id="13" name="card title Model observers for imaging trials"/>
          <p:cNvSpPr txBox="1"/>
          <p:nvPr/>
        </p:nvSpPr>
        <p:spPr>
          <a:xfrm>
            <a:off x="749808" y="416052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Model observers for imaging trials</a:t>
            </a:r>
            <a:endParaRPr lang="en-US" sz="1600" dirty="0"/>
          </a:p>
        </p:txBody>
      </p:sp>
      <p:sp>
        <p:nvSpPr>
          <p:cNvPr id="14" name="equation Model observers for imaging trials"/>
          <p:cNvSpPr txBox="1"/>
          <p:nvPr/>
        </p:nvSpPr>
        <p:spPr>
          <a:xfrm>
            <a:off x="749808" y="4572000"/>
            <a:ext cx="4992624" cy="822960"/>
          </a:xfrm>
          <a:prstGeom prst="rect">
            <a:avLst/>
          </a:prstGeom>
          <a:solidFill>
            <a:srgbClr val="FFFFFF"/>
          </a:solidFill>
          <a:ln/>
        </p:spPr>
        <p:txBody>
          <a:bodyPr wrap="square" lIns="762" tIns="762" rIns="762" bIns="762" rtlCol="0" anchor="ctr"/>
          <a:lstStyle/>
          <a:p>
            <a:pPr indent="0" marL="0">
              <a:buNone/>
            </a:pPr>
            <a:r>
              <a:rPr lang="en-US" sz="1600" dirty="0">
                <a:solidFill>
                  <a:srgbClr val="264653"/>
                </a:solidFill>
                <a:latin typeface="+mj-lt" pitchFamily="34" charset="0"/>
                <a:ea typeface="+mj-lt" pitchFamily="34" charset="-122"/>
                <a:cs typeface="+mj-lt" pitchFamily="34" charset="-120"/>
              </a:rPr>
              <a:t>CHO: w = K⁻¹ Δs̄,   SNR² = Δs̄ᵀ K⁻¹ Δs̄</a:t>
            </a:r>
            <a:endParaRPr lang="en-US" sz="1600" dirty="0"/>
          </a:p>
          <a:p>
            <a:pPr indent="0" marL="0">
              <a:buNone/>
            </a:pPr>
            <a:r>
              <a:rPr lang="en-US" sz="1600" dirty="0">
                <a:solidFill>
                  <a:srgbClr val="264653"/>
                </a:solidFill>
                <a:latin typeface="+mj-lt" pitchFamily="34" charset="0"/>
                <a:ea typeface="+mj-lt" pitchFamily="34" charset="-122"/>
                <a:cs typeface="+mj-lt" pitchFamily="34" charset="-120"/>
              </a:rPr>
              <a:t>AUC = Φ(SNR / √2)</a:t>
            </a:r>
            <a:endParaRPr lang="en-US" sz="1600" dirty="0"/>
          </a:p>
        </p:txBody>
      </p:sp>
      <p:sp>
        <p:nvSpPr>
          <p:cNvPr id="15" name="desc Model observers for imaging trials"/>
          <p:cNvSpPr txBox="1"/>
          <p:nvPr/>
        </p:nvSpPr>
        <p:spPr>
          <a:xfrm>
            <a:off x="749808" y="5486400"/>
            <a:ext cx="4992624" cy="667512"/>
          </a:xfrm>
          <a:prstGeom prst="rect">
            <a:avLst/>
          </a:prstGeom>
          <a:noFill/>
          <a:ln/>
        </p:spPr>
        <p:txBody>
          <a:bodyPr wrap="square" lIns="0" tIns="0" rIns="0" bIns="0" rtlCol="0" anchor="t"/>
          <a:lstStyle/>
          <a:p>
            <a:pPr indent="0" marL="0">
              <a:buNone/>
            </a:pPr>
            <a:r>
              <a:rPr lang="en-US" sz="1400" dirty="0">
                <a:solidFill>
                  <a:srgbClr val="1B2430"/>
                </a:solidFill>
              </a:rPr>
              <a:t>Channelised Hotelling observer replaces readers in virtual imaging trials (e.g. VICTRE).</a:t>
            </a:r>
            <a:endParaRPr lang="en-US" sz="1400" dirty="0"/>
          </a:p>
        </p:txBody>
      </p:sp>
      <p:sp>
        <p:nvSpPr>
          <p:cNvPr id="16" name="card Health-economic model"/>
          <p:cNvSpPr/>
          <p:nvPr/>
        </p:nvSpPr>
        <p:spPr>
          <a:xfrm>
            <a:off x="6217920" y="4023360"/>
            <a:ext cx="5394960" cy="2240280"/>
          </a:xfrm>
          <a:prstGeom prst="rect">
            <a:avLst>
              <a:gd name="adj" fmla="val 3265"/>
            </a:avLst>
          </a:prstGeom>
          <a:solidFill>
            <a:srgbClr val="EEF4F5"/>
          </a:solidFill>
          <a:ln w="12700">
            <a:solidFill>
              <a:srgbClr val="EEF4F5"/>
            </a:solidFill>
            <a:prstDash val="solid"/>
          </a:ln>
        </p:spPr>
      </p:sp>
      <p:sp>
        <p:nvSpPr>
          <p:cNvPr id="17" name="card title Health-economic model"/>
          <p:cNvSpPr txBox="1"/>
          <p:nvPr/>
        </p:nvSpPr>
        <p:spPr>
          <a:xfrm>
            <a:off x="6419088" y="416052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Health-economic model</a:t>
            </a:r>
            <a:endParaRPr lang="en-US" sz="1600" dirty="0"/>
          </a:p>
        </p:txBody>
      </p:sp>
      <p:sp>
        <p:nvSpPr>
          <p:cNvPr id="18" name="equation Health-economic model"/>
          <p:cNvSpPr txBox="1"/>
          <p:nvPr/>
        </p:nvSpPr>
        <p:spPr>
          <a:xfrm>
            <a:off x="6419088" y="4572000"/>
            <a:ext cx="4992624" cy="822960"/>
          </a:xfrm>
          <a:prstGeom prst="rect">
            <a:avLst/>
          </a:prstGeom>
          <a:solidFill>
            <a:srgbClr val="FFFFFF"/>
          </a:solidFill>
          <a:ln/>
        </p:spPr>
        <p:txBody>
          <a:bodyPr wrap="square" lIns="762" tIns="762" rIns="762" bIns="762" rtlCol="0" anchor="ctr"/>
          <a:lstStyle/>
          <a:p>
            <a:pPr indent="0" marL="0">
              <a:buNone/>
            </a:pPr>
            <a:r>
              <a:rPr lang="en-US" sz="1600" dirty="0">
                <a:solidFill>
                  <a:srgbClr val="264653"/>
                </a:solidFill>
                <a:latin typeface="+mj-lt" pitchFamily="34" charset="0"/>
                <a:ea typeface="+mj-lt" pitchFamily="34" charset="-122"/>
                <a:cs typeface="+mj-lt" pitchFamily="34" charset="-120"/>
              </a:rPr>
              <a:t>ICER = (C₁ − C₀) / (QALY₁ − QALY₀)</a:t>
            </a:r>
            <a:endParaRPr lang="en-US" sz="1600" dirty="0"/>
          </a:p>
          <a:p>
            <a:pPr indent="0" marL="0">
              <a:buNone/>
            </a:pPr>
            <a:r>
              <a:rPr lang="en-US" sz="1600" dirty="0">
                <a:solidFill>
                  <a:srgbClr val="264653"/>
                </a:solidFill>
                <a:latin typeface="+mj-lt" pitchFamily="34" charset="0"/>
                <a:ea typeface="+mj-lt" pitchFamily="34" charset="-122"/>
                <a:cs typeface="+mj-lt" pitchFamily="34" charset="-120"/>
              </a:rPr>
              <a:t>QALY = Σₜ uₜ · Δt · (1 + r)⁻ᵗ</a:t>
            </a:r>
            <a:endParaRPr lang="en-US" sz="1600" dirty="0"/>
          </a:p>
        </p:txBody>
      </p:sp>
      <p:sp>
        <p:nvSpPr>
          <p:cNvPr id="19" name="desc Health-economic model"/>
          <p:cNvSpPr txBox="1"/>
          <p:nvPr/>
        </p:nvSpPr>
        <p:spPr>
          <a:xfrm>
            <a:off x="6419088" y="5486400"/>
            <a:ext cx="4992624" cy="667512"/>
          </a:xfrm>
          <a:prstGeom prst="rect">
            <a:avLst/>
          </a:prstGeom>
          <a:noFill/>
          <a:ln/>
        </p:spPr>
        <p:txBody>
          <a:bodyPr wrap="square" lIns="0" tIns="0" rIns="0" bIns="0" rtlCol="0" anchor="t"/>
          <a:lstStyle/>
          <a:p>
            <a:pPr indent="0" marL="0">
              <a:buNone/>
            </a:pPr>
            <a:r>
              <a:rPr lang="en-US" sz="1400" dirty="0">
                <a:solidFill>
                  <a:srgbClr val="1B2430"/>
                </a:solidFill>
              </a:rPr>
              <a:t>Markov cohort over health states, with utilities u and discounting r; value of the intervention.</a:t>
            </a:r>
            <a:endParaRPr lang="en-US" sz="14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29184"/>
          </a:xfrm>
          <a:prstGeom prst="rect">
            <a:avLst/>
          </a:prstGeom>
          <a:noFill/>
          <a:ln/>
        </p:spPr>
        <p:txBody>
          <a:bodyPr wrap="square" lIns="0" tIns="0" rIns="0" bIns="0" rtlCol="0" anchor="t"/>
          <a:lstStyle/>
          <a:p>
            <a:pPr indent="0" marL="0">
              <a:buNone/>
            </a:pPr>
            <a:r>
              <a:rPr lang="en-US" sz="1300" b="1" dirty="0">
                <a:solidFill>
                  <a:srgbClr val="1F7A70"/>
                </a:solidFill>
              </a:rPr>
              <a:t>FAMILY 12 · OPTIMISATION AND CONTROL</a:t>
            </a:r>
            <a:endParaRPr lang="en-US" sz="1300" dirty="0"/>
          </a:p>
        </p:txBody>
      </p:sp>
      <p:sp>
        <p:nvSpPr>
          <p:cNvPr id="3" name="Text 0"/>
          <p:cNvSpPr/>
          <p:nvPr>
            <p:ph idx="101" type="title" hasCustomPrompt="1"/>
          </p:nvPr>
        </p:nvSpPr>
        <p:spPr>
          <a:xfrm>
            <a:off x="548640" y="603504"/>
            <a:ext cx="11064240" cy="731520"/>
          </a:xfrm>
          <a:prstGeom prst="rect">
            <a:avLst/>
          </a:prstGeom>
          <a:noFill/>
          <a:ln/>
        </p:spPr>
        <p:txBody>
          <a:bodyPr wrap="square" lIns="0" tIns="0" rIns="0" bIns="0" rtlCol="0" anchor="t"/>
          <a:lstStyle/>
          <a:p>
            <a:pPr algn="l" indent="0" marL="0">
              <a:buNone/>
            </a:pPr>
            <a:r>
              <a:rPr lang="en-US" sz="3600" b="1" dirty="0">
                <a:solidFill>
                  <a:srgbClr val="0B3C49"/>
                </a:solidFill>
              </a:rPr>
              <a:t>Using the twin to decide</a:t>
            </a:r>
            <a:endParaRPr lang="en-US" sz="3600" dirty="0"/>
          </a:p>
        </p:txBody>
      </p:sp>
      <p:sp>
        <p:nvSpPr>
          <p:cNvPr id="4" name="card Optimal control"/>
          <p:cNvSpPr/>
          <p:nvPr/>
        </p:nvSpPr>
        <p:spPr>
          <a:xfrm>
            <a:off x="548640" y="1554480"/>
            <a:ext cx="5394960" cy="2240280"/>
          </a:xfrm>
          <a:prstGeom prst="rect">
            <a:avLst>
              <a:gd name="adj" fmla="val 3265"/>
            </a:avLst>
          </a:prstGeom>
          <a:solidFill>
            <a:srgbClr val="EEF4F5"/>
          </a:solidFill>
          <a:ln w="12700">
            <a:solidFill>
              <a:srgbClr val="EEF4F5"/>
            </a:solidFill>
            <a:prstDash val="solid"/>
          </a:ln>
        </p:spPr>
      </p:sp>
      <p:sp>
        <p:nvSpPr>
          <p:cNvPr id="5" name="card title Optimal control"/>
          <p:cNvSpPr txBox="1"/>
          <p:nvPr/>
        </p:nvSpPr>
        <p:spPr>
          <a:xfrm>
            <a:off x="74980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Optimal control</a:t>
            </a:r>
            <a:endParaRPr lang="en-US" sz="1600" dirty="0"/>
          </a:p>
        </p:txBody>
      </p:sp>
      <p:sp>
        <p:nvSpPr>
          <p:cNvPr id="6" name="equation Optimal control"/>
          <p:cNvSpPr txBox="1"/>
          <p:nvPr/>
        </p:nvSpPr>
        <p:spPr>
          <a:xfrm>
            <a:off x="749808" y="2103120"/>
            <a:ext cx="4992624" cy="822960"/>
          </a:xfrm>
          <a:prstGeom prst="rect">
            <a:avLst/>
          </a:prstGeom>
          <a:solidFill>
            <a:srgbClr val="FFFFFF"/>
          </a:solidFill>
          <a:ln/>
        </p:spPr>
        <p:txBody>
          <a:bodyPr wrap="square" lIns="762" tIns="762" rIns="762" bIns="762" rtlCol="0" anchor="ctr"/>
          <a:lstStyle/>
          <a:p>
            <a:pPr indent="0" marL="0">
              <a:buNone/>
            </a:pPr>
            <a:r>
              <a:rPr lang="en-US" sz="1400" dirty="0">
                <a:solidFill>
                  <a:srgbClr val="264653"/>
                </a:solidFill>
                <a:latin typeface="+mj-lt" pitchFamily="34" charset="0"/>
                <a:ea typeface="+mj-lt" pitchFamily="34" charset="-122"/>
                <a:cs typeface="+mj-lt" pitchFamily="34" charset="-120"/>
              </a:rPr>
              <a:t>min_u ∫₀ᵀ L(x, u) dt + Φ(x(T))  s.t. dx/dt = f(x, u)</a:t>
            </a:r>
            <a:endParaRPr lang="en-US" sz="1400" dirty="0"/>
          </a:p>
          <a:p>
            <a:pPr indent="0" marL="0">
              <a:buNone/>
            </a:pPr>
            <a:r>
              <a:rPr lang="en-US" sz="1400" dirty="0">
                <a:solidFill>
                  <a:srgbClr val="264653"/>
                </a:solidFill>
                <a:latin typeface="+mj-lt" pitchFamily="34" charset="0"/>
                <a:ea typeface="+mj-lt" pitchFamily="34" charset="-122"/>
                <a:cs typeface="+mj-lt" pitchFamily="34" charset="-120"/>
              </a:rPr>
              <a:t>Pontryagin: H = L + λᵀ f,  ∂H/∂u = 0</a:t>
            </a:r>
            <a:endParaRPr lang="en-US" sz="1400" dirty="0"/>
          </a:p>
        </p:txBody>
      </p:sp>
      <p:sp>
        <p:nvSpPr>
          <p:cNvPr id="7" name="desc Optimal control"/>
          <p:cNvSpPr txBox="1"/>
          <p:nvPr/>
        </p:nvSpPr>
        <p:spPr>
          <a:xfrm>
            <a:off x="749808" y="3017520"/>
            <a:ext cx="4992624" cy="667512"/>
          </a:xfrm>
          <a:prstGeom prst="rect">
            <a:avLst/>
          </a:prstGeom>
          <a:noFill/>
          <a:ln/>
        </p:spPr>
        <p:txBody>
          <a:bodyPr wrap="square" lIns="0" tIns="0" rIns="0" bIns="0" rtlCol="0" anchor="t"/>
          <a:lstStyle/>
          <a:p>
            <a:pPr indent="0" marL="0">
              <a:buNone/>
            </a:pPr>
            <a:r>
              <a:rPr lang="en-US" sz="1400" dirty="0">
                <a:solidFill>
                  <a:srgbClr val="1B2430"/>
                </a:solidFill>
              </a:rPr>
              <a:t>Best dosing or therapy schedule over a horizon, with toxicity and resource constraints.</a:t>
            </a:r>
            <a:endParaRPr lang="en-US" sz="1400" dirty="0"/>
          </a:p>
        </p:txBody>
      </p:sp>
      <p:sp>
        <p:nvSpPr>
          <p:cNvPr id="8" name="card Model predictive control"/>
          <p:cNvSpPr/>
          <p:nvPr/>
        </p:nvSpPr>
        <p:spPr>
          <a:xfrm>
            <a:off x="6217920" y="1554480"/>
            <a:ext cx="5394960" cy="2240280"/>
          </a:xfrm>
          <a:prstGeom prst="rect">
            <a:avLst>
              <a:gd name="adj" fmla="val 3265"/>
            </a:avLst>
          </a:prstGeom>
          <a:solidFill>
            <a:srgbClr val="EEF4F5"/>
          </a:solidFill>
          <a:ln w="12700">
            <a:solidFill>
              <a:srgbClr val="EEF4F5"/>
            </a:solidFill>
            <a:prstDash val="solid"/>
          </a:ln>
        </p:spPr>
      </p:sp>
      <p:sp>
        <p:nvSpPr>
          <p:cNvPr id="9" name="card title Model predictive control"/>
          <p:cNvSpPr txBox="1"/>
          <p:nvPr/>
        </p:nvSpPr>
        <p:spPr>
          <a:xfrm>
            <a:off x="641908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Model predictive control</a:t>
            </a:r>
            <a:endParaRPr lang="en-US" sz="1600" dirty="0"/>
          </a:p>
        </p:txBody>
      </p:sp>
      <p:sp>
        <p:nvSpPr>
          <p:cNvPr id="10" name="equation Model predictive control"/>
          <p:cNvSpPr txBox="1"/>
          <p:nvPr/>
        </p:nvSpPr>
        <p:spPr>
          <a:xfrm>
            <a:off x="6419088" y="2103120"/>
            <a:ext cx="4992624" cy="731520"/>
          </a:xfrm>
          <a:prstGeom prst="rect">
            <a:avLst/>
          </a:prstGeom>
          <a:solidFill>
            <a:srgbClr val="FFFFFF"/>
          </a:solidFill>
          <a:ln/>
        </p:spPr>
        <p:txBody>
          <a:bodyPr wrap="square" lIns="762" tIns="762" rIns="762" bIns="762" rtlCol="0" anchor="ctr"/>
          <a:lstStyle/>
          <a:p>
            <a:pPr indent="0" marL="0">
              <a:buNone/>
            </a:pPr>
            <a:r>
              <a:rPr lang="en-US" sz="1400" dirty="0">
                <a:solidFill>
                  <a:srgbClr val="264653"/>
                </a:solidFill>
                <a:latin typeface="+mj-lt" pitchFamily="34" charset="0"/>
                <a:ea typeface="+mj-lt" pitchFamily="34" charset="-122"/>
                <a:cs typeface="+mj-lt" pitchFamily="34" charset="-120"/>
              </a:rPr>
              <a:t>min Σₖ₌₀ᴺ⁻¹ ‖xₖ − x_ref‖²_Q + ‖uₖ‖²_R  ; apply u₀, repeat</a:t>
            </a:r>
            <a:endParaRPr lang="en-US" sz="1400" dirty="0"/>
          </a:p>
        </p:txBody>
      </p:sp>
      <p:sp>
        <p:nvSpPr>
          <p:cNvPr id="11" name="desc Model predictive control"/>
          <p:cNvSpPr txBox="1"/>
          <p:nvPr/>
        </p:nvSpPr>
        <p:spPr>
          <a:xfrm>
            <a:off x="6419088" y="2926080"/>
            <a:ext cx="4992624" cy="758952"/>
          </a:xfrm>
          <a:prstGeom prst="rect">
            <a:avLst/>
          </a:prstGeom>
          <a:noFill/>
          <a:ln/>
        </p:spPr>
        <p:txBody>
          <a:bodyPr wrap="square" lIns="0" tIns="0" rIns="0" bIns="0" rtlCol="0" anchor="t"/>
          <a:lstStyle/>
          <a:p>
            <a:pPr indent="0" marL="0">
              <a:buNone/>
            </a:pPr>
            <a:r>
              <a:rPr lang="en-US" sz="1400" dirty="0">
                <a:solidFill>
                  <a:srgbClr val="1B2430"/>
                </a:solidFill>
              </a:rPr>
              <a:t>Re-optimise at every step with the updated twin (e.g. artificial pancreas).</a:t>
            </a:r>
            <a:endParaRPr lang="en-US" sz="1400" dirty="0"/>
          </a:p>
        </p:txBody>
      </p:sp>
      <p:sp>
        <p:nvSpPr>
          <p:cNvPr id="12" name="card Reinforcement learning"/>
          <p:cNvSpPr/>
          <p:nvPr/>
        </p:nvSpPr>
        <p:spPr>
          <a:xfrm>
            <a:off x="548640" y="4023360"/>
            <a:ext cx="5394960" cy="2240280"/>
          </a:xfrm>
          <a:prstGeom prst="rect">
            <a:avLst>
              <a:gd name="adj" fmla="val 3265"/>
            </a:avLst>
          </a:prstGeom>
          <a:solidFill>
            <a:srgbClr val="EEF4F5"/>
          </a:solidFill>
          <a:ln w="12700">
            <a:solidFill>
              <a:srgbClr val="EEF4F5"/>
            </a:solidFill>
            <a:prstDash val="solid"/>
          </a:ln>
        </p:spPr>
      </p:sp>
      <p:sp>
        <p:nvSpPr>
          <p:cNvPr id="13" name="card title Reinforcement learning"/>
          <p:cNvSpPr txBox="1"/>
          <p:nvPr/>
        </p:nvSpPr>
        <p:spPr>
          <a:xfrm>
            <a:off x="749808" y="416052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Reinforcement learning</a:t>
            </a:r>
            <a:endParaRPr lang="en-US" sz="1600" dirty="0"/>
          </a:p>
        </p:txBody>
      </p:sp>
      <p:sp>
        <p:nvSpPr>
          <p:cNvPr id="14" name="equation Reinforcement learning"/>
          <p:cNvSpPr txBox="1"/>
          <p:nvPr/>
        </p:nvSpPr>
        <p:spPr>
          <a:xfrm>
            <a:off x="749808" y="4572000"/>
            <a:ext cx="4992624" cy="731520"/>
          </a:xfrm>
          <a:prstGeom prst="rect">
            <a:avLst/>
          </a:prstGeom>
          <a:solidFill>
            <a:srgbClr val="FFFFFF"/>
          </a:solidFill>
          <a:ln/>
        </p:spPr>
        <p:txBody>
          <a:bodyPr wrap="square" lIns="762" tIns="762" rIns="762" bIns="762" rtlCol="0" anchor="ctr"/>
          <a:lstStyle/>
          <a:p>
            <a:pPr indent="0" marL="0">
              <a:buNone/>
            </a:pPr>
            <a:r>
              <a:rPr lang="en-US" sz="1500" dirty="0">
                <a:solidFill>
                  <a:srgbClr val="264653"/>
                </a:solidFill>
                <a:latin typeface="+mj-lt" pitchFamily="34" charset="0"/>
                <a:ea typeface="+mj-lt" pitchFamily="34" charset="-122"/>
                <a:cs typeface="+mj-lt" pitchFamily="34" charset="-120"/>
              </a:rPr>
              <a:t>V*(s) = max_a [ r(s, a) + γ E V*(s′) ]   (Bellman)</a:t>
            </a:r>
            <a:endParaRPr lang="en-US" sz="1500" dirty="0"/>
          </a:p>
        </p:txBody>
      </p:sp>
      <p:sp>
        <p:nvSpPr>
          <p:cNvPr id="15" name="desc Reinforcement learning"/>
          <p:cNvSpPr txBox="1"/>
          <p:nvPr/>
        </p:nvSpPr>
        <p:spPr>
          <a:xfrm>
            <a:off x="749808" y="5394960"/>
            <a:ext cx="4992624" cy="758952"/>
          </a:xfrm>
          <a:prstGeom prst="rect">
            <a:avLst/>
          </a:prstGeom>
          <a:noFill/>
          <a:ln/>
        </p:spPr>
        <p:txBody>
          <a:bodyPr wrap="square" lIns="0" tIns="0" rIns="0" bIns="0" rtlCol="0" anchor="t"/>
          <a:lstStyle/>
          <a:p>
            <a:pPr indent="0" marL="0">
              <a:buNone/>
            </a:pPr>
            <a:r>
              <a:rPr lang="en-US" sz="1400" dirty="0">
                <a:solidFill>
                  <a:srgbClr val="1B2430"/>
                </a:solidFill>
              </a:rPr>
              <a:t>Learn a policy by interacting with the twin; adaptive treatment strategies. Train in silico only.</a:t>
            </a:r>
            <a:endParaRPr lang="en-US" sz="1400" dirty="0"/>
          </a:p>
        </p:txBody>
      </p:sp>
      <p:sp>
        <p:nvSpPr>
          <p:cNvPr id="16" name="card Bayesian and multi-objective optimisation"/>
          <p:cNvSpPr/>
          <p:nvPr/>
        </p:nvSpPr>
        <p:spPr>
          <a:xfrm>
            <a:off x="6217920" y="4023360"/>
            <a:ext cx="5394960" cy="2240280"/>
          </a:xfrm>
          <a:prstGeom prst="rect">
            <a:avLst>
              <a:gd name="adj" fmla="val 3265"/>
            </a:avLst>
          </a:prstGeom>
          <a:solidFill>
            <a:srgbClr val="EEF4F5"/>
          </a:solidFill>
          <a:ln w="12700">
            <a:solidFill>
              <a:srgbClr val="EEF4F5"/>
            </a:solidFill>
            <a:prstDash val="solid"/>
          </a:ln>
        </p:spPr>
      </p:sp>
      <p:sp>
        <p:nvSpPr>
          <p:cNvPr id="17" name="card title Bayesian and multi-objective optimisation"/>
          <p:cNvSpPr txBox="1"/>
          <p:nvPr/>
        </p:nvSpPr>
        <p:spPr>
          <a:xfrm>
            <a:off x="6419088" y="416052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Bayesian and multi-objective optimisation</a:t>
            </a:r>
            <a:endParaRPr lang="en-US" sz="1600" dirty="0"/>
          </a:p>
        </p:txBody>
      </p:sp>
      <p:sp>
        <p:nvSpPr>
          <p:cNvPr id="18" name="equation Bayesian and multi-objective optimisation"/>
          <p:cNvSpPr txBox="1"/>
          <p:nvPr/>
        </p:nvSpPr>
        <p:spPr>
          <a:xfrm>
            <a:off x="6419088" y="4572000"/>
            <a:ext cx="4992624" cy="822960"/>
          </a:xfrm>
          <a:prstGeom prst="rect">
            <a:avLst/>
          </a:prstGeom>
          <a:solidFill>
            <a:srgbClr val="FFFFFF"/>
          </a:solidFill>
          <a:ln/>
        </p:spPr>
        <p:txBody>
          <a:bodyPr wrap="square" lIns="762" tIns="762" rIns="762" bIns="762" rtlCol="0" anchor="ctr"/>
          <a:lstStyle/>
          <a:p>
            <a:pPr indent="0" marL="0">
              <a:buNone/>
            </a:pPr>
            <a:r>
              <a:rPr lang="en-US" sz="1400" dirty="0">
                <a:solidFill>
                  <a:srgbClr val="264653"/>
                </a:solidFill>
                <a:latin typeface="+mj-lt" pitchFamily="34" charset="0"/>
                <a:ea typeface="+mj-lt" pitchFamily="34" charset="-122"/>
                <a:cs typeface="+mj-lt" pitchFamily="34" charset="-120"/>
              </a:rPr>
              <a:t>x_next = argmax EI(x) on a GP surrogate</a:t>
            </a:r>
            <a:endParaRPr lang="en-US" sz="1400" dirty="0"/>
          </a:p>
          <a:p>
            <a:pPr indent="0" marL="0">
              <a:buNone/>
            </a:pPr>
            <a:r>
              <a:rPr lang="en-US" sz="1400" dirty="0">
                <a:solidFill>
                  <a:srgbClr val="264653"/>
                </a:solidFill>
                <a:latin typeface="+mj-lt" pitchFamily="34" charset="0"/>
                <a:ea typeface="+mj-lt" pitchFamily="34" charset="-122"/>
                <a:cs typeface="+mj-lt" pitchFamily="34" charset="-120"/>
              </a:rPr>
              <a:t>Pareto: no objective improves without another worsening</a:t>
            </a:r>
            <a:endParaRPr lang="en-US" sz="1400" dirty="0"/>
          </a:p>
        </p:txBody>
      </p:sp>
      <p:sp>
        <p:nvSpPr>
          <p:cNvPr id="19" name="desc Bayesian and multi-objective optimisation"/>
          <p:cNvSpPr txBox="1"/>
          <p:nvPr/>
        </p:nvSpPr>
        <p:spPr>
          <a:xfrm>
            <a:off x="6419088" y="5486400"/>
            <a:ext cx="4992624" cy="667512"/>
          </a:xfrm>
          <a:prstGeom prst="rect">
            <a:avLst/>
          </a:prstGeom>
          <a:noFill/>
          <a:ln/>
        </p:spPr>
        <p:txBody>
          <a:bodyPr wrap="square" lIns="0" tIns="0" rIns="0" bIns="0" rtlCol="0" anchor="t"/>
          <a:lstStyle/>
          <a:p>
            <a:pPr indent="0" marL="0">
              <a:buNone/>
            </a:pPr>
            <a:r>
              <a:rPr lang="en-US" sz="1400" dirty="0">
                <a:solidFill>
                  <a:srgbClr val="1B2430"/>
                </a:solidFill>
              </a:rPr>
              <a:t>Few expensive evaluations; efficacy vs toxicity vs cost trade-offs.</a:t>
            </a:r>
            <a:endParaRPr lang="en-US" sz="14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29184"/>
          </a:xfrm>
          <a:prstGeom prst="rect">
            <a:avLst/>
          </a:prstGeom>
          <a:noFill/>
          <a:ln/>
        </p:spPr>
        <p:txBody>
          <a:bodyPr wrap="square" lIns="0" tIns="0" rIns="0" bIns="0" rtlCol="0" anchor="t"/>
          <a:lstStyle/>
          <a:p>
            <a:pPr indent="0" marL="0">
              <a:buNone/>
            </a:pPr>
            <a:r>
              <a:rPr lang="en-US" sz="1300" b="1" dirty="0">
                <a:solidFill>
                  <a:srgbClr val="1F7A70"/>
                </a:solidFill>
              </a:rPr>
              <a:t>FAMILY 12 · MODEL FIT AND SELECTION</a:t>
            </a:r>
            <a:endParaRPr lang="en-US" sz="1300" dirty="0"/>
          </a:p>
        </p:txBody>
      </p:sp>
      <p:sp>
        <p:nvSpPr>
          <p:cNvPr id="3" name="Text 0"/>
          <p:cNvSpPr/>
          <p:nvPr>
            <p:ph idx="101" type="title" hasCustomPrompt="1"/>
          </p:nvPr>
        </p:nvSpPr>
        <p:spPr>
          <a:xfrm>
            <a:off x="548640" y="603504"/>
            <a:ext cx="11064240" cy="731520"/>
          </a:xfrm>
          <a:prstGeom prst="rect">
            <a:avLst/>
          </a:prstGeom>
          <a:noFill/>
          <a:ln/>
        </p:spPr>
        <p:txBody>
          <a:bodyPr wrap="square" lIns="0" tIns="0" rIns="0" bIns="0" rtlCol="0" anchor="t"/>
          <a:lstStyle/>
          <a:p>
            <a:pPr algn="l" indent="0" marL="0">
              <a:buNone/>
            </a:pPr>
            <a:r>
              <a:rPr lang="en-US" sz="3600" b="1" dirty="0">
                <a:solidFill>
                  <a:srgbClr val="0B3C49"/>
                </a:solidFill>
              </a:rPr>
              <a:t>Does the model describe the data?</a:t>
            </a:r>
            <a:endParaRPr lang="en-US" sz="3600" dirty="0"/>
          </a:p>
        </p:txBody>
      </p:sp>
      <p:sp>
        <p:nvSpPr>
          <p:cNvPr id="4" name="card Error metrics"/>
          <p:cNvSpPr/>
          <p:nvPr/>
        </p:nvSpPr>
        <p:spPr>
          <a:xfrm>
            <a:off x="548640" y="1554480"/>
            <a:ext cx="5394960" cy="2240280"/>
          </a:xfrm>
          <a:prstGeom prst="rect">
            <a:avLst>
              <a:gd name="adj" fmla="val 3265"/>
            </a:avLst>
          </a:prstGeom>
          <a:solidFill>
            <a:srgbClr val="EEF4F5"/>
          </a:solidFill>
          <a:ln w="12700">
            <a:solidFill>
              <a:srgbClr val="EEF4F5"/>
            </a:solidFill>
            <a:prstDash val="solid"/>
          </a:ln>
        </p:spPr>
      </p:sp>
      <p:sp>
        <p:nvSpPr>
          <p:cNvPr id="5" name="card title Error metrics"/>
          <p:cNvSpPr txBox="1"/>
          <p:nvPr/>
        </p:nvSpPr>
        <p:spPr>
          <a:xfrm>
            <a:off x="74980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Error metrics</a:t>
            </a:r>
            <a:endParaRPr lang="en-US" sz="1600" dirty="0"/>
          </a:p>
        </p:txBody>
      </p:sp>
      <p:sp>
        <p:nvSpPr>
          <p:cNvPr id="6" name="equation Error metrics"/>
          <p:cNvSpPr txBox="1"/>
          <p:nvPr/>
        </p:nvSpPr>
        <p:spPr>
          <a:xfrm>
            <a:off x="749808" y="2103120"/>
            <a:ext cx="4992624" cy="822960"/>
          </a:xfrm>
          <a:prstGeom prst="rect">
            <a:avLst/>
          </a:prstGeom>
          <a:solidFill>
            <a:srgbClr val="FFFFFF"/>
          </a:solidFill>
          <a:ln/>
        </p:spPr>
        <p:txBody>
          <a:bodyPr wrap="square" lIns="762" tIns="762" rIns="762" bIns="762" rtlCol="0" anchor="ctr"/>
          <a:lstStyle/>
          <a:p>
            <a:pPr indent="0" marL="0">
              <a:buNone/>
            </a:pPr>
            <a:r>
              <a:rPr lang="en-US" sz="1600" dirty="0">
                <a:solidFill>
                  <a:srgbClr val="264653"/>
                </a:solidFill>
                <a:latin typeface="+mj-lt" pitchFamily="34" charset="0"/>
                <a:ea typeface="+mj-lt" pitchFamily="34" charset="-122"/>
                <a:cs typeface="+mj-lt" pitchFamily="34" charset="-120"/>
              </a:rPr>
              <a:t>RMSE = √(mean (y − ŷ)²),  MAE = mean |y − ŷ|</a:t>
            </a:r>
            <a:endParaRPr lang="en-US" sz="1600" dirty="0"/>
          </a:p>
          <a:p>
            <a:pPr indent="0" marL="0">
              <a:buNone/>
            </a:pPr>
            <a:r>
              <a:rPr lang="en-US" sz="1600" dirty="0">
                <a:solidFill>
                  <a:srgbClr val="264653"/>
                </a:solidFill>
                <a:latin typeface="+mj-lt" pitchFamily="34" charset="0"/>
                <a:ea typeface="+mj-lt" pitchFamily="34" charset="-122"/>
                <a:cs typeface="+mj-lt" pitchFamily="34" charset="-120"/>
              </a:rPr>
              <a:t>R² = 1 − SS_res / SS_tot</a:t>
            </a:r>
            <a:endParaRPr lang="en-US" sz="1600" dirty="0"/>
          </a:p>
        </p:txBody>
      </p:sp>
      <p:sp>
        <p:nvSpPr>
          <p:cNvPr id="7" name="desc Error metrics"/>
          <p:cNvSpPr txBox="1"/>
          <p:nvPr/>
        </p:nvSpPr>
        <p:spPr>
          <a:xfrm>
            <a:off x="749808" y="3017520"/>
            <a:ext cx="4992624" cy="667512"/>
          </a:xfrm>
          <a:prstGeom prst="rect">
            <a:avLst/>
          </a:prstGeom>
          <a:noFill/>
          <a:ln/>
        </p:spPr>
        <p:txBody>
          <a:bodyPr wrap="square" lIns="0" tIns="0" rIns="0" bIns="0" rtlCol="0" anchor="t"/>
          <a:lstStyle/>
          <a:p>
            <a:pPr indent="0" marL="0">
              <a:buNone/>
            </a:pPr>
            <a:r>
              <a:rPr lang="en-US" sz="1400" dirty="0">
                <a:solidFill>
                  <a:srgbClr val="1B2430"/>
                </a:solidFill>
              </a:rPr>
              <a:t>Accuracy of predictions; report on held-out data, not the fitting data.</a:t>
            </a:r>
            <a:endParaRPr lang="en-US" sz="1400" dirty="0"/>
          </a:p>
        </p:txBody>
      </p:sp>
      <p:sp>
        <p:nvSpPr>
          <p:cNvPr id="8" name="card Information criteria"/>
          <p:cNvSpPr/>
          <p:nvPr/>
        </p:nvSpPr>
        <p:spPr>
          <a:xfrm>
            <a:off x="6217920" y="1554480"/>
            <a:ext cx="5394960" cy="2240280"/>
          </a:xfrm>
          <a:prstGeom prst="rect">
            <a:avLst>
              <a:gd name="adj" fmla="val 3265"/>
            </a:avLst>
          </a:prstGeom>
          <a:solidFill>
            <a:srgbClr val="EEF4F5"/>
          </a:solidFill>
          <a:ln w="12700">
            <a:solidFill>
              <a:srgbClr val="EEF4F5"/>
            </a:solidFill>
            <a:prstDash val="solid"/>
          </a:ln>
        </p:spPr>
      </p:sp>
      <p:sp>
        <p:nvSpPr>
          <p:cNvPr id="9" name="card title Information criteria"/>
          <p:cNvSpPr txBox="1"/>
          <p:nvPr/>
        </p:nvSpPr>
        <p:spPr>
          <a:xfrm>
            <a:off x="641908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Information criteria</a:t>
            </a:r>
            <a:endParaRPr lang="en-US" sz="1600" dirty="0"/>
          </a:p>
        </p:txBody>
      </p:sp>
      <p:sp>
        <p:nvSpPr>
          <p:cNvPr id="10" name="equation Information criteria"/>
          <p:cNvSpPr txBox="1"/>
          <p:nvPr/>
        </p:nvSpPr>
        <p:spPr>
          <a:xfrm>
            <a:off x="6419088" y="2103120"/>
            <a:ext cx="4992624" cy="822960"/>
          </a:xfrm>
          <a:prstGeom prst="rect">
            <a:avLst/>
          </a:prstGeom>
          <a:solidFill>
            <a:srgbClr val="FFFFFF"/>
          </a:solidFill>
          <a:ln/>
        </p:spPr>
        <p:txBody>
          <a:bodyPr wrap="square" lIns="762" tIns="762" rIns="762" bIns="762" rtlCol="0" anchor="ctr"/>
          <a:lstStyle/>
          <a:p>
            <a:pPr indent="0" marL="0">
              <a:buNone/>
            </a:pPr>
            <a:r>
              <a:rPr lang="en-US" sz="1600" dirty="0">
                <a:solidFill>
                  <a:srgbClr val="264653"/>
                </a:solidFill>
                <a:latin typeface="+mj-lt" pitchFamily="34" charset="0"/>
                <a:ea typeface="+mj-lt" pitchFamily="34" charset="-122"/>
                <a:cs typeface="+mj-lt" pitchFamily="34" charset="-120"/>
              </a:rPr>
              <a:t>AIC = 2k − 2 ln L̂</a:t>
            </a:r>
            <a:endParaRPr lang="en-US" sz="1600" dirty="0"/>
          </a:p>
          <a:p>
            <a:pPr indent="0" marL="0">
              <a:buNone/>
            </a:pPr>
            <a:r>
              <a:rPr lang="en-US" sz="1600" dirty="0">
                <a:solidFill>
                  <a:srgbClr val="264653"/>
                </a:solidFill>
                <a:latin typeface="+mj-lt" pitchFamily="34" charset="0"/>
                <a:ea typeface="+mj-lt" pitchFamily="34" charset="-122"/>
                <a:cs typeface="+mj-lt" pitchFamily="34" charset="-120"/>
              </a:rPr>
              <a:t>BIC = k ln n − 2 ln L̂</a:t>
            </a:r>
            <a:endParaRPr lang="en-US" sz="1600" dirty="0"/>
          </a:p>
        </p:txBody>
      </p:sp>
      <p:sp>
        <p:nvSpPr>
          <p:cNvPr id="11" name="desc Information criteria"/>
          <p:cNvSpPr txBox="1"/>
          <p:nvPr/>
        </p:nvSpPr>
        <p:spPr>
          <a:xfrm>
            <a:off x="6419088" y="3017520"/>
            <a:ext cx="4992624" cy="667512"/>
          </a:xfrm>
          <a:prstGeom prst="rect">
            <a:avLst/>
          </a:prstGeom>
          <a:noFill/>
          <a:ln/>
        </p:spPr>
        <p:txBody>
          <a:bodyPr wrap="square" lIns="0" tIns="0" rIns="0" bIns="0" rtlCol="0" anchor="t"/>
          <a:lstStyle/>
          <a:p>
            <a:pPr indent="0" marL="0">
              <a:buNone/>
            </a:pPr>
            <a:r>
              <a:rPr lang="en-US" sz="1400" dirty="0">
                <a:solidFill>
                  <a:srgbClr val="1B2430"/>
                </a:solidFill>
              </a:rPr>
              <a:t>Trade fit against complexity k; choose between growth laws, compartments or covariates.</a:t>
            </a:r>
            <a:endParaRPr lang="en-US" sz="1400" dirty="0"/>
          </a:p>
        </p:txBody>
      </p:sp>
      <p:sp>
        <p:nvSpPr>
          <p:cNvPr id="12" name="card Cross-validation"/>
          <p:cNvSpPr/>
          <p:nvPr/>
        </p:nvSpPr>
        <p:spPr>
          <a:xfrm>
            <a:off x="548640" y="4023360"/>
            <a:ext cx="5394960" cy="2240280"/>
          </a:xfrm>
          <a:prstGeom prst="rect">
            <a:avLst>
              <a:gd name="adj" fmla="val 3265"/>
            </a:avLst>
          </a:prstGeom>
          <a:solidFill>
            <a:srgbClr val="EEF4F5"/>
          </a:solidFill>
          <a:ln w="12700">
            <a:solidFill>
              <a:srgbClr val="EEF4F5"/>
            </a:solidFill>
            <a:prstDash val="solid"/>
          </a:ln>
        </p:spPr>
      </p:sp>
      <p:sp>
        <p:nvSpPr>
          <p:cNvPr id="13" name="card title Cross-validation"/>
          <p:cNvSpPr txBox="1"/>
          <p:nvPr/>
        </p:nvSpPr>
        <p:spPr>
          <a:xfrm>
            <a:off x="749808" y="416052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Cross-validation</a:t>
            </a:r>
            <a:endParaRPr lang="en-US" sz="1600" dirty="0"/>
          </a:p>
        </p:txBody>
      </p:sp>
      <p:sp>
        <p:nvSpPr>
          <p:cNvPr id="14" name="equation Cross-validation"/>
          <p:cNvSpPr txBox="1"/>
          <p:nvPr/>
        </p:nvSpPr>
        <p:spPr>
          <a:xfrm>
            <a:off x="749808" y="4572000"/>
            <a:ext cx="4992624" cy="731520"/>
          </a:xfrm>
          <a:prstGeom prst="rect">
            <a:avLst/>
          </a:prstGeom>
          <a:solidFill>
            <a:srgbClr val="FFFFFF"/>
          </a:solidFill>
          <a:ln/>
        </p:spPr>
        <p:txBody>
          <a:bodyPr wrap="square" lIns="762" tIns="762" rIns="762" bIns="762" rtlCol="0" anchor="ctr"/>
          <a:lstStyle/>
          <a:p>
            <a:pPr indent="0" marL="0">
              <a:buNone/>
            </a:pPr>
            <a:r>
              <a:rPr lang="en-US" sz="1600" dirty="0">
                <a:solidFill>
                  <a:srgbClr val="264653"/>
                </a:solidFill>
                <a:latin typeface="+mj-lt" pitchFamily="34" charset="0"/>
                <a:ea typeface="+mj-lt" pitchFamily="34" charset="-122"/>
                <a:cs typeface="+mj-lt" pitchFamily="34" charset="-120"/>
              </a:rPr>
              <a:t>CV = (1/K) Σₖ loss(y_k, f̂₋ₖ(x_k))</a:t>
            </a:r>
            <a:endParaRPr lang="en-US" sz="1600" dirty="0"/>
          </a:p>
        </p:txBody>
      </p:sp>
      <p:sp>
        <p:nvSpPr>
          <p:cNvPr id="15" name="desc Cross-validation"/>
          <p:cNvSpPr txBox="1"/>
          <p:nvPr/>
        </p:nvSpPr>
        <p:spPr>
          <a:xfrm>
            <a:off x="749808" y="5394960"/>
            <a:ext cx="4992624" cy="758952"/>
          </a:xfrm>
          <a:prstGeom prst="rect">
            <a:avLst/>
          </a:prstGeom>
          <a:noFill/>
          <a:ln/>
        </p:spPr>
        <p:txBody>
          <a:bodyPr wrap="square" lIns="0" tIns="0" rIns="0" bIns="0" rtlCol="0" anchor="t"/>
          <a:lstStyle/>
          <a:p>
            <a:pPr indent="0" marL="0">
              <a:buNone/>
            </a:pPr>
            <a:r>
              <a:rPr lang="en-US" sz="1400" dirty="0">
                <a:solidFill>
                  <a:srgbClr val="1B2430"/>
                </a:solidFill>
              </a:rPr>
              <a:t>K-fold or leave-one-subject-out; nested CV when tuning hyper-parameters too.</a:t>
            </a:r>
            <a:endParaRPr lang="en-US" sz="1400" dirty="0"/>
          </a:p>
        </p:txBody>
      </p:sp>
      <p:sp>
        <p:nvSpPr>
          <p:cNvPr id="16" name="card Predictive checks"/>
          <p:cNvSpPr/>
          <p:nvPr/>
        </p:nvSpPr>
        <p:spPr>
          <a:xfrm>
            <a:off x="6217920" y="4023360"/>
            <a:ext cx="5394960" cy="2240280"/>
          </a:xfrm>
          <a:prstGeom prst="rect">
            <a:avLst>
              <a:gd name="adj" fmla="val 3265"/>
            </a:avLst>
          </a:prstGeom>
          <a:solidFill>
            <a:srgbClr val="EEF4F5"/>
          </a:solidFill>
          <a:ln w="12700">
            <a:solidFill>
              <a:srgbClr val="EEF4F5"/>
            </a:solidFill>
            <a:prstDash val="solid"/>
          </a:ln>
        </p:spPr>
      </p:sp>
      <p:sp>
        <p:nvSpPr>
          <p:cNvPr id="17" name="card title Predictive checks"/>
          <p:cNvSpPr txBox="1"/>
          <p:nvPr/>
        </p:nvSpPr>
        <p:spPr>
          <a:xfrm>
            <a:off x="6419088" y="416052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Predictive checks</a:t>
            </a:r>
            <a:endParaRPr lang="en-US" sz="1600" dirty="0"/>
          </a:p>
        </p:txBody>
      </p:sp>
      <p:sp>
        <p:nvSpPr>
          <p:cNvPr id="18" name="equation Predictive checks"/>
          <p:cNvSpPr txBox="1"/>
          <p:nvPr/>
        </p:nvSpPr>
        <p:spPr>
          <a:xfrm>
            <a:off x="6419088" y="4572000"/>
            <a:ext cx="4992624" cy="822960"/>
          </a:xfrm>
          <a:prstGeom prst="rect">
            <a:avLst/>
          </a:prstGeom>
          <a:solidFill>
            <a:srgbClr val="FFFFFF"/>
          </a:solidFill>
          <a:ln/>
        </p:spPr>
        <p:txBody>
          <a:bodyPr wrap="square" lIns="762" tIns="762" rIns="762" bIns="762" rtlCol="0" anchor="ctr"/>
          <a:lstStyle/>
          <a:p>
            <a:pPr indent="0" marL="0">
              <a:buNone/>
            </a:pPr>
            <a:r>
              <a:rPr lang="en-US" sz="1400" dirty="0">
                <a:solidFill>
                  <a:srgbClr val="264653"/>
                </a:solidFill>
                <a:latin typeface="+mj-lt" pitchFamily="34" charset="0"/>
                <a:ea typeface="+mj-lt" pitchFamily="34" charset="-122"/>
                <a:cs typeface="+mj-lt" pitchFamily="34" charset="-120"/>
              </a:rPr>
              <a:t>posterior predictive: y_rep ~ p(y | θ), θ ~ p(θ | y)</a:t>
            </a:r>
            <a:endParaRPr lang="en-US" sz="1400" dirty="0"/>
          </a:p>
          <a:p>
            <a:pPr indent="0" marL="0">
              <a:buNone/>
            </a:pPr>
            <a:r>
              <a:rPr lang="en-US" sz="1400" dirty="0">
                <a:solidFill>
                  <a:srgbClr val="264653"/>
                </a:solidFill>
                <a:latin typeface="+mj-lt" pitchFamily="34" charset="0"/>
                <a:ea typeface="+mj-lt" pitchFamily="34" charset="-122"/>
                <a:cs typeface="+mj-lt" pitchFamily="34" charset="-120"/>
              </a:rPr>
              <a:t>VPC: observed percentiles inside simulated bands</a:t>
            </a:r>
            <a:endParaRPr lang="en-US" sz="1400" dirty="0"/>
          </a:p>
        </p:txBody>
      </p:sp>
      <p:sp>
        <p:nvSpPr>
          <p:cNvPr id="19" name="desc Predictive checks"/>
          <p:cNvSpPr txBox="1"/>
          <p:nvPr/>
        </p:nvSpPr>
        <p:spPr>
          <a:xfrm>
            <a:off x="6419088" y="5486400"/>
            <a:ext cx="4992624" cy="667512"/>
          </a:xfrm>
          <a:prstGeom prst="rect">
            <a:avLst/>
          </a:prstGeom>
          <a:noFill/>
          <a:ln/>
        </p:spPr>
        <p:txBody>
          <a:bodyPr wrap="square" lIns="0" tIns="0" rIns="0" bIns="0" rtlCol="0" anchor="t"/>
          <a:lstStyle/>
          <a:p>
            <a:pPr indent="0" marL="0">
              <a:buNone/>
            </a:pPr>
            <a:r>
              <a:rPr lang="en-US" sz="1400" dirty="0">
                <a:solidFill>
                  <a:srgbClr val="1B2430"/>
                </a:solidFill>
              </a:rPr>
              <a:t>Simulate new data from the fitted model and compare to what was observed.</a:t>
            </a:r>
            <a:endParaRPr lang="en-US" sz="14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29184"/>
          </a:xfrm>
          <a:prstGeom prst="rect">
            <a:avLst/>
          </a:prstGeom>
          <a:noFill/>
          <a:ln/>
        </p:spPr>
        <p:txBody>
          <a:bodyPr wrap="square" lIns="0" tIns="0" rIns="0" bIns="0" rtlCol="0" anchor="t"/>
          <a:lstStyle/>
          <a:p>
            <a:pPr indent="0" marL="0">
              <a:buNone/>
            </a:pPr>
            <a:r>
              <a:rPr lang="en-US" sz="1300" b="1" dirty="0">
                <a:solidFill>
                  <a:srgbClr val="1F7A70"/>
                </a:solidFill>
              </a:rPr>
              <a:t>FAMILY 12 · VERIFICATION, VALIDATION, CREDIBILITY</a:t>
            </a:r>
            <a:endParaRPr lang="en-US" sz="1300" dirty="0"/>
          </a:p>
        </p:txBody>
      </p:sp>
      <p:sp>
        <p:nvSpPr>
          <p:cNvPr id="3" name="Text 0"/>
          <p:cNvSpPr/>
          <p:nvPr>
            <p:ph idx="101" type="title" hasCustomPrompt="1"/>
          </p:nvPr>
        </p:nvSpPr>
        <p:spPr>
          <a:xfrm>
            <a:off x="548640" y="603504"/>
            <a:ext cx="11064240" cy="731520"/>
          </a:xfrm>
          <a:prstGeom prst="rect">
            <a:avLst/>
          </a:prstGeom>
          <a:noFill/>
          <a:ln/>
        </p:spPr>
        <p:txBody>
          <a:bodyPr wrap="square" lIns="0" tIns="0" rIns="0" bIns="0" rtlCol="0" anchor="t"/>
          <a:lstStyle/>
          <a:p>
            <a:pPr algn="l" indent="0" marL="0">
              <a:buNone/>
            </a:pPr>
            <a:r>
              <a:rPr lang="en-US" sz="3600" b="1" dirty="0">
                <a:solidFill>
                  <a:srgbClr val="0B3C49"/>
                </a:solidFill>
              </a:rPr>
              <a:t>When can a twin be trusted?</a:t>
            </a:r>
            <a:endParaRPr lang="en-US" sz="3600" dirty="0"/>
          </a:p>
        </p:txBody>
      </p:sp>
      <p:sp>
        <p:nvSpPr>
          <p:cNvPr id="4" name="card Verification (solve equations right)"/>
          <p:cNvSpPr/>
          <p:nvPr/>
        </p:nvSpPr>
        <p:spPr>
          <a:xfrm>
            <a:off x="548640" y="1554480"/>
            <a:ext cx="5394960" cy="2240280"/>
          </a:xfrm>
          <a:prstGeom prst="rect">
            <a:avLst>
              <a:gd name="adj" fmla="val 3265"/>
            </a:avLst>
          </a:prstGeom>
          <a:solidFill>
            <a:srgbClr val="EEF4F5"/>
          </a:solidFill>
          <a:ln w="12700">
            <a:solidFill>
              <a:srgbClr val="EEF4F5"/>
            </a:solidFill>
            <a:prstDash val="solid"/>
          </a:ln>
        </p:spPr>
      </p:sp>
      <p:sp>
        <p:nvSpPr>
          <p:cNvPr id="5" name="card title Verification (solve equations right)"/>
          <p:cNvSpPr txBox="1"/>
          <p:nvPr/>
        </p:nvSpPr>
        <p:spPr>
          <a:xfrm>
            <a:off x="74980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Verification (solve equations right)</a:t>
            </a:r>
            <a:endParaRPr lang="en-US" sz="1600" dirty="0"/>
          </a:p>
        </p:txBody>
      </p:sp>
      <p:sp>
        <p:nvSpPr>
          <p:cNvPr id="6" name="equation Verification (solve equations right)"/>
          <p:cNvSpPr txBox="1"/>
          <p:nvPr/>
        </p:nvSpPr>
        <p:spPr>
          <a:xfrm>
            <a:off x="749808" y="2103120"/>
            <a:ext cx="4992624" cy="822960"/>
          </a:xfrm>
          <a:prstGeom prst="rect">
            <a:avLst/>
          </a:prstGeom>
          <a:solidFill>
            <a:srgbClr val="FFFFFF"/>
          </a:solidFill>
          <a:ln/>
        </p:spPr>
        <p:txBody>
          <a:bodyPr wrap="square" lIns="762" tIns="762" rIns="762" bIns="762" rtlCol="0" anchor="ctr"/>
          <a:lstStyle/>
          <a:p>
            <a:pPr indent="0" marL="0">
              <a:buNone/>
            </a:pPr>
            <a:r>
              <a:rPr lang="en-US" sz="1600" dirty="0">
                <a:solidFill>
                  <a:srgbClr val="264653"/>
                </a:solidFill>
                <a:latin typeface="+mj-lt" pitchFamily="34" charset="0"/>
                <a:ea typeface="+mj-lt" pitchFamily="34" charset="-122"/>
                <a:cs typeface="+mj-lt" pitchFamily="34" charset="-120"/>
              </a:rPr>
              <a:t>observed order p = ln(e₁ / e₂) / ln r</a:t>
            </a:r>
            <a:endParaRPr lang="en-US" sz="1600" dirty="0"/>
          </a:p>
          <a:p>
            <a:pPr indent="0" marL="0">
              <a:buNone/>
            </a:pPr>
            <a:r>
              <a:rPr lang="en-US" sz="1600" dirty="0">
                <a:solidFill>
                  <a:srgbClr val="264653"/>
                </a:solidFill>
                <a:latin typeface="+mj-lt" pitchFamily="34" charset="0"/>
                <a:ea typeface="+mj-lt" pitchFamily="34" charset="-122"/>
                <a:cs typeface="+mj-lt" pitchFamily="34" charset="-120"/>
              </a:rPr>
              <a:t>Richardson: f_exact ≈ f₁ + (f₁ − f₂) / (rᵖ − 1)</a:t>
            </a:r>
            <a:endParaRPr lang="en-US" sz="1600" dirty="0"/>
          </a:p>
        </p:txBody>
      </p:sp>
      <p:sp>
        <p:nvSpPr>
          <p:cNvPr id="7" name="desc Verification (solve equations right)"/>
          <p:cNvSpPr txBox="1"/>
          <p:nvPr/>
        </p:nvSpPr>
        <p:spPr>
          <a:xfrm>
            <a:off x="749808" y="3017520"/>
            <a:ext cx="4992624" cy="667512"/>
          </a:xfrm>
          <a:prstGeom prst="rect">
            <a:avLst/>
          </a:prstGeom>
          <a:noFill/>
          <a:ln/>
        </p:spPr>
        <p:txBody>
          <a:bodyPr wrap="square" lIns="0" tIns="0" rIns="0" bIns="0" rtlCol="0" anchor="t"/>
          <a:lstStyle/>
          <a:p>
            <a:pPr indent="0" marL="0">
              <a:buNone/>
            </a:pPr>
            <a:r>
              <a:rPr lang="en-US" sz="1400" dirty="0">
                <a:solidFill>
                  <a:srgbClr val="1B2430"/>
                </a:solidFill>
              </a:rPr>
              <a:t>Mesh and time-step convergence; code tested against analytical solutions.</a:t>
            </a:r>
            <a:endParaRPr lang="en-US" sz="1400" dirty="0"/>
          </a:p>
        </p:txBody>
      </p:sp>
      <p:sp>
        <p:nvSpPr>
          <p:cNvPr id="8" name="card Validation (solve right equations)"/>
          <p:cNvSpPr/>
          <p:nvPr/>
        </p:nvSpPr>
        <p:spPr>
          <a:xfrm>
            <a:off x="6217920" y="1554480"/>
            <a:ext cx="5394960" cy="2240280"/>
          </a:xfrm>
          <a:prstGeom prst="rect">
            <a:avLst>
              <a:gd name="adj" fmla="val 3265"/>
            </a:avLst>
          </a:prstGeom>
          <a:solidFill>
            <a:srgbClr val="EEF4F5"/>
          </a:solidFill>
          <a:ln w="12700">
            <a:solidFill>
              <a:srgbClr val="EEF4F5"/>
            </a:solidFill>
            <a:prstDash val="solid"/>
          </a:ln>
        </p:spPr>
      </p:sp>
      <p:sp>
        <p:nvSpPr>
          <p:cNvPr id="9" name="card title Validation (solve right equations)"/>
          <p:cNvSpPr txBox="1"/>
          <p:nvPr/>
        </p:nvSpPr>
        <p:spPr>
          <a:xfrm>
            <a:off x="641908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Validation (solve right equations)</a:t>
            </a:r>
            <a:endParaRPr lang="en-US" sz="1600" dirty="0"/>
          </a:p>
        </p:txBody>
      </p:sp>
      <p:sp>
        <p:nvSpPr>
          <p:cNvPr id="10" name="equation Validation (solve right equations)"/>
          <p:cNvSpPr txBox="1"/>
          <p:nvPr/>
        </p:nvSpPr>
        <p:spPr>
          <a:xfrm>
            <a:off x="6419088" y="2103120"/>
            <a:ext cx="4992624" cy="731520"/>
          </a:xfrm>
          <a:prstGeom prst="rect">
            <a:avLst/>
          </a:prstGeom>
          <a:solidFill>
            <a:srgbClr val="FFFFFF"/>
          </a:solidFill>
          <a:ln/>
        </p:spPr>
        <p:txBody>
          <a:bodyPr wrap="square" lIns="762" tIns="762" rIns="762" bIns="762" rtlCol="0" anchor="ctr"/>
          <a:lstStyle/>
          <a:p>
            <a:pPr indent="0" marL="0">
              <a:buNone/>
            </a:pPr>
            <a:r>
              <a:rPr lang="en-US" sz="1400" dirty="0">
                <a:solidFill>
                  <a:srgbClr val="264653"/>
                </a:solidFill>
                <a:latin typeface="+mj-lt" pitchFamily="34" charset="0"/>
                <a:ea typeface="+mj-lt" pitchFamily="34" charset="-122"/>
                <a:cs typeface="+mj-lt" pitchFamily="34" charset="-120"/>
              </a:rPr>
              <a:t>E = S − D,   compare |E| with u_val = √(u_num² + u_input² + u_D²)</a:t>
            </a:r>
            <a:endParaRPr lang="en-US" sz="1400" dirty="0"/>
          </a:p>
        </p:txBody>
      </p:sp>
      <p:sp>
        <p:nvSpPr>
          <p:cNvPr id="11" name="desc Validation (solve right equations)"/>
          <p:cNvSpPr txBox="1"/>
          <p:nvPr/>
        </p:nvSpPr>
        <p:spPr>
          <a:xfrm>
            <a:off x="6419088" y="2926080"/>
            <a:ext cx="4992624" cy="758952"/>
          </a:xfrm>
          <a:prstGeom prst="rect">
            <a:avLst/>
          </a:prstGeom>
          <a:noFill/>
          <a:ln/>
        </p:spPr>
        <p:txBody>
          <a:bodyPr wrap="square" lIns="0" tIns="0" rIns="0" bIns="0" rtlCol="0" anchor="t"/>
          <a:lstStyle/>
          <a:p>
            <a:pPr indent="0" marL="0">
              <a:buNone/>
            </a:pPr>
            <a:r>
              <a:rPr lang="en-US" sz="1400" dirty="0">
                <a:solidFill>
                  <a:srgbClr val="1B2430"/>
                </a:solidFill>
              </a:rPr>
              <a:t>Simulation S vs experiment D, judged against combined uncertainty (ASME V&amp;V 20).</a:t>
            </a:r>
            <a:endParaRPr lang="en-US" sz="1400" dirty="0"/>
          </a:p>
        </p:txBody>
      </p:sp>
      <p:sp>
        <p:nvSpPr>
          <p:cNvPr id="12" name="card Probabilistic calibration"/>
          <p:cNvSpPr/>
          <p:nvPr/>
        </p:nvSpPr>
        <p:spPr>
          <a:xfrm>
            <a:off x="548640" y="4023360"/>
            <a:ext cx="5394960" cy="2240280"/>
          </a:xfrm>
          <a:prstGeom prst="rect">
            <a:avLst>
              <a:gd name="adj" fmla="val 3265"/>
            </a:avLst>
          </a:prstGeom>
          <a:solidFill>
            <a:srgbClr val="EEF4F5"/>
          </a:solidFill>
          <a:ln w="12700">
            <a:solidFill>
              <a:srgbClr val="EEF4F5"/>
            </a:solidFill>
            <a:prstDash val="solid"/>
          </a:ln>
        </p:spPr>
      </p:sp>
      <p:sp>
        <p:nvSpPr>
          <p:cNvPr id="13" name="card title Probabilistic calibration"/>
          <p:cNvSpPr txBox="1"/>
          <p:nvPr/>
        </p:nvSpPr>
        <p:spPr>
          <a:xfrm>
            <a:off x="749808" y="416052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Probabilistic calibration</a:t>
            </a:r>
            <a:endParaRPr lang="en-US" sz="1600" dirty="0"/>
          </a:p>
        </p:txBody>
      </p:sp>
      <p:sp>
        <p:nvSpPr>
          <p:cNvPr id="14" name="equation Probabilistic calibration"/>
          <p:cNvSpPr txBox="1"/>
          <p:nvPr/>
        </p:nvSpPr>
        <p:spPr>
          <a:xfrm>
            <a:off x="749808" y="4572000"/>
            <a:ext cx="4992624" cy="822960"/>
          </a:xfrm>
          <a:prstGeom prst="rect">
            <a:avLst/>
          </a:prstGeom>
          <a:solidFill>
            <a:srgbClr val="FFFFFF"/>
          </a:solidFill>
          <a:ln/>
        </p:spPr>
        <p:txBody>
          <a:bodyPr wrap="square" lIns="762" tIns="762" rIns="762" bIns="762" rtlCol="0" anchor="ctr"/>
          <a:lstStyle/>
          <a:p>
            <a:pPr indent="0" marL="0">
              <a:buNone/>
            </a:pPr>
            <a:r>
              <a:rPr lang="en-US" sz="1600" dirty="0">
                <a:solidFill>
                  <a:srgbClr val="264653"/>
                </a:solidFill>
                <a:latin typeface="+mj-lt" pitchFamily="34" charset="0"/>
                <a:ea typeface="+mj-lt" pitchFamily="34" charset="-122"/>
                <a:cs typeface="+mj-lt" pitchFamily="34" charset="-120"/>
              </a:rPr>
              <a:t>coverage = P(y ∈ 95 % prediction interval) ≈ 0.95</a:t>
            </a:r>
            <a:endParaRPr lang="en-US" sz="1600" dirty="0"/>
          </a:p>
          <a:p>
            <a:pPr indent="0" marL="0">
              <a:buNone/>
            </a:pPr>
            <a:r>
              <a:rPr lang="en-US" sz="1600" dirty="0">
                <a:solidFill>
                  <a:srgbClr val="264653"/>
                </a:solidFill>
                <a:latin typeface="+mj-lt" pitchFamily="34" charset="0"/>
                <a:ea typeface="+mj-lt" pitchFamily="34" charset="-122"/>
                <a:cs typeface="+mj-lt" pitchFamily="34" charset="-120"/>
              </a:rPr>
              <a:t>PIT values ~ Uniform(0, 1)</a:t>
            </a:r>
            <a:endParaRPr lang="en-US" sz="1600" dirty="0"/>
          </a:p>
        </p:txBody>
      </p:sp>
      <p:sp>
        <p:nvSpPr>
          <p:cNvPr id="15" name="desc Probabilistic calibration"/>
          <p:cNvSpPr txBox="1"/>
          <p:nvPr/>
        </p:nvSpPr>
        <p:spPr>
          <a:xfrm>
            <a:off x="749808" y="5486400"/>
            <a:ext cx="4992624" cy="667512"/>
          </a:xfrm>
          <a:prstGeom prst="rect">
            <a:avLst/>
          </a:prstGeom>
          <a:noFill/>
          <a:ln/>
        </p:spPr>
        <p:txBody>
          <a:bodyPr wrap="square" lIns="0" tIns="0" rIns="0" bIns="0" rtlCol="0" anchor="t"/>
          <a:lstStyle/>
          <a:p>
            <a:pPr indent="0" marL="0">
              <a:buNone/>
            </a:pPr>
            <a:r>
              <a:rPr lang="en-US" sz="1400" dirty="0">
                <a:solidFill>
                  <a:srgbClr val="1B2430"/>
                </a:solidFill>
              </a:rPr>
              <a:t>Are the twin's uncertainty bands honest? Check on new subjects.</a:t>
            </a:r>
            <a:endParaRPr lang="en-US" sz="1400" dirty="0"/>
          </a:p>
        </p:txBody>
      </p:sp>
      <p:sp>
        <p:nvSpPr>
          <p:cNvPr id="16" name="card Risk-informed credibility"/>
          <p:cNvSpPr/>
          <p:nvPr/>
        </p:nvSpPr>
        <p:spPr>
          <a:xfrm>
            <a:off x="6217920" y="4023360"/>
            <a:ext cx="5394960" cy="2240280"/>
          </a:xfrm>
          <a:prstGeom prst="rect">
            <a:avLst>
              <a:gd name="adj" fmla="val 3265"/>
            </a:avLst>
          </a:prstGeom>
          <a:solidFill>
            <a:srgbClr val="EEF4F5"/>
          </a:solidFill>
          <a:ln w="12700">
            <a:solidFill>
              <a:srgbClr val="EEF4F5"/>
            </a:solidFill>
            <a:prstDash val="solid"/>
          </a:ln>
        </p:spPr>
      </p:sp>
      <p:sp>
        <p:nvSpPr>
          <p:cNvPr id="17" name="card title Risk-informed credibility"/>
          <p:cNvSpPr txBox="1"/>
          <p:nvPr/>
        </p:nvSpPr>
        <p:spPr>
          <a:xfrm>
            <a:off x="6419088" y="416052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Risk-informed credibility</a:t>
            </a:r>
            <a:endParaRPr lang="en-US" sz="1600" dirty="0"/>
          </a:p>
        </p:txBody>
      </p:sp>
      <p:sp>
        <p:nvSpPr>
          <p:cNvPr id="18" name="equation Risk-informed credibility"/>
          <p:cNvSpPr txBox="1"/>
          <p:nvPr/>
        </p:nvSpPr>
        <p:spPr>
          <a:xfrm>
            <a:off x="6419088" y="4572000"/>
            <a:ext cx="4992624" cy="731520"/>
          </a:xfrm>
          <a:prstGeom prst="rect">
            <a:avLst/>
          </a:prstGeom>
          <a:solidFill>
            <a:srgbClr val="FFFFFF"/>
          </a:solidFill>
          <a:ln/>
        </p:spPr>
        <p:txBody>
          <a:bodyPr wrap="square" lIns="762" tIns="762" rIns="762" bIns="762" rtlCol="0" anchor="ctr"/>
          <a:lstStyle/>
          <a:p>
            <a:pPr indent="0" marL="0">
              <a:buNone/>
            </a:pPr>
            <a:r>
              <a:rPr lang="en-US" sz="1500" dirty="0">
                <a:solidFill>
                  <a:srgbClr val="264653"/>
                </a:solidFill>
                <a:latin typeface="+mj-lt" pitchFamily="34" charset="0"/>
                <a:ea typeface="+mj-lt" pitchFamily="34" charset="-122"/>
                <a:cs typeface="+mj-lt" pitchFamily="34" charset="-120"/>
              </a:rPr>
              <a:t>evidence needed ∝ model influence × decision consequence</a:t>
            </a:r>
            <a:endParaRPr lang="en-US" sz="1500" dirty="0"/>
          </a:p>
        </p:txBody>
      </p:sp>
      <p:sp>
        <p:nvSpPr>
          <p:cNvPr id="19" name="desc Risk-informed credibility"/>
          <p:cNvSpPr txBox="1"/>
          <p:nvPr/>
        </p:nvSpPr>
        <p:spPr>
          <a:xfrm>
            <a:off x="6419088" y="5394960"/>
            <a:ext cx="4992624" cy="758952"/>
          </a:xfrm>
          <a:prstGeom prst="rect">
            <a:avLst/>
          </a:prstGeom>
          <a:noFill/>
          <a:ln/>
        </p:spPr>
        <p:txBody>
          <a:bodyPr wrap="square" lIns="0" tIns="0" rIns="0" bIns="0" rtlCol="0" anchor="t"/>
          <a:lstStyle/>
          <a:p>
            <a:pPr indent="0" marL="0">
              <a:buNone/>
            </a:pPr>
            <a:r>
              <a:rPr lang="en-US" sz="1400" dirty="0">
                <a:solidFill>
                  <a:srgbClr val="1B2430"/>
                </a:solidFill>
              </a:rPr>
              <a:t>ASME V&amp;V 40 and FDA guidance: define context of use, then scale verification, validation and UQ.</a:t>
            </a:r>
            <a:endParaRPr lang="en-US" sz="14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29184"/>
          </a:xfrm>
          <a:prstGeom prst="rect">
            <a:avLst/>
          </a:prstGeom>
          <a:noFill/>
          <a:ln/>
        </p:spPr>
        <p:txBody>
          <a:bodyPr wrap="square" lIns="0" tIns="0" rIns="0" bIns="0" rtlCol="0" anchor="t"/>
          <a:lstStyle/>
          <a:p>
            <a:pPr indent="0" marL="0">
              <a:buNone/>
            </a:pPr>
            <a:r>
              <a:rPr lang="en-US" sz="1300" b="1" dirty="0">
                <a:solidFill>
                  <a:srgbClr val="1F7A70"/>
                </a:solidFill>
              </a:rPr>
              <a:t>CHOOSING A MODEL</a:t>
            </a:r>
            <a:endParaRPr lang="en-US" sz="1300" dirty="0"/>
          </a:p>
        </p:txBody>
      </p:sp>
      <p:sp>
        <p:nvSpPr>
          <p:cNvPr id="3" name="Text 0"/>
          <p:cNvSpPr/>
          <p:nvPr>
            <p:ph idx="101" type="title" hasCustomPrompt="1"/>
          </p:nvPr>
        </p:nvSpPr>
        <p:spPr>
          <a:xfrm>
            <a:off x="548640" y="603504"/>
            <a:ext cx="11064240" cy="731520"/>
          </a:xfrm>
          <a:prstGeom prst="rect">
            <a:avLst/>
          </a:prstGeom>
          <a:noFill/>
          <a:ln/>
        </p:spPr>
        <p:txBody>
          <a:bodyPr wrap="square" lIns="0" tIns="0" rIns="0" bIns="0" rtlCol="0" anchor="t"/>
          <a:lstStyle/>
          <a:p>
            <a:pPr algn="l" indent="0" marL="0">
              <a:buNone/>
            </a:pPr>
            <a:r>
              <a:rPr lang="en-US" sz="3600" b="1" dirty="0">
                <a:solidFill>
                  <a:srgbClr val="0B3C49"/>
                </a:solidFill>
              </a:rPr>
              <a:t>Match the question to the model family</a:t>
            </a:r>
            <a:endParaRPr lang="en-US" sz="3600" dirty="0"/>
          </a:p>
        </p:txBody>
      </p:sp>
      <p:graphicFrame>
        <p:nvGraphicFramePr>
          <p:cNvPr id="30" name="choosing table"/>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4023360"/>
                <a:gridCol w="3749040"/>
                <a:gridCol w="3291840"/>
              </a:tblGrid>
              <a:tr h="429768">
                <a:tc>
                  <a:txBody>
                    <a:bodyPr/>
                    <a:lstStyle/>
                    <a:p>
                      <a:pPr indent="0" marL="0">
                        <a:buNone/>
                      </a:pPr>
                      <a:r>
                        <a:rPr lang="en-US" sz="1300" b="1" dirty="0">
                          <a:solidFill>
                            <a:srgbClr val="FFFFFF"/>
                          </a:solidFill>
                        </a:rPr>
                        <a:t>Question</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0B3C49"/>
                    </a:solidFill>
                  </a:tcPr>
                </a:tc>
                <a:tc>
                  <a:txBody>
                    <a:bodyPr/>
                    <a:lstStyle/>
                    <a:p>
                      <a:pPr indent="0" marL="0">
                        <a:buNone/>
                      </a:pPr>
                      <a:r>
                        <a:rPr lang="en-US" sz="1300" b="1" dirty="0">
                          <a:solidFill>
                            <a:srgbClr val="FFFFFF"/>
                          </a:solidFill>
                        </a:rPr>
                        <a:t>Start with</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0B3C49"/>
                    </a:solidFill>
                  </a:tcPr>
                </a:tc>
                <a:tc>
                  <a:txBody>
                    <a:bodyPr/>
                    <a:lstStyle/>
                    <a:p>
                      <a:pPr indent="0" marL="0">
                        <a:buNone/>
                      </a:pPr>
                      <a:r>
                        <a:rPr lang="en-US" sz="1300" b="1" dirty="0">
                          <a:solidFill>
                            <a:srgbClr val="FFFFFF"/>
                          </a:solidFill>
                        </a:rPr>
                        <a:t>Upgrade to</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0B3C49"/>
                    </a:solidFill>
                  </a:tcPr>
                </a:tc>
              </a:tr>
              <a:tr h="429768">
                <a:tc>
                  <a:txBody>
                    <a:bodyPr/>
                    <a:lstStyle/>
                    <a:p>
                      <a:pPr indent="0" marL="0">
                        <a:buNone/>
                      </a:pPr>
                      <a:r>
                        <a:rPr lang="en-US" sz="1300" b="1" dirty="0">
                          <a:solidFill>
                            <a:srgbClr val="0B3C49"/>
                          </a:solidFill>
                        </a:rPr>
                        <a:t>How does exposure change over time?</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Compartmental PK</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c>
                  <a:txBody>
                    <a:bodyPr/>
                    <a:lstStyle/>
                    <a:p>
                      <a:pPr indent="0" marL="0">
                        <a:buNone/>
                      </a:pPr>
                      <a:r>
                        <a:rPr lang="en-US" sz="1300" dirty="0">
                          <a:solidFill>
                            <a:srgbClr val="5F6B76"/>
                          </a:solidFill>
                        </a:rPr>
                        <a:t>PBPK, TMDD</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r>
              <a:tr h="429768">
                <a:tc>
                  <a:txBody>
                    <a:bodyPr/>
                    <a:lstStyle/>
                    <a:p>
                      <a:pPr indent="0" marL="0">
                        <a:buNone/>
                      </a:pPr>
                      <a:r>
                        <a:rPr lang="en-US" sz="1300" b="1" dirty="0">
                          <a:solidFill>
                            <a:srgbClr val="0B3C49"/>
                          </a:solidFill>
                        </a:rPr>
                        <a:t>How does exposure produce effect?</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Emax / Hill, indirect response</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c>
                  <a:txBody>
                    <a:bodyPr/>
                    <a:lstStyle/>
                    <a:p>
                      <a:pPr indent="0" marL="0">
                        <a:buNone/>
                      </a:pPr>
                      <a:r>
                        <a:rPr lang="en-US" sz="1300" dirty="0">
                          <a:solidFill>
                            <a:srgbClr val="5F6B76"/>
                          </a:solidFill>
                        </a:rPr>
                        <a:t>QSP network</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r>
              <a:tr h="429768">
                <a:tc>
                  <a:txBody>
                    <a:bodyPr/>
                    <a:lstStyle/>
                    <a:p>
                      <a:pPr indent="0" marL="0">
                        <a:buNone/>
                      </a:pPr>
                      <a:r>
                        <a:rPr lang="en-US" sz="1300" b="1" dirty="0">
                          <a:solidFill>
                            <a:srgbClr val="0B3C49"/>
                          </a:solidFill>
                        </a:rPr>
                        <a:t>How does disease evolve?</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Logistic / Gompertz, SIR, slope model</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c>
                  <a:txBody>
                    <a:bodyPr/>
                    <a:lstStyle/>
                    <a:p>
                      <a:pPr indent="0" marL="0">
                        <a:buNone/>
                      </a:pPr>
                      <a:r>
                        <a:rPr lang="en-US" sz="1300" dirty="0">
                          <a:solidFill>
                            <a:srgbClr val="5F6B76"/>
                          </a:solidFill>
                        </a:rPr>
                        <a:t>Reaction–diffusion, agent-based</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r>
              <a:tr h="429768">
                <a:tc>
                  <a:txBody>
                    <a:bodyPr/>
                    <a:lstStyle/>
                    <a:p>
                      <a:pPr indent="0" marL="0">
                        <a:buNone/>
                      </a:pPr>
                      <a:r>
                        <a:rPr lang="en-US" sz="1300" b="1" dirty="0">
                          <a:solidFill>
                            <a:srgbClr val="0B3C49"/>
                          </a:solidFill>
                        </a:rPr>
                        <a:t>How do individuals differ?</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Mixed effects (NLME, LMM)</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c>
                  <a:txBody>
                    <a:bodyPr/>
                    <a:lstStyle/>
                    <a:p>
                      <a:pPr indent="0" marL="0">
                        <a:buNone/>
                      </a:pPr>
                      <a:r>
                        <a:rPr lang="en-US" sz="1300" dirty="0">
                          <a:solidFill>
                            <a:srgbClr val="5F6B76"/>
                          </a:solidFill>
                        </a:rPr>
                        <a:t>Hierarchical Bayes, copula cohorts</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r>
              <a:tr h="429768">
                <a:tc>
                  <a:txBody>
                    <a:bodyPr/>
                    <a:lstStyle/>
                    <a:p>
                      <a:pPr indent="0" marL="0">
                        <a:buNone/>
                      </a:pPr>
                      <a:r>
                        <a:rPr lang="en-US" sz="1300" b="1" dirty="0">
                          <a:solidFill>
                            <a:srgbClr val="0B3C49"/>
                          </a:solidFill>
                        </a:rPr>
                        <a:t>How do I keep the twin current?</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Kalman / EKF</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c>
                  <a:txBody>
                    <a:bodyPr/>
                    <a:lstStyle/>
                    <a:p>
                      <a:pPr indent="0" marL="0">
                        <a:buNone/>
                      </a:pPr>
                      <a:r>
                        <a:rPr lang="en-US" sz="1300" dirty="0">
                          <a:solidFill>
                            <a:srgbClr val="5F6B76"/>
                          </a:solidFill>
                        </a:rPr>
                        <a:t>Particle filter, 4D-Var, SBI</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r>
              <a:tr h="429768">
                <a:tc>
                  <a:txBody>
                    <a:bodyPr/>
                    <a:lstStyle/>
                    <a:p>
                      <a:pPr indent="0" marL="0">
                        <a:buNone/>
                      </a:pPr>
                      <a:r>
                        <a:rPr lang="en-US" sz="1300" b="1" dirty="0">
                          <a:solidFill>
                            <a:srgbClr val="0B3C49"/>
                          </a:solidFill>
                        </a:rPr>
                        <a:t>How sure is the prediction?</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Monte Carlo + Morris</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c>
                  <a:txBody>
                    <a:bodyPr/>
                    <a:lstStyle/>
                    <a:p>
                      <a:pPr indent="0" marL="0">
                        <a:buNone/>
                      </a:pPr>
                      <a:r>
                        <a:rPr lang="en-US" sz="1300" dirty="0">
                          <a:solidFill>
                            <a:srgbClr val="5F6B76"/>
                          </a:solidFill>
                        </a:rPr>
                        <a:t>Sobol, polynomial chaos, KOH</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r>
              <a:tr h="429768">
                <a:tc>
                  <a:txBody>
                    <a:bodyPr/>
                    <a:lstStyle/>
                    <a:p>
                      <a:pPr indent="0" marL="0">
                        <a:buNone/>
                      </a:pPr>
                      <a:r>
                        <a:rPr lang="en-US" sz="1300" b="1" dirty="0">
                          <a:solidFill>
                            <a:srgbClr val="0B3C49"/>
                          </a:solidFill>
                        </a:rPr>
                        <a:t>Too slow to run thousands of times?</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GP emulator, POD</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c>
                  <a:txBody>
                    <a:bodyPr/>
                    <a:lstStyle/>
                    <a:p>
                      <a:pPr indent="0" marL="0">
                        <a:buNone/>
                      </a:pPr>
                      <a:r>
                        <a:rPr lang="en-US" sz="1300" dirty="0">
                          <a:solidFill>
                            <a:srgbClr val="5F6B76"/>
                          </a:solidFill>
                        </a:rPr>
                        <a:t>Neural operator, PINN</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r>
              <a:tr h="429768">
                <a:tc>
                  <a:txBody>
                    <a:bodyPr/>
                    <a:lstStyle/>
                    <a:p>
                      <a:pPr indent="0" marL="0">
                        <a:buNone/>
                      </a:pPr>
                      <a:r>
                        <a:rPr lang="en-US" sz="1300" b="1" dirty="0">
                          <a:solidFill>
                            <a:srgbClr val="0B3C49"/>
                          </a:solidFill>
                        </a:rPr>
                        <a:t>Does the treatment work in a virtual trial?</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Paired design, power by simulation</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c>
                  <a:txBody>
                    <a:bodyPr/>
                    <a:lstStyle/>
                    <a:p>
                      <a:pPr indent="0" marL="0">
                        <a:buNone/>
                      </a:pPr>
                      <a:r>
                        <a:rPr lang="en-US" sz="1300" dirty="0">
                          <a:solidFill>
                            <a:srgbClr val="5F6B76"/>
                          </a:solidFill>
                        </a:rPr>
                        <a:t>Adaptive design, PROCOVA</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r>
              <a:tr h="429768">
                <a:tc>
                  <a:txBody>
                    <a:bodyPr/>
                    <a:lstStyle/>
                    <a:p>
                      <a:pPr indent="0" marL="0">
                        <a:buNone/>
                      </a:pPr>
                      <a:r>
                        <a:rPr lang="en-US" sz="1300" b="1" dirty="0">
                          <a:solidFill>
                            <a:srgbClr val="0B3C49"/>
                          </a:solidFill>
                        </a:rPr>
                        <a:t>What should be done next?</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Optimal control</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c>
                  <a:txBody>
                    <a:bodyPr/>
                    <a:lstStyle/>
                    <a:p>
                      <a:pPr indent="0" marL="0">
                        <a:buNone/>
                      </a:pPr>
                      <a:r>
                        <a:rPr lang="en-US" sz="1300" dirty="0">
                          <a:solidFill>
                            <a:srgbClr val="5F6B76"/>
                          </a:solidFill>
                        </a:rPr>
                        <a:t>MPC, reinforcement learning</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731520" y="2057400"/>
            <a:ext cx="10698480" cy="411480"/>
          </a:xfrm>
          <a:prstGeom prst="rect">
            <a:avLst/>
          </a:prstGeom>
          <a:noFill/>
          <a:ln/>
        </p:spPr>
        <p:txBody>
          <a:bodyPr wrap="square" rtlCol="0" anchor="t"/>
          <a:lstStyle/>
          <a:p>
            <a:pPr indent="0" marL="0">
              <a:buNone/>
            </a:pPr>
            <a:r>
              <a:rPr lang="en-US" sz="1600" b="1" dirty="0">
                <a:solidFill>
                  <a:srgbClr val="F2A541"/>
                </a:solidFill>
              </a:rPr>
              <a:t>TAKEAWAYS</a:t>
            </a:r>
            <a:endParaRPr lang="en-US" sz="1600" dirty="0"/>
          </a:p>
        </p:txBody>
      </p:sp>
      <p:sp>
        <p:nvSpPr>
          <p:cNvPr id="3" name="Text 0"/>
          <p:cNvSpPr/>
          <p:nvPr>
            <p:ph idx="101" type="title" hasCustomPrompt="1"/>
          </p:nvPr>
        </p:nvSpPr>
        <p:spPr>
          <a:xfrm>
            <a:off x="731520" y="2560320"/>
            <a:ext cx="10698480" cy="1371600"/>
          </a:xfrm>
          <a:prstGeom prst="rect">
            <a:avLst/>
          </a:prstGeom>
          <a:noFill/>
          <a:ln/>
        </p:spPr>
        <p:txBody>
          <a:bodyPr wrap="square" rtlCol="0" anchor="t"/>
          <a:lstStyle/>
          <a:p>
            <a:pPr algn="l" indent="0" marL="0">
              <a:buNone/>
            </a:pPr>
            <a:r>
              <a:rPr lang="en-US" sz="4000" b="1" dirty="0">
                <a:solidFill>
                  <a:srgbClr val="FFFFFF"/>
                </a:solidFill>
              </a:rPr>
              <a:t>Mechanism, data, uncertainty, decision</a:t>
            </a:r>
            <a:endParaRPr lang="en-US" sz="4000" dirty="0"/>
          </a:p>
        </p:txBody>
      </p:sp>
      <p:sp>
        <p:nvSpPr>
          <p:cNvPr id="4" name="Text 0"/>
          <p:cNvSpPr/>
          <p:nvPr>
            <p:ph idx="102" type="body" hasCustomPrompt="1"/>
          </p:nvPr>
        </p:nvSpPr>
        <p:spPr>
          <a:xfrm>
            <a:off x="731520" y="4069080"/>
            <a:ext cx="9601200" cy="1463040"/>
          </a:xfrm>
          <a:prstGeom prst="rect">
            <a:avLst/>
          </a:prstGeom>
          <a:noFill/>
          <a:ln/>
        </p:spPr>
        <p:txBody>
          <a:bodyPr wrap="square" rtlCol="0" anchor="t"/>
          <a:lstStyle/>
          <a:p>
            <a:pPr marL="342900" indent="-342900">
              <a:spcAft>
                <a:spcPts val="600"/>
              </a:spcAft>
              <a:buSzPct val="100000"/>
              <a:buChar char="•"/>
            </a:pPr>
            <a:r>
              <a:rPr lang="en-US" sz="1800" dirty="0">
                <a:solidFill>
                  <a:srgbClr val="EEF4F5"/>
                </a:solidFill>
              </a:rPr>
              <a:t>A twin is a state-space model (Families 1–6) kept current by data assimilation (8).</a:t>
            </a:r>
            <a:endParaRPr lang="en-US" sz="1800" dirty="0"/>
          </a:p>
          <a:p>
            <a:pPr marL="342900" indent="-342900">
              <a:spcAft>
                <a:spcPts val="600"/>
              </a:spcAft>
              <a:buSzPct val="100000"/>
              <a:buChar char="•"/>
            </a:pPr>
            <a:r>
              <a:rPr lang="en-US" sz="1800" dirty="0">
                <a:solidFill>
                  <a:srgbClr val="EEF4F5"/>
                </a:solidFill>
              </a:rPr>
              <a:t>Population, UQ and surrogate models (7, 9, 10) turn one twin into a fast, honest virtual cohort.</a:t>
            </a:r>
            <a:endParaRPr lang="en-US" sz="1800" dirty="0"/>
          </a:p>
          <a:p>
            <a:pPr marL="342900" indent="-342900">
              <a:buSzPct val="100000"/>
              <a:buChar char="•"/>
            </a:pPr>
            <a:r>
              <a:rPr lang="en-US" sz="1800" dirty="0">
                <a:solidFill>
                  <a:srgbClr val="EEF4F5"/>
                </a:solidFill>
              </a:rPr>
              <a:t>Trial, control and V&amp;V models (11, 12) turn the cohort into credible decisions.</a:t>
            </a:r>
            <a:endParaRPr lang="en-US" sz="18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4F5"/>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29184"/>
          </a:xfrm>
          <a:prstGeom prst="rect">
            <a:avLst/>
          </a:prstGeom>
          <a:noFill/>
          <a:ln/>
        </p:spPr>
        <p:txBody>
          <a:bodyPr wrap="square" lIns="0" tIns="0" rIns="0" bIns="0" rtlCol="0" anchor="t"/>
          <a:lstStyle/>
          <a:p>
            <a:pPr indent="0" marL="0">
              <a:buNone/>
            </a:pPr>
            <a:r>
              <a:rPr lang="en-US" sz="1300" b="1" dirty="0">
                <a:solidFill>
                  <a:srgbClr val="1F7A70"/>
                </a:solidFill>
              </a:rPr>
              <a:t>KEY REFERENCES</a:t>
            </a:r>
            <a:endParaRPr lang="en-US" sz="1300" dirty="0"/>
          </a:p>
        </p:txBody>
      </p:sp>
      <p:sp>
        <p:nvSpPr>
          <p:cNvPr id="3" name="Text 0"/>
          <p:cNvSpPr/>
          <p:nvPr>
            <p:ph idx="101" type="title" hasCustomPrompt="1"/>
          </p:nvPr>
        </p:nvSpPr>
        <p:spPr>
          <a:xfrm>
            <a:off x="548640" y="603504"/>
            <a:ext cx="11064240" cy="731520"/>
          </a:xfrm>
          <a:prstGeom prst="rect">
            <a:avLst/>
          </a:prstGeom>
          <a:noFill/>
          <a:ln/>
        </p:spPr>
        <p:txBody>
          <a:bodyPr wrap="square" lIns="0" tIns="0" rIns="0" bIns="0" rtlCol="0" anchor="t"/>
          <a:lstStyle/>
          <a:p>
            <a:pPr algn="l" indent="0" marL="0">
              <a:buNone/>
            </a:pPr>
            <a:r>
              <a:rPr lang="en-US" sz="3600" b="1" dirty="0">
                <a:solidFill>
                  <a:srgbClr val="0B3C49"/>
                </a:solidFill>
              </a:rPr>
              <a:t>Classic sources for the models</a:t>
            </a:r>
            <a:endParaRPr lang="en-US" sz="3600" dirty="0"/>
          </a:p>
        </p:txBody>
      </p:sp>
      <p:sp>
        <p:nvSpPr>
          <p:cNvPr id="4" name="Text 2"/>
          <p:cNvSpPr txBox="1"/>
          <p:nvPr/>
        </p:nvSpPr>
        <p:spPr>
          <a:xfrm>
            <a:off x="548640" y="1554480"/>
            <a:ext cx="5440680" cy="44805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2430"/>
                </a:solidFill>
              </a:rPr>
              <a:t>Gabrielsson J, Weiner D. Pharmacokinetic and Pharmacodynamic Data Analysis. 5th ed. 2016</a:t>
            </a:r>
            <a:endParaRPr lang="en-US" sz="1300" dirty="0"/>
          </a:p>
          <a:p>
            <a:pPr marL="342900" indent="-342900">
              <a:spcAft>
                <a:spcPts val="600"/>
              </a:spcAft>
              <a:buSzPct val="100000"/>
              <a:buChar char="•"/>
            </a:pPr>
            <a:r>
              <a:rPr lang="en-US" sz="1300" dirty="0">
                <a:solidFill>
                  <a:srgbClr val="1B2430"/>
                </a:solidFill>
              </a:rPr>
              <a:t>Owen JS, Fiedler-Kelly J. Introduction to Population PK/PD Analysis with NONMEM. 2014</a:t>
            </a:r>
            <a:endParaRPr lang="en-US" sz="1300" dirty="0"/>
          </a:p>
          <a:p>
            <a:pPr marL="342900" indent="-342900">
              <a:spcAft>
                <a:spcPts val="600"/>
              </a:spcAft>
              <a:buSzPct val="100000"/>
              <a:buChar char="•"/>
            </a:pPr>
            <a:r>
              <a:rPr lang="en-US" sz="1300" dirty="0">
                <a:solidFill>
                  <a:srgbClr val="1B2430"/>
                </a:solidFill>
              </a:rPr>
              <a:t>Keener J, Sneyd J. Mathematical Physiology. 2nd ed. Springer 2009</a:t>
            </a:r>
            <a:endParaRPr lang="en-US" sz="1300" dirty="0"/>
          </a:p>
          <a:p>
            <a:pPr marL="342900" indent="-342900">
              <a:spcAft>
                <a:spcPts val="600"/>
              </a:spcAft>
              <a:buSzPct val="100000"/>
              <a:buChar char="•"/>
            </a:pPr>
            <a:r>
              <a:rPr lang="en-US" sz="1300" dirty="0">
                <a:solidFill>
                  <a:srgbClr val="1B2430"/>
                </a:solidFill>
              </a:rPr>
              <a:t>Murray JD. Mathematical Biology I &amp; II. Springer 2002–03</a:t>
            </a:r>
            <a:endParaRPr lang="en-US" sz="1300" dirty="0"/>
          </a:p>
          <a:p>
            <a:pPr marL="342900" indent="-342900">
              <a:spcAft>
                <a:spcPts val="600"/>
              </a:spcAft>
              <a:buSzPct val="100000"/>
              <a:buChar char="•"/>
            </a:pPr>
            <a:r>
              <a:rPr lang="en-US" sz="1300" dirty="0">
                <a:solidFill>
                  <a:srgbClr val="1B2430"/>
                </a:solidFill>
              </a:rPr>
              <a:t>Kalman RE. A new approach to linear filtering. J Basic Eng 1960</a:t>
            </a:r>
            <a:endParaRPr lang="en-US" sz="1300" dirty="0"/>
          </a:p>
          <a:p>
            <a:pPr marL="342900" indent="-342900">
              <a:spcAft>
                <a:spcPts val="600"/>
              </a:spcAft>
              <a:buSzPct val="100000"/>
              <a:buChar char="•"/>
            </a:pPr>
            <a:r>
              <a:rPr lang="en-US" sz="1300" dirty="0">
                <a:solidFill>
                  <a:srgbClr val="1B2430"/>
                </a:solidFill>
              </a:rPr>
              <a:t>Särkkä S. Bayesian Filtering and Smoothing. Cambridge 2013</a:t>
            </a:r>
            <a:endParaRPr lang="en-US" sz="1300" dirty="0"/>
          </a:p>
          <a:p>
            <a:pPr marL="342900" indent="-342900">
              <a:spcAft>
                <a:spcPts val="600"/>
              </a:spcAft>
              <a:buSzPct val="100000"/>
              <a:buChar char="•"/>
            </a:pPr>
            <a:r>
              <a:rPr lang="en-US" sz="1300" dirty="0">
                <a:solidFill>
                  <a:srgbClr val="1B2430"/>
                </a:solidFill>
              </a:rPr>
              <a:t>Kennedy MC, O'Hagan A. Bayesian calibration of computer models. JRSS B 2001</a:t>
            </a:r>
            <a:endParaRPr lang="en-US" sz="1300" dirty="0"/>
          </a:p>
          <a:p>
            <a:pPr marL="342900" indent="-342900">
              <a:spcAft>
                <a:spcPts val="600"/>
              </a:spcAft>
              <a:buSzPct val="100000"/>
              <a:buChar char="•"/>
            </a:pPr>
            <a:r>
              <a:rPr lang="en-US" sz="1300" dirty="0">
                <a:solidFill>
                  <a:srgbClr val="1B2430"/>
                </a:solidFill>
              </a:rPr>
              <a:t>Saltelli A et al. Global Sensitivity Analysis: The Primer. Wiley 2008</a:t>
            </a:r>
            <a:endParaRPr lang="en-US" sz="1300" dirty="0"/>
          </a:p>
        </p:txBody>
      </p:sp>
      <p:sp>
        <p:nvSpPr>
          <p:cNvPr id="5" name="Text 3"/>
          <p:cNvSpPr txBox="1"/>
          <p:nvPr/>
        </p:nvSpPr>
        <p:spPr>
          <a:xfrm>
            <a:off x="6172200" y="1554480"/>
            <a:ext cx="5440680" cy="44805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2430"/>
                </a:solidFill>
              </a:rPr>
              <a:t>Smith RC. Uncertainty Quantification. SIAM 2014</a:t>
            </a:r>
            <a:endParaRPr lang="en-US" sz="1300" dirty="0"/>
          </a:p>
          <a:p>
            <a:pPr marL="342900" indent="-342900">
              <a:spcAft>
                <a:spcPts val="600"/>
              </a:spcAft>
              <a:buSzPct val="100000"/>
              <a:buChar char="•"/>
            </a:pPr>
            <a:r>
              <a:rPr lang="en-US" sz="1300" dirty="0">
                <a:solidFill>
                  <a:srgbClr val="1B2430"/>
                </a:solidFill>
              </a:rPr>
              <a:t>Rasmussen CE, Williams CKI. Gaussian Processes for ML. MIT Press 2006</a:t>
            </a:r>
            <a:endParaRPr lang="en-US" sz="1300" dirty="0"/>
          </a:p>
          <a:p>
            <a:pPr marL="342900" indent="-342900">
              <a:spcAft>
                <a:spcPts val="600"/>
              </a:spcAft>
              <a:buSzPct val="100000"/>
              <a:buChar char="•"/>
            </a:pPr>
            <a:r>
              <a:rPr lang="en-US" sz="1300" dirty="0">
                <a:solidFill>
                  <a:srgbClr val="1B2430"/>
                </a:solidFill>
              </a:rPr>
              <a:t>Allen RJ et al. Efficient generation of virtual populations. CPT:PSP 2016</a:t>
            </a:r>
            <a:endParaRPr lang="en-US" sz="1300" dirty="0"/>
          </a:p>
          <a:p>
            <a:pPr marL="342900" indent="-342900">
              <a:spcAft>
                <a:spcPts val="600"/>
              </a:spcAft>
              <a:buSzPct val="100000"/>
              <a:buChar char="•"/>
            </a:pPr>
            <a:r>
              <a:rPr lang="en-US" sz="1300" dirty="0">
                <a:solidFill>
                  <a:srgbClr val="1B2430"/>
                </a:solidFill>
              </a:rPr>
              <a:t>Berry SM et al. Bayesian Adaptive Methods for Clinical Trials. CRC 2010</a:t>
            </a:r>
            <a:endParaRPr lang="en-US" sz="1300" dirty="0"/>
          </a:p>
          <a:p>
            <a:pPr marL="342900" indent="-342900">
              <a:spcAft>
                <a:spcPts val="600"/>
              </a:spcAft>
              <a:buSzPct val="100000"/>
              <a:buChar char="•"/>
            </a:pPr>
            <a:r>
              <a:rPr lang="en-US" sz="1300" dirty="0">
                <a:solidFill>
                  <a:srgbClr val="1B2430"/>
                </a:solidFill>
              </a:rPr>
              <a:t>Schuler A et al. Prognostic covariate adjustment (PROCOVA). Int J Biostat 2022</a:t>
            </a:r>
            <a:endParaRPr lang="en-US" sz="1300" dirty="0"/>
          </a:p>
          <a:p>
            <a:pPr marL="342900" indent="-342900">
              <a:spcAft>
                <a:spcPts val="600"/>
              </a:spcAft>
              <a:buSzPct val="100000"/>
              <a:buChar char="•"/>
            </a:pPr>
            <a:r>
              <a:rPr lang="en-US" sz="1300" dirty="0">
                <a:solidFill>
                  <a:srgbClr val="1B2430"/>
                </a:solidFill>
              </a:rPr>
              <a:t>Badano A et al. VICTRE in silico imaging trial. JAMA Netw Open 2018</a:t>
            </a:r>
            <a:endParaRPr lang="en-US" sz="1300" dirty="0"/>
          </a:p>
          <a:p>
            <a:pPr marL="342900" indent="-342900">
              <a:spcAft>
                <a:spcPts val="600"/>
              </a:spcAft>
              <a:buSzPct val="100000"/>
              <a:buChar char="•"/>
            </a:pPr>
            <a:r>
              <a:rPr lang="en-US" sz="1300" dirty="0">
                <a:solidFill>
                  <a:srgbClr val="1B2430"/>
                </a:solidFill>
              </a:rPr>
              <a:t>ASME V&amp;V 40-2018; FDA guidance on computational model credibility 2023</a:t>
            </a:r>
            <a:endParaRPr lang="en-US" sz="1300" dirty="0"/>
          </a:p>
          <a:p>
            <a:pPr marL="342900" indent="-342900">
              <a:spcAft>
                <a:spcPts val="600"/>
              </a:spcAft>
              <a:buSzPct val="100000"/>
              <a:buChar char="•"/>
            </a:pPr>
            <a:r>
              <a:rPr lang="en-US" sz="1300" dirty="0">
                <a:solidFill>
                  <a:srgbClr val="1B2430"/>
                </a:solidFill>
              </a:rPr>
              <a:t>NASEM. Foundational Research Gaps for Digital Twins. 2024</a:t>
            </a:r>
            <a:endParaRPr lang="en-US" sz="1300" dirty="0"/>
          </a:p>
        </p:txBody>
      </p:sp>
      <p:sp>
        <p:nvSpPr>
          <p:cNvPr id="6" name="Text 4"/>
          <p:cNvSpPr txBox="1"/>
          <p:nvPr/>
        </p:nvSpPr>
        <p:spPr>
          <a:xfrm>
            <a:off x="548640" y="6035040"/>
            <a:ext cx="11064240" cy="274320"/>
          </a:xfrm>
          <a:prstGeom prst="rect">
            <a:avLst/>
          </a:prstGeom>
          <a:noFill/>
          <a:ln/>
        </p:spPr>
        <p:txBody>
          <a:bodyPr wrap="square" lIns="0" tIns="0" rIns="0" bIns="0" rtlCol="0" anchor="ctr"/>
          <a:lstStyle/>
          <a:p>
            <a:pPr indent="0" marL="0">
              <a:buNone/>
            </a:pPr>
            <a:r>
              <a:rPr lang="en-US" sz="1100" i="1" dirty="0">
                <a:solidFill>
                  <a:srgbClr val="5F6B76"/>
                </a:solidFill>
              </a:rPr>
              <a:t>Compiled from memory; verify editions and page numbers before formal citation.</a:t>
            </a:r>
            <a:endParaRPr lang="en-US" sz="11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r"/>
            <a:fld id="{F7021451-1387-4CA6-816F-3879F97B5CBC}" type="slidenum">
              <a:rPr b="0" lang="en-US"/>
              <a:t>31</a:t>
            </a:fld>
            <a:endParaRPr lang="en-US"/>
          </a:p>
        </p:txBody>
      </p:sp>
    </p:spTree>
  </p:cSld>
  <p:clrMapOvr>
    <a:masterClrMapping/>
  </p:clrMapOvr>
</p:sld>
</file>

<file path=ppt/theme/theme1.xml><?xml version="1.0" encoding="utf-8"?>
<a:theme xmlns:a="http://schemas.openxmlformats.org/drawingml/2006/main" name="Digital Twin Models">
  <a:themeElements>
    <a:clrScheme name="Digital Twin Models">
      <a:dk1>
        <a:srgbClr val="1B2430"/>
      </a:dk1>
      <a:lt1>
        <a:srgbClr val="FFFFFF"/>
      </a:lt1>
      <a:dk2>
        <a:srgbClr val="0B3C49"/>
      </a:dk2>
      <a:lt2>
        <a:srgbClr val="EEF4F5"/>
      </a:lt2>
      <a:accent1>
        <a:srgbClr val="F2A541"/>
      </a:accent1>
      <a:accent2>
        <a:srgbClr val="1F7A70"/>
      </a:accent2>
      <a:accent3>
        <a:srgbClr val="E76F51"/>
      </a:accent3>
      <a:accent4>
        <a:srgbClr val="264653"/>
      </a:accent4>
      <a:accent5>
        <a:srgbClr val="8AB17D"/>
      </a:accent5>
      <a:accent6>
        <a:srgbClr val="5F6B76"/>
      </a:accent6>
      <a:hlink>
        <a:srgbClr val="1F7A70"/>
      </a:hlink>
      <a:folHlink>
        <a:srgbClr val="264653"/>
      </a:folHlink>
    </a:clrScheme>
    <a:fontScheme name="Digital Twin Model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Mathematical Models for Digital Twins and Virtual Trials</dc:title>
  <dc:subject>PptxGenJS Presentation</dc:subject>
  <dc:creator>Hamid Abdollahi</dc:creator>
  <cp:lastModifiedBy>Hamid Abdollahi</cp:lastModifiedBy>
  <cp:revision>1</cp:revision>
  <dcterms:created xsi:type="dcterms:W3CDTF">2026-10-16T17:25:43Z</dcterms:created>
  <dcterms:modified xsi:type="dcterms:W3CDTF">2026-10-16T17:25:43Z</dcterms:modified>
</cp:coreProperties>
</file>