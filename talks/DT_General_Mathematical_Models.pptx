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3f72d9-6666-05e8-74f9-6116b47e18a3}">
          <p14:sldIdLst>
            <p14:sldId id="256"/>
            <p14:sldId id="257"/>
            <p14:sldId id="258"/>
          </p14:sldIdLst>
        </p14:section>
        <p14:section name="Dynamics and physiology" id="{c75e11f9-9830-3a23-1d4c-3f5601a8f8a0}">
          <p14:sldIdLst>
            <p14:sldId id="259"/>
            <p14:sldId id="260"/>
            <p14:sldId id="261"/>
            <p14:sldId id="262"/>
            <p14:sldId id="263"/>
            <p14:sldId id="264"/>
            <p14:sldId id="265"/>
            <p14:sldId id="266"/>
            <p14:sldId id="267"/>
            <p14:sldId id="268"/>
          </p14:sldIdLst>
        </p14:section>
        <p14:section name="Statistics and data" id="{e3a7eccd-ea9a-85f3-3702-e9fef11106b8}">
          <p14:sldIdLst>
            <p14:sldId id="269"/>
            <p14:sldId id="270"/>
            <p14:sldId id="271"/>
            <p14:sldId id="272"/>
            <p14:sldId id="273"/>
            <p14:sldId id="274"/>
            <p14:sldId id="275"/>
            <p14:sldId id="276"/>
          </p14:sldIdLst>
        </p14:section>
        <p14:section name="Virtual trials and decisions" id="{307bc3af-c8fa-a2e1-f750-057b8e4a32f6}">
          <p14:sldIdLst>
            <p14:sldId id="277"/>
            <p14:sldId id="278"/>
            <p14:sldId id="279"/>
            <p14:sldId id="280"/>
            <p14:sldId id="281"/>
            <p14:sldId id="282"/>
            <p14:sldId id="283"/>
            <p14:sldId id="284"/>
          </p14:sldIdLst>
        </p14:section>
        <p14:section name="Conclusion" id="{2719ac14-488e-f4a2-1172-8b834548e655}">
          <p14:sldIdLst>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Hill curves: E / E_max vs C / EC₅₀ (log-spaced)</a:t>
            </a:r>
          </a:p>
        </c:rich>
      </c:tx>
      <c:layout/>
      <c:overlay val="0"/>
    </c:title>
    <c:autoTitleDeleted val="0"/>
    <c:plotArea>
      <c:layout/>
      <c:lineChart>
        <c:varyColors val="0"/>
        <c:ser>
          <c:idx val="0"/>
          <c:order val="0"/>
          <c:tx>
            <c:strRef>
              <c:f>Sheet1!$B$1</c:f>
              <c:strCache>
                <c:ptCount val="1"/>
                <c:pt idx="0">
                  <c:v>n = 1</c:v>
                </c:pt>
              </c:strCache>
            </c:strRef>
          </c:tx>
          <c:spPr>
            <a:solidFill>
              <a:srgbClr val="264653"/>
            </a:solidFill>
            <a:ln w="31750" cap="flat">
              <a:solidFill>
                <a:srgbClr val="26465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64653"/>
              </a:solidFill>
              <a:ln w="9525" cap="flat">
                <a:solidFill>
                  <a:srgbClr val="264653"/>
                </a:solidFill>
                <a:prstDash val="solid"/>
                <a:round/>
              </a:ln>
              <a:effectLst/>
            </c:spPr>
          </c:marker>
          <c:cat>
            <c:multiLvlStrRef>
              <c:f>Sheet1!$A$2:$A$15</c:f>
              <c:multiLvlStrCache>
                <c:ptCount val="14"/>
                <c:lvl>
                  <c:pt idx="0">
                    <c:v>0.05</c:v>
                  </c:pt>
                  <c:pt idx="1">
                    <c:v>0.1</c:v>
                  </c:pt>
                  <c:pt idx="2">
                    <c:v>0.2</c:v>
                  </c:pt>
                  <c:pt idx="3">
                    <c:v>0.3</c:v>
                  </c:pt>
                  <c:pt idx="4">
                    <c:v>0.5</c:v>
                  </c:pt>
                  <c:pt idx="5">
                    <c:v>0.7</c:v>
                  </c:pt>
                  <c:pt idx="6">
                    <c:v>1</c:v>
                  </c:pt>
                  <c:pt idx="7">
                    <c:v>1.5</c:v>
                  </c:pt>
                  <c:pt idx="8">
                    <c:v>2</c:v>
                  </c:pt>
                  <c:pt idx="9">
                    <c:v>3</c:v>
                  </c:pt>
                  <c:pt idx="10">
                    <c:v>5</c:v>
                  </c:pt>
                  <c:pt idx="11">
                    <c:v>7</c:v>
                  </c:pt>
                  <c:pt idx="12">
                    <c:v>10</c:v>
                  </c:pt>
                  <c:pt idx="13">
                    <c:v>20</c:v>
                  </c:pt>
                </c:lvl>
              </c:multiLvlStrCache>
            </c:multiLvlStrRef>
          </c:cat>
          <c:val>
            <c:numRef>
              <c:f>Sheet1!$B$2:$B$15</c:f>
              <c:numCache>
                <c:formatCode>General</c:formatCode>
                <c:ptCount val="14"/>
                <c:pt idx="0">
                  <c:v>0.048</c:v>
                </c:pt>
                <c:pt idx="1">
                  <c:v>0.091</c:v>
                </c:pt>
                <c:pt idx="2">
                  <c:v>0.167</c:v>
                </c:pt>
                <c:pt idx="3">
                  <c:v>0.231</c:v>
                </c:pt>
                <c:pt idx="4">
                  <c:v>0.333</c:v>
                </c:pt>
                <c:pt idx="5">
                  <c:v>0.412</c:v>
                </c:pt>
                <c:pt idx="6">
                  <c:v>0.5</c:v>
                </c:pt>
                <c:pt idx="7">
                  <c:v>0.6</c:v>
                </c:pt>
                <c:pt idx="8">
                  <c:v>0.667</c:v>
                </c:pt>
                <c:pt idx="9">
                  <c:v>0.75</c:v>
                </c:pt>
                <c:pt idx="10">
                  <c:v>0.833</c:v>
                </c:pt>
                <c:pt idx="11">
                  <c:v>0.875</c:v>
                </c:pt>
                <c:pt idx="12">
                  <c:v>0.909</c:v>
                </c:pt>
                <c:pt idx="13">
                  <c:v>0.952</c:v>
                </c:pt>
              </c:numCache>
            </c:numRef>
          </c:val>
          <c:smooth val="0"/>
        </c:ser>
        <c:ser>
          <c:idx val="1"/>
          <c:order val="1"/>
          <c:tx>
            <c:strRef>
              <c:f>Sheet1!$C$1</c:f>
              <c:strCache>
                <c:ptCount val="1"/>
                <c:pt idx="0">
                  <c:v>n = 2</c:v>
                </c:pt>
              </c:strCache>
            </c:strRef>
          </c:tx>
          <c:spPr>
            <a:solidFill>
              <a:srgbClr val="1F7A70"/>
            </a:solidFill>
            <a:ln w="31750" cap="flat">
              <a:solidFill>
                <a:srgbClr val="1F7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7A70"/>
              </a:solidFill>
              <a:ln w="9525" cap="flat">
                <a:solidFill>
                  <a:srgbClr val="1F7A70"/>
                </a:solidFill>
                <a:prstDash val="solid"/>
                <a:round/>
              </a:ln>
              <a:effectLst/>
            </c:spPr>
          </c:marker>
          <c:cat>
            <c:multiLvlStrRef>
              <c:f>Sheet1!$A$2:$A$15</c:f>
              <c:multiLvlStrCache>
                <c:ptCount val="14"/>
                <c:lvl>
                  <c:pt idx="0">
                    <c:v>0.05</c:v>
                  </c:pt>
                  <c:pt idx="1">
                    <c:v>0.1</c:v>
                  </c:pt>
                  <c:pt idx="2">
                    <c:v>0.2</c:v>
                  </c:pt>
                  <c:pt idx="3">
                    <c:v>0.3</c:v>
                  </c:pt>
                  <c:pt idx="4">
                    <c:v>0.5</c:v>
                  </c:pt>
                  <c:pt idx="5">
                    <c:v>0.7</c:v>
                  </c:pt>
                  <c:pt idx="6">
                    <c:v>1</c:v>
                  </c:pt>
                  <c:pt idx="7">
                    <c:v>1.5</c:v>
                  </c:pt>
                  <c:pt idx="8">
                    <c:v>2</c:v>
                  </c:pt>
                  <c:pt idx="9">
                    <c:v>3</c:v>
                  </c:pt>
                  <c:pt idx="10">
                    <c:v>5</c:v>
                  </c:pt>
                  <c:pt idx="11">
                    <c:v>7</c:v>
                  </c:pt>
                  <c:pt idx="12">
                    <c:v>10</c:v>
                  </c:pt>
                  <c:pt idx="13">
                    <c:v>20</c:v>
                  </c:pt>
                </c:lvl>
              </c:multiLvlStrCache>
            </c:multiLvlStrRef>
          </c:cat>
          <c:val>
            <c:numRef>
              <c:f>Sheet1!$C$2:$C$15</c:f>
              <c:numCache>
                <c:formatCode>General</c:formatCode>
                <c:ptCount val="14"/>
                <c:pt idx="0">
                  <c:v>0.002</c:v>
                </c:pt>
                <c:pt idx="1">
                  <c:v>0.01</c:v>
                </c:pt>
                <c:pt idx="2">
                  <c:v>0.038</c:v>
                </c:pt>
                <c:pt idx="3">
                  <c:v>0.083</c:v>
                </c:pt>
                <c:pt idx="4">
                  <c:v>0.2</c:v>
                </c:pt>
                <c:pt idx="5">
                  <c:v>0.329</c:v>
                </c:pt>
                <c:pt idx="6">
                  <c:v>0.5</c:v>
                </c:pt>
                <c:pt idx="7">
                  <c:v>0.692</c:v>
                </c:pt>
                <c:pt idx="8">
                  <c:v>0.8</c:v>
                </c:pt>
                <c:pt idx="9">
                  <c:v>0.9</c:v>
                </c:pt>
                <c:pt idx="10">
                  <c:v>0.962</c:v>
                </c:pt>
                <c:pt idx="11">
                  <c:v>0.98</c:v>
                </c:pt>
                <c:pt idx="12">
                  <c:v>0.99</c:v>
                </c:pt>
                <c:pt idx="13">
                  <c:v>0.998</c:v>
                </c:pt>
              </c:numCache>
            </c:numRef>
          </c:val>
          <c:smooth val="0"/>
        </c:ser>
        <c:ser>
          <c:idx val="2"/>
          <c:order val="2"/>
          <c:tx>
            <c:strRef>
              <c:f>Sheet1!$D$1</c:f>
              <c:strCache>
                <c:ptCount val="1"/>
                <c:pt idx="0">
                  <c:v>n = 4</c:v>
                </c:pt>
              </c:strCache>
            </c:strRef>
          </c:tx>
          <c:spPr>
            <a:solidFill>
              <a:srgbClr val="E76F51"/>
            </a:solidFill>
            <a:ln w="317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Sheet1!$A$2:$A$15</c:f>
              <c:multiLvlStrCache>
                <c:ptCount val="14"/>
                <c:lvl>
                  <c:pt idx="0">
                    <c:v>0.05</c:v>
                  </c:pt>
                  <c:pt idx="1">
                    <c:v>0.1</c:v>
                  </c:pt>
                  <c:pt idx="2">
                    <c:v>0.2</c:v>
                  </c:pt>
                  <c:pt idx="3">
                    <c:v>0.3</c:v>
                  </c:pt>
                  <c:pt idx="4">
                    <c:v>0.5</c:v>
                  </c:pt>
                  <c:pt idx="5">
                    <c:v>0.7</c:v>
                  </c:pt>
                  <c:pt idx="6">
                    <c:v>1</c:v>
                  </c:pt>
                  <c:pt idx="7">
                    <c:v>1.5</c:v>
                  </c:pt>
                  <c:pt idx="8">
                    <c:v>2</c:v>
                  </c:pt>
                  <c:pt idx="9">
                    <c:v>3</c:v>
                  </c:pt>
                  <c:pt idx="10">
                    <c:v>5</c:v>
                  </c:pt>
                  <c:pt idx="11">
                    <c:v>7</c:v>
                  </c:pt>
                  <c:pt idx="12">
                    <c:v>10</c:v>
                  </c:pt>
                  <c:pt idx="13">
                    <c:v>20</c:v>
                  </c:pt>
                </c:lvl>
              </c:multiLvlStrCache>
            </c:multiLvlStrRef>
          </c:cat>
          <c:val>
            <c:numRef>
              <c:f>Sheet1!$D$2:$D$15</c:f>
              <c:numCache>
                <c:formatCode>General</c:formatCode>
                <c:ptCount val="14"/>
                <c:pt idx="0">
                  <c:v>0</c:v>
                </c:pt>
                <c:pt idx="1">
                  <c:v>0</c:v>
                </c:pt>
                <c:pt idx="2">
                  <c:v>0.002</c:v>
                </c:pt>
                <c:pt idx="3">
                  <c:v>0.008</c:v>
                </c:pt>
                <c:pt idx="4">
                  <c:v>0.059</c:v>
                </c:pt>
                <c:pt idx="5">
                  <c:v>0.194</c:v>
                </c:pt>
                <c:pt idx="6">
                  <c:v>0.5</c:v>
                </c:pt>
                <c:pt idx="7">
                  <c:v>0.835</c:v>
                </c:pt>
                <c:pt idx="8">
                  <c:v>0.941</c:v>
                </c:pt>
                <c:pt idx="9">
                  <c:v>0.988</c:v>
                </c:pt>
                <c:pt idx="10">
                  <c:v>0.998</c:v>
                </c:pt>
                <c:pt idx="11">
                  <c:v>1</c:v>
                </c:pt>
                <c:pt idx="12">
                  <c:v>1</c:v>
                </c:pt>
                <c:pt idx="13">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Growth from N₀ = 0.05 K (illustrative)</a:t>
            </a:r>
          </a:p>
        </c:rich>
      </c:tx>
      <c:layout/>
      <c:overlay val="0"/>
    </c:title>
    <c:autoTitleDeleted val="0"/>
    <c:plotArea>
      <c:layout/>
      <c:lineChart>
        <c:varyColors val="0"/>
        <c:ser>
          <c:idx val="0"/>
          <c:order val="0"/>
          <c:tx>
            <c:strRef>
              <c:f>Sheet1!$B$1</c:f>
              <c:strCache>
                <c:ptCount val="1"/>
                <c:pt idx="0">
                  <c:v>Exponential</c:v>
                </c:pt>
              </c:strCache>
            </c:strRef>
          </c:tx>
          <c:spPr>
            <a:solidFill>
              <a:srgbClr val="E76F51"/>
            </a:solidFill>
            <a:ln w="317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Sheet1!$A$2:$A$32</c:f>
              <c:multiLvlStrCache>
                <c:ptCount val="31"/>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lvl>
              </c:multiLvlStrCache>
            </c:multiLvlStrRef>
          </c:cat>
          <c:val>
            <c:numRef>
              <c:f>Sheet1!$B$2:$B$32</c:f>
              <c:numCache>
                <c:formatCode>General</c:formatCode>
                <c:ptCount val="31"/>
                <c:pt idx="0">
                  <c:v>0.05</c:v>
                </c:pt>
                <c:pt idx="1">
                  <c:v>0.067</c:v>
                </c:pt>
                <c:pt idx="2">
                  <c:v>0.091</c:v>
                </c:pt>
                <c:pt idx="3">
                  <c:v>0.123</c:v>
                </c:pt>
                <c:pt idx="4">
                  <c:v>0.166</c:v>
                </c:pt>
                <c:pt idx="5">
                  <c:v>0.224</c:v>
                </c:pt>
                <c:pt idx="6">
                  <c:v>0.302</c:v>
                </c:pt>
                <c:pt idx="7">
                  <c:v>0.408</c:v>
                </c:pt>
                <c:pt idx="8">
                  <c:v>0.551</c:v>
                </c:pt>
                <c:pt idx="9">
                  <c:v>0.744</c:v>
                </c:pt>
                <c:pt idx="10">
                  <c:v>1.004</c:v>
                </c:pt>
                <c:pt idx="11">
                  <c:v>1.356</c:v>
                </c:pt>
                <c:pt idx="12">
                  <c:v>1.83</c:v>
                </c:pt>
                <c:pt idx="13">
                  <c:v>2.47</c:v>
                </c:pt>
                <c:pt idx="14">
                  <c:v>3.334</c:v>
                </c:pt>
                <c:pt idx="15">
                  <c:v>4.501</c:v>
                </c:pt>
                <c:pt idx="16">
                  <c:v>6.076</c:v>
                </c:pt>
                <c:pt idx="17">
                  <c:v>8.201</c:v>
                </c:pt>
                <c:pt idx="18">
                  <c:v>11.07</c:v>
                </c:pt>
                <c:pt idx="19">
                  <c:v>14.943</c:v>
                </c:pt>
                <c:pt idx="20">
                  <c:v>20.171</c:v>
                </c:pt>
                <c:pt idx="21">
                  <c:v>27.229</c:v>
                </c:pt>
                <c:pt idx="22">
                  <c:v>36.755</c:v>
                </c:pt>
                <c:pt idx="23">
                  <c:v>49.614</c:v>
                </c:pt>
                <c:pt idx="24">
                  <c:v>66.972</c:v>
                </c:pt>
                <c:pt idx="25">
                  <c:v>90.402</c:v>
                </c:pt>
                <c:pt idx="26">
                  <c:v>122.03</c:v>
                </c:pt>
                <c:pt idx="27">
                  <c:v>164.723</c:v>
                </c:pt>
                <c:pt idx="28">
                  <c:v>222.353</c:v>
                </c:pt>
                <c:pt idx="29">
                  <c:v>300.146</c:v>
                </c:pt>
                <c:pt idx="30">
                  <c:v>405.154</c:v>
                </c:pt>
              </c:numCache>
            </c:numRef>
          </c:val>
          <c:smooth val="0"/>
        </c:ser>
        <c:ser>
          <c:idx val="1"/>
          <c:order val="1"/>
          <c:tx>
            <c:strRef>
              <c:f>Sheet1!$C$1</c:f>
              <c:strCache>
                <c:ptCount val="1"/>
                <c:pt idx="0">
                  <c:v>Logistic</c:v>
                </c:pt>
              </c:strCache>
            </c:strRef>
          </c:tx>
          <c:spPr>
            <a:solidFill>
              <a:srgbClr val="1F7A70"/>
            </a:solidFill>
            <a:ln w="31750" cap="flat">
              <a:solidFill>
                <a:srgbClr val="1F7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7A70"/>
              </a:solidFill>
              <a:ln w="9525" cap="flat">
                <a:solidFill>
                  <a:srgbClr val="1F7A70"/>
                </a:solidFill>
                <a:prstDash val="solid"/>
                <a:round/>
              </a:ln>
              <a:effectLst/>
            </c:spPr>
          </c:marker>
          <c:cat>
            <c:multiLvlStrRef>
              <c:f>Sheet1!$A$2:$A$32</c:f>
              <c:multiLvlStrCache>
                <c:ptCount val="31"/>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lvl>
              </c:multiLvlStrCache>
            </c:multiLvlStrRef>
          </c:cat>
          <c:val>
            <c:numRef>
              <c:f>Sheet1!$C$2:$C$32</c:f>
              <c:numCache>
                <c:formatCode>General</c:formatCode>
                <c:ptCount val="31"/>
                <c:pt idx="0">
                  <c:v>0.05</c:v>
                </c:pt>
                <c:pt idx="1">
                  <c:v>0.066</c:v>
                </c:pt>
                <c:pt idx="2">
                  <c:v>0.088</c:v>
                </c:pt>
                <c:pt idx="3">
                  <c:v>0.115</c:v>
                </c:pt>
                <c:pt idx="4">
                  <c:v>0.149</c:v>
                </c:pt>
                <c:pt idx="5">
                  <c:v>0.191</c:v>
                </c:pt>
                <c:pt idx="6">
                  <c:v>0.242</c:v>
                </c:pt>
                <c:pt idx="7">
                  <c:v>0.301</c:v>
                </c:pt>
                <c:pt idx="8">
                  <c:v>0.367</c:v>
                </c:pt>
                <c:pt idx="9">
                  <c:v>0.439</c:v>
                </c:pt>
                <c:pt idx="10">
                  <c:v>0.514</c:v>
                </c:pt>
                <c:pt idx="11">
                  <c:v>0.588</c:v>
                </c:pt>
                <c:pt idx="12">
                  <c:v>0.658</c:v>
                </c:pt>
                <c:pt idx="13">
                  <c:v>0.722</c:v>
                </c:pt>
                <c:pt idx="14">
                  <c:v>0.778</c:v>
                </c:pt>
                <c:pt idx="15">
                  <c:v>0.826</c:v>
                </c:pt>
                <c:pt idx="16">
                  <c:v>0.865</c:v>
                </c:pt>
                <c:pt idx="17">
                  <c:v>0.896</c:v>
                </c:pt>
                <c:pt idx="18">
                  <c:v>0.921</c:v>
                </c:pt>
                <c:pt idx="19">
                  <c:v>0.94</c:v>
                </c:pt>
                <c:pt idx="20">
                  <c:v>0.955</c:v>
                </c:pt>
                <c:pt idx="21">
                  <c:v>0.966</c:v>
                </c:pt>
                <c:pt idx="22">
                  <c:v>0.975</c:v>
                </c:pt>
                <c:pt idx="23">
                  <c:v>0.981</c:v>
                </c:pt>
                <c:pt idx="24">
                  <c:v>0.986</c:v>
                </c:pt>
                <c:pt idx="25">
                  <c:v>0.99</c:v>
                </c:pt>
                <c:pt idx="26">
                  <c:v>0.992</c:v>
                </c:pt>
                <c:pt idx="27">
                  <c:v>0.994</c:v>
                </c:pt>
                <c:pt idx="28">
                  <c:v>0.996</c:v>
                </c:pt>
                <c:pt idx="29">
                  <c:v>0.997</c:v>
                </c:pt>
                <c:pt idx="30">
                  <c:v>0.998</c:v>
                </c:pt>
              </c:numCache>
            </c:numRef>
          </c:val>
          <c:smooth val="0"/>
        </c:ser>
        <c:ser>
          <c:idx val="2"/>
          <c:order val="2"/>
          <c:tx>
            <c:strRef>
              <c:f>Sheet1!$D$1</c:f>
              <c:strCache>
                <c:ptCount val="1"/>
                <c:pt idx="0">
                  <c:v>Gompertz</c:v>
                </c:pt>
              </c:strCache>
            </c:strRef>
          </c:tx>
          <c:spPr>
            <a:solidFill>
              <a:srgbClr val="264653"/>
            </a:solidFill>
            <a:ln w="31750" cap="flat">
              <a:solidFill>
                <a:srgbClr val="26465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64653"/>
              </a:solidFill>
              <a:ln w="9525" cap="flat">
                <a:solidFill>
                  <a:srgbClr val="264653"/>
                </a:solidFill>
                <a:prstDash val="solid"/>
                <a:round/>
              </a:ln>
              <a:effectLst/>
            </c:spPr>
          </c:marker>
          <c:cat>
            <c:multiLvlStrRef>
              <c:f>Sheet1!$A$2:$A$32</c:f>
              <c:multiLvlStrCache>
                <c:ptCount val="31"/>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lvl>
              </c:multiLvlStrCache>
            </c:multiLvlStrRef>
          </c:cat>
          <c:val>
            <c:numRef>
              <c:f>Sheet1!$D$2:$D$32</c:f>
              <c:numCache>
                <c:formatCode>General</c:formatCode>
                <c:ptCount val="31"/>
                <c:pt idx="0">
                  <c:v>0.05</c:v>
                </c:pt>
                <c:pt idx="1">
                  <c:v>0.076</c:v>
                </c:pt>
                <c:pt idx="2">
                  <c:v>0.109</c:v>
                </c:pt>
                <c:pt idx="3">
                  <c:v>0.148</c:v>
                </c:pt>
                <c:pt idx="4">
                  <c:v>0.193</c:v>
                </c:pt>
                <c:pt idx="5">
                  <c:v>0.243</c:v>
                </c:pt>
                <c:pt idx="6">
                  <c:v>0.296</c:v>
                </c:pt>
                <c:pt idx="7">
                  <c:v>0.351</c:v>
                </c:pt>
                <c:pt idx="8">
                  <c:v>0.406</c:v>
                </c:pt>
                <c:pt idx="9">
                  <c:v>0.46</c:v>
                </c:pt>
                <c:pt idx="10">
                  <c:v>0.513</c:v>
                </c:pt>
                <c:pt idx="11">
                  <c:v>0.563</c:v>
                </c:pt>
                <c:pt idx="12">
                  <c:v>0.609</c:v>
                </c:pt>
                <c:pt idx="13">
                  <c:v>0.653</c:v>
                </c:pt>
                <c:pt idx="14">
                  <c:v>0.693</c:v>
                </c:pt>
                <c:pt idx="15">
                  <c:v>0.729</c:v>
                </c:pt>
                <c:pt idx="16">
                  <c:v>0.762</c:v>
                </c:pt>
                <c:pt idx="17">
                  <c:v>0.791</c:v>
                </c:pt>
                <c:pt idx="18">
                  <c:v>0.818</c:v>
                </c:pt>
                <c:pt idx="19">
                  <c:v>0.841</c:v>
                </c:pt>
                <c:pt idx="20">
                  <c:v>0.861</c:v>
                </c:pt>
                <c:pt idx="21">
                  <c:v>0.88</c:v>
                </c:pt>
                <c:pt idx="22">
                  <c:v>0.895</c:v>
                </c:pt>
                <c:pt idx="23">
                  <c:v>0.909</c:v>
                </c:pt>
                <c:pt idx="24">
                  <c:v>0.921</c:v>
                </c:pt>
                <c:pt idx="25">
                  <c:v>0.932</c:v>
                </c:pt>
                <c:pt idx="26">
                  <c:v>0.941</c:v>
                </c:pt>
                <c:pt idx="27">
                  <c:v>0.949</c:v>
                </c:pt>
                <c:pt idx="28">
                  <c:v>0.956</c:v>
                </c:pt>
                <c:pt idx="29">
                  <c:v>0.962</c:v>
                </c:pt>
                <c:pt idx="30">
                  <c:v>0.967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2"/>
        <c:crosses val="autoZero"/>
        <c:auto val="1"/>
        <c:lblAlgn val="ctr"/>
        <c:noMultiLvlLbl val="1"/>
        <c:tickLblSkip val="5"/>
      </c:catAx>
      <c:valAx>
        <c:axId val="2094734552"/>
        <c:scaling>
          <c:orientation val="minMax"/>
          <c:max val="1.2"/>
          <c:min val="0"/>
        </c:scaling>
        <c:delete val="0"/>
        <c:axPos val="l"/>
        <c:majorGridlines>
          <c:spPr>
            <a:ln w="9525" cap="flat">
              <a:solidFill>
                <a:srgbClr val="E3E8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general reference. It is not tied to any one disease or therapy. Each slide gives the governing equation of a model family, what the symbols mean, and when to use it in a digital twin or a virtual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 families. Families 1 to 6 describe how a system behaves. Family 7 describes variability between and within individuals. Families 8 to 10 connect models to data and make them fast and honest about uncertainty. Families 11 and 12 turn twins into trials and decisions and prove they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twin is a model of one individual that is continuously synchronised with data from that individual and used to make decisions. A virtual trial runs many twins, or many sampled virtual subjects, through every arm of a study. The family numbers show where each model family sits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 covers mechanistic models: equations that describe how a system changes over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digital twins can be written as a state-space model: a hidden state that evolves, and observations that depend on it. ODEs, SDEs and PDEs are the continuous versions, chosen by whether space and randomness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twin is continuous. Markov models describe movement between discrete health states. Hidden Markov models infer an unobserved state. Agent-based and cellular-automaton models describe many interacting individuals. Hybrid systems combine continuous dynamics with discrete events such as a dose or a device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Pharmacokinetic models describe concentration over time. Compartment models are empirical and fast. PBPK models are physiological, with real organ volumes and blood flows, so they extrapolate to new populations, which makes them central to virtual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Hill or Emax model is the workhorse exposure–response model. Indirect-response models capture delayed effects when a drug changes the turnover of a biomarker. The effect-compartment model explains why effect lags behind plasma concentration.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Quantitative systems pharmacology models write a biological network as reaction equations. Mass action and Michaelis–Menten kinetics give continuous models; Boolean networks give a coarse logic model when kinetic data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laws describe untreated disease burden. Adding a kill term driven by drug exposure gives tumour-growth-inhibition and antimicrobial models. Which law fits best is an empirical question settled with model-selection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models describe how disease spreads through a population or progresses within a person. They provide the natural-history arm of a virtual trial, against which treatment effects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classic lumped physiological models. Each has few parameters, which can be identified per patient from routine measurements, making them ideal first digital twins.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Continuum models resolve space as well as time. They are solved with finite-element or finite-volume methods and are the most expensive part of many twins, which is why surrogates matter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 covers the models that connect equations to data: variability between people, synchronising twins with measurements, quantifying uncertainty, and making models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Population models separate the typical behaviour from variability between individuals and residual noise. NLME is the standard in pharmacometrics; mixed and generalised linear models are the statistical equivalents; hierarchical Bayes generalises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trial endpoints are times to events. Kaplan–Meier describes them, Cox explains them, parametric models extrapolate and simulate them, and joint models link them to a twin's evolving biomarkers.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assimilation is what turns a model into a twin. Filters update the state sequentially as data arrive; variational methods fit a whole window at once. Both weigh model uncertainty against measurement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finds parameter values; identifiability asks whether the data can determine them at all. Fisher information answers that before collecting data and designs better experiments. ABC and simulation-based inference handle models whose likelihood cannot be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Uncertainty quantification makes predictions honest. Monte Carlo is the default; polynomial chaos is faster for smooth models; Kennedy–O'Hagan calibration admits that the model itself is imperfect. The total-variance split tells you whether more data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Sensitivity analysis shows which parameters matter, so you know what to measure per patient and what can be fixed at population values. Screen with Morris, then quantify with Sobol.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twin used at the bedside, or run thousands of times in a virtual trial, must be fast. Reduced-order models and emulators replace the full simulator with a cheap approximation that keeps its accuracy where it matters, and ideally reports its own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III covers how twins become virtual cohorts and trials, how they inform decisions, and how they are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virtual trial is only as representative as its virtual population. Copulas keep correlations between covariates; plausible-patient methods ensure each subject is physiologically valid; posterior sampling and generative models scale up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trials use the same statistics as real trials, but can also see both potential outcomes for each subject. Simulation is also how real adaptive designs are evaluated: run thousands of virtual trials and count how often each decision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accepted uses of digital twins today augment real trials. Prognostic covariate adjustment, recognised by regulators, uses twin predictions to shrink trial size. Synthetic control arms and imaging model observers replace parts of the evidence. Health-economic models carry results into value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models close the loop. Optimal control and MPC compute schedules from the equations; reinforcement learning learns them from simulation; Bayesian and multi-objective optimisation search designs when evaluations are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and selection metrics answer whether the model describes the data, and which of several candidate models to prefer. Predictive checks are the most informative: if data simulated from the model do not look like the real data, the model is wrong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checks the equations are solved correctly; validation checks they are the right equations; calibration of uncertainty checks the error bars are honest. The V&amp;V 40 framework decides how much of each is enough for a given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guide: start with the simplest model that answers the question and has identifiable parameters; upgrade only when validation shows the simple model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the core of every twin is a dynamical model synchronised with data; population, uncertainty and surrogate models make it scale to virtual trials; trial design, control and validation make the results usable and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Textbooks and landmark papers for each family. Check bibliographic details before 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1874520"/>
            <a:ext cx="106984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611880"/>
            <a:ext cx="9601200" cy="10058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ph idx="103" type="body" hasCustomPrompt="1"/>
          </p:nvPr>
        </p:nvSpPr>
        <p:spPr>
          <a:xfrm>
            <a:off x="731520" y="5257800"/>
            <a:ext cx="10698480" cy="45720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rtlCol="0"/>
          <a:lstStyle>
            <a:lvl1pPr indent="0" marL="0">
              <a:buNone/>
              <a:defRPr lang="en-US" sz="1300" b="1"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Digital twins &amp; virtual trials  ·  general model catalogue</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4.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11480"/>
          </a:xfrm>
          <a:prstGeom prst="rect">
            <a:avLst/>
          </a:prstGeom>
          <a:noFill/>
          <a:ln/>
        </p:spPr>
        <p:txBody>
          <a:bodyPr wrap="square" rtlCol="0" anchor="t"/>
          <a:lstStyle/>
          <a:p>
            <a:pPr indent="0" marL="0">
              <a:buNone/>
            </a:pPr>
            <a:r>
              <a:rPr lang="en-US" sz="1600" b="1" dirty="0">
                <a:solidFill>
                  <a:schemeClr val="accent1"/>
                </a:solidFill>
              </a:rPr>
              <a:t>GENERAL MODEL CATALOGUE  ·  OCTOBER 2026</a:t>
            </a:r>
            <a:endParaRPr lang="en-US" sz="1600" dirty="0"/>
          </a:p>
        </p:txBody>
      </p:sp>
      <p:sp>
        <p:nvSpPr>
          <p:cNvPr id="3" name="Text 0"/>
          <p:cNvSpPr/>
          <p:nvPr>
            <p:ph idx="101" type="title" hasCustomPrompt="1"/>
          </p:nvPr>
        </p:nvSpPr>
        <p:spPr>
          <a:xfrm>
            <a:off x="731520" y="1874520"/>
            <a:ext cx="10698480" cy="1554480"/>
          </a:xfrm>
          <a:prstGeom prst="rect">
            <a:avLst/>
          </a:prstGeom>
          <a:noFill/>
          <a:ln/>
        </p:spPr>
        <p:txBody>
          <a:bodyPr wrap="square" rtlCol="0" anchor="t"/>
          <a:lstStyle/>
          <a:p>
            <a:pPr algn="l" indent="0" marL="0">
              <a:buNone/>
            </a:pPr>
            <a:r>
              <a:rPr lang="en-US" sz="4400" b="1" dirty="0">
                <a:solidFill>
                  <a:schemeClr val="bg1"/>
                </a:solidFill>
              </a:rPr>
              <a:t>Mathematical Models for Digital Twins and Virtual Trials</a:t>
            </a:r>
            <a:endParaRPr lang="en-US" sz="4400" dirty="0"/>
          </a:p>
        </p:txBody>
      </p:sp>
      <p:sp>
        <p:nvSpPr>
          <p:cNvPr id="4" name="Text 0"/>
          <p:cNvSpPr/>
          <p:nvPr>
            <p:ph idx="102" type="body" hasCustomPrompt="1"/>
          </p:nvPr>
        </p:nvSpPr>
        <p:spPr>
          <a:xfrm>
            <a:off x="731520" y="3611880"/>
            <a:ext cx="9601200" cy="1005840"/>
          </a:xfrm>
          <a:prstGeom prst="rect">
            <a:avLst/>
          </a:prstGeom>
          <a:noFill/>
          <a:ln/>
        </p:spPr>
        <p:txBody>
          <a:bodyPr wrap="square" rtlCol="0" anchor="t"/>
          <a:lstStyle/>
          <a:p>
            <a:pPr indent="0" marL="0">
              <a:buNone/>
            </a:pPr>
            <a:r>
              <a:rPr lang="en-US" sz="1800" dirty="0">
                <a:solidFill>
                  <a:schemeClr val="bg2"/>
                </a:solidFill>
              </a:rPr>
              <a:t>A field-independent reference: about 90 models across dynamics, physiology, statistics, data assimilation, uncertainty, surrogates, virtual populations, trial design, control and validation</a:t>
            </a:r>
            <a:endParaRPr lang="en-US" sz="1800" dirty="0"/>
          </a:p>
        </p:txBody>
      </p:sp>
      <p:sp>
        <p:nvSpPr>
          <p:cNvPr id="5" name="Text 0"/>
          <p:cNvSpPr/>
          <p:nvPr>
            <p:ph idx="103" type="body" hasCustomPrompt="1"/>
          </p:nvPr>
        </p:nvSpPr>
        <p:spPr>
          <a:xfrm>
            <a:off x="731520" y="5257800"/>
            <a:ext cx="10698480" cy="457200"/>
          </a:xfrm>
          <a:prstGeom prst="rect">
            <a:avLst/>
          </a:prstGeom>
          <a:noFill/>
          <a:ln/>
        </p:spPr>
        <p:txBody>
          <a:bodyPr wrap="square" rtlCol="0" anchor="t"/>
          <a:lstStyle/>
          <a:p>
            <a:pPr indent="0" marL="0">
              <a:buNone/>
            </a:pPr>
            <a:r>
              <a:rPr lang="en-US" sz="1600" dirty="0">
                <a:solidFill>
                  <a:schemeClr val="accent1"/>
                </a:solidFill>
              </a:rPr>
              <a:t>Hamid Abdollahi, PhD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OVERVIEW</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Twelve families of models</a:t>
            </a:r>
            <a:endParaRPr lang="en-US" sz="3600" dirty="0"/>
          </a:p>
        </p:txBody>
      </p:sp>
      <p:sp>
        <p:nvSpPr>
          <p:cNvPr id="4" name="icon circle"/>
          <p:cNvSpPr/>
          <p:nvPr/>
        </p:nvSpPr>
        <p:spPr>
          <a:xfrm>
            <a:off x="548640" y="1655064"/>
            <a:ext cx="548640" cy="548640"/>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669341" y="1775765"/>
            <a:ext cx="307238" cy="307238"/>
          </a:xfrm>
          <a:prstGeom prst="rect">
            <a:avLst/>
          </a:prstGeom>
        </p:spPr>
      </p:pic>
      <p:sp>
        <p:nvSpPr>
          <p:cNvPr id="6" name="Text 3"/>
          <p:cNvSpPr txBox="1"/>
          <p:nvPr/>
        </p:nvSpPr>
        <p:spPr>
          <a:xfrm>
            <a:off x="1261872" y="1600200"/>
            <a:ext cx="2926080" cy="384048"/>
          </a:xfrm>
          <a:prstGeom prst="rect">
            <a:avLst/>
          </a:prstGeom>
          <a:noFill/>
          <a:ln/>
        </p:spPr>
        <p:txBody>
          <a:bodyPr wrap="square" lIns="0" tIns="0" rIns="0" bIns="0" rtlCol="0" anchor="t"/>
          <a:lstStyle/>
          <a:p>
            <a:pPr indent="0" marL="0">
              <a:buNone/>
            </a:pPr>
            <a:r>
              <a:rPr lang="en-US" sz="1600" b="1" dirty="0">
                <a:solidFill>
                  <a:schemeClr val="tx2"/>
                </a:solidFill>
              </a:rPr>
              <a:t>1 · Digital-twin formalism</a:t>
            </a:r>
            <a:endParaRPr lang="en-US" sz="1600" dirty="0"/>
          </a:p>
        </p:txBody>
      </p:sp>
      <p:sp>
        <p:nvSpPr>
          <p:cNvPr id="7" name="Text 4"/>
          <p:cNvSpPr txBox="1"/>
          <p:nvPr/>
        </p:nvSpPr>
        <p:spPr>
          <a:xfrm>
            <a:off x="1261872" y="2002536"/>
            <a:ext cx="2926080" cy="457200"/>
          </a:xfrm>
          <a:prstGeom prst="rect">
            <a:avLst/>
          </a:prstGeom>
          <a:noFill/>
          <a:ln/>
        </p:spPr>
        <p:txBody>
          <a:bodyPr wrap="square" lIns="0" tIns="0" rIns="0" bIns="0" rtlCol="0" anchor="t"/>
          <a:lstStyle/>
          <a:p>
            <a:pPr indent="0" marL="0">
              <a:buNone/>
            </a:pPr>
            <a:r>
              <a:rPr lang="en-US" sz="1400" dirty="0">
                <a:solidFill>
                  <a:schemeClr val="tx1"/>
                </a:solidFill>
              </a:rPr>
              <a:t>state space, ODE, SDE, PDE, discrete</a:t>
            </a:r>
            <a:endParaRPr lang="en-US" sz="1400" dirty="0"/>
          </a:p>
        </p:txBody>
      </p:sp>
      <p:sp>
        <p:nvSpPr>
          <p:cNvPr id="8" name="icon circle"/>
          <p:cNvSpPr/>
          <p:nvPr/>
        </p:nvSpPr>
        <p:spPr>
          <a:xfrm>
            <a:off x="4297680" y="1655064"/>
            <a:ext cx="548640" cy="548640"/>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2"/>
          <a:stretch>
            <a:fillRect/>
          </a:stretch>
        </p:blipFill>
        <p:spPr>
          <a:xfrm>
            <a:off x="4418381" y="1775765"/>
            <a:ext cx="307238" cy="307238"/>
          </a:xfrm>
          <a:prstGeom prst="rect">
            <a:avLst/>
          </a:prstGeom>
        </p:spPr>
      </p:pic>
      <p:sp>
        <p:nvSpPr>
          <p:cNvPr id="10" name="Text 6"/>
          <p:cNvSpPr txBox="1"/>
          <p:nvPr/>
        </p:nvSpPr>
        <p:spPr>
          <a:xfrm>
            <a:off x="5010912" y="1600200"/>
            <a:ext cx="2926080" cy="384048"/>
          </a:xfrm>
          <a:prstGeom prst="rect">
            <a:avLst/>
          </a:prstGeom>
          <a:noFill/>
          <a:ln/>
        </p:spPr>
        <p:txBody>
          <a:bodyPr wrap="square" lIns="0" tIns="0" rIns="0" bIns="0" rtlCol="0" anchor="t"/>
          <a:lstStyle/>
          <a:p>
            <a:pPr indent="0" marL="0">
              <a:buNone/>
            </a:pPr>
            <a:r>
              <a:rPr lang="en-US" sz="1600" b="1" dirty="0">
                <a:solidFill>
                  <a:schemeClr val="tx2"/>
                </a:solidFill>
              </a:rPr>
              <a:t>2 · Pharmacokinetics</a:t>
            </a:r>
            <a:endParaRPr lang="en-US" sz="1600" dirty="0"/>
          </a:p>
        </p:txBody>
      </p:sp>
      <p:sp>
        <p:nvSpPr>
          <p:cNvPr id="11" name="Text 7"/>
          <p:cNvSpPr txBox="1"/>
          <p:nvPr/>
        </p:nvSpPr>
        <p:spPr>
          <a:xfrm>
            <a:off x="5010912" y="2002536"/>
            <a:ext cx="2926080" cy="457200"/>
          </a:xfrm>
          <a:prstGeom prst="rect">
            <a:avLst/>
          </a:prstGeom>
          <a:noFill/>
          <a:ln/>
        </p:spPr>
        <p:txBody>
          <a:bodyPr wrap="square" lIns="0" tIns="0" rIns="0" bIns="0" rtlCol="0" anchor="t"/>
          <a:lstStyle/>
          <a:p>
            <a:pPr indent="0" marL="0">
              <a:buNone/>
            </a:pPr>
            <a:r>
              <a:rPr lang="en-US" sz="1400" dirty="0">
                <a:solidFill>
                  <a:schemeClr val="tx1"/>
                </a:solidFill>
              </a:rPr>
              <a:t>compartments, absorption, PBPK</a:t>
            </a:r>
            <a:endParaRPr lang="en-US" sz="1400" dirty="0"/>
          </a:p>
        </p:txBody>
      </p:sp>
      <p:sp>
        <p:nvSpPr>
          <p:cNvPr id="12" name="icon circle"/>
          <p:cNvSpPr/>
          <p:nvPr/>
        </p:nvSpPr>
        <p:spPr>
          <a:xfrm>
            <a:off x="8046720" y="1655064"/>
            <a:ext cx="548640" cy="548640"/>
          </a:xfrm>
          <a:prstGeom prst="ellipse">
            <a:avLst/>
          </a:prstGeom>
          <a:solidFill>
            <a:schemeClr val="accent2"/>
          </a:solidFill>
          <a:ln w="12700">
            <a:solidFill>
              <a:schemeClr val="accent2"/>
            </a:solidFill>
            <a:prstDash val="solid"/>
          </a:ln>
        </p:spPr>
      </p:sp>
      <p:pic>
        <p:nvPicPr>
          <p:cNvPr id="13" name="icon" descr="preencoded.png">    </p:cNvPr>
          <p:cNvPicPr>
            <a:picLocks noChangeAspect="1"/>
          </p:cNvPicPr>
          <p:nvPr/>
        </p:nvPicPr>
        <p:blipFill>
          <a:blip r:embed="rId3"/>
          <a:stretch>
            <a:fillRect/>
          </a:stretch>
        </p:blipFill>
        <p:spPr>
          <a:xfrm>
            <a:off x="8167421" y="1775765"/>
            <a:ext cx="307238" cy="307238"/>
          </a:xfrm>
          <a:prstGeom prst="rect">
            <a:avLst/>
          </a:prstGeom>
        </p:spPr>
      </p:pic>
      <p:sp>
        <p:nvSpPr>
          <p:cNvPr id="14" name="Text 9"/>
          <p:cNvSpPr txBox="1"/>
          <p:nvPr/>
        </p:nvSpPr>
        <p:spPr>
          <a:xfrm>
            <a:off x="8759952" y="1600200"/>
            <a:ext cx="2926080" cy="384048"/>
          </a:xfrm>
          <a:prstGeom prst="rect">
            <a:avLst/>
          </a:prstGeom>
          <a:noFill/>
          <a:ln/>
        </p:spPr>
        <p:txBody>
          <a:bodyPr wrap="square" lIns="0" tIns="0" rIns="0" bIns="0" rtlCol="0" anchor="t"/>
          <a:lstStyle/>
          <a:p>
            <a:pPr indent="0" marL="0">
              <a:buNone/>
            </a:pPr>
            <a:r>
              <a:rPr lang="en-US" sz="1600" b="1" dirty="0">
                <a:solidFill>
                  <a:schemeClr val="tx2"/>
                </a:solidFill>
              </a:rPr>
              <a:t>3 · Pharmacodynamics, QSP</a:t>
            </a:r>
            <a:endParaRPr lang="en-US" sz="1600" dirty="0"/>
          </a:p>
        </p:txBody>
      </p:sp>
      <p:sp>
        <p:nvSpPr>
          <p:cNvPr id="15" name="Text 10"/>
          <p:cNvSpPr txBox="1"/>
          <p:nvPr/>
        </p:nvSpPr>
        <p:spPr>
          <a:xfrm>
            <a:off x="8759952" y="2002536"/>
            <a:ext cx="2926080" cy="457200"/>
          </a:xfrm>
          <a:prstGeom prst="rect">
            <a:avLst/>
          </a:prstGeom>
          <a:noFill/>
          <a:ln/>
        </p:spPr>
        <p:txBody>
          <a:bodyPr wrap="square" lIns="0" tIns="0" rIns="0" bIns="0" rtlCol="0" anchor="t"/>
          <a:lstStyle/>
          <a:p>
            <a:pPr indent="0" marL="0">
              <a:buNone/>
            </a:pPr>
            <a:r>
              <a:rPr lang="en-US" sz="1400" dirty="0">
                <a:solidFill>
                  <a:schemeClr val="tx1"/>
                </a:solidFill>
              </a:rPr>
              <a:t>Emax, indirect response, kinetics</a:t>
            </a:r>
            <a:endParaRPr lang="en-US" sz="1400" dirty="0"/>
          </a:p>
        </p:txBody>
      </p:sp>
      <p:sp>
        <p:nvSpPr>
          <p:cNvPr id="16" name="icon circle"/>
          <p:cNvSpPr/>
          <p:nvPr/>
        </p:nvSpPr>
        <p:spPr>
          <a:xfrm>
            <a:off x="548640" y="2752344"/>
            <a:ext cx="548640" cy="548640"/>
          </a:xfrm>
          <a:prstGeom prst="ellipse">
            <a:avLst/>
          </a:prstGeom>
          <a:solidFill>
            <a:schemeClr val="accent2"/>
          </a:solidFill>
          <a:ln w="12700">
            <a:solidFill>
              <a:schemeClr val="accent2"/>
            </a:solidFill>
            <a:prstDash val="solid"/>
          </a:ln>
        </p:spPr>
      </p:sp>
      <p:pic>
        <p:nvPicPr>
          <p:cNvPr id="17" name="icon" descr="preencoded.png">    </p:cNvPr>
          <p:cNvPicPr>
            <a:picLocks noChangeAspect="1"/>
          </p:cNvPicPr>
          <p:nvPr/>
        </p:nvPicPr>
        <p:blipFill>
          <a:blip r:embed="rId4"/>
          <a:stretch>
            <a:fillRect/>
          </a:stretch>
        </p:blipFill>
        <p:spPr>
          <a:xfrm>
            <a:off x="669341" y="2873045"/>
            <a:ext cx="307238" cy="307238"/>
          </a:xfrm>
          <a:prstGeom prst="rect">
            <a:avLst/>
          </a:prstGeom>
        </p:spPr>
      </p:pic>
      <p:sp>
        <p:nvSpPr>
          <p:cNvPr id="18" name="Text 12"/>
          <p:cNvSpPr txBox="1"/>
          <p:nvPr/>
        </p:nvSpPr>
        <p:spPr>
          <a:xfrm>
            <a:off x="1261872" y="2697480"/>
            <a:ext cx="2926080" cy="384048"/>
          </a:xfrm>
          <a:prstGeom prst="rect">
            <a:avLst/>
          </a:prstGeom>
          <a:noFill/>
          <a:ln/>
        </p:spPr>
        <p:txBody>
          <a:bodyPr wrap="square" lIns="0" tIns="0" rIns="0" bIns="0" rtlCol="0" anchor="t"/>
          <a:lstStyle/>
          <a:p>
            <a:pPr indent="0" marL="0">
              <a:buNone/>
            </a:pPr>
            <a:r>
              <a:rPr lang="en-US" sz="1600" b="1" dirty="0">
                <a:solidFill>
                  <a:schemeClr val="tx2"/>
                </a:solidFill>
              </a:rPr>
              <a:t>4 · Disease dynamics</a:t>
            </a:r>
            <a:endParaRPr lang="en-US" sz="1600" dirty="0"/>
          </a:p>
        </p:txBody>
      </p:sp>
      <p:sp>
        <p:nvSpPr>
          <p:cNvPr id="19" name="Text 13"/>
          <p:cNvSpPr txBox="1"/>
          <p:nvPr/>
        </p:nvSpPr>
        <p:spPr>
          <a:xfrm>
            <a:off x="1261872" y="3099816"/>
            <a:ext cx="2926080" cy="457200"/>
          </a:xfrm>
          <a:prstGeom prst="rect">
            <a:avLst/>
          </a:prstGeom>
          <a:noFill/>
          <a:ln/>
        </p:spPr>
        <p:txBody>
          <a:bodyPr wrap="square" lIns="0" tIns="0" rIns="0" bIns="0" rtlCol="0" anchor="t"/>
          <a:lstStyle/>
          <a:p>
            <a:pPr indent="0" marL="0">
              <a:buNone/>
            </a:pPr>
            <a:r>
              <a:rPr lang="en-US" sz="1400" dirty="0">
                <a:solidFill>
                  <a:schemeClr val="tx1"/>
                </a:solidFill>
              </a:rPr>
              <a:t>growth, epidemics, progression</a:t>
            </a:r>
            <a:endParaRPr lang="en-US" sz="1400" dirty="0"/>
          </a:p>
        </p:txBody>
      </p:sp>
      <p:sp>
        <p:nvSpPr>
          <p:cNvPr id="20" name="icon circle"/>
          <p:cNvSpPr/>
          <p:nvPr/>
        </p:nvSpPr>
        <p:spPr>
          <a:xfrm>
            <a:off x="4297680" y="2752344"/>
            <a:ext cx="548640" cy="548640"/>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5"/>
          <a:stretch>
            <a:fillRect/>
          </a:stretch>
        </p:blipFill>
        <p:spPr>
          <a:xfrm>
            <a:off x="4418381" y="2873045"/>
            <a:ext cx="307238" cy="307238"/>
          </a:xfrm>
          <a:prstGeom prst="rect">
            <a:avLst/>
          </a:prstGeom>
        </p:spPr>
      </p:pic>
      <p:sp>
        <p:nvSpPr>
          <p:cNvPr id="22" name="Text 15"/>
          <p:cNvSpPr txBox="1"/>
          <p:nvPr/>
        </p:nvSpPr>
        <p:spPr>
          <a:xfrm>
            <a:off x="5010912" y="2697480"/>
            <a:ext cx="2926080" cy="384048"/>
          </a:xfrm>
          <a:prstGeom prst="rect">
            <a:avLst/>
          </a:prstGeom>
          <a:noFill/>
          <a:ln/>
        </p:spPr>
        <p:txBody>
          <a:bodyPr wrap="square" lIns="0" tIns="0" rIns="0" bIns="0" rtlCol="0" anchor="t"/>
          <a:lstStyle/>
          <a:p>
            <a:pPr indent="0" marL="0">
              <a:buNone/>
            </a:pPr>
            <a:r>
              <a:rPr lang="en-US" sz="1600" b="1" dirty="0">
                <a:solidFill>
                  <a:schemeClr val="tx2"/>
                </a:solidFill>
              </a:rPr>
              <a:t>5 · Organ physiology</a:t>
            </a:r>
            <a:endParaRPr lang="en-US" sz="1600" dirty="0"/>
          </a:p>
        </p:txBody>
      </p:sp>
      <p:sp>
        <p:nvSpPr>
          <p:cNvPr id="23" name="Text 16"/>
          <p:cNvSpPr txBox="1"/>
          <p:nvPr/>
        </p:nvSpPr>
        <p:spPr>
          <a:xfrm>
            <a:off x="5010912" y="3099816"/>
            <a:ext cx="2926080" cy="457200"/>
          </a:xfrm>
          <a:prstGeom prst="rect">
            <a:avLst/>
          </a:prstGeom>
          <a:noFill/>
          <a:ln/>
        </p:spPr>
        <p:txBody>
          <a:bodyPr wrap="square" lIns="0" tIns="0" rIns="0" bIns="0" rtlCol="0" anchor="t"/>
          <a:lstStyle/>
          <a:p>
            <a:pPr indent="0" marL="0">
              <a:buNone/>
            </a:pPr>
            <a:r>
              <a:rPr lang="en-US" sz="1400" dirty="0">
                <a:solidFill>
                  <a:schemeClr val="tx1"/>
                </a:solidFill>
              </a:rPr>
              <a:t>heart, cells, glucose, lungs</a:t>
            </a:r>
            <a:endParaRPr lang="en-US" sz="1400" dirty="0"/>
          </a:p>
        </p:txBody>
      </p:sp>
      <p:sp>
        <p:nvSpPr>
          <p:cNvPr id="24" name="icon circle"/>
          <p:cNvSpPr/>
          <p:nvPr/>
        </p:nvSpPr>
        <p:spPr>
          <a:xfrm>
            <a:off x="8046720" y="2752344"/>
            <a:ext cx="548640" cy="548640"/>
          </a:xfrm>
          <a:prstGeom prst="ellipse">
            <a:avLst/>
          </a:prstGeom>
          <a:solidFill>
            <a:schemeClr val="accent2"/>
          </a:solidFill>
          <a:ln w="12700">
            <a:solidFill>
              <a:schemeClr val="accent2"/>
            </a:solidFill>
            <a:prstDash val="solid"/>
          </a:ln>
        </p:spPr>
      </p:sp>
      <p:pic>
        <p:nvPicPr>
          <p:cNvPr id="25" name="icon" descr="preencoded.png">    </p:cNvPr>
          <p:cNvPicPr>
            <a:picLocks noChangeAspect="1"/>
          </p:cNvPicPr>
          <p:nvPr/>
        </p:nvPicPr>
        <p:blipFill>
          <a:blip r:embed="rId6"/>
          <a:stretch>
            <a:fillRect/>
          </a:stretch>
        </p:blipFill>
        <p:spPr>
          <a:xfrm>
            <a:off x="8167421" y="2873045"/>
            <a:ext cx="307238" cy="307238"/>
          </a:xfrm>
          <a:prstGeom prst="rect">
            <a:avLst/>
          </a:prstGeom>
        </p:spPr>
      </p:pic>
      <p:sp>
        <p:nvSpPr>
          <p:cNvPr id="26" name="Text 18"/>
          <p:cNvSpPr txBox="1"/>
          <p:nvPr/>
        </p:nvSpPr>
        <p:spPr>
          <a:xfrm>
            <a:off x="8759952" y="2697480"/>
            <a:ext cx="2926080" cy="384048"/>
          </a:xfrm>
          <a:prstGeom prst="rect">
            <a:avLst/>
          </a:prstGeom>
          <a:noFill/>
          <a:ln/>
        </p:spPr>
        <p:txBody>
          <a:bodyPr wrap="square" lIns="0" tIns="0" rIns="0" bIns="0" rtlCol="0" anchor="t"/>
          <a:lstStyle/>
          <a:p>
            <a:pPr indent="0" marL="0">
              <a:buNone/>
            </a:pPr>
            <a:r>
              <a:rPr lang="en-US" sz="1600" b="1" dirty="0">
                <a:solidFill>
                  <a:schemeClr val="tx2"/>
                </a:solidFill>
              </a:rPr>
              <a:t>6 · Continuum physics</a:t>
            </a:r>
            <a:endParaRPr lang="en-US" sz="1600" dirty="0"/>
          </a:p>
        </p:txBody>
      </p:sp>
      <p:sp>
        <p:nvSpPr>
          <p:cNvPr id="27" name="Text 19"/>
          <p:cNvSpPr txBox="1"/>
          <p:nvPr/>
        </p:nvSpPr>
        <p:spPr>
          <a:xfrm>
            <a:off x="8759952" y="3099816"/>
            <a:ext cx="2926080" cy="457200"/>
          </a:xfrm>
          <a:prstGeom prst="rect">
            <a:avLst/>
          </a:prstGeom>
          <a:noFill/>
          <a:ln/>
        </p:spPr>
        <p:txBody>
          <a:bodyPr wrap="square" lIns="0" tIns="0" rIns="0" bIns="0" rtlCol="0" anchor="t"/>
          <a:lstStyle/>
          <a:p>
            <a:pPr indent="0" marL="0">
              <a:buNone/>
            </a:pPr>
            <a:r>
              <a:rPr lang="en-US" sz="1400" dirty="0">
                <a:solidFill>
                  <a:schemeClr val="tx1"/>
                </a:solidFill>
              </a:rPr>
              <a:t>mechanics, flow, transport, heat</a:t>
            </a:r>
            <a:endParaRPr lang="en-US" sz="1400" dirty="0"/>
          </a:p>
        </p:txBody>
      </p:sp>
      <p:sp>
        <p:nvSpPr>
          <p:cNvPr id="28" name="icon circle"/>
          <p:cNvSpPr/>
          <p:nvPr/>
        </p:nvSpPr>
        <p:spPr>
          <a:xfrm>
            <a:off x="548640" y="3849624"/>
            <a:ext cx="548640" cy="548640"/>
          </a:xfrm>
          <a:prstGeom prst="ellipse">
            <a:avLst/>
          </a:prstGeom>
          <a:solidFill>
            <a:schemeClr val="accent2"/>
          </a:solidFill>
          <a:ln w="12700">
            <a:solidFill>
              <a:schemeClr val="accent2"/>
            </a:solidFill>
            <a:prstDash val="solid"/>
          </a:ln>
        </p:spPr>
      </p:sp>
      <p:pic>
        <p:nvPicPr>
          <p:cNvPr id="29" name="icon" descr="preencoded.png">    </p:cNvPr>
          <p:cNvPicPr>
            <a:picLocks noChangeAspect="1"/>
          </p:cNvPicPr>
          <p:nvPr/>
        </p:nvPicPr>
        <p:blipFill>
          <a:blip r:embed="rId7"/>
          <a:stretch>
            <a:fillRect/>
          </a:stretch>
        </p:blipFill>
        <p:spPr>
          <a:xfrm>
            <a:off x="669341" y="3970325"/>
            <a:ext cx="307238" cy="307238"/>
          </a:xfrm>
          <a:prstGeom prst="rect">
            <a:avLst/>
          </a:prstGeom>
        </p:spPr>
      </p:pic>
      <p:sp>
        <p:nvSpPr>
          <p:cNvPr id="30" name="Text 21"/>
          <p:cNvSpPr txBox="1"/>
          <p:nvPr/>
        </p:nvSpPr>
        <p:spPr>
          <a:xfrm>
            <a:off x="1261872" y="3794760"/>
            <a:ext cx="2926080" cy="384048"/>
          </a:xfrm>
          <a:prstGeom prst="rect">
            <a:avLst/>
          </a:prstGeom>
          <a:noFill/>
          <a:ln/>
        </p:spPr>
        <p:txBody>
          <a:bodyPr wrap="square" lIns="0" tIns="0" rIns="0" bIns="0" rtlCol="0" anchor="t"/>
          <a:lstStyle/>
          <a:p>
            <a:pPr indent="0" marL="0">
              <a:buNone/>
            </a:pPr>
            <a:r>
              <a:rPr lang="en-US" sz="1600" b="1" dirty="0">
                <a:solidFill>
                  <a:schemeClr val="tx2"/>
                </a:solidFill>
              </a:rPr>
              <a:t>7 · Statistical models</a:t>
            </a:r>
            <a:endParaRPr lang="en-US" sz="1600" dirty="0"/>
          </a:p>
        </p:txBody>
      </p:sp>
      <p:sp>
        <p:nvSpPr>
          <p:cNvPr id="31" name="Text 22"/>
          <p:cNvSpPr txBox="1"/>
          <p:nvPr/>
        </p:nvSpPr>
        <p:spPr>
          <a:xfrm>
            <a:off x="1261872" y="4197096"/>
            <a:ext cx="2926080" cy="457200"/>
          </a:xfrm>
          <a:prstGeom prst="rect">
            <a:avLst/>
          </a:prstGeom>
          <a:noFill/>
          <a:ln/>
        </p:spPr>
        <p:txBody>
          <a:bodyPr wrap="square" lIns="0" tIns="0" rIns="0" bIns="0" rtlCol="0" anchor="t"/>
          <a:lstStyle/>
          <a:p>
            <a:pPr indent="0" marL="0">
              <a:buNone/>
            </a:pPr>
            <a:r>
              <a:rPr lang="en-US" sz="1400" dirty="0">
                <a:solidFill>
                  <a:schemeClr val="tx1"/>
                </a:solidFill>
              </a:rPr>
              <a:t>mixed effects, GLM, survival</a:t>
            </a:r>
            <a:endParaRPr lang="en-US" sz="1400" dirty="0"/>
          </a:p>
        </p:txBody>
      </p:sp>
      <p:sp>
        <p:nvSpPr>
          <p:cNvPr id="32" name="icon circle"/>
          <p:cNvSpPr/>
          <p:nvPr/>
        </p:nvSpPr>
        <p:spPr>
          <a:xfrm>
            <a:off x="4297680" y="3849624"/>
            <a:ext cx="548640" cy="548640"/>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8"/>
          <a:stretch>
            <a:fillRect/>
          </a:stretch>
        </p:blipFill>
        <p:spPr>
          <a:xfrm>
            <a:off x="4418381" y="3970325"/>
            <a:ext cx="307238" cy="307238"/>
          </a:xfrm>
          <a:prstGeom prst="rect">
            <a:avLst/>
          </a:prstGeom>
        </p:spPr>
      </p:pic>
      <p:sp>
        <p:nvSpPr>
          <p:cNvPr id="34" name="Text 24"/>
          <p:cNvSpPr txBox="1"/>
          <p:nvPr/>
        </p:nvSpPr>
        <p:spPr>
          <a:xfrm>
            <a:off x="5010912" y="3794760"/>
            <a:ext cx="2926080" cy="384048"/>
          </a:xfrm>
          <a:prstGeom prst="rect">
            <a:avLst/>
          </a:prstGeom>
          <a:noFill/>
          <a:ln/>
        </p:spPr>
        <p:txBody>
          <a:bodyPr wrap="square" lIns="0" tIns="0" rIns="0" bIns="0" rtlCol="0" anchor="t"/>
          <a:lstStyle/>
          <a:p>
            <a:pPr indent="0" marL="0">
              <a:buNone/>
            </a:pPr>
            <a:r>
              <a:rPr lang="en-US" sz="1600" b="1" dirty="0">
                <a:solidFill>
                  <a:schemeClr val="tx2"/>
                </a:solidFill>
              </a:rPr>
              <a:t>8 · Data assimilation</a:t>
            </a:r>
            <a:endParaRPr lang="en-US" sz="1600" dirty="0"/>
          </a:p>
        </p:txBody>
      </p:sp>
      <p:sp>
        <p:nvSpPr>
          <p:cNvPr id="35" name="Text 25"/>
          <p:cNvSpPr txBox="1"/>
          <p:nvPr/>
        </p:nvSpPr>
        <p:spPr>
          <a:xfrm>
            <a:off x="5010912" y="4197096"/>
            <a:ext cx="2926080" cy="457200"/>
          </a:xfrm>
          <a:prstGeom prst="rect">
            <a:avLst/>
          </a:prstGeom>
          <a:noFill/>
          <a:ln/>
        </p:spPr>
        <p:txBody>
          <a:bodyPr wrap="square" lIns="0" tIns="0" rIns="0" bIns="0" rtlCol="0" anchor="t"/>
          <a:lstStyle/>
          <a:p>
            <a:pPr indent="0" marL="0">
              <a:buNone/>
            </a:pPr>
            <a:r>
              <a:rPr lang="en-US" sz="1400" dirty="0">
                <a:solidFill>
                  <a:schemeClr val="tx1"/>
                </a:solidFill>
              </a:rPr>
              <a:t>Kalman, particle, variational</a:t>
            </a:r>
            <a:endParaRPr lang="en-US" sz="1400" dirty="0"/>
          </a:p>
        </p:txBody>
      </p:sp>
      <p:sp>
        <p:nvSpPr>
          <p:cNvPr id="36" name="icon circle"/>
          <p:cNvSpPr/>
          <p:nvPr/>
        </p:nvSpPr>
        <p:spPr>
          <a:xfrm>
            <a:off x="8046720" y="3849624"/>
            <a:ext cx="548640" cy="548640"/>
          </a:xfrm>
          <a:prstGeom prst="ellipse">
            <a:avLst/>
          </a:prstGeom>
          <a:solidFill>
            <a:schemeClr val="accent2"/>
          </a:solidFill>
          <a:ln w="12700">
            <a:solidFill>
              <a:schemeClr val="accent2"/>
            </a:solidFill>
            <a:prstDash val="solid"/>
          </a:ln>
        </p:spPr>
      </p:sp>
      <p:pic>
        <p:nvPicPr>
          <p:cNvPr id="37" name="icon" descr="preencoded.png">    </p:cNvPr>
          <p:cNvPicPr>
            <a:picLocks noChangeAspect="1"/>
          </p:cNvPicPr>
          <p:nvPr/>
        </p:nvPicPr>
        <p:blipFill>
          <a:blip r:embed="rId9"/>
          <a:stretch>
            <a:fillRect/>
          </a:stretch>
        </p:blipFill>
        <p:spPr>
          <a:xfrm>
            <a:off x="8167421" y="3970325"/>
            <a:ext cx="307238" cy="307238"/>
          </a:xfrm>
          <a:prstGeom prst="rect">
            <a:avLst/>
          </a:prstGeom>
        </p:spPr>
      </p:pic>
      <p:sp>
        <p:nvSpPr>
          <p:cNvPr id="38" name="Text 27"/>
          <p:cNvSpPr txBox="1"/>
          <p:nvPr/>
        </p:nvSpPr>
        <p:spPr>
          <a:xfrm>
            <a:off x="8759952" y="3794760"/>
            <a:ext cx="2926080" cy="384048"/>
          </a:xfrm>
          <a:prstGeom prst="rect">
            <a:avLst/>
          </a:prstGeom>
          <a:noFill/>
          <a:ln/>
        </p:spPr>
        <p:txBody>
          <a:bodyPr wrap="square" lIns="0" tIns="0" rIns="0" bIns="0" rtlCol="0" anchor="t"/>
          <a:lstStyle/>
          <a:p>
            <a:pPr indent="0" marL="0">
              <a:buNone/>
            </a:pPr>
            <a:r>
              <a:rPr lang="en-US" sz="1600" b="1" dirty="0">
                <a:solidFill>
                  <a:schemeClr val="tx2"/>
                </a:solidFill>
              </a:rPr>
              <a:t>9 · Uncertainty, sensitivity</a:t>
            </a:r>
            <a:endParaRPr lang="en-US" sz="1600" dirty="0"/>
          </a:p>
        </p:txBody>
      </p:sp>
      <p:sp>
        <p:nvSpPr>
          <p:cNvPr id="39" name="Text 28"/>
          <p:cNvSpPr txBox="1"/>
          <p:nvPr/>
        </p:nvSpPr>
        <p:spPr>
          <a:xfrm>
            <a:off x="8759952" y="4197096"/>
            <a:ext cx="2926080" cy="457200"/>
          </a:xfrm>
          <a:prstGeom prst="rect">
            <a:avLst/>
          </a:prstGeom>
          <a:noFill/>
          <a:ln/>
        </p:spPr>
        <p:txBody>
          <a:bodyPr wrap="square" lIns="0" tIns="0" rIns="0" bIns="0" rtlCol="0" anchor="t"/>
          <a:lstStyle/>
          <a:p>
            <a:pPr indent="0" marL="0">
              <a:buNone/>
            </a:pPr>
            <a:r>
              <a:rPr lang="en-US" sz="1400" dirty="0">
                <a:solidFill>
                  <a:schemeClr val="tx1"/>
                </a:solidFill>
              </a:rPr>
              <a:t>Monte Carlo, Sobol, chaos</a:t>
            </a:r>
            <a:endParaRPr lang="en-US" sz="1400" dirty="0"/>
          </a:p>
        </p:txBody>
      </p:sp>
      <p:sp>
        <p:nvSpPr>
          <p:cNvPr id="40" name="icon circle"/>
          <p:cNvSpPr/>
          <p:nvPr/>
        </p:nvSpPr>
        <p:spPr>
          <a:xfrm>
            <a:off x="548640" y="4946904"/>
            <a:ext cx="548640" cy="548640"/>
          </a:xfrm>
          <a:prstGeom prst="ellipse">
            <a:avLst/>
          </a:prstGeom>
          <a:solidFill>
            <a:schemeClr val="accent2"/>
          </a:solidFill>
          <a:ln w="12700">
            <a:solidFill>
              <a:schemeClr val="accent2"/>
            </a:solidFill>
            <a:prstDash val="solid"/>
          </a:ln>
        </p:spPr>
      </p:sp>
      <p:pic>
        <p:nvPicPr>
          <p:cNvPr id="41" name="icon" descr="preencoded.png">    </p:cNvPr>
          <p:cNvPicPr>
            <a:picLocks noChangeAspect="1"/>
          </p:cNvPicPr>
          <p:nvPr/>
        </p:nvPicPr>
        <p:blipFill>
          <a:blip r:embed="rId10"/>
          <a:stretch>
            <a:fillRect/>
          </a:stretch>
        </p:blipFill>
        <p:spPr>
          <a:xfrm>
            <a:off x="669341" y="5067605"/>
            <a:ext cx="307238" cy="307238"/>
          </a:xfrm>
          <a:prstGeom prst="rect">
            <a:avLst/>
          </a:prstGeom>
        </p:spPr>
      </p:pic>
      <p:sp>
        <p:nvSpPr>
          <p:cNvPr id="42" name="Text 30"/>
          <p:cNvSpPr txBox="1"/>
          <p:nvPr/>
        </p:nvSpPr>
        <p:spPr>
          <a:xfrm>
            <a:off x="1261872" y="4892040"/>
            <a:ext cx="2926080" cy="384048"/>
          </a:xfrm>
          <a:prstGeom prst="rect">
            <a:avLst/>
          </a:prstGeom>
          <a:noFill/>
          <a:ln/>
        </p:spPr>
        <p:txBody>
          <a:bodyPr wrap="square" lIns="0" tIns="0" rIns="0" bIns="0" rtlCol="0" anchor="t"/>
          <a:lstStyle/>
          <a:p>
            <a:pPr indent="0" marL="0">
              <a:buNone/>
            </a:pPr>
            <a:r>
              <a:rPr lang="en-US" sz="1600" b="1" dirty="0">
                <a:solidFill>
                  <a:schemeClr val="tx2"/>
                </a:solidFill>
              </a:rPr>
              <a:t>10 · Surrogates</a:t>
            </a:r>
            <a:endParaRPr lang="en-US" sz="1600" dirty="0"/>
          </a:p>
        </p:txBody>
      </p:sp>
      <p:sp>
        <p:nvSpPr>
          <p:cNvPr id="43" name="Text 31"/>
          <p:cNvSpPr txBox="1"/>
          <p:nvPr/>
        </p:nvSpPr>
        <p:spPr>
          <a:xfrm>
            <a:off x="1261872" y="5294376"/>
            <a:ext cx="2926080" cy="457200"/>
          </a:xfrm>
          <a:prstGeom prst="rect">
            <a:avLst/>
          </a:prstGeom>
          <a:noFill/>
          <a:ln/>
        </p:spPr>
        <p:txBody>
          <a:bodyPr wrap="square" lIns="0" tIns="0" rIns="0" bIns="0" rtlCol="0" anchor="t"/>
          <a:lstStyle/>
          <a:p>
            <a:pPr indent="0" marL="0">
              <a:buNone/>
            </a:pPr>
            <a:r>
              <a:rPr lang="en-US" sz="1400" dirty="0">
                <a:solidFill>
                  <a:schemeClr val="tx1"/>
                </a:solidFill>
              </a:rPr>
              <a:t>POD, DMD, GP, neural</a:t>
            </a:r>
            <a:endParaRPr lang="en-US" sz="1400" dirty="0"/>
          </a:p>
        </p:txBody>
      </p:sp>
      <p:sp>
        <p:nvSpPr>
          <p:cNvPr id="44" name="icon circle"/>
          <p:cNvSpPr/>
          <p:nvPr/>
        </p:nvSpPr>
        <p:spPr>
          <a:xfrm>
            <a:off x="4297680" y="4946904"/>
            <a:ext cx="548640" cy="548640"/>
          </a:xfrm>
          <a:prstGeom prst="ellipse">
            <a:avLst/>
          </a:prstGeom>
          <a:solidFill>
            <a:schemeClr val="accent2"/>
          </a:solidFill>
          <a:ln w="12700">
            <a:solidFill>
              <a:schemeClr val="accent2"/>
            </a:solidFill>
            <a:prstDash val="solid"/>
          </a:ln>
        </p:spPr>
      </p:sp>
      <p:pic>
        <p:nvPicPr>
          <p:cNvPr id="45" name="icon" descr="preencoded.png">    </p:cNvPr>
          <p:cNvPicPr>
            <a:picLocks noChangeAspect="1"/>
          </p:cNvPicPr>
          <p:nvPr/>
        </p:nvPicPr>
        <p:blipFill>
          <a:blip r:embed="rId11"/>
          <a:stretch>
            <a:fillRect/>
          </a:stretch>
        </p:blipFill>
        <p:spPr>
          <a:xfrm>
            <a:off x="4418381" y="5067605"/>
            <a:ext cx="307238" cy="307238"/>
          </a:xfrm>
          <a:prstGeom prst="rect">
            <a:avLst/>
          </a:prstGeom>
        </p:spPr>
      </p:pic>
      <p:sp>
        <p:nvSpPr>
          <p:cNvPr id="46" name="Text 33"/>
          <p:cNvSpPr txBox="1"/>
          <p:nvPr/>
        </p:nvSpPr>
        <p:spPr>
          <a:xfrm>
            <a:off x="5010912" y="4892040"/>
            <a:ext cx="2926080" cy="384048"/>
          </a:xfrm>
          <a:prstGeom prst="rect">
            <a:avLst/>
          </a:prstGeom>
          <a:noFill/>
          <a:ln/>
        </p:spPr>
        <p:txBody>
          <a:bodyPr wrap="square" lIns="0" tIns="0" rIns="0" bIns="0" rtlCol="0" anchor="t"/>
          <a:lstStyle/>
          <a:p>
            <a:pPr indent="0" marL="0">
              <a:buNone/>
            </a:pPr>
            <a:r>
              <a:rPr lang="en-US" sz="1600" b="1" dirty="0">
                <a:solidFill>
                  <a:schemeClr val="tx2"/>
                </a:solidFill>
              </a:rPr>
              <a:t>11 · Virtual populations, trials</a:t>
            </a:r>
            <a:endParaRPr lang="en-US" sz="1600" dirty="0"/>
          </a:p>
        </p:txBody>
      </p:sp>
      <p:sp>
        <p:nvSpPr>
          <p:cNvPr id="47" name="Text 34"/>
          <p:cNvSpPr txBox="1"/>
          <p:nvPr/>
        </p:nvSpPr>
        <p:spPr>
          <a:xfrm>
            <a:off x="5010912" y="5294376"/>
            <a:ext cx="2926080" cy="457200"/>
          </a:xfrm>
          <a:prstGeom prst="rect">
            <a:avLst/>
          </a:prstGeom>
          <a:noFill/>
          <a:ln/>
        </p:spPr>
        <p:txBody>
          <a:bodyPr wrap="square" lIns="0" tIns="0" rIns="0" bIns="0" rtlCol="0" anchor="t"/>
          <a:lstStyle/>
          <a:p>
            <a:pPr indent="0" marL="0">
              <a:buNone/>
            </a:pPr>
            <a:r>
              <a:rPr lang="en-US" sz="1400" dirty="0">
                <a:solidFill>
                  <a:schemeClr val="tx1"/>
                </a:solidFill>
              </a:rPr>
              <a:t>cohorts, power, adaptive design</a:t>
            </a:r>
            <a:endParaRPr lang="en-US" sz="1400" dirty="0"/>
          </a:p>
        </p:txBody>
      </p:sp>
      <p:sp>
        <p:nvSpPr>
          <p:cNvPr id="48" name="icon circle"/>
          <p:cNvSpPr/>
          <p:nvPr/>
        </p:nvSpPr>
        <p:spPr>
          <a:xfrm>
            <a:off x="8046720" y="4946904"/>
            <a:ext cx="548640" cy="548640"/>
          </a:xfrm>
          <a:prstGeom prst="ellipse">
            <a:avLst/>
          </a:prstGeom>
          <a:solidFill>
            <a:schemeClr val="accent2"/>
          </a:solidFill>
          <a:ln w="12700">
            <a:solidFill>
              <a:schemeClr val="accent2"/>
            </a:solidFill>
            <a:prstDash val="solid"/>
          </a:ln>
        </p:spPr>
      </p:sp>
      <p:pic>
        <p:nvPicPr>
          <p:cNvPr id="49" name="icon" descr="preencoded.png">    </p:cNvPr>
          <p:cNvPicPr>
            <a:picLocks noChangeAspect="1"/>
          </p:cNvPicPr>
          <p:nvPr/>
        </p:nvPicPr>
        <p:blipFill>
          <a:blip r:embed="rId12"/>
          <a:stretch>
            <a:fillRect/>
          </a:stretch>
        </p:blipFill>
        <p:spPr>
          <a:xfrm>
            <a:off x="8167421" y="5067605"/>
            <a:ext cx="307238" cy="307238"/>
          </a:xfrm>
          <a:prstGeom prst="rect">
            <a:avLst/>
          </a:prstGeom>
        </p:spPr>
      </p:pic>
      <p:sp>
        <p:nvSpPr>
          <p:cNvPr id="50" name="Text 36"/>
          <p:cNvSpPr txBox="1"/>
          <p:nvPr/>
        </p:nvSpPr>
        <p:spPr>
          <a:xfrm>
            <a:off x="8759952" y="4892040"/>
            <a:ext cx="2926080" cy="384048"/>
          </a:xfrm>
          <a:prstGeom prst="rect">
            <a:avLst/>
          </a:prstGeom>
          <a:noFill/>
          <a:ln/>
        </p:spPr>
        <p:txBody>
          <a:bodyPr wrap="square" lIns="0" tIns="0" rIns="0" bIns="0" rtlCol="0" anchor="t"/>
          <a:lstStyle/>
          <a:p>
            <a:pPr indent="0" marL="0">
              <a:buNone/>
            </a:pPr>
            <a:r>
              <a:rPr lang="en-US" sz="1600" b="1" dirty="0">
                <a:solidFill>
                  <a:schemeClr val="tx2"/>
                </a:solidFill>
              </a:rPr>
              <a:t>12 · Control and validation</a:t>
            </a:r>
            <a:endParaRPr lang="en-US" sz="1600" dirty="0"/>
          </a:p>
        </p:txBody>
      </p:sp>
      <p:sp>
        <p:nvSpPr>
          <p:cNvPr id="51" name="Text 37"/>
          <p:cNvSpPr txBox="1"/>
          <p:nvPr/>
        </p:nvSpPr>
        <p:spPr>
          <a:xfrm>
            <a:off x="8759952" y="5294376"/>
            <a:ext cx="2926080" cy="457200"/>
          </a:xfrm>
          <a:prstGeom prst="rect">
            <a:avLst/>
          </a:prstGeom>
          <a:noFill/>
          <a:ln/>
        </p:spPr>
        <p:txBody>
          <a:bodyPr wrap="square" lIns="0" tIns="0" rIns="0" bIns="0" rtlCol="0" anchor="t"/>
          <a:lstStyle/>
          <a:p>
            <a:pPr indent="0" marL="0">
              <a:buNone/>
            </a:pPr>
            <a:r>
              <a:rPr lang="en-US" sz="1400" dirty="0">
                <a:solidFill>
                  <a:schemeClr val="tx1"/>
                </a:solidFill>
              </a:rPr>
              <a:t>MPC, RL, fit, credibility</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HOW THEY FIT TOGETHER</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The digital-twin loop and the virtual trial</a:t>
            </a:r>
            <a:endParaRPr lang="en-US" sz="3600" dirty="0"/>
          </a:p>
        </p:txBody>
      </p:sp>
      <p:sp>
        <p:nvSpPr>
          <p:cNvPr id="4" name="loop Physical system"/>
          <p:cNvSpPr txBox="1"/>
          <p:nvPr/>
        </p:nvSpPr>
        <p:spPr>
          <a:xfrm>
            <a:off x="548640" y="1691640"/>
            <a:ext cx="1691640" cy="1097280"/>
          </a:xfrm>
          <a:prstGeom prst="roundRect">
            <a:avLst>
              <a:gd name="adj" fmla="val 8333"/>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Physical system</a:t>
            </a:r>
            <a:endParaRPr lang="en-US" sz="1400" dirty="0"/>
          </a:p>
          <a:p>
            <a:pPr algn="ctr" indent="0" marL="0">
              <a:buNone/>
            </a:pPr>
            <a:r>
              <a:rPr lang="en-US" sz="1200" dirty="0">
                <a:solidFill>
                  <a:schemeClr val="bg2"/>
                </a:solidFill>
              </a:rPr>
              <a:t>patient, organ, device</a:t>
            </a:r>
            <a:endParaRPr lang="en-US" sz="1400" dirty="0"/>
          </a:p>
        </p:txBody>
      </p:sp>
      <p:sp>
        <p:nvSpPr>
          <p:cNvPr id="5" name="arrow"/>
          <p:cNvSpPr/>
          <p:nvPr/>
        </p:nvSpPr>
        <p:spPr>
          <a:xfrm>
            <a:off x="2249424" y="2240280"/>
            <a:ext cx="173736" cy="0"/>
          </a:xfrm>
          <a:prstGeom prst="line">
            <a:avLst/>
          </a:prstGeom>
          <a:noFill/>
          <a:ln w="19050">
            <a:solidFill>
              <a:schemeClr val="accent6"/>
            </a:solidFill>
            <a:prstDash val="solid"/>
            <a:tailEnd type="triangle"/>
          </a:ln>
        </p:spPr>
      </p:sp>
      <p:sp>
        <p:nvSpPr>
          <p:cNvPr id="6" name="loop Data y"/>
          <p:cNvSpPr txBox="1"/>
          <p:nvPr/>
        </p:nvSpPr>
        <p:spPr>
          <a:xfrm>
            <a:off x="2432304" y="1691640"/>
            <a:ext cx="1691640" cy="1097280"/>
          </a:xfrm>
          <a:prstGeom prst="roundRect">
            <a:avLst>
              <a:gd name="adj" fmla="val 8333"/>
            </a:avLst>
          </a:prstGeom>
          <a:solidFill>
            <a:schemeClr val="tx2"/>
          </a:solidFill>
          <a:ln/>
        </p:spPr>
        <p:txBody>
          <a:bodyPr wrap="square" lIns="762" tIns="762" rIns="762" bIns="762" rtlCol="0" anchor="ctr"/>
          <a:lstStyle/>
          <a:p>
            <a:pPr algn="ctr" indent="0" marL="0">
              <a:buNone/>
            </a:pPr>
            <a:r>
              <a:rPr lang="en-US" sz="1400" b="1" dirty="0">
                <a:solidFill>
                  <a:schemeClr val="bg1"/>
                </a:solidFill>
              </a:rPr>
              <a:t>Data y</a:t>
            </a:r>
            <a:endParaRPr lang="en-US" sz="1400" dirty="0"/>
          </a:p>
          <a:p>
            <a:pPr algn="ctr" indent="0" marL="0">
              <a:buNone/>
            </a:pPr>
            <a:r>
              <a:rPr lang="en-US" sz="1200" dirty="0">
                <a:solidFill>
                  <a:schemeClr val="bg2"/>
                </a:solidFill>
              </a:rPr>
              <a:t>sensors, imaging, labs</a:t>
            </a:r>
            <a:endParaRPr lang="en-US" sz="1400" dirty="0"/>
          </a:p>
        </p:txBody>
      </p:sp>
      <p:sp>
        <p:nvSpPr>
          <p:cNvPr id="7" name="arrow"/>
          <p:cNvSpPr/>
          <p:nvPr/>
        </p:nvSpPr>
        <p:spPr>
          <a:xfrm>
            <a:off x="4133088" y="2240280"/>
            <a:ext cx="173736" cy="0"/>
          </a:xfrm>
          <a:prstGeom prst="line">
            <a:avLst/>
          </a:prstGeom>
          <a:noFill/>
          <a:ln w="19050">
            <a:solidFill>
              <a:schemeClr val="accent6"/>
            </a:solidFill>
            <a:prstDash val="solid"/>
            <a:tailEnd type="triangle"/>
          </a:ln>
        </p:spPr>
      </p:sp>
      <p:sp>
        <p:nvSpPr>
          <p:cNvPr id="8" name="loop Assimilation"/>
          <p:cNvSpPr txBox="1"/>
          <p:nvPr/>
        </p:nvSpPr>
        <p:spPr>
          <a:xfrm>
            <a:off x="4315968" y="1691640"/>
            <a:ext cx="1691640" cy="1097280"/>
          </a:xfrm>
          <a:prstGeom prst="roundRect">
            <a:avLst>
              <a:gd name="adj" fmla="val 8333"/>
            </a:avLst>
          </a:prstGeom>
          <a:solidFill>
            <a:schemeClr val="tx2"/>
          </a:solidFill>
          <a:ln/>
        </p:spPr>
        <p:txBody>
          <a:bodyPr wrap="square" lIns="762" tIns="762" rIns="762" bIns="762" rtlCol="0" anchor="ctr"/>
          <a:lstStyle/>
          <a:p>
            <a:pPr algn="ctr" indent="0" marL="0">
              <a:buNone/>
            </a:pPr>
            <a:r>
              <a:rPr lang="en-US" sz="1400" b="1" dirty="0">
                <a:solidFill>
                  <a:schemeClr val="bg1"/>
                </a:solidFill>
              </a:rPr>
              <a:t>Assimilation</a:t>
            </a:r>
            <a:endParaRPr lang="en-US" sz="1400" dirty="0"/>
          </a:p>
          <a:p>
            <a:pPr algn="ctr" indent="0" marL="0">
              <a:buNone/>
            </a:pPr>
            <a:r>
              <a:rPr lang="en-US" sz="1200" dirty="0">
                <a:solidFill>
                  <a:schemeClr val="bg2"/>
                </a:solidFill>
              </a:rPr>
              <a:t>θ, x ← y (Family 8)</a:t>
            </a:r>
            <a:endParaRPr lang="en-US" sz="1400" dirty="0"/>
          </a:p>
        </p:txBody>
      </p:sp>
      <p:sp>
        <p:nvSpPr>
          <p:cNvPr id="9" name="arrow"/>
          <p:cNvSpPr/>
          <p:nvPr/>
        </p:nvSpPr>
        <p:spPr>
          <a:xfrm>
            <a:off x="6016752" y="2240280"/>
            <a:ext cx="173736" cy="0"/>
          </a:xfrm>
          <a:prstGeom prst="line">
            <a:avLst/>
          </a:prstGeom>
          <a:noFill/>
          <a:ln w="19050">
            <a:solidFill>
              <a:schemeClr val="accent6"/>
            </a:solidFill>
            <a:prstDash val="solid"/>
            <a:tailEnd type="triangle"/>
          </a:ln>
        </p:spPr>
      </p:sp>
      <p:sp>
        <p:nvSpPr>
          <p:cNvPr id="10" name="loop Virtual model"/>
          <p:cNvSpPr txBox="1"/>
          <p:nvPr/>
        </p:nvSpPr>
        <p:spPr>
          <a:xfrm>
            <a:off x="6199632" y="1691640"/>
            <a:ext cx="1691640" cy="1097280"/>
          </a:xfrm>
          <a:prstGeom prst="roundRect">
            <a:avLst>
              <a:gd name="adj" fmla="val 8333"/>
            </a:avLst>
          </a:prstGeom>
          <a:solidFill>
            <a:schemeClr val="tx2"/>
          </a:solidFill>
          <a:ln/>
        </p:spPr>
        <p:txBody>
          <a:bodyPr wrap="square" lIns="762" tIns="762" rIns="762" bIns="762" rtlCol="0" anchor="ctr"/>
          <a:lstStyle/>
          <a:p>
            <a:pPr algn="ctr" indent="0" marL="0">
              <a:buNone/>
            </a:pPr>
            <a:r>
              <a:rPr lang="en-US" sz="1400" b="1" dirty="0">
                <a:solidFill>
                  <a:schemeClr val="bg1"/>
                </a:solidFill>
              </a:rPr>
              <a:t>Virtual model</a:t>
            </a:r>
            <a:endParaRPr lang="en-US" sz="1400" dirty="0"/>
          </a:p>
          <a:p>
            <a:pPr algn="ctr" indent="0" marL="0">
              <a:buNone/>
            </a:pPr>
            <a:r>
              <a:rPr lang="en-US" sz="1200" dirty="0">
                <a:solidFill>
                  <a:schemeClr val="bg2"/>
                </a:solidFill>
              </a:rPr>
              <a:t>x′ = f(x, u, θ) (1–7)</a:t>
            </a:r>
            <a:endParaRPr lang="en-US" sz="1400" dirty="0"/>
          </a:p>
        </p:txBody>
      </p:sp>
      <p:sp>
        <p:nvSpPr>
          <p:cNvPr id="11" name="arrow"/>
          <p:cNvSpPr/>
          <p:nvPr/>
        </p:nvSpPr>
        <p:spPr>
          <a:xfrm>
            <a:off x="7900416" y="2240280"/>
            <a:ext cx="173736" cy="0"/>
          </a:xfrm>
          <a:prstGeom prst="line">
            <a:avLst/>
          </a:prstGeom>
          <a:noFill/>
          <a:ln w="19050">
            <a:solidFill>
              <a:schemeClr val="accent6"/>
            </a:solidFill>
            <a:prstDash val="solid"/>
            <a:tailEnd type="triangle"/>
          </a:ln>
        </p:spPr>
      </p:sp>
      <p:sp>
        <p:nvSpPr>
          <p:cNvPr id="12" name="loop Prediction"/>
          <p:cNvSpPr txBox="1"/>
          <p:nvPr/>
        </p:nvSpPr>
        <p:spPr>
          <a:xfrm>
            <a:off x="8083296" y="1691640"/>
            <a:ext cx="1691640" cy="1097280"/>
          </a:xfrm>
          <a:prstGeom prst="roundRect">
            <a:avLst>
              <a:gd name="adj" fmla="val 8333"/>
            </a:avLst>
          </a:prstGeom>
          <a:solidFill>
            <a:schemeClr val="tx2"/>
          </a:solidFill>
          <a:ln/>
        </p:spPr>
        <p:txBody>
          <a:bodyPr wrap="square" lIns="762" tIns="762" rIns="762" bIns="762" rtlCol="0" anchor="ctr"/>
          <a:lstStyle/>
          <a:p>
            <a:pPr algn="ctr" indent="0" marL="0">
              <a:buNone/>
            </a:pPr>
            <a:r>
              <a:rPr lang="en-US" sz="1400" b="1" dirty="0">
                <a:solidFill>
                  <a:schemeClr val="bg1"/>
                </a:solidFill>
              </a:rPr>
              <a:t>Prediction</a:t>
            </a:r>
            <a:endParaRPr lang="en-US" sz="1400" dirty="0"/>
          </a:p>
          <a:p>
            <a:pPr algn="ctr" indent="0" marL="0">
              <a:buNone/>
            </a:pPr>
            <a:r>
              <a:rPr lang="en-US" sz="1200" dirty="0">
                <a:solidFill>
                  <a:schemeClr val="bg2"/>
                </a:solidFill>
              </a:rPr>
              <a:t>what-if, with UQ (9–10)</a:t>
            </a:r>
            <a:endParaRPr lang="en-US" sz="1400" dirty="0"/>
          </a:p>
        </p:txBody>
      </p:sp>
      <p:sp>
        <p:nvSpPr>
          <p:cNvPr id="13" name="arrow"/>
          <p:cNvSpPr/>
          <p:nvPr/>
        </p:nvSpPr>
        <p:spPr>
          <a:xfrm>
            <a:off x="9784080" y="2240280"/>
            <a:ext cx="173736" cy="0"/>
          </a:xfrm>
          <a:prstGeom prst="line">
            <a:avLst/>
          </a:prstGeom>
          <a:noFill/>
          <a:ln w="19050">
            <a:solidFill>
              <a:schemeClr val="accent6"/>
            </a:solidFill>
            <a:prstDash val="solid"/>
            <a:tailEnd type="triangle"/>
          </a:ln>
        </p:spPr>
      </p:sp>
      <p:sp>
        <p:nvSpPr>
          <p:cNvPr id="14" name="loop Decision u"/>
          <p:cNvSpPr txBox="1"/>
          <p:nvPr/>
        </p:nvSpPr>
        <p:spPr>
          <a:xfrm>
            <a:off x="9966960" y="1691640"/>
            <a:ext cx="1691640" cy="1097280"/>
          </a:xfrm>
          <a:prstGeom prst="roundRect">
            <a:avLst>
              <a:gd name="adj" fmla="val 8333"/>
            </a:avLst>
          </a:prstGeom>
          <a:solidFill>
            <a:schemeClr val="tx2"/>
          </a:solidFill>
          <a:ln/>
        </p:spPr>
        <p:txBody>
          <a:bodyPr wrap="square" lIns="762" tIns="762" rIns="762" bIns="762" rtlCol="0" anchor="ctr"/>
          <a:lstStyle/>
          <a:p>
            <a:pPr algn="ctr" indent="0" marL="0">
              <a:buNone/>
            </a:pPr>
            <a:r>
              <a:rPr lang="en-US" sz="1400" b="1" dirty="0">
                <a:solidFill>
                  <a:schemeClr val="bg1"/>
                </a:solidFill>
              </a:rPr>
              <a:t>Decision u</a:t>
            </a:r>
            <a:endParaRPr lang="en-US" sz="1400" dirty="0"/>
          </a:p>
          <a:p>
            <a:pPr algn="ctr" indent="0" marL="0">
              <a:buNone/>
            </a:pPr>
            <a:r>
              <a:rPr lang="en-US" sz="1200" dirty="0">
                <a:solidFill>
                  <a:schemeClr val="bg2"/>
                </a:solidFill>
              </a:rPr>
              <a:t>control (12)</a:t>
            </a:r>
            <a:endParaRPr lang="en-US" sz="1400" dirty="0"/>
          </a:p>
        </p:txBody>
      </p:sp>
      <p:sp>
        <p:nvSpPr>
          <p:cNvPr id="15" name="loop down"/>
          <p:cNvSpPr/>
          <p:nvPr/>
        </p:nvSpPr>
        <p:spPr>
          <a:xfrm>
            <a:off x="10817352" y="2807208"/>
            <a:ext cx="0" cy="365760"/>
          </a:xfrm>
          <a:prstGeom prst="line">
            <a:avLst/>
          </a:prstGeom>
          <a:noFill/>
          <a:ln w="25400">
            <a:solidFill>
              <a:schemeClr val="accent1"/>
            </a:solidFill>
            <a:prstDash val="solid"/>
          </a:ln>
        </p:spPr>
      </p:sp>
      <p:sp>
        <p:nvSpPr>
          <p:cNvPr id="16" name="loop across"/>
          <p:cNvSpPr/>
          <p:nvPr/>
        </p:nvSpPr>
        <p:spPr>
          <a:xfrm>
            <a:off x="1389888" y="3172968"/>
            <a:ext cx="9427464" cy="0"/>
          </a:xfrm>
          <a:prstGeom prst="line">
            <a:avLst/>
          </a:prstGeom>
          <a:noFill/>
          <a:ln w="25400">
            <a:solidFill>
              <a:schemeClr val="accent1"/>
            </a:solidFill>
            <a:prstDash val="solid"/>
          </a:ln>
        </p:spPr>
      </p:sp>
      <p:sp>
        <p:nvSpPr>
          <p:cNvPr id="17" name="loop up"/>
          <p:cNvSpPr/>
          <p:nvPr/>
        </p:nvSpPr>
        <p:spPr>
          <a:xfrm>
            <a:off x="1389888" y="2807208"/>
            <a:ext cx="0" cy="365760"/>
          </a:xfrm>
          <a:prstGeom prst="line">
            <a:avLst/>
          </a:prstGeom>
          <a:noFill/>
          <a:ln w="25400">
            <a:solidFill>
              <a:schemeClr val="accent1"/>
            </a:solidFill>
            <a:prstDash val="solid"/>
            <a:headEnd type="triangle"/>
          </a:ln>
        </p:spPr>
      </p:sp>
      <p:sp>
        <p:nvSpPr>
          <p:cNvPr id="18" name="Text 16"/>
          <p:cNvSpPr txBox="1"/>
          <p:nvPr/>
        </p:nvSpPr>
        <p:spPr>
          <a:xfrm>
            <a:off x="1554480" y="3246120"/>
            <a:ext cx="9144000" cy="320040"/>
          </a:xfrm>
          <a:prstGeom prst="rect">
            <a:avLst/>
          </a:prstGeom>
          <a:noFill/>
          <a:ln/>
        </p:spPr>
        <p:txBody>
          <a:bodyPr wrap="square" lIns="0" tIns="0" rIns="0" bIns="0" rtlCol="0" anchor="ctr"/>
          <a:lstStyle/>
          <a:p>
            <a:pPr algn="ctr" indent="0" marL="0">
              <a:buNone/>
            </a:pPr>
            <a:r>
              <a:rPr lang="en-US" sz="1400" i="1" dirty="0">
                <a:solidFill>
                  <a:schemeClr val="tx1"/>
                </a:solidFill>
              </a:rPr>
              <a:t>Bidirectional link: the twin is re-synchronised with every new measurement, and its decisions act on the real system</a:t>
            </a:r>
            <a:endParaRPr lang="en-US" sz="1400" dirty="0"/>
          </a:p>
        </p:txBody>
      </p:sp>
      <p:sp>
        <p:nvSpPr>
          <p:cNvPr id="19" name="card Digital twin"/>
          <p:cNvSpPr/>
          <p:nvPr/>
        </p:nvSpPr>
        <p:spPr>
          <a:xfrm>
            <a:off x="548640" y="3886200"/>
            <a:ext cx="3520440" cy="2194560"/>
          </a:xfrm>
          <a:prstGeom prst="roundRect">
            <a:avLst>
              <a:gd name="adj" fmla="val 3333"/>
            </a:avLst>
          </a:prstGeom>
          <a:solidFill>
            <a:schemeClr val="bg2"/>
          </a:solidFill>
          <a:ln w="12700">
            <a:solidFill>
              <a:schemeClr val="bg2"/>
            </a:solidFill>
            <a:prstDash val="solid"/>
          </a:ln>
        </p:spPr>
      </p:sp>
      <p:sp>
        <p:nvSpPr>
          <p:cNvPr id="20" name="icon circle"/>
          <p:cNvSpPr/>
          <p:nvPr/>
        </p:nvSpPr>
        <p:spPr>
          <a:xfrm>
            <a:off x="749808" y="4069080"/>
            <a:ext cx="502920" cy="502920"/>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1"/>
          <a:stretch>
            <a:fillRect/>
          </a:stretch>
        </p:blipFill>
        <p:spPr>
          <a:xfrm>
            <a:off x="860450" y="4179722"/>
            <a:ext cx="281635" cy="281635"/>
          </a:xfrm>
          <a:prstGeom prst="rect">
            <a:avLst/>
          </a:prstGeom>
        </p:spPr>
      </p:pic>
      <p:sp>
        <p:nvSpPr>
          <p:cNvPr id="22" name="Text 19"/>
          <p:cNvSpPr txBox="1"/>
          <p:nvPr/>
        </p:nvSpPr>
        <p:spPr>
          <a:xfrm>
            <a:off x="1371600" y="411480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Digital twin</a:t>
            </a:r>
            <a:endParaRPr lang="en-US" sz="1700" dirty="0"/>
          </a:p>
        </p:txBody>
      </p:sp>
      <p:sp>
        <p:nvSpPr>
          <p:cNvPr id="23" name="Text 20"/>
          <p:cNvSpPr txBox="1"/>
          <p:nvPr/>
        </p:nvSpPr>
        <p:spPr>
          <a:xfrm>
            <a:off x="749808" y="4709160"/>
            <a:ext cx="3154680" cy="1234440"/>
          </a:xfrm>
          <a:prstGeom prst="rect">
            <a:avLst/>
          </a:prstGeom>
          <a:noFill/>
          <a:ln/>
        </p:spPr>
        <p:txBody>
          <a:bodyPr wrap="square" lIns="0" tIns="0" rIns="0" bIns="0" rtlCol="0" anchor="t"/>
          <a:lstStyle/>
          <a:p>
            <a:pPr indent="0" marL="0">
              <a:buNone/>
            </a:pPr>
            <a:r>
              <a:rPr lang="en-US" sz="1400" dirty="0">
                <a:solidFill>
                  <a:schemeClr val="tx1"/>
                </a:solidFill>
              </a:rPr>
              <a:t>One individual. Model + data assimilation + prediction + decision, updated over time.</a:t>
            </a:r>
            <a:endParaRPr lang="en-US" sz="1400" dirty="0"/>
          </a:p>
        </p:txBody>
      </p:sp>
      <p:sp>
        <p:nvSpPr>
          <p:cNvPr id="24" name="card Virtual cohort"/>
          <p:cNvSpPr/>
          <p:nvPr/>
        </p:nvSpPr>
        <p:spPr>
          <a:xfrm>
            <a:off x="4297680" y="3886200"/>
            <a:ext cx="3520440" cy="2194560"/>
          </a:xfrm>
          <a:prstGeom prst="roundRect">
            <a:avLst>
              <a:gd name="adj" fmla="val 3333"/>
            </a:avLst>
          </a:prstGeom>
          <a:solidFill>
            <a:schemeClr val="bg2"/>
          </a:solidFill>
          <a:ln w="12700">
            <a:solidFill>
              <a:schemeClr val="bg2"/>
            </a:solidFill>
            <a:prstDash val="solid"/>
          </a:ln>
        </p:spPr>
      </p:sp>
      <p:sp>
        <p:nvSpPr>
          <p:cNvPr id="25" name="icon circle"/>
          <p:cNvSpPr/>
          <p:nvPr/>
        </p:nvSpPr>
        <p:spPr>
          <a:xfrm>
            <a:off x="4498848" y="4069080"/>
            <a:ext cx="502920" cy="502920"/>
          </a:xfrm>
          <a:prstGeom prst="ellipse">
            <a:avLst/>
          </a:prstGeom>
          <a:solidFill>
            <a:schemeClr val="accent2"/>
          </a:solidFill>
          <a:ln w="12700">
            <a:solidFill>
              <a:schemeClr val="accent2"/>
            </a:solidFill>
            <a:prstDash val="solid"/>
          </a:ln>
        </p:spPr>
      </p:sp>
      <p:pic>
        <p:nvPicPr>
          <p:cNvPr id="26" name="icon" descr="preencoded.png">    </p:cNvPr>
          <p:cNvPicPr>
            <a:picLocks noChangeAspect="1"/>
          </p:cNvPicPr>
          <p:nvPr/>
        </p:nvPicPr>
        <p:blipFill>
          <a:blip r:embed="rId2"/>
          <a:stretch>
            <a:fillRect/>
          </a:stretch>
        </p:blipFill>
        <p:spPr>
          <a:xfrm>
            <a:off x="4609490" y="4179722"/>
            <a:ext cx="281635" cy="281635"/>
          </a:xfrm>
          <a:prstGeom prst="rect">
            <a:avLst/>
          </a:prstGeom>
        </p:spPr>
      </p:pic>
      <p:sp>
        <p:nvSpPr>
          <p:cNvPr id="27" name="Text 23"/>
          <p:cNvSpPr txBox="1"/>
          <p:nvPr/>
        </p:nvSpPr>
        <p:spPr>
          <a:xfrm>
            <a:off x="5120640" y="411480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Virtual cohort</a:t>
            </a:r>
            <a:endParaRPr lang="en-US" sz="1700" dirty="0"/>
          </a:p>
        </p:txBody>
      </p:sp>
      <p:sp>
        <p:nvSpPr>
          <p:cNvPr id="28" name="Text 24"/>
          <p:cNvSpPr txBox="1"/>
          <p:nvPr/>
        </p:nvSpPr>
        <p:spPr>
          <a:xfrm>
            <a:off x="4498848" y="4709160"/>
            <a:ext cx="3154680" cy="1234440"/>
          </a:xfrm>
          <a:prstGeom prst="rect">
            <a:avLst/>
          </a:prstGeom>
          <a:noFill/>
          <a:ln/>
        </p:spPr>
        <p:txBody>
          <a:bodyPr wrap="square" lIns="0" tIns="0" rIns="0" bIns="0" rtlCol="0" anchor="t"/>
          <a:lstStyle/>
          <a:p>
            <a:pPr indent="0" marL="0">
              <a:buNone/>
            </a:pPr>
            <a:r>
              <a:rPr lang="en-US" sz="1400" dirty="0">
                <a:solidFill>
                  <a:schemeClr val="tx1"/>
                </a:solidFill>
              </a:rPr>
              <a:t>Many twins sampled from population models (Families 7, 11): realistic, diverse, plausible.</a:t>
            </a:r>
            <a:endParaRPr lang="en-US" sz="1400" dirty="0"/>
          </a:p>
        </p:txBody>
      </p:sp>
      <p:sp>
        <p:nvSpPr>
          <p:cNvPr id="29" name="card Virtual trial"/>
          <p:cNvSpPr/>
          <p:nvPr/>
        </p:nvSpPr>
        <p:spPr>
          <a:xfrm>
            <a:off x="8046720" y="3886200"/>
            <a:ext cx="3520440" cy="2194560"/>
          </a:xfrm>
          <a:prstGeom prst="roundRect">
            <a:avLst>
              <a:gd name="adj" fmla="val 3333"/>
            </a:avLst>
          </a:prstGeom>
          <a:solidFill>
            <a:schemeClr val="bg2"/>
          </a:solidFill>
          <a:ln w="12700">
            <a:solidFill>
              <a:schemeClr val="bg2"/>
            </a:solidFill>
            <a:prstDash val="solid"/>
          </a:ln>
        </p:spPr>
      </p:sp>
      <p:sp>
        <p:nvSpPr>
          <p:cNvPr id="30" name="icon circle"/>
          <p:cNvSpPr/>
          <p:nvPr/>
        </p:nvSpPr>
        <p:spPr>
          <a:xfrm>
            <a:off x="8247888" y="4069080"/>
            <a:ext cx="502920" cy="502920"/>
          </a:xfrm>
          <a:prstGeom prst="ellipse">
            <a:avLst/>
          </a:prstGeom>
          <a:solidFill>
            <a:schemeClr val="accent2"/>
          </a:solidFill>
          <a:ln w="12700">
            <a:solidFill>
              <a:schemeClr val="accent2"/>
            </a:solidFill>
            <a:prstDash val="solid"/>
          </a:ln>
        </p:spPr>
      </p:sp>
      <p:pic>
        <p:nvPicPr>
          <p:cNvPr id="31" name="icon" descr="preencoded.png">    </p:cNvPr>
          <p:cNvPicPr>
            <a:picLocks noChangeAspect="1"/>
          </p:cNvPicPr>
          <p:nvPr/>
        </p:nvPicPr>
        <p:blipFill>
          <a:blip r:embed="rId3"/>
          <a:stretch>
            <a:fillRect/>
          </a:stretch>
        </p:blipFill>
        <p:spPr>
          <a:xfrm>
            <a:off x="8358530" y="4179722"/>
            <a:ext cx="281635" cy="281635"/>
          </a:xfrm>
          <a:prstGeom prst="rect">
            <a:avLst/>
          </a:prstGeom>
        </p:spPr>
      </p:pic>
      <p:sp>
        <p:nvSpPr>
          <p:cNvPr id="32" name="Text 27"/>
          <p:cNvSpPr txBox="1"/>
          <p:nvPr/>
        </p:nvSpPr>
        <p:spPr>
          <a:xfrm>
            <a:off x="8869680" y="411480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Virtual trial</a:t>
            </a:r>
            <a:endParaRPr lang="en-US" sz="1700" dirty="0"/>
          </a:p>
        </p:txBody>
      </p:sp>
      <p:sp>
        <p:nvSpPr>
          <p:cNvPr id="33" name="Text 28"/>
          <p:cNvSpPr txBox="1"/>
          <p:nvPr/>
        </p:nvSpPr>
        <p:spPr>
          <a:xfrm>
            <a:off x="8247888" y="4709160"/>
            <a:ext cx="3154680" cy="1234440"/>
          </a:xfrm>
          <a:prstGeom prst="rect">
            <a:avLst/>
          </a:prstGeom>
          <a:noFill/>
          <a:ln/>
        </p:spPr>
        <p:txBody>
          <a:bodyPr wrap="square" lIns="0" tIns="0" rIns="0" bIns="0" rtlCol="0" anchor="t"/>
          <a:lstStyle/>
          <a:p>
            <a:pPr indent="0" marL="0">
              <a:buNone/>
            </a:pPr>
            <a:r>
              <a:rPr lang="en-US" sz="1400" dirty="0">
                <a:solidFill>
                  <a:schemeClr val="tx1"/>
                </a:solidFill>
              </a:rPr>
              <a:t>Every arm applied to every virtual subject; endpoints analysed with trial statistics.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Models of how the system behaves</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Families 1–6: dynamical formalism, pharmacology, disease, organ physiology and continuum physics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 · DIGITAL-TWIN FORMALISM</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Every twin is a state-space model</a:t>
            </a:r>
            <a:endParaRPr lang="en-US" sz="3600" dirty="0"/>
          </a:p>
        </p:txBody>
      </p:sp>
      <p:sp>
        <p:nvSpPr>
          <p:cNvPr id="4" name="card Discrete state-space model"/>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Discrete state-space model"/>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Discrete state-space model</a:t>
            </a:r>
            <a:endParaRPr lang="en-US" sz="1600" dirty="0"/>
          </a:p>
        </p:txBody>
      </p:sp>
      <p:sp>
        <p:nvSpPr>
          <p:cNvPr id="6" name="equation Discrete state-space model"/>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xₖ₊₁ = f(xₖ, uₖ, θ) + wₖ</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yₖ = h(xₖ) + vₖ</a:t>
            </a:r>
            <a:endParaRPr lang="en-US" sz="1600" dirty="0"/>
          </a:p>
        </p:txBody>
      </p:sp>
      <p:sp>
        <p:nvSpPr>
          <p:cNvPr id="7" name="desc Discrete state-space model"/>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State x, control u, parameters θ, observations y; process noise w, measurement noise v. The general DT definition.</a:t>
            </a:r>
            <a:endParaRPr lang="en-US" sz="1400" dirty="0"/>
          </a:p>
        </p:txBody>
      </p:sp>
      <p:sp>
        <p:nvSpPr>
          <p:cNvPr id="8" name="card Ordinary differential equations"/>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Ordinary differential equations"/>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Ordinary differential equations</a:t>
            </a:r>
            <a:endParaRPr lang="en-US" sz="1600" dirty="0"/>
          </a:p>
        </p:txBody>
      </p:sp>
      <p:sp>
        <p:nvSpPr>
          <p:cNvPr id="10" name="equation Ordinary differential equations"/>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dx/dt = f(x(t), u(t), θ, t),   x(0) = x₀</a:t>
            </a:r>
            <a:endParaRPr lang="en-US" sz="1600" dirty="0"/>
          </a:p>
        </p:txBody>
      </p:sp>
      <p:sp>
        <p:nvSpPr>
          <p:cNvPr id="11" name="desc Ordinary differential equations"/>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Well-mixed systems: compartments, kinetics, organ function. Solved with Runge–Kutta or stiff (BDF) solvers.</a:t>
            </a:r>
            <a:endParaRPr lang="en-US" sz="1400" dirty="0"/>
          </a:p>
        </p:txBody>
      </p:sp>
      <p:sp>
        <p:nvSpPr>
          <p:cNvPr id="12" name="card Stochastic differential equation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Stochastic differential equation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Stochastic differential equations</a:t>
            </a:r>
            <a:endParaRPr lang="en-US" sz="1600" dirty="0"/>
          </a:p>
        </p:txBody>
      </p:sp>
      <p:sp>
        <p:nvSpPr>
          <p:cNvPr id="14" name="equation Stochastic differential equations"/>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dXₜ = f(Xₜ, θ) dt + g(Xₜ, θ) dWₜ</a:t>
            </a:r>
            <a:endParaRPr lang="en-US" sz="1600" dirty="0"/>
          </a:p>
        </p:txBody>
      </p:sp>
      <p:sp>
        <p:nvSpPr>
          <p:cNvPr id="15" name="desc Stochastic differential equations"/>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Adds intrinsic noise via Brownian motion W. Use when variability within an individual matters (e.g. cell counts, glucose).</a:t>
            </a:r>
            <a:endParaRPr lang="en-US" sz="1400" dirty="0"/>
          </a:p>
        </p:txBody>
      </p:sp>
      <p:sp>
        <p:nvSpPr>
          <p:cNvPr id="16" name="card Partial differential equation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Partial differential equation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Partial differential equations</a:t>
            </a:r>
            <a:endParaRPr lang="en-US" sz="1600" dirty="0"/>
          </a:p>
        </p:txBody>
      </p:sp>
      <p:sp>
        <p:nvSpPr>
          <p:cNvPr id="18" name="equation Partial differential equations"/>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∂u/∂t = L(u; θ) + s(x, t)  in Ω,  + boundary conditions</a:t>
            </a:r>
            <a:endParaRPr lang="en-US" sz="1500" dirty="0"/>
          </a:p>
        </p:txBody>
      </p:sp>
      <p:sp>
        <p:nvSpPr>
          <p:cNvPr id="19" name="desc Partial differential equations"/>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Spatially resolved systems: tissue, flow, transport. Solved with finite elements, volumes or differences.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 · DISCRETE AND RULE-BASED MODELS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When states are discrete or agents interact</a:t>
            </a:r>
            <a:endParaRPr lang="en-US" sz="3600" dirty="0"/>
          </a:p>
        </p:txBody>
      </p:sp>
      <p:sp>
        <p:nvSpPr>
          <p:cNvPr id="4" name="card Markov chai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Markov chai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Markov chain</a:t>
            </a:r>
            <a:endParaRPr lang="en-US" sz="1600" dirty="0"/>
          </a:p>
        </p:txBody>
      </p:sp>
      <p:sp>
        <p:nvSpPr>
          <p:cNvPr id="6" name="equation Markov chai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π(t + 1) = π(t) P,   Σⱼ Pᵢⱼ = 1</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continuous time: dπ/dt = π Q</a:t>
            </a:r>
            <a:endParaRPr lang="en-US" sz="1600" dirty="0"/>
          </a:p>
        </p:txBody>
      </p:sp>
      <p:sp>
        <p:nvSpPr>
          <p:cNvPr id="7" name="desc Markov chain"/>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Health states and transition probabilities. Basis of disease-progression and cost-effectiveness models.</a:t>
            </a:r>
            <a:endParaRPr lang="en-US" sz="1400" dirty="0"/>
          </a:p>
        </p:txBody>
      </p:sp>
      <p:sp>
        <p:nvSpPr>
          <p:cNvPr id="8" name="card Hidden Markov model"/>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Hidden Markov model"/>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Hidden Markov model</a:t>
            </a:r>
            <a:endParaRPr lang="en-US" sz="1600" dirty="0"/>
          </a:p>
        </p:txBody>
      </p:sp>
      <p:sp>
        <p:nvSpPr>
          <p:cNvPr id="10" name="equation Hidden Markov model"/>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p(y₁:T) = Σ_z p(z₁) Πₜ p(zₜ | zₜ₋₁) p(yₜ | zₜ)</a:t>
            </a:r>
            <a:endParaRPr lang="en-US" sz="1500" dirty="0"/>
          </a:p>
        </p:txBody>
      </p:sp>
      <p:sp>
        <p:nvSpPr>
          <p:cNvPr id="11" name="desc Hidden Markov model"/>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Unobserved disease stage z inferred from noisy observations y (forward–backward, Viterbi).</a:t>
            </a:r>
            <a:endParaRPr lang="en-US" sz="1400" dirty="0"/>
          </a:p>
        </p:txBody>
      </p:sp>
      <p:sp>
        <p:nvSpPr>
          <p:cNvPr id="12" name="card Agent-based model"/>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Agent-based model"/>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Agent-based model</a:t>
            </a:r>
            <a:endParaRPr lang="en-US" sz="1600" dirty="0"/>
          </a:p>
        </p:txBody>
      </p:sp>
      <p:sp>
        <p:nvSpPr>
          <p:cNvPr id="14" name="equation Agent-based model"/>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aᵢ(t + Δt) = R(aᵢ(t), neighbours, environment)</a:t>
            </a:r>
            <a:endParaRPr lang="en-US" sz="1500" dirty="0"/>
          </a:p>
        </p:txBody>
      </p:sp>
      <p:sp>
        <p:nvSpPr>
          <p:cNvPr id="15" name="desc Agent-based model"/>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Individual cells, patients or devices follow rules; population behaviour emerges. Calibrate on summary statistics.</a:t>
            </a:r>
            <a:endParaRPr lang="en-US" sz="1400" dirty="0"/>
          </a:p>
        </p:txBody>
      </p:sp>
      <p:sp>
        <p:nvSpPr>
          <p:cNvPr id="16" name="card Cellular automata and hybrid system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Cellular automata and hybrid system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Cellular automata and hybrid systems</a:t>
            </a:r>
            <a:endParaRPr lang="en-US" sz="1600" dirty="0"/>
          </a:p>
        </p:txBody>
      </p:sp>
      <p:sp>
        <p:nvSpPr>
          <p:cNvPr id="18" name="equation Cellular automata and hybrid systems"/>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sᵢⱼ(t + 1) = F(neighbourhood of sᵢⱼ(t))</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hybrid: dx/dt = f_q(x), q switches on events</a:t>
            </a:r>
            <a:endParaRPr lang="en-US" sz="1500" dirty="0"/>
          </a:p>
        </p:txBody>
      </p:sp>
      <p:sp>
        <p:nvSpPr>
          <p:cNvPr id="19" name="desc Cellular automata and hybrid systems"/>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Lattice rules for tissue; hybrid models mix continuous flow with discrete events (e.g. dosing).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2 · PHARMACOKINETICS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What the body does to a drug</a:t>
            </a:r>
            <a:endParaRPr lang="en-US" sz="3600" dirty="0"/>
          </a:p>
        </p:txBody>
      </p:sp>
      <p:sp>
        <p:nvSpPr>
          <p:cNvPr id="4" name="card One compartment, IV bolu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One compartment, IV bolu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One compartment, IV bolus</a:t>
            </a:r>
            <a:endParaRPr lang="en-US" sz="1600" dirty="0"/>
          </a:p>
        </p:txBody>
      </p:sp>
      <p:sp>
        <p:nvSpPr>
          <p:cNvPr id="6" name="equation One compartment, IV bolu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C(t) = (Dose / V) · e^(−k t),   k = CL / V</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t½ = ln2 / k,   AUC = Dose / CL</a:t>
            </a:r>
            <a:endParaRPr lang="en-US" sz="1600" dirty="0"/>
          </a:p>
        </p:txBody>
      </p:sp>
      <p:sp>
        <p:nvSpPr>
          <p:cNvPr id="7" name="desc One compartment, IV bolus"/>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Volume V and clearance CL summarise distribution and elimination.</a:t>
            </a:r>
            <a:endParaRPr lang="en-US" sz="1400" dirty="0"/>
          </a:p>
        </p:txBody>
      </p:sp>
      <p:sp>
        <p:nvSpPr>
          <p:cNvPr id="8" name="card First-order absorption (Batema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First-order absorption (Batema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First-order absorption (Bateman)</a:t>
            </a:r>
            <a:endParaRPr lang="en-US" sz="1600" dirty="0"/>
          </a:p>
        </p:txBody>
      </p:sp>
      <p:sp>
        <p:nvSpPr>
          <p:cNvPr id="10" name="equation First-order absorption (Bateman)"/>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C(t) = F·D·kₐ / (V(kₐ − k)) · (e^(−kt) − e^(−kₐt))</a:t>
            </a:r>
            <a:endParaRPr lang="en-US" sz="1500" dirty="0"/>
          </a:p>
        </p:txBody>
      </p:sp>
      <p:sp>
        <p:nvSpPr>
          <p:cNvPr id="11" name="desc First-order absorption (Bateman)"/>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Oral dosing with bioavailability F and absorption rate kₐ. Gives Cmax and Tmax.</a:t>
            </a:r>
            <a:endParaRPr lang="en-US" sz="1400" dirty="0"/>
          </a:p>
        </p:txBody>
      </p:sp>
      <p:sp>
        <p:nvSpPr>
          <p:cNvPr id="12" name="card Two compartment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Two compartment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Two compartments</a:t>
            </a:r>
            <a:endParaRPr lang="en-US" sz="1600" dirty="0"/>
          </a:p>
        </p:txBody>
      </p:sp>
      <p:sp>
        <p:nvSpPr>
          <p:cNvPr id="14" name="equation Two compartments"/>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dA₁/dt = −(k₁₀ + k₁₂) A₁ + k₂₁ A₂</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dA₂/dt = k₁₂ A₁ − k₂₁ A₂</a:t>
            </a:r>
            <a:endParaRPr lang="en-US" sz="1600" dirty="0"/>
          </a:p>
        </p:txBody>
      </p:sp>
      <p:sp>
        <p:nvSpPr>
          <p:cNvPr id="15" name="desc Two compartments"/>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Central and peripheral compartments; bi-exponential decline. Extends to n compartments.</a:t>
            </a:r>
            <a:endParaRPr lang="en-US" sz="1400" dirty="0"/>
          </a:p>
        </p:txBody>
      </p:sp>
      <p:sp>
        <p:nvSpPr>
          <p:cNvPr id="16" name="card PBPK (general)"/>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PBPK (general)"/>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PBPK (general)</a:t>
            </a:r>
            <a:endParaRPr lang="en-US" sz="1600" dirty="0"/>
          </a:p>
        </p:txBody>
      </p:sp>
      <p:sp>
        <p:nvSpPr>
          <p:cNvPr id="18" name="equation PBPK (general)"/>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V_T dC_T/dt = Q_T (C_A − C_T / K_p,T) − CL_T C_T</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venous: Σ Q_T C_T / K_p,T</a:t>
            </a:r>
            <a:endParaRPr lang="en-US" sz="1500" dirty="0"/>
          </a:p>
        </p:txBody>
      </p:sp>
      <p:sp>
        <p:nvSpPr>
          <p:cNvPr id="19" name="desc PBPK (general)"/>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Organs linked by blood flow Q with partition coefficients K_p. Scales across species and populations.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3 · PHARMACODYNAMICS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What the drug does to the body</a:t>
            </a:r>
            <a:endParaRPr lang="en-US" sz="3600" dirty="0"/>
          </a:p>
        </p:txBody>
      </p:sp>
      <p:sp>
        <p:nvSpPr>
          <p:cNvPr id="4" name="card Emax / Hill model"/>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Emax / Hill model"/>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Emax / Hill model</a:t>
            </a:r>
            <a:endParaRPr lang="en-US" sz="1600" dirty="0"/>
          </a:p>
        </p:txBody>
      </p:sp>
      <p:sp>
        <p:nvSpPr>
          <p:cNvPr id="6" name="equation Emax / Hill model"/>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E = E₀ + E_max · Cⁿ / (EC₅₀ⁿ + Cⁿ)</a:t>
            </a:r>
            <a:endParaRPr lang="en-US" sz="1600" dirty="0"/>
          </a:p>
        </p:txBody>
      </p:sp>
      <p:sp>
        <p:nvSpPr>
          <p:cNvPr id="7" name="desc Emax / Hill model"/>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Saturating concentration–effect curve. Hill coefficient n sets steepness; EC₅₀ the potency. n = 1 is the classic Emax model.</a:t>
            </a:r>
            <a:endParaRPr lang="en-US" sz="1400" dirty="0"/>
          </a:p>
        </p:txBody>
      </p:sp>
      <p:sp>
        <p:nvSpPr>
          <p:cNvPr id="8" name="card Indirect response and effect site"/>
          <p:cNvSpPr/>
          <p:nvPr/>
        </p:nvSpPr>
        <p:spPr>
          <a:xfrm>
            <a:off x="548640" y="3977640"/>
            <a:ext cx="5394960" cy="2148840"/>
          </a:xfrm>
          <a:prstGeom prst="roundRect">
            <a:avLst>
              <a:gd name="adj" fmla="val 3404"/>
            </a:avLst>
          </a:prstGeom>
          <a:solidFill>
            <a:schemeClr val="bg2"/>
          </a:solidFill>
          <a:ln w="12700">
            <a:solidFill>
              <a:schemeClr val="bg2"/>
            </a:solidFill>
            <a:prstDash val="solid"/>
          </a:ln>
        </p:spPr>
      </p:sp>
      <p:sp>
        <p:nvSpPr>
          <p:cNvPr id="9" name="card title Indirect response and effect site"/>
          <p:cNvSpPr txBox="1"/>
          <p:nvPr/>
        </p:nvSpPr>
        <p:spPr>
          <a:xfrm>
            <a:off x="749808" y="4114800"/>
            <a:ext cx="3931920" cy="347472"/>
          </a:xfrm>
          <a:prstGeom prst="rect">
            <a:avLst/>
          </a:prstGeom>
          <a:noFill/>
          <a:ln/>
        </p:spPr>
        <p:txBody>
          <a:bodyPr wrap="square" lIns="0" tIns="0" rIns="0" bIns="0" rtlCol="0" anchor="t"/>
          <a:lstStyle/>
          <a:p>
            <a:pPr indent="0" marL="0">
              <a:buNone/>
            </a:pPr>
            <a:r>
              <a:rPr lang="en-US" sz="1600" b="1" dirty="0">
                <a:solidFill>
                  <a:schemeClr val="tx2"/>
                </a:solidFill>
              </a:rPr>
              <a:t>Indirect response and effect site</a:t>
            </a:r>
            <a:endParaRPr lang="en-US" sz="1600" dirty="0"/>
          </a:p>
        </p:txBody>
      </p:sp>
      <p:sp>
        <p:nvSpPr>
          <p:cNvPr id="10" name="equation Indirect response and effect site"/>
          <p:cNvSpPr txBox="1"/>
          <p:nvPr/>
        </p:nvSpPr>
        <p:spPr>
          <a:xfrm>
            <a:off x="749808" y="452628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dR/dt = k_in (1 − I(C)) − k_out R</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dC_e/dt = k_e0 (C − C_e)</a:t>
            </a:r>
            <a:endParaRPr lang="en-US" sz="1600" dirty="0"/>
          </a:p>
        </p:txBody>
      </p:sp>
      <p:sp>
        <p:nvSpPr>
          <p:cNvPr id="11" name="desc Indirect response and effect site"/>
          <p:cNvSpPr txBox="1"/>
          <p:nvPr/>
        </p:nvSpPr>
        <p:spPr>
          <a:xfrm>
            <a:off x="749808" y="5440680"/>
            <a:ext cx="4992624" cy="576072"/>
          </a:xfrm>
          <a:prstGeom prst="rect">
            <a:avLst/>
          </a:prstGeom>
          <a:noFill/>
          <a:ln/>
        </p:spPr>
        <p:txBody>
          <a:bodyPr wrap="square" lIns="0" tIns="0" rIns="0" bIns="0" rtlCol="0" anchor="t"/>
          <a:lstStyle/>
          <a:p>
            <a:pPr indent="0" marL="0">
              <a:buNone/>
            </a:pPr>
            <a:r>
              <a:rPr lang="en-US" sz="1400" dirty="0">
                <a:solidFill>
                  <a:schemeClr val="tx1"/>
                </a:solidFill>
              </a:rPr>
              <a:t>Drug alters production or loss of a response R; effect compartment C_e explains hysteresis.</a:t>
            </a:r>
            <a:endParaRPr lang="en-US" sz="1400" dirty="0"/>
          </a:p>
        </p:txBody>
      </p:sp>
      <p:graphicFrame>
        <p:nvGraphicFramePr>
          <p:cNvPr id="12" name="Hill chart" descr=""/>
          <p:cNvGraphicFramePr/>
          <p:nvPr/>
        </p:nvGraphicFramePr>
        <p:xfrm>
          <a:off x="6217920" y="155448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6217920" y="5806440"/>
            <a:ext cx="5394960" cy="365760"/>
          </a:xfrm>
          <a:prstGeom prst="rect">
            <a:avLst/>
          </a:prstGeom>
          <a:noFill/>
          <a:ln/>
        </p:spPr>
        <p:txBody>
          <a:bodyPr wrap="square" lIns="0" tIns="0" rIns="0" bIns="0" rtlCol="0" anchor="ctr"/>
          <a:lstStyle/>
          <a:p>
            <a:pPr indent="0" marL="0">
              <a:buNone/>
            </a:pPr>
            <a:r>
              <a:rPr lang="en-US" sz="1200" i="1" dirty="0">
                <a:solidFill>
                  <a:schemeClr val="accent6"/>
                </a:solidFill>
              </a:rPr>
              <a:t>All curves cross 50 % at C = EC₅₀; larger n gives a sharper switch.</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3 · QUANTITATIVE SYSTEMS PHARMACOLOGY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Biochemical networks as equations</a:t>
            </a:r>
            <a:endParaRPr lang="en-US" sz="3600" dirty="0"/>
          </a:p>
        </p:txBody>
      </p:sp>
      <p:sp>
        <p:nvSpPr>
          <p:cNvPr id="4" name="card Mass-action kinetic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Mass-action kinetic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Mass-action kinetics</a:t>
            </a:r>
            <a:endParaRPr lang="en-US" sz="1600" dirty="0"/>
          </a:p>
        </p:txBody>
      </p:sp>
      <p:sp>
        <p:nvSpPr>
          <p:cNvPr id="6" name="equation Mass-action kinetic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A + B ⇌ C:  dC/dt = k_f [A][B] − k_r [C]</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network: dx/dt = S · v(x, θ)</a:t>
            </a:r>
            <a:endParaRPr lang="en-US" sz="1600" dirty="0"/>
          </a:p>
        </p:txBody>
      </p:sp>
      <p:sp>
        <p:nvSpPr>
          <p:cNvPr id="7" name="desc Mass-action kinetics"/>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Stoichiometry matrix S times reaction rates v. The general QSP and systems-biology form.</a:t>
            </a:r>
            <a:endParaRPr lang="en-US" sz="1400" dirty="0"/>
          </a:p>
        </p:txBody>
      </p:sp>
      <p:sp>
        <p:nvSpPr>
          <p:cNvPr id="8" name="card Michaelis–Mente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Michaelis–Mente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Michaelis–Menten</a:t>
            </a:r>
            <a:endParaRPr lang="en-US" sz="1600" dirty="0"/>
          </a:p>
        </p:txBody>
      </p:sp>
      <p:sp>
        <p:nvSpPr>
          <p:cNvPr id="10" name="equation Michaelis–Menten"/>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v = V_max [S] / (K_m + [S])</a:t>
            </a:r>
            <a:endParaRPr lang="en-US" sz="1600" dirty="0"/>
          </a:p>
        </p:txBody>
      </p:sp>
      <p:sp>
        <p:nvSpPr>
          <p:cNvPr id="11" name="desc Michaelis–Menten"/>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Saturable enzyme kinetics or transport; also saturable (nonlinear) drug elimination.</a:t>
            </a:r>
            <a:endParaRPr lang="en-US" sz="1400" dirty="0"/>
          </a:p>
        </p:txBody>
      </p:sp>
      <p:sp>
        <p:nvSpPr>
          <p:cNvPr id="12" name="card Receptor occupancy"/>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Receptor occupancy"/>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Receptor occupancy</a:t>
            </a:r>
            <a:endParaRPr lang="en-US" sz="1600" dirty="0"/>
          </a:p>
        </p:txBody>
      </p:sp>
      <p:sp>
        <p:nvSpPr>
          <p:cNvPr id="14" name="equation Receptor occupancy"/>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L + R ⇌ LR,   K_d = k_off / k_on</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occupancy = [L] / (K_d + [L])</a:t>
            </a:r>
            <a:endParaRPr lang="en-US" sz="1600" dirty="0"/>
          </a:p>
        </p:txBody>
      </p:sp>
      <p:sp>
        <p:nvSpPr>
          <p:cNvPr id="15" name="desc Receptor occupancy"/>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Binding drives effect; target-mediated drug disposition extends this to drug loss by binding.</a:t>
            </a:r>
            <a:endParaRPr lang="en-US" sz="1400" dirty="0"/>
          </a:p>
        </p:txBody>
      </p:sp>
      <p:sp>
        <p:nvSpPr>
          <p:cNvPr id="16" name="card Logical (Boolean) network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Logical (Boolean) network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Logical (Boolean) networks</a:t>
            </a:r>
            <a:endParaRPr lang="en-US" sz="1600" dirty="0"/>
          </a:p>
        </p:txBody>
      </p:sp>
      <p:sp>
        <p:nvSpPr>
          <p:cNvPr id="18" name="equation Logical (Boolean) networks"/>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xᵢ(t + 1) = Fᵢ(x_inputs(t)),   xᵢ ∈ {0, 1}</a:t>
            </a:r>
            <a:endParaRPr lang="en-US" sz="1600" dirty="0"/>
          </a:p>
        </p:txBody>
      </p:sp>
      <p:sp>
        <p:nvSpPr>
          <p:cNvPr id="19" name="desc Logical (Boolean) networks"/>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Signalling pathways when rate constants are unknown; finds attractors (cell fates) and drug targets.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4 · DISEASE DYNAMICS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Growth models and treatment effect</a:t>
            </a:r>
            <a:endParaRPr lang="en-US" sz="3600" dirty="0"/>
          </a:p>
        </p:txBody>
      </p:sp>
      <p:sp>
        <p:nvSpPr>
          <p:cNvPr id="4" name="card Growth law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Growth law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Growth laws</a:t>
            </a:r>
            <a:endParaRPr lang="en-US" sz="1600" dirty="0"/>
          </a:p>
        </p:txBody>
      </p:sp>
      <p:sp>
        <p:nvSpPr>
          <p:cNvPr id="6" name="equation Growth laws"/>
          <p:cNvSpPr txBox="1"/>
          <p:nvPr/>
        </p:nvSpPr>
        <p:spPr>
          <a:xfrm>
            <a:off x="749808" y="2103120"/>
            <a:ext cx="4992624" cy="10515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exponential: dN/dt = rN</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logistic: dN/dt = rN(1 − N/K)</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Gompertz: dN/dt = rN ln(K/N)</a:t>
            </a:r>
            <a:endParaRPr lang="en-US" sz="1500" dirty="0"/>
          </a:p>
        </p:txBody>
      </p:sp>
      <p:sp>
        <p:nvSpPr>
          <p:cNvPr id="7" name="desc Growth laws"/>
          <p:cNvSpPr txBox="1"/>
          <p:nvPr/>
        </p:nvSpPr>
        <p:spPr>
          <a:xfrm>
            <a:off x="749808" y="3246120"/>
            <a:ext cx="4992624" cy="438912"/>
          </a:xfrm>
          <a:prstGeom prst="rect">
            <a:avLst/>
          </a:prstGeom>
          <a:noFill/>
          <a:ln/>
        </p:spPr>
        <p:txBody>
          <a:bodyPr wrap="square" lIns="0" tIns="0" rIns="0" bIns="0" rtlCol="0" anchor="t"/>
          <a:lstStyle/>
          <a:p>
            <a:pPr indent="0" marL="0">
              <a:buNone/>
            </a:pPr>
            <a:r>
              <a:rPr lang="en-US" sz="1400" dirty="0">
                <a:solidFill>
                  <a:schemeClr val="tx1"/>
                </a:solidFill>
              </a:rPr>
              <a:t>Tumours, bacteria, cell cultures; K = carrying capacity.</a:t>
            </a:r>
            <a:endParaRPr lang="en-US" sz="1400" dirty="0"/>
          </a:p>
        </p:txBody>
      </p:sp>
      <p:sp>
        <p:nvSpPr>
          <p:cNvPr id="8" name="card Treatment effect (log-kill, TGI)"/>
          <p:cNvSpPr/>
          <p:nvPr/>
        </p:nvSpPr>
        <p:spPr>
          <a:xfrm>
            <a:off x="548640" y="3977640"/>
            <a:ext cx="5394960" cy="2148840"/>
          </a:xfrm>
          <a:prstGeom prst="roundRect">
            <a:avLst>
              <a:gd name="adj" fmla="val 3404"/>
            </a:avLst>
          </a:prstGeom>
          <a:solidFill>
            <a:schemeClr val="bg2"/>
          </a:solidFill>
          <a:ln w="12700">
            <a:solidFill>
              <a:schemeClr val="bg2"/>
            </a:solidFill>
            <a:prstDash val="solid"/>
          </a:ln>
        </p:spPr>
      </p:sp>
      <p:sp>
        <p:nvSpPr>
          <p:cNvPr id="9" name="card title Treatment effect (log-kill, TGI)"/>
          <p:cNvSpPr txBox="1"/>
          <p:nvPr/>
        </p:nvSpPr>
        <p:spPr>
          <a:xfrm>
            <a:off x="749808" y="411480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Treatment effect (log-kill, TGI)</a:t>
            </a:r>
            <a:endParaRPr lang="en-US" sz="1600" dirty="0"/>
          </a:p>
        </p:txBody>
      </p:sp>
      <p:sp>
        <p:nvSpPr>
          <p:cNvPr id="10" name="equation Treatment effect (log-kill, TGI)"/>
          <p:cNvSpPr txBox="1"/>
          <p:nvPr/>
        </p:nvSpPr>
        <p:spPr>
          <a:xfrm>
            <a:off x="749808" y="452628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dN/dt = g(N) − k_d · E(C(t)) · N</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Norton–Simon: kill ∝ growth rate g(N)/N</a:t>
            </a:r>
            <a:endParaRPr lang="en-US" sz="1500" dirty="0"/>
          </a:p>
        </p:txBody>
      </p:sp>
      <p:sp>
        <p:nvSpPr>
          <p:cNvPr id="11" name="desc Treatment effect (log-kill, TGI)"/>
          <p:cNvSpPr txBox="1"/>
          <p:nvPr/>
        </p:nvSpPr>
        <p:spPr>
          <a:xfrm>
            <a:off x="749808" y="5440680"/>
            <a:ext cx="4992624" cy="576072"/>
          </a:xfrm>
          <a:prstGeom prst="rect">
            <a:avLst/>
          </a:prstGeom>
          <a:noFill/>
          <a:ln/>
        </p:spPr>
        <p:txBody>
          <a:bodyPr wrap="square" lIns="0" tIns="0" rIns="0" bIns="0" rtlCol="0" anchor="t"/>
          <a:lstStyle/>
          <a:p>
            <a:pPr indent="0" marL="0">
              <a:buNone/>
            </a:pPr>
            <a:r>
              <a:rPr lang="en-US" sz="1400" dirty="0">
                <a:solidFill>
                  <a:schemeClr val="tx1"/>
                </a:solidFill>
              </a:rPr>
              <a:t>Drug kill proportional to exposure; tumour-growth-inhibition models (e.g. Simeoni) add delay compartments.</a:t>
            </a:r>
            <a:endParaRPr lang="en-US" sz="1400" dirty="0"/>
          </a:p>
        </p:txBody>
      </p:sp>
      <p:graphicFrame>
        <p:nvGraphicFramePr>
          <p:cNvPr id="12" name="growth chart" descr=""/>
          <p:cNvGraphicFramePr/>
          <p:nvPr/>
        </p:nvGraphicFramePr>
        <p:xfrm>
          <a:off x="6217920" y="155448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6217920" y="5806440"/>
            <a:ext cx="5394960" cy="365760"/>
          </a:xfrm>
          <a:prstGeom prst="rect">
            <a:avLst/>
          </a:prstGeom>
          <a:noFill/>
          <a:ln/>
        </p:spPr>
        <p:txBody>
          <a:bodyPr wrap="square" lIns="0" tIns="0" rIns="0" bIns="0" rtlCol="0" anchor="ctr"/>
          <a:lstStyle/>
          <a:p>
            <a:pPr indent="0" marL="0">
              <a:buNone/>
            </a:pPr>
            <a:r>
              <a:rPr lang="en-US" sz="1200" i="1" dirty="0">
                <a:solidFill>
                  <a:schemeClr val="accent6"/>
                </a:solidFill>
              </a:rPr>
              <a:t>Exponential growth is unbounded; logistic and Gompertz saturate at K. Fit all three and compare by AIC.</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4 · POPULATION SPREAD AND PROGRESSION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Epidemics and chronic disease over time</a:t>
            </a:r>
            <a:endParaRPr lang="en-US" sz="3600" dirty="0"/>
          </a:p>
        </p:txBody>
      </p:sp>
      <p:sp>
        <p:nvSpPr>
          <p:cNvPr id="4" name="card SIR / SEIR epidemic model"/>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SIR / SEIR epidemic model"/>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SIR / SEIR epidemic model</a:t>
            </a:r>
            <a:endParaRPr lang="en-US" sz="1600" dirty="0"/>
          </a:p>
        </p:txBody>
      </p:sp>
      <p:sp>
        <p:nvSpPr>
          <p:cNvPr id="6" name="equation SIR / SEIR epidemic model"/>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dS/dt = −βSI/N,  dI/dt = βSI/N − γI</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dR/dt = γI,   R₀ = β / γ</a:t>
            </a:r>
            <a:endParaRPr lang="en-US" sz="1600" dirty="0"/>
          </a:p>
        </p:txBody>
      </p:sp>
      <p:sp>
        <p:nvSpPr>
          <p:cNvPr id="7" name="desc SIR / SEIR epidemic model"/>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Compartments of susceptible, infected, recovered; SEIR adds an exposed stage. Vaccination and contact changes as controls.</a:t>
            </a:r>
            <a:endParaRPr lang="en-US" sz="1400" dirty="0"/>
          </a:p>
        </p:txBody>
      </p:sp>
      <p:sp>
        <p:nvSpPr>
          <p:cNvPr id="8" name="card Disease-progression model"/>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Disease-progression model"/>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Disease-progression model</a:t>
            </a:r>
            <a:endParaRPr lang="en-US" sz="1600" dirty="0"/>
          </a:p>
        </p:txBody>
      </p:sp>
      <p:sp>
        <p:nvSpPr>
          <p:cNvPr id="10" name="equation Disease-progression model"/>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S(t) = S₀ + α t + E_drug(t)  (symptomatic or protective)</a:t>
            </a:r>
            <a:endParaRPr lang="en-US" sz="1500" dirty="0"/>
          </a:p>
        </p:txBody>
      </p:sp>
      <p:sp>
        <p:nvSpPr>
          <p:cNvPr id="11" name="desc Disease-progression model"/>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Natural decline of a clinical score; drug either offsets the score or slows the slope α.</a:t>
            </a:r>
            <a:endParaRPr lang="en-US" sz="1400" dirty="0"/>
          </a:p>
        </p:txBody>
      </p:sp>
      <p:sp>
        <p:nvSpPr>
          <p:cNvPr id="12" name="card Multistate (illness–death)"/>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Multistate (illness–death)"/>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Multistate (illness–death)</a:t>
            </a:r>
            <a:endParaRPr lang="en-US" sz="1600" dirty="0"/>
          </a:p>
        </p:txBody>
      </p:sp>
      <p:sp>
        <p:nvSpPr>
          <p:cNvPr id="14" name="equation Multistate (illness–death)"/>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λₕⱼ(t | x) = λₕⱼ,₀(t) exp(βₕⱼᵀ x)</a:t>
            </a:r>
            <a:endParaRPr lang="en-US" sz="1600" dirty="0"/>
          </a:p>
        </p:txBody>
      </p:sp>
      <p:sp>
        <p:nvSpPr>
          <p:cNvPr id="15" name="desc Multistate (illness–death)"/>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Transition hazards between healthy, ill and dead states; generalises survival analysis.</a:t>
            </a:r>
            <a:endParaRPr lang="en-US" sz="1400" dirty="0"/>
          </a:p>
        </p:txBody>
      </p:sp>
      <p:sp>
        <p:nvSpPr>
          <p:cNvPr id="16" name="card Pharmacometric time to event"/>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Pharmacometric time to event"/>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Pharmacometric time to event</a:t>
            </a:r>
            <a:endParaRPr lang="en-US" sz="1600" dirty="0"/>
          </a:p>
        </p:txBody>
      </p:sp>
      <p:sp>
        <p:nvSpPr>
          <p:cNvPr id="18" name="equation Pharmacometric time to event"/>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S(t) = exp(−∫₀ᵗ h₀(s) e^(β·E(s)) ds)</a:t>
            </a:r>
            <a:endParaRPr lang="en-US" sz="1600" dirty="0"/>
          </a:p>
        </p:txBody>
      </p:sp>
      <p:sp>
        <p:nvSpPr>
          <p:cNvPr id="19" name="desc Pharmacometric time to event"/>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Event hazard driven by a model-predicted, time-varying exposure or biomarker E(s).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5 · ORGAN PHYSIOLOGY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Classic physiological twins</a:t>
            </a:r>
            <a:endParaRPr lang="en-US" sz="3600" dirty="0"/>
          </a:p>
        </p:txBody>
      </p:sp>
      <p:sp>
        <p:nvSpPr>
          <p:cNvPr id="4" name="card Windkessel (circul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Windkessel (circul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Windkessel (circulation)</a:t>
            </a:r>
            <a:endParaRPr lang="en-US" sz="1600" dirty="0"/>
          </a:p>
        </p:txBody>
      </p:sp>
      <p:sp>
        <p:nvSpPr>
          <p:cNvPr id="6" name="equation Windkessel (circulatio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C dP/dt = Q(t) − P / R</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3-element: adds characteristic impedance Z</a:t>
            </a:r>
            <a:endParaRPr lang="en-US" sz="1600" dirty="0"/>
          </a:p>
        </p:txBody>
      </p:sp>
      <p:sp>
        <p:nvSpPr>
          <p:cNvPr id="7" name="desc Windkessel (circulation)"/>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Arterial pressure P from inflow Q, compliance C and resistance R. Lumped 0-D cardiovascular twin.</a:t>
            </a:r>
            <a:endParaRPr lang="en-US" sz="1400" dirty="0"/>
          </a:p>
        </p:txBody>
      </p:sp>
      <p:sp>
        <p:nvSpPr>
          <p:cNvPr id="8" name="card Cell excitation (Hodgkin–Huxley)"/>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Cell excitation (Hodgkin–Huxley)"/>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Cell excitation (Hodgkin–Huxley)</a:t>
            </a:r>
            <a:endParaRPr lang="en-US" sz="1600" dirty="0"/>
          </a:p>
        </p:txBody>
      </p:sp>
      <p:sp>
        <p:nvSpPr>
          <p:cNvPr id="10" name="equation Cell excitation (Hodgkin–Huxley)"/>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C_m dV/dt = −Σ gᵢ(V, t)(V − Eᵢ) + I</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FitzHugh–Nagumo: 2-variable reduction</a:t>
            </a:r>
            <a:endParaRPr lang="en-US" sz="1600" dirty="0"/>
          </a:p>
        </p:txBody>
      </p:sp>
      <p:sp>
        <p:nvSpPr>
          <p:cNvPr id="11" name="desc Cell excitation (Hodgkin–Huxley)"/>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Action potentials from ion-channel conductances; basis of cardiac and neural electrophysiology twins.</a:t>
            </a:r>
            <a:endParaRPr lang="en-US" sz="1400" dirty="0"/>
          </a:p>
        </p:txBody>
      </p:sp>
      <p:sp>
        <p:nvSpPr>
          <p:cNvPr id="12" name="card Glucose–insulin (Bergman minimal)"/>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Glucose–insulin (Bergman minimal)"/>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Glucose–insulin (Bergman minimal)</a:t>
            </a:r>
            <a:endParaRPr lang="en-US" sz="1600" dirty="0"/>
          </a:p>
        </p:txBody>
      </p:sp>
      <p:sp>
        <p:nvSpPr>
          <p:cNvPr id="14" name="equation Glucose–insulin (Bergman minimal)"/>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dG/dt = −(p₁ + X) G + p₁ G_b</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dX/dt = −p₂ X + p₃ (I − I_b)</a:t>
            </a:r>
            <a:endParaRPr lang="en-US" sz="1600" dirty="0"/>
          </a:p>
        </p:txBody>
      </p:sp>
      <p:sp>
        <p:nvSpPr>
          <p:cNvPr id="15" name="desc Glucose–insulin (Bergman minimal)"/>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Insulin sensitivity S_I = p₃/p₂ from a glucose tolerance test; artificial-pancreas twins.</a:t>
            </a:r>
            <a:endParaRPr lang="en-US" sz="1400" dirty="0"/>
          </a:p>
        </p:txBody>
      </p:sp>
      <p:sp>
        <p:nvSpPr>
          <p:cNvPr id="16" name="card Respiratory mechanic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Respiratory mechanic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Respiratory mechanics</a:t>
            </a:r>
            <a:endParaRPr lang="en-US" sz="1600" dirty="0"/>
          </a:p>
        </p:txBody>
      </p:sp>
      <p:sp>
        <p:nvSpPr>
          <p:cNvPr id="18" name="equation Respiratory mechanics"/>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P_aw(t) = R · Q(t) + V(t) / C + PEEP</a:t>
            </a:r>
            <a:endParaRPr lang="en-US" sz="1600" dirty="0"/>
          </a:p>
        </p:txBody>
      </p:sp>
      <p:sp>
        <p:nvSpPr>
          <p:cNvPr id="19" name="desc Respiratory mechanics"/>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Airway pressure from flow, volume, resistance R and compliance C; ventilator-setting twins.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6 · CONTINUUM PHYSICS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Space-resolved mechanics, flow and transport</a:t>
            </a:r>
            <a:endParaRPr lang="en-US" sz="3600" dirty="0"/>
          </a:p>
        </p:txBody>
      </p:sp>
      <p:sp>
        <p:nvSpPr>
          <p:cNvPr id="4" name="card Solid mechanics (FEM)"/>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Solid mechanics (FEM)"/>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Solid mechanics (FEM)</a:t>
            </a:r>
            <a:endParaRPr lang="en-US" sz="1600" dirty="0"/>
          </a:p>
        </p:txBody>
      </p:sp>
      <p:sp>
        <p:nvSpPr>
          <p:cNvPr id="6" name="equation Solid mechanics (FEM)"/>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∇·σ + f = 0,   σ = ∂W/∂ε</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Neo-Hookean: W = μ/2 (I₁ − 3);  FEM: K u = F</a:t>
            </a:r>
            <a:endParaRPr lang="en-US" sz="1600" dirty="0"/>
          </a:p>
        </p:txBody>
      </p:sp>
      <p:sp>
        <p:nvSpPr>
          <p:cNvPr id="7" name="desc Solid mechanics (FEM)"/>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Tissue, bone, implants and devices. Hyperelastic laws for soft tissue.</a:t>
            </a:r>
            <a:endParaRPr lang="en-US" sz="1400" dirty="0"/>
          </a:p>
        </p:txBody>
      </p:sp>
      <p:sp>
        <p:nvSpPr>
          <p:cNvPr id="8" name="card Fluid flow (Navier–Stokes)"/>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Fluid flow (Navier–Stokes)"/>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Fluid flow (Navier–Stokes)</a:t>
            </a:r>
            <a:endParaRPr lang="en-US" sz="1600" dirty="0"/>
          </a:p>
        </p:txBody>
      </p:sp>
      <p:sp>
        <p:nvSpPr>
          <p:cNvPr id="10" name="equation Fluid flow (Navier–Stokes)"/>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ρ(∂v/∂t + v·∇v) = −∇p + μ∇²v,  ∇·v = 0</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porous tissue (Darcy): v = −(k/μ) ∇p</a:t>
            </a:r>
            <a:endParaRPr lang="en-US" sz="1500" dirty="0"/>
          </a:p>
        </p:txBody>
      </p:sp>
      <p:sp>
        <p:nvSpPr>
          <p:cNvPr id="11" name="desc Fluid flow (Navier–Stokes)"/>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Blood flow, airflow, CSF; fluid–structure interaction couples it to mechanics.</a:t>
            </a:r>
            <a:endParaRPr lang="en-US" sz="1400" dirty="0"/>
          </a:p>
        </p:txBody>
      </p:sp>
      <p:sp>
        <p:nvSpPr>
          <p:cNvPr id="12" name="card Advection–diffusion–reac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Advection–diffusion–reac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Advection–diffusion–reaction</a:t>
            </a:r>
            <a:endParaRPr lang="en-US" sz="1600" dirty="0"/>
          </a:p>
        </p:txBody>
      </p:sp>
      <p:sp>
        <p:nvSpPr>
          <p:cNvPr id="14" name="equation Advection–diffusion–reaction"/>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∂c/∂t + v·∇c = ∇·(D∇c) + R(c)</a:t>
            </a:r>
            <a:endParaRPr lang="en-US" sz="1600" dirty="0"/>
          </a:p>
        </p:txBody>
      </p:sp>
      <p:sp>
        <p:nvSpPr>
          <p:cNvPr id="15" name="desc Advection–diffusion–reaction"/>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Drug, oxygen or nutrient transport in tissue; reaction–diffusion for invading cells (Fisher–KPP).</a:t>
            </a:r>
            <a:endParaRPr lang="en-US" sz="1400" dirty="0"/>
          </a:p>
        </p:txBody>
      </p:sp>
      <p:sp>
        <p:nvSpPr>
          <p:cNvPr id="16" name="card Heat transfer (Pennes bioheat)"/>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Heat transfer (Pennes bioheat)"/>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Heat transfer (Pennes bioheat)</a:t>
            </a:r>
            <a:endParaRPr lang="en-US" sz="1600" dirty="0"/>
          </a:p>
        </p:txBody>
      </p:sp>
      <p:sp>
        <p:nvSpPr>
          <p:cNvPr id="18" name="equation Heat transfer (Pennes bioheat)"/>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ρc ∂T/∂t = ∇·(k∇T) + ω_b c_b (T_a − T) + Q</a:t>
            </a:r>
            <a:endParaRPr lang="en-US" sz="1500" dirty="0"/>
          </a:p>
        </p:txBody>
      </p:sp>
      <p:sp>
        <p:nvSpPr>
          <p:cNvPr id="19" name="desc Heat transfer (Pennes bioheat)"/>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Tissue temperature with blood perfusion ω_b; ablation, hyperthermia and device-safety twins.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Models of variability and of the data</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Families 7–10: population statistics, data assimilation, uncertainty and sensitivity, and surrogate models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7 · POPULATION MODELS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Variability between and within individuals</a:t>
            </a:r>
            <a:endParaRPr lang="en-US" sz="3600" dirty="0"/>
          </a:p>
        </p:txBody>
      </p:sp>
      <p:sp>
        <p:nvSpPr>
          <p:cNvPr id="4" name="card Nonlinear mixed effects (NLME)"/>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Nonlinear mixed effects (NLME)"/>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Nonlinear mixed effects (NLME)</a:t>
            </a:r>
            <a:endParaRPr lang="en-US" sz="1600" dirty="0"/>
          </a:p>
        </p:txBody>
      </p:sp>
      <p:sp>
        <p:nvSpPr>
          <p:cNvPr id="6" name="equation Nonlinear mixed effects (NLME)"/>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y_ij = f(t_ij, θᵢ) + ε_ij,   ε ~ N(0, σ²)</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θᵢ = θ_pop · exp(β·covᵢ + ηᵢ),  η ~ N(0, Ω)</a:t>
            </a:r>
            <a:endParaRPr lang="en-US" sz="1500" dirty="0"/>
          </a:p>
        </p:txBody>
      </p:sp>
      <p:sp>
        <p:nvSpPr>
          <p:cNvPr id="7" name="desc Nonlinear mixed effects (NLME)"/>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The core population model: typical value, covariate effects, between-subject variability Ω.</a:t>
            </a:r>
            <a:endParaRPr lang="en-US" sz="1400" dirty="0"/>
          </a:p>
        </p:txBody>
      </p:sp>
      <p:sp>
        <p:nvSpPr>
          <p:cNvPr id="8" name="card Linear mixed model"/>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Linear mixed model"/>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Linear mixed model</a:t>
            </a:r>
            <a:endParaRPr lang="en-US" sz="1600" dirty="0"/>
          </a:p>
        </p:txBody>
      </p:sp>
      <p:sp>
        <p:nvSpPr>
          <p:cNvPr id="10" name="equation Linear mixed model"/>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y = Xβ + Zb + ε,   b ~ N(0, G),  ε ~ N(0, R)</a:t>
            </a:r>
            <a:endParaRPr lang="en-US" sz="1600" dirty="0"/>
          </a:p>
        </p:txBody>
      </p:sp>
      <p:sp>
        <p:nvSpPr>
          <p:cNvPr id="11" name="desc Linear mixed model"/>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Fixed effects β and random effects b for repeated measures; longitudinal biomarkers.</a:t>
            </a:r>
            <a:endParaRPr lang="en-US" sz="1400" dirty="0"/>
          </a:p>
        </p:txBody>
      </p:sp>
      <p:sp>
        <p:nvSpPr>
          <p:cNvPr id="12" name="card Generalised linear model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Generalised linear model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Generalised linear models</a:t>
            </a:r>
            <a:endParaRPr lang="en-US" sz="1600" dirty="0"/>
          </a:p>
        </p:txBody>
      </p:sp>
      <p:sp>
        <p:nvSpPr>
          <p:cNvPr id="14" name="equation Generalised linear models"/>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g(E[y]) = Xβ;  logistic: p = 1 / (1 + e^(−Xβ))</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Poisson: log λ = Xβ</a:t>
            </a:r>
            <a:endParaRPr lang="en-US" sz="1600" dirty="0"/>
          </a:p>
        </p:txBody>
      </p:sp>
      <p:sp>
        <p:nvSpPr>
          <p:cNvPr id="15" name="desc Generalised linear models"/>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Binary, count and rate outcomes; dose–response with logit or probit links.</a:t>
            </a:r>
            <a:endParaRPr lang="en-US" sz="1400" dirty="0"/>
          </a:p>
        </p:txBody>
      </p:sp>
      <p:sp>
        <p:nvSpPr>
          <p:cNvPr id="16" name="card Bayesian hierarchical model"/>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Bayesian hierarchical model"/>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hierarchical model</a:t>
            </a:r>
            <a:endParaRPr lang="en-US" sz="1600" dirty="0"/>
          </a:p>
        </p:txBody>
      </p:sp>
      <p:sp>
        <p:nvSpPr>
          <p:cNvPr id="18" name="equation Bayesian hierarchical model"/>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p(θ, φ | y) ∝ Πᵢ p(yᵢ | θᵢ) p(θᵢ | φ) · p(φ)</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partial pooling between individuals</a:t>
            </a:r>
            <a:endParaRPr lang="en-US" sz="1500" dirty="0"/>
          </a:p>
        </p:txBody>
      </p:sp>
      <p:sp>
        <p:nvSpPr>
          <p:cNvPr id="19" name="desc Bayesian hierarchical model"/>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Borrow strength across patients, sites or studies; priors encode prior knowledge.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7 · TIME-TO-EVENT MODELS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Survival and event endpoints</a:t>
            </a:r>
            <a:endParaRPr lang="en-US" sz="3600" dirty="0"/>
          </a:p>
        </p:txBody>
      </p:sp>
      <p:sp>
        <p:nvSpPr>
          <p:cNvPr id="4" name="card Kaplan–Meier estimator"/>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Kaplan–Meier estimator"/>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Kaplan–Meier estimator</a:t>
            </a:r>
            <a:endParaRPr lang="en-US" sz="1600" dirty="0"/>
          </a:p>
        </p:txBody>
      </p:sp>
      <p:sp>
        <p:nvSpPr>
          <p:cNvPr id="6" name="equation Kaplan–Meier estimator"/>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Ŝ(t) = Π_{tᵢ ≤ t} (1 − dᵢ / nᵢ)</a:t>
            </a:r>
            <a:endParaRPr lang="en-US" sz="1600" dirty="0"/>
          </a:p>
        </p:txBody>
      </p:sp>
      <p:sp>
        <p:nvSpPr>
          <p:cNvPr id="7" name="desc Kaplan–Meier estimator"/>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Non-parametric survival with censoring; dᵢ events among nᵢ at risk. Compared with the log-rank test.</a:t>
            </a:r>
            <a:endParaRPr lang="en-US" sz="1400" dirty="0"/>
          </a:p>
        </p:txBody>
      </p:sp>
      <p:sp>
        <p:nvSpPr>
          <p:cNvPr id="8" name="card Cox proportional hazards"/>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Cox proportional hazards"/>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Cox proportional hazards</a:t>
            </a:r>
            <a:endParaRPr lang="en-US" sz="1600" dirty="0"/>
          </a:p>
        </p:txBody>
      </p:sp>
      <p:sp>
        <p:nvSpPr>
          <p:cNvPr id="10" name="equation Cox proportional hazards"/>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h(t | x) = h₀(t) · exp(βᵀx),   HR = e^β</a:t>
            </a:r>
            <a:endParaRPr lang="en-US" sz="1600" dirty="0"/>
          </a:p>
        </p:txBody>
      </p:sp>
      <p:sp>
        <p:nvSpPr>
          <p:cNvPr id="11" name="desc Cox proportional hazards"/>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Covariate effects as hazard ratios without specifying h₀; check proportional hazards.</a:t>
            </a:r>
            <a:endParaRPr lang="en-US" sz="1400" dirty="0"/>
          </a:p>
        </p:txBody>
      </p:sp>
      <p:sp>
        <p:nvSpPr>
          <p:cNvPr id="12" name="card Parametric survival (Weibull, AFT)"/>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Parametric survival (Weibull, AFT)"/>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Parametric survival (Weibull, AFT)</a:t>
            </a:r>
            <a:endParaRPr lang="en-US" sz="1600" dirty="0"/>
          </a:p>
        </p:txBody>
      </p:sp>
      <p:sp>
        <p:nvSpPr>
          <p:cNvPr id="14" name="equation Parametric survival (Weibull, AFT)"/>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S(t) = exp(−(λt)ᵏ)</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AFT: log T = βᵀx + σε</a:t>
            </a:r>
            <a:endParaRPr lang="en-US" sz="1600" dirty="0"/>
          </a:p>
        </p:txBody>
      </p:sp>
      <p:sp>
        <p:nvSpPr>
          <p:cNvPr id="15" name="desc Parametric survival (Weibull, AFT)"/>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Needed to extrapolate beyond follow-up and to simulate event times in virtual trials.</a:t>
            </a:r>
            <a:endParaRPr lang="en-US" sz="1400" dirty="0"/>
          </a:p>
        </p:txBody>
      </p:sp>
      <p:sp>
        <p:nvSpPr>
          <p:cNvPr id="16" name="card Joint longitudinal–survival model"/>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Joint longitudinal–survival model"/>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Joint longitudinal–survival model</a:t>
            </a:r>
            <a:endParaRPr lang="en-US" sz="1600" dirty="0"/>
          </a:p>
        </p:txBody>
      </p:sp>
      <p:sp>
        <p:nvSpPr>
          <p:cNvPr id="18" name="equation Joint longitudinal–survival model"/>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yᵢ(t) = mᵢ(t) + ε,   hᵢ(t) = h₀(t) e^(γᵀw + α mᵢ(t))</a:t>
            </a:r>
            <a:endParaRPr lang="en-US" sz="1500" dirty="0"/>
          </a:p>
        </p:txBody>
      </p:sp>
      <p:sp>
        <p:nvSpPr>
          <p:cNvPr id="19" name="desc Joint longitudinal–survival model"/>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Links a biomarker trajectory mᵢ(t) to event risk; dynamic individual predictions for twins.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8 · DATA ASSIMILATION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Keeping the twin synchronised with reality</a:t>
            </a:r>
            <a:endParaRPr lang="en-US" sz="3600" dirty="0"/>
          </a:p>
        </p:txBody>
      </p:sp>
      <p:sp>
        <p:nvSpPr>
          <p:cNvPr id="4" name="card Kalman filter (linear Gaussia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Kalman filter (linear Gaussia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Kalman filter (linear Gaussian)</a:t>
            </a:r>
            <a:endParaRPr lang="en-US" sz="1600" dirty="0"/>
          </a:p>
        </p:txBody>
      </p:sp>
      <p:sp>
        <p:nvSpPr>
          <p:cNvPr id="6" name="equation Kalman filter (linear Gaussia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predict: x⁻ = A x̂,  P⁻ = A P Aᵀ + Q</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update: K = P⁻Hᵀ(HP⁻Hᵀ + R)⁻¹,  x̂ = x⁻ + K(y − Hx⁻)</a:t>
            </a:r>
            <a:endParaRPr lang="en-US" sz="1400" dirty="0"/>
          </a:p>
        </p:txBody>
      </p:sp>
      <p:sp>
        <p:nvSpPr>
          <p:cNvPr id="7" name="desc Kalman filter (linear Gaussian)"/>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Optimal state estimate; gain K weighs model against measurement uncertainty.</a:t>
            </a:r>
            <a:endParaRPr lang="en-US" sz="1400" dirty="0"/>
          </a:p>
        </p:txBody>
      </p:sp>
      <p:sp>
        <p:nvSpPr>
          <p:cNvPr id="8" name="card Extended / unscented / ensemble KF"/>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Extended / unscented / ensemble KF"/>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Extended / unscented / ensemble KF</a:t>
            </a:r>
            <a:endParaRPr lang="en-US" sz="1600" dirty="0"/>
          </a:p>
        </p:txBody>
      </p:sp>
      <p:sp>
        <p:nvSpPr>
          <p:cNvPr id="10" name="equation Extended / unscented / ensemble KF"/>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EKF: linearise f, h with Jacobians</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EnKF: P ≈ sample covariance of N members</a:t>
            </a:r>
            <a:endParaRPr lang="en-US" sz="1500" dirty="0"/>
          </a:p>
        </p:txBody>
      </p:sp>
      <p:sp>
        <p:nvSpPr>
          <p:cNvPr id="11" name="desc Extended / unscented / ensemble KF"/>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Nonlinear and high-dimensional systems; also estimates parameters by augmenting the state.</a:t>
            </a:r>
            <a:endParaRPr lang="en-US" sz="1400" dirty="0"/>
          </a:p>
        </p:txBody>
      </p:sp>
      <p:sp>
        <p:nvSpPr>
          <p:cNvPr id="12" name="card Particle filter"/>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Particle filter"/>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Particle filter</a:t>
            </a:r>
            <a:endParaRPr lang="en-US" sz="1600" dirty="0"/>
          </a:p>
        </p:txBody>
      </p:sp>
      <p:sp>
        <p:nvSpPr>
          <p:cNvPr id="14" name="equation Particle filter"/>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xₖ⁽ⁱ⁾ ~ p(xₖ | xₖ₋₁⁽ⁱ⁾),   wₖ⁽ⁱ⁾ ∝ wₖ₋₁⁽ⁱ⁾ p(yₖ | xₖ⁽ⁱ⁾)</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resample when N_eff = 1 / Σ w² is small</a:t>
            </a:r>
            <a:endParaRPr lang="en-US" sz="1400" dirty="0"/>
          </a:p>
        </p:txBody>
      </p:sp>
      <p:sp>
        <p:nvSpPr>
          <p:cNvPr id="15" name="desc Particle filter"/>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Sequential Monte Carlo; any nonlinearity or noise distribution.</a:t>
            </a:r>
            <a:endParaRPr lang="en-US" sz="1400" dirty="0"/>
          </a:p>
        </p:txBody>
      </p:sp>
      <p:sp>
        <p:nvSpPr>
          <p:cNvPr id="16" name="card Variational assimilation (4D-Var)"/>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Variational assimilation (4D-Var)"/>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Variational assimilation (4D-Var)</a:t>
            </a:r>
            <a:endParaRPr lang="en-US" sz="1600" dirty="0"/>
          </a:p>
        </p:txBody>
      </p:sp>
      <p:sp>
        <p:nvSpPr>
          <p:cNvPr id="18" name="equation Variational assimilation (4D-Var)"/>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J(x₀) = ‖x₀ − x_b‖²_{B⁻¹} + Σₖ ‖yₖ − h(xₖ)‖²_{R⁻¹}</a:t>
            </a:r>
            <a:endParaRPr lang="en-US" sz="1400" dirty="0"/>
          </a:p>
        </p:txBody>
      </p:sp>
      <p:sp>
        <p:nvSpPr>
          <p:cNvPr id="19" name="desc Variational assimilation (4D-Var)"/>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Fit the initial state over a time window by optimisation with adjoints; weather-forecast heritage.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8 · CALIBRATION AND IDENTIFIABILITY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Estimating parameters, and knowing when you can</a:t>
            </a:r>
            <a:endParaRPr lang="en-US" sz="3600" dirty="0"/>
          </a:p>
        </p:txBody>
      </p:sp>
      <p:sp>
        <p:nvSpPr>
          <p:cNvPr id="4" name="card Least squares and likelihood"/>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Least squares and likelihood"/>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Least squares and likelihood</a:t>
            </a:r>
            <a:endParaRPr lang="en-US" sz="1600" dirty="0"/>
          </a:p>
        </p:txBody>
      </p:sp>
      <p:sp>
        <p:nvSpPr>
          <p:cNvPr id="6" name="equation Least squares and likelihood"/>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θ̂ = argmin Σ (yᵢ − f(tᵢ, θ))² / σᵢ²</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MLE: θ̂ = argmax log p(y | θ)</a:t>
            </a:r>
            <a:endParaRPr lang="en-US" sz="1600" dirty="0"/>
          </a:p>
        </p:txBody>
      </p:sp>
      <p:sp>
        <p:nvSpPr>
          <p:cNvPr id="7" name="desc Least squares and likelihood"/>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Standard fitting; weighted least squares equals MLE for Gaussian noise.</a:t>
            </a:r>
            <a:endParaRPr lang="en-US" sz="1400" dirty="0"/>
          </a:p>
        </p:txBody>
      </p:sp>
      <p:sp>
        <p:nvSpPr>
          <p:cNvPr id="8" name="card Bayesian inference (MCMC)"/>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Bayesian inference (MCMC)"/>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inference (MCMC)</a:t>
            </a:r>
            <a:endParaRPr lang="en-US" sz="1600" dirty="0"/>
          </a:p>
        </p:txBody>
      </p:sp>
      <p:sp>
        <p:nvSpPr>
          <p:cNvPr id="10" name="equation Bayesian inference (MCMC)"/>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p(θ | y) ∝ p(y | θ) p(θ)</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Metropolis: accept θ′ with min(1, p(θ′|y) / p(θ|y))</a:t>
            </a:r>
            <a:endParaRPr lang="en-US" sz="1500" dirty="0"/>
          </a:p>
        </p:txBody>
      </p:sp>
      <p:sp>
        <p:nvSpPr>
          <p:cNvPr id="11" name="desc Bayesian inference (MCMC)"/>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Full posterior for parameters and predictions; Hamiltonian MC (Stan) for many parameters.</a:t>
            </a:r>
            <a:endParaRPr lang="en-US" sz="1400" dirty="0"/>
          </a:p>
        </p:txBody>
      </p:sp>
      <p:sp>
        <p:nvSpPr>
          <p:cNvPr id="12" name="card Fisher information, Cramér–Rao"/>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Fisher information, Cramér–Rao"/>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Fisher information, Cramér–Rao</a:t>
            </a:r>
            <a:endParaRPr lang="en-US" sz="1600" dirty="0"/>
          </a:p>
        </p:txBody>
      </p:sp>
      <p:sp>
        <p:nvSpPr>
          <p:cNvPr id="14" name="equation Fisher information, Cramér–Rao"/>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FIM = Jᵀ Σ⁻¹ J,   J = ∂f/∂θ</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Var(θ̂ⱼ) ≥ [FIM⁻¹]ⱼⱼ</a:t>
            </a:r>
            <a:endParaRPr lang="en-US" sz="1600" dirty="0"/>
          </a:p>
        </p:txBody>
      </p:sp>
      <p:sp>
        <p:nvSpPr>
          <p:cNvPr id="15" name="desc Fisher information, Cramér–Rao"/>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Practical identifiability and optimal experimental design (D-optimal: maximise det FIM).</a:t>
            </a:r>
            <a:endParaRPr lang="en-US" sz="1400" dirty="0"/>
          </a:p>
        </p:txBody>
      </p:sp>
      <p:sp>
        <p:nvSpPr>
          <p:cNvPr id="16" name="card Approximate Bayesian computation"/>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Approximate Bayesian computation"/>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Approximate Bayesian computation</a:t>
            </a:r>
            <a:endParaRPr lang="en-US" sz="1600" dirty="0"/>
          </a:p>
        </p:txBody>
      </p:sp>
      <p:sp>
        <p:nvSpPr>
          <p:cNvPr id="18" name="equation Approximate Bayesian computation"/>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accept θ if ρ(s(y_sim(θ)), s(y_obs)) &lt; ε</a:t>
            </a:r>
            <a:endParaRPr lang="en-US" sz="1600" dirty="0"/>
          </a:p>
        </p:txBody>
      </p:sp>
      <p:sp>
        <p:nvSpPr>
          <p:cNvPr id="19" name="desc Approximate Bayesian computation"/>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Likelihood-free calibration with summary statistics s; for agent-based and stochastic models.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9 · UNCERTAINTY QUANTIFICATION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Propagating what we do not know</a:t>
            </a:r>
            <a:endParaRPr lang="en-US" sz="3600" dirty="0"/>
          </a:p>
        </p:txBody>
      </p:sp>
      <p:sp>
        <p:nvSpPr>
          <p:cNvPr id="4" name="card Monte Carlo propag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Monte Carlo propag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Monte Carlo propagation</a:t>
            </a:r>
            <a:endParaRPr lang="en-US" sz="1600" dirty="0"/>
          </a:p>
        </p:txBody>
      </p:sp>
      <p:sp>
        <p:nvSpPr>
          <p:cNvPr id="6" name="equation Monte Carlo propagatio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Y⁽ᵏ⁾ = g(X⁽ᵏ⁾),  X⁽ᵏ⁾ ~ p(X),  k = 1…N</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error of the mean ∝ σ / √N</a:t>
            </a:r>
            <a:endParaRPr lang="en-US" sz="1600" dirty="0"/>
          </a:p>
        </p:txBody>
      </p:sp>
      <p:sp>
        <p:nvSpPr>
          <p:cNvPr id="7" name="desc Monte Carlo propagation"/>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Simple and general; Latin hypercube sampling reduces variance for the same N.</a:t>
            </a:r>
            <a:endParaRPr lang="en-US" sz="1400" dirty="0"/>
          </a:p>
        </p:txBody>
      </p:sp>
      <p:sp>
        <p:nvSpPr>
          <p:cNvPr id="8" name="card Polynomial chaos expansio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Polynomial chaos expansio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Polynomial chaos expansion</a:t>
            </a:r>
            <a:endParaRPr lang="en-US" sz="1600" dirty="0"/>
          </a:p>
        </p:txBody>
      </p:sp>
      <p:sp>
        <p:nvSpPr>
          <p:cNvPr id="10" name="equation Polynomial chaos expansion"/>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Y ≈ Σ_α c_α Ψ_α(ξ),   c_α = E[Y Ψ_α] / E[Ψ_α²]</a:t>
            </a:r>
            <a:endParaRPr lang="en-US" sz="1600" dirty="0"/>
          </a:p>
        </p:txBody>
      </p:sp>
      <p:sp>
        <p:nvSpPr>
          <p:cNvPr id="11" name="desc Polynomial chaos expansion"/>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Orthogonal polynomials in random inputs ξ; mean and variance come straight from the coefficients.</a:t>
            </a:r>
            <a:endParaRPr lang="en-US" sz="1400" dirty="0"/>
          </a:p>
        </p:txBody>
      </p:sp>
      <p:sp>
        <p:nvSpPr>
          <p:cNvPr id="12" name="card Bayesian calibration (Kennedy–O'Haga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Bayesian calibration (Kennedy–O&amp;apos;Haga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calibration (Kennedy–O'Hagan)</a:t>
            </a:r>
            <a:endParaRPr lang="en-US" sz="1600" dirty="0"/>
          </a:p>
        </p:txBody>
      </p:sp>
      <p:sp>
        <p:nvSpPr>
          <p:cNvPr id="14" name="equation Bayesian calibration (Kennedy–O'Hagan)"/>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y_obs(x) = η(x, θ) + δ(x) + ε</a:t>
            </a:r>
            <a:endParaRPr lang="en-US" sz="1600" dirty="0"/>
          </a:p>
        </p:txBody>
      </p:sp>
      <p:sp>
        <p:nvSpPr>
          <p:cNvPr id="15" name="desc Bayesian calibration (Kennedy–O&amp;apos;Hagan)"/>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Simulator η, model discrepancy δ (a GP) and noise ε, so the model is not assumed perfect.</a:t>
            </a:r>
            <a:endParaRPr lang="en-US" sz="1400" dirty="0"/>
          </a:p>
        </p:txBody>
      </p:sp>
      <p:sp>
        <p:nvSpPr>
          <p:cNvPr id="16" name="card Aleatory vs epistemic"/>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Aleatory vs epistemic"/>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Aleatory vs epistemic</a:t>
            </a:r>
            <a:endParaRPr lang="en-US" sz="1600" dirty="0"/>
          </a:p>
        </p:txBody>
      </p:sp>
      <p:sp>
        <p:nvSpPr>
          <p:cNvPr id="18" name="equation Aleatory vs epistemic"/>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Var(Y) = E_θ[Var(Y | θ)] + Var_θ(E[Y | θ])</a:t>
            </a:r>
            <a:endParaRPr lang="en-US" sz="1600" dirty="0"/>
          </a:p>
        </p:txBody>
      </p:sp>
      <p:sp>
        <p:nvSpPr>
          <p:cNvPr id="19" name="desc Aleatory vs epistemic"/>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Law of total variance splits natural variability from lack of knowledge about θ.</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9 · SENSITIVITY ANALYSIS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Which inputs drive the output?</a:t>
            </a:r>
            <a:endParaRPr lang="en-US" sz="3600" dirty="0"/>
          </a:p>
        </p:txBody>
      </p:sp>
      <p:sp>
        <p:nvSpPr>
          <p:cNvPr id="4" name="card Local (normalised) sensitivity"/>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Local (normalised) sensitivity"/>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Local (normalised) sensitivity</a:t>
            </a:r>
            <a:endParaRPr lang="en-US" sz="1600" dirty="0"/>
          </a:p>
        </p:txBody>
      </p:sp>
      <p:sp>
        <p:nvSpPr>
          <p:cNvPr id="6" name="equation Local (normalised) sensitivity"/>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Sⱼ = (∂y / ∂θⱼ) · (θⱼ / y)</a:t>
            </a:r>
            <a:endParaRPr lang="en-US" sz="1600" dirty="0"/>
          </a:p>
        </p:txBody>
      </p:sp>
      <p:sp>
        <p:nvSpPr>
          <p:cNvPr id="7" name="desc Local (normalised) sensitivity"/>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Percent change in output per percent change in a parameter, at one point. Cheap but local.</a:t>
            </a:r>
            <a:endParaRPr lang="en-US" sz="1400" dirty="0"/>
          </a:p>
        </p:txBody>
      </p:sp>
      <p:sp>
        <p:nvSpPr>
          <p:cNvPr id="8" name="card Morris elementary effects"/>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Morris elementary effects"/>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Morris elementary effects</a:t>
            </a:r>
            <a:endParaRPr lang="en-US" sz="1600" dirty="0"/>
          </a:p>
        </p:txBody>
      </p:sp>
      <p:sp>
        <p:nvSpPr>
          <p:cNvPr id="10" name="equation Morris elementary effects"/>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EEⱼ = [y(θ + Δeⱼ) − y(θ)] / Δ;   μ*ⱼ, σⱼ</a:t>
            </a:r>
            <a:endParaRPr lang="en-US" sz="1600" dirty="0"/>
          </a:p>
        </p:txBody>
      </p:sp>
      <p:sp>
        <p:nvSpPr>
          <p:cNvPr id="11" name="desc Morris elementary effects"/>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Global screening with few runs: μ* ranks importance, σ flags nonlinearity and interactions.</a:t>
            </a:r>
            <a:endParaRPr lang="en-US" sz="1400" dirty="0"/>
          </a:p>
        </p:txBody>
      </p:sp>
      <p:sp>
        <p:nvSpPr>
          <p:cNvPr id="12" name="card Sobol variance indice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Sobol variance indice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Sobol variance indices</a:t>
            </a:r>
            <a:endParaRPr lang="en-US" sz="1600" dirty="0"/>
          </a:p>
        </p:txBody>
      </p:sp>
      <p:sp>
        <p:nvSpPr>
          <p:cNvPr id="14" name="equation Sobol variance indices"/>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Sⱼ = Var(E[Y | Xⱼ]) / Var(Y)</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S_Tj = E[Var(Y | X₋ⱼ)] / Var(Y)</a:t>
            </a:r>
            <a:endParaRPr lang="en-US" sz="1600" dirty="0"/>
          </a:p>
        </p:txBody>
      </p:sp>
      <p:sp>
        <p:nvSpPr>
          <p:cNvPr id="15" name="desc Sobol variance indices"/>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First-order and total effects; the reference global method (Saltelli estimators).</a:t>
            </a:r>
            <a:endParaRPr lang="en-US" sz="1400" dirty="0"/>
          </a:p>
        </p:txBody>
      </p:sp>
      <p:sp>
        <p:nvSpPr>
          <p:cNvPr id="16" name="card PRCC"/>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PRCC"/>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PRCC</a:t>
            </a:r>
            <a:endParaRPr lang="en-US" sz="1600" dirty="0"/>
          </a:p>
        </p:txBody>
      </p:sp>
      <p:sp>
        <p:nvSpPr>
          <p:cNvPr id="18" name="equation PRCC"/>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ρ(rank Xⱼ, rank Y | other inputs)</a:t>
            </a:r>
            <a:endParaRPr lang="en-US" sz="1600" dirty="0"/>
          </a:p>
        </p:txBody>
      </p:sp>
      <p:sp>
        <p:nvSpPr>
          <p:cNvPr id="19" name="desc PRCC"/>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Partial rank correlation with Latin hypercube sampling; monotonic relations, common in biology.</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10 · SURROGATES AND REDUCED-ORDER MODELS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Making twins fast enough to use</a:t>
            </a:r>
            <a:endParaRPr lang="en-US" sz="3600" dirty="0"/>
          </a:p>
        </p:txBody>
      </p:sp>
      <p:sp>
        <p:nvSpPr>
          <p:cNvPr id="4" name="card POD / PCA reduced basi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POD / PCA reduced basi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POD / PCA reduced basis</a:t>
            </a:r>
            <a:endParaRPr lang="en-US" sz="1600" dirty="0"/>
          </a:p>
        </p:txBody>
      </p:sp>
      <p:sp>
        <p:nvSpPr>
          <p:cNvPr id="6" name="equation POD / PCA reduced basi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U = Φ Σ Vᵀ (SVD of snapshots)</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u(x, t) ≈ Σᵢ₌₁ʳ aᵢ(t) φᵢ(x),  r ≪ n</a:t>
            </a:r>
            <a:endParaRPr lang="en-US" sz="1600" dirty="0"/>
          </a:p>
        </p:txBody>
      </p:sp>
      <p:sp>
        <p:nvSpPr>
          <p:cNvPr id="7" name="desc POD / PCA reduced basis"/>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Project PDE onto a few dominant modes; Galerkin ROMs run orders of magnitude faster.</a:t>
            </a:r>
            <a:endParaRPr lang="en-US" sz="1400" dirty="0"/>
          </a:p>
        </p:txBody>
      </p:sp>
      <p:sp>
        <p:nvSpPr>
          <p:cNvPr id="8" name="card Dynamic mode decompositio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Dynamic mode decompositio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Dynamic mode decomposition</a:t>
            </a:r>
            <a:endParaRPr lang="en-US" sz="1600" dirty="0"/>
          </a:p>
        </p:txBody>
      </p:sp>
      <p:sp>
        <p:nvSpPr>
          <p:cNvPr id="10" name="equation Dynamic mode decomposition"/>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xₖ₊₁ ≈ A xₖ,   A = X′ X⁺ ;  modes = eig(A)</a:t>
            </a:r>
            <a:endParaRPr lang="en-US" sz="1600" dirty="0"/>
          </a:p>
        </p:txBody>
      </p:sp>
      <p:sp>
        <p:nvSpPr>
          <p:cNvPr id="11" name="desc Dynamic mode decomposition"/>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Linear dynamics learned from data; growth rates and frequencies of each mode.</a:t>
            </a:r>
            <a:endParaRPr lang="en-US" sz="1400" dirty="0"/>
          </a:p>
        </p:txBody>
      </p:sp>
      <p:sp>
        <p:nvSpPr>
          <p:cNvPr id="12" name="card Gaussian-process emulator"/>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Gaussian-process emulator"/>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Gaussian-process emulator</a:t>
            </a:r>
            <a:endParaRPr lang="en-US" sz="1600" dirty="0"/>
          </a:p>
        </p:txBody>
      </p:sp>
      <p:sp>
        <p:nvSpPr>
          <p:cNvPr id="14" name="equation Gaussian-process emulator"/>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μ(x*) = k*ᵀ (K + σ²I)⁻¹ y</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σ²(x*) = k** − k*ᵀ (K + σ²I)⁻¹ k*</a:t>
            </a:r>
            <a:endParaRPr lang="en-US" sz="1600" dirty="0"/>
          </a:p>
        </p:txBody>
      </p:sp>
      <p:sp>
        <p:nvSpPr>
          <p:cNvPr id="15" name="desc Gaussian-process emulator"/>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Surrogate with its own error bar from ~10 runs per input; drives calibration and design.</a:t>
            </a:r>
            <a:endParaRPr lang="en-US" sz="1400" dirty="0"/>
          </a:p>
        </p:txBody>
      </p:sp>
      <p:sp>
        <p:nvSpPr>
          <p:cNvPr id="16" name="card Neural surrogate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Neural surrogate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Neural surrogates</a:t>
            </a:r>
            <a:endParaRPr lang="en-US" sz="1600" dirty="0"/>
          </a:p>
        </p:txBody>
      </p:sp>
      <p:sp>
        <p:nvSpPr>
          <p:cNvPr id="18" name="equation Neural surrogates"/>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PINN: L = L_data + λ ‖r(u_θ)‖²  (r = PDE residual)</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operator: G_θ : input field → solution field</a:t>
            </a:r>
            <a:endParaRPr lang="en-US" sz="1600" dirty="0"/>
          </a:p>
        </p:txBody>
      </p:sp>
      <p:sp>
        <p:nvSpPr>
          <p:cNvPr id="19" name="desc Neural surrogates"/>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Neural networks, physics-informed nets, neural ODEs and neural operators for large data.</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III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From twins to trials and decisions</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Families 11–12: generating virtual populations, designing and analysing virtual trials, optimal control and validation</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11 · VIRTUAL POPULATIONS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Generating realistic virtual subjects</a:t>
            </a:r>
            <a:endParaRPr lang="en-US" sz="3600" dirty="0"/>
          </a:p>
        </p:txBody>
      </p:sp>
      <p:sp>
        <p:nvSpPr>
          <p:cNvPr id="4" name="card Sampling covariates with copula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Sampling covariates with copula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Sampling covariates with copulas</a:t>
            </a:r>
            <a:endParaRPr lang="en-US" sz="1600" dirty="0"/>
          </a:p>
        </p:txBody>
      </p:sp>
      <p:sp>
        <p:nvSpPr>
          <p:cNvPr id="6" name="equation Sampling covariates with copula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F(x₁…x_d) = C(F₁(x₁), …, F_d(x_d))</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(Sklar's theorem)</a:t>
            </a:r>
            <a:endParaRPr lang="en-US" sz="1600" dirty="0"/>
          </a:p>
        </p:txBody>
      </p:sp>
      <p:sp>
        <p:nvSpPr>
          <p:cNvPr id="7" name="desc Sampling covariates with copulas"/>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Correct marginals plus correct correlations (age, weight, renal function, biomarkers).</a:t>
            </a:r>
            <a:endParaRPr lang="en-US" sz="1400" dirty="0"/>
          </a:p>
        </p:txBody>
      </p:sp>
      <p:sp>
        <p:nvSpPr>
          <p:cNvPr id="8" name="card Plausible-patient selectio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Plausible-patient selectio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Plausible-patient selection</a:t>
            </a:r>
            <a:endParaRPr lang="en-US" sz="1600" dirty="0"/>
          </a:p>
        </p:txBody>
      </p:sp>
      <p:sp>
        <p:nvSpPr>
          <p:cNvPr id="10" name="equation Plausible-patient selection"/>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θ ~ prior box;  keep if model output ∈ physiological range</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weight to match observed distribution</a:t>
            </a:r>
            <a:endParaRPr lang="en-US" sz="1400" dirty="0"/>
          </a:p>
        </p:txBody>
      </p:sp>
      <p:sp>
        <p:nvSpPr>
          <p:cNvPr id="11" name="desc Plausible-patient selection"/>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Accept–reject or prevalence weighting builds virtual populations matching real data (Allen et al. 2016).</a:t>
            </a:r>
            <a:endParaRPr lang="en-US" sz="1400" dirty="0"/>
          </a:p>
        </p:txBody>
      </p:sp>
      <p:sp>
        <p:nvSpPr>
          <p:cNvPr id="12" name="card Parameter posterior sampling"/>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Parameter posterior sampling"/>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Parameter posterior sampling</a:t>
            </a:r>
            <a:endParaRPr lang="en-US" sz="1600" dirty="0"/>
          </a:p>
        </p:txBody>
      </p:sp>
      <p:sp>
        <p:nvSpPr>
          <p:cNvPr id="14" name="equation Parameter posterior sampling"/>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θ⁽ᵏ⁾ ~ p(θ | data)  via MCMC / ABC / SBI</a:t>
            </a:r>
            <a:endParaRPr lang="en-US" sz="1600" dirty="0"/>
          </a:p>
        </p:txBody>
      </p:sp>
      <p:sp>
        <p:nvSpPr>
          <p:cNvPr id="15" name="desc Parameter posterior sampling"/>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Each draw is one virtual subject consistent with observed data and its uncertainty.</a:t>
            </a:r>
            <a:endParaRPr lang="en-US" sz="1400" dirty="0"/>
          </a:p>
        </p:txBody>
      </p:sp>
      <p:sp>
        <p:nvSpPr>
          <p:cNvPr id="16" name="card Deep generative model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Deep generative model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Deep generative models</a:t>
            </a:r>
            <a:endParaRPr lang="en-US" sz="1600" dirty="0"/>
          </a:p>
        </p:txBody>
      </p:sp>
      <p:sp>
        <p:nvSpPr>
          <p:cNvPr id="18" name="equation Deep generative models"/>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VAE: max E_q[log p(x|z)] − KL(q(z|x) ‖ p(z))</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GAN / diffusion for images and records</a:t>
            </a:r>
            <a:endParaRPr lang="en-US" sz="1500" dirty="0"/>
          </a:p>
        </p:txBody>
      </p:sp>
      <p:sp>
        <p:nvSpPr>
          <p:cNvPr id="19" name="desc Deep generative models"/>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Synthetic anatomies and records; check realism, coverage of rare cases and privacy.</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11 · VIRTUAL TRIAL DESIGN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Estimands, power and adaptive designs</a:t>
            </a:r>
            <a:endParaRPr lang="en-US" sz="3600" dirty="0"/>
          </a:p>
        </p:txBody>
      </p:sp>
      <p:sp>
        <p:nvSpPr>
          <p:cNvPr id="4" name="card Potential outcome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Potential outcome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Potential outcomes</a:t>
            </a:r>
            <a:endParaRPr lang="en-US" sz="1600" dirty="0"/>
          </a:p>
        </p:txBody>
      </p:sp>
      <p:sp>
        <p:nvSpPr>
          <p:cNvPr id="6" name="equation Potential outcome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ATE = E[Y(1) − Y(0)];  ITE ᵢ = Yᵢ(1) − Yᵢ(0)</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twins observe both arms for each subject</a:t>
            </a:r>
            <a:endParaRPr lang="en-US" sz="1500" dirty="0"/>
          </a:p>
        </p:txBody>
      </p:sp>
      <p:sp>
        <p:nvSpPr>
          <p:cNvPr id="7" name="desc Potential outcomes"/>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Virtual subjects receive every arm, so individual effects are directly computable.</a:t>
            </a:r>
            <a:endParaRPr lang="en-US" sz="1400" dirty="0"/>
          </a:p>
        </p:txBody>
      </p:sp>
      <p:sp>
        <p:nvSpPr>
          <p:cNvPr id="8" name="card Sample size and power"/>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Sample size and power"/>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Sample size and power</a:t>
            </a:r>
            <a:endParaRPr lang="en-US" sz="1600" dirty="0"/>
          </a:p>
        </p:txBody>
      </p:sp>
      <p:sp>
        <p:nvSpPr>
          <p:cNvPr id="10" name="equation Sample size and power"/>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parallel: n = 2(z₁₋α/₂ + z₁₋β)² σ² / δ²</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paired: n = (z₁₋α/₂ + z₁₋β)² σ_Δ² / δ²</a:t>
            </a:r>
            <a:endParaRPr lang="en-US" sz="1500" dirty="0"/>
          </a:p>
        </p:txBody>
      </p:sp>
      <p:sp>
        <p:nvSpPr>
          <p:cNvPr id="11" name="desc Sample size and power"/>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Simulated trials estimate power directly: the fraction of replicate trials that succeed.</a:t>
            </a:r>
            <a:endParaRPr lang="en-US" sz="1400" dirty="0"/>
          </a:p>
        </p:txBody>
      </p:sp>
      <p:sp>
        <p:nvSpPr>
          <p:cNvPr id="12" name="card Bayesian adaptive desig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Bayesian adaptive desig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adaptive design</a:t>
            </a:r>
            <a:endParaRPr lang="en-US" sz="1600" dirty="0"/>
          </a:p>
        </p:txBody>
      </p:sp>
      <p:sp>
        <p:nvSpPr>
          <p:cNvPr id="14" name="equation Bayesian adaptive design"/>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stop if P(δ &gt; 0 | data) &gt; 0.975</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Thompson: assign arm a with P(a is best)</a:t>
            </a:r>
            <a:endParaRPr lang="en-US" sz="1600" dirty="0"/>
          </a:p>
        </p:txBody>
      </p:sp>
      <p:sp>
        <p:nvSpPr>
          <p:cNvPr id="15" name="desc Bayesian adaptive design"/>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Interim decisions and response-adaptive randomisation; operating characteristics found by simulation.</a:t>
            </a:r>
            <a:endParaRPr lang="en-US" sz="1400" dirty="0"/>
          </a:p>
        </p:txBody>
      </p:sp>
      <p:sp>
        <p:nvSpPr>
          <p:cNvPr id="16" name="card Dose-finding (CRM)"/>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Dose-finding (CRM)"/>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Dose-finding (CRM)</a:t>
            </a:r>
            <a:endParaRPr lang="en-US" sz="1600" dirty="0"/>
          </a:p>
        </p:txBody>
      </p:sp>
      <p:sp>
        <p:nvSpPr>
          <p:cNvPr id="18" name="equation Dose-finding (CRM)"/>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P(tox | dᵢ) = pᵢ^exp(a);  next dose ≈ target probability</a:t>
            </a:r>
            <a:endParaRPr lang="en-US" sz="1600" dirty="0"/>
          </a:p>
        </p:txBody>
      </p:sp>
      <p:sp>
        <p:nvSpPr>
          <p:cNvPr id="19" name="desc Dose-finding (CRM)"/>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Continual reassessment method updates the dose–toxicity curve after each cohort.</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11 · TWINS INSIDE REAL TRIALS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Augmenting, not replacing, clinical evidence</a:t>
            </a:r>
            <a:endParaRPr lang="en-US" sz="3600" dirty="0"/>
          </a:p>
        </p:txBody>
      </p:sp>
      <p:sp>
        <p:nvSpPr>
          <p:cNvPr id="4" name="card Prognostic covariate adjustment"/>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Prognostic covariate adjustment"/>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Prognostic covariate adjustment</a:t>
            </a:r>
            <a:endParaRPr lang="en-US" sz="1600" dirty="0"/>
          </a:p>
        </p:txBody>
      </p:sp>
      <p:sp>
        <p:nvSpPr>
          <p:cNvPr id="6" name="equation Prognostic covariate adjustment"/>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Yᵢ = β₀ + τ Tᵢ + β₁ m̂ᵢ + εᵢ   (PROCOVA)</a:t>
            </a:r>
            <a:endParaRPr lang="en-US" sz="1600" dirty="0"/>
          </a:p>
        </p:txBody>
      </p:sp>
      <p:sp>
        <p:nvSpPr>
          <p:cNvPr id="7" name="desc Prognostic covariate adjustment"/>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Twin-predicted control outcome m̂ᵢ as covariate; smaller variance, fewer patients for the same power.</a:t>
            </a:r>
            <a:endParaRPr lang="en-US" sz="1400" dirty="0"/>
          </a:p>
        </p:txBody>
      </p:sp>
      <p:sp>
        <p:nvSpPr>
          <p:cNvPr id="8" name="card Synthetic / external control arm"/>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Synthetic / external control arm"/>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Synthetic / external control arm</a:t>
            </a:r>
            <a:endParaRPr lang="en-US" sz="1600" dirty="0"/>
          </a:p>
        </p:txBody>
      </p:sp>
      <p:sp>
        <p:nvSpPr>
          <p:cNvPr id="10" name="equation Synthetic / external control arm"/>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e(x) = P(T = 1 | x),  weights 1/e(x), 1/(1 − e(x))</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ATE_IPTW = mean weighted difference</a:t>
            </a:r>
            <a:endParaRPr lang="en-US" sz="1500" dirty="0"/>
          </a:p>
        </p:txBody>
      </p:sp>
      <p:sp>
        <p:nvSpPr>
          <p:cNvPr id="11" name="desc Synthetic / external control arm"/>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Propensity scores balance external or simulated controls against treated patients.</a:t>
            </a:r>
            <a:endParaRPr lang="en-US" sz="1400" dirty="0"/>
          </a:p>
        </p:txBody>
      </p:sp>
      <p:sp>
        <p:nvSpPr>
          <p:cNvPr id="12" name="card Model observers for imaging trial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Model observers for imaging trial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Model observers for imaging trials</a:t>
            </a:r>
            <a:endParaRPr lang="en-US" sz="1600" dirty="0"/>
          </a:p>
        </p:txBody>
      </p:sp>
      <p:sp>
        <p:nvSpPr>
          <p:cNvPr id="14" name="equation Model observers for imaging trials"/>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CHO: w = K⁻¹ Δs̄,   SNR² = Δs̄ᵀ K⁻¹ Δs̄</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AUC = Φ(SNR / √2)</a:t>
            </a:r>
            <a:endParaRPr lang="en-US" sz="1600" dirty="0"/>
          </a:p>
        </p:txBody>
      </p:sp>
      <p:sp>
        <p:nvSpPr>
          <p:cNvPr id="15" name="desc Model observers for imaging trials"/>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Channelised Hotelling observer replaces readers in virtual imaging trials (e.g. VICTRE).</a:t>
            </a:r>
            <a:endParaRPr lang="en-US" sz="1400" dirty="0"/>
          </a:p>
        </p:txBody>
      </p:sp>
      <p:sp>
        <p:nvSpPr>
          <p:cNvPr id="16" name="card Health-economic model"/>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Health-economic model"/>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Health-economic model</a:t>
            </a:r>
            <a:endParaRPr lang="en-US" sz="1600" dirty="0"/>
          </a:p>
        </p:txBody>
      </p:sp>
      <p:sp>
        <p:nvSpPr>
          <p:cNvPr id="18" name="equation Health-economic model"/>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ICER = (C₁ − C₀) / (QALY₁ − QALY₀)</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QALY = Σₜ uₜ · Δt · (1 + r)⁻ᵗ</a:t>
            </a:r>
            <a:endParaRPr lang="en-US" sz="1600" dirty="0"/>
          </a:p>
        </p:txBody>
      </p:sp>
      <p:sp>
        <p:nvSpPr>
          <p:cNvPr id="19" name="desc Health-economic model"/>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Markov cohort over health states, with utilities u and discounting r; value of the intervention.</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12 · OPTIMISATION AND CONTROL</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Using the twin to decide</a:t>
            </a:r>
            <a:endParaRPr lang="en-US" sz="3600" dirty="0"/>
          </a:p>
        </p:txBody>
      </p:sp>
      <p:sp>
        <p:nvSpPr>
          <p:cNvPr id="4" name="card Optimal control"/>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Optimal control"/>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Optimal control</a:t>
            </a:r>
            <a:endParaRPr lang="en-US" sz="1600" dirty="0"/>
          </a:p>
        </p:txBody>
      </p:sp>
      <p:sp>
        <p:nvSpPr>
          <p:cNvPr id="6" name="equation Optimal control"/>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min_u ∫₀ᵀ L(x, u) dt + Φ(x(T))  s.t. dx/dt = f(x, u)</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Pontryagin: H = L + λᵀ f,  ∂H/∂u = 0</a:t>
            </a:r>
            <a:endParaRPr lang="en-US" sz="1400" dirty="0"/>
          </a:p>
        </p:txBody>
      </p:sp>
      <p:sp>
        <p:nvSpPr>
          <p:cNvPr id="7" name="desc Optimal control"/>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Best dosing or therapy schedule over a horizon, with toxicity and resource constraints.</a:t>
            </a:r>
            <a:endParaRPr lang="en-US" sz="1400" dirty="0"/>
          </a:p>
        </p:txBody>
      </p:sp>
      <p:sp>
        <p:nvSpPr>
          <p:cNvPr id="8" name="card Model predictive control"/>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Model predictive control"/>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Model predictive control</a:t>
            </a:r>
            <a:endParaRPr lang="en-US" sz="1600" dirty="0"/>
          </a:p>
        </p:txBody>
      </p:sp>
      <p:sp>
        <p:nvSpPr>
          <p:cNvPr id="10" name="equation Model predictive control"/>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min Σₖ₌₀ᴺ⁻¹ ‖xₖ − x_ref‖²_Q + ‖uₖ‖²_R  ; apply u₀, repeat</a:t>
            </a:r>
            <a:endParaRPr lang="en-US" sz="1400" dirty="0"/>
          </a:p>
        </p:txBody>
      </p:sp>
      <p:sp>
        <p:nvSpPr>
          <p:cNvPr id="11" name="desc Model predictive control"/>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Re-optimise at every step with the updated twin (e.g. artificial pancreas).</a:t>
            </a:r>
            <a:endParaRPr lang="en-US" sz="1400" dirty="0"/>
          </a:p>
        </p:txBody>
      </p:sp>
      <p:sp>
        <p:nvSpPr>
          <p:cNvPr id="12" name="card Reinforcement learning"/>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Reinforcement learning"/>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Reinforcement learning</a:t>
            </a:r>
            <a:endParaRPr lang="en-US" sz="1600" dirty="0"/>
          </a:p>
        </p:txBody>
      </p:sp>
      <p:sp>
        <p:nvSpPr>
          <p:cNvPr id="14" name="equation Reinforcement learning"/>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V*(s) = max_a [ r(s, a) + γ E V*(s′) ]   (Bellman)</a:t>
            </a:r>
            <a:endParaRPr lang="en-US" sz="1500" dirty="0"/>
          </a:p>
        </p:txBody>
      </p:sp>
      <p:sp>
        <p:nvSpPr>
          <p:cNvPr id="15" name="desc Reinforcement learning"/>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Learn a policy by interacting with the twin; adaptive treatment strategies. Train in silico only.</a:t>
            </a:r>
            <a:endParaRPr lang="en-US" sz="1400" dirty="0"/>
          </a:p>
        </p:txBody>
      </p:sp>
      <p:sp>
        <p:nvSpPr>
          <p:cNvPr id="16" name="card Bayesian and multi-objective optimisation"/>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Bayesian and multi-objective optimisation"/>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and multi-objective optimisation</a:t>
            </a:r>
            <a:endParaRPr lang="en-US" sz="1600" dirty="0"/>
          </a:p>
        </p:txBody>
      </p:sp>
      <p:sp>
        <p:nvSpPr>
          <p:cNvPr id="18" name="equation Bayesian and multi-objective optimisation"/>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x_next = argmax EI(x) on a GP surrogate</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Pareto: no objective improves without another worsening</a:t>
            </a:r>
            <a:endParaRPr lang="en-US" sz="1400" dirty="0"/>
          </a:p>
        </p:txBody>
      </p:sp>
      <p:sp>
        <p:nvSpPr>
          <p:cNvPr id="19" name="desc Bayesian and multi-objective optimisation"/>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Few expensive evaluations; efficacy vs toxicity vs cost trade-offs.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12 · MODEL FIT AND SELECTION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Does the model describe the data?</a:t>
            </a:r>
            <a:endParaRPr lang="en-US" sz="3600" dirty="0"/>
          </a:p>
        </p:txBody>
      </p:sp>
      <p:sp>
        <p:nvSpPr>
          <p:cNvPr id="4" name="card Error metric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Error metric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Error metrics</a:t>
            </a:r>
            <a:endParaRPr lang="en-US" sz="1600" dirty="0"/>
          </a:p>
        </p:txBody>
      </p:sp>
      <p:sp>
        <p:nvSpPr>
          <p:cNvPr id="6" name="equation Error metric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RMSE = √(mean (y − ŷ)²),  MAE = mean |y − ŷ|</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R² = 1 − SS_res / SS_tot</a:t>
            </a:r>
            <a:endParaRPr lang="en-US" sz="1600" dirty="0"/>
          </a:p>
        </p:txBody>
      </p:sp>
      <p:sp>
        <p:nvSpPr>
          <p:cNvPr id="7" name="desc Error metrics"/>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Accuracy of predictions; report on held-out data, not the fitting data.</a:t>
            </a:r>
            <a:endParaRPr lang="en-US" sz="1400" dirty="0"/>
          </a:p>
        </p:txBody>
      </p:sp>
      <p:sp>
        <p:nvSpPr>
          <p:cNvPr id="8" name="card Information criteria"/>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Information criteria"/>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Information criteria</a:t>
            </a:r>
            <a:endParaRPr lang="en-US" sz="1600" dirty="0"/>
          </a:p>
        </p:txBody>
      </p:sp>
      <p:sp>
        <p:nvSpPr>
          <p:cNvPr id="10" name="equation Information criteria"/>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AIC = 2k − 2 ln L̂</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BIC = k ln n − 2 ln L̂</a:t>
            </a:r>
            <a:endParaRPr lang="en-US" sz="1600" dirty="0"/>
          </a:p>
        </p:txBody>
      </p:sp>
      <p:sp>
        <p:nvSpPr>
          <p:cNvPr id="11" name="desc Information criteria"/>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Trade fit against complexity k; choose between growth laws, compartments or covariates.</a:t>
            </a:r>
            <a:endParaRPr lang="en-US" sz="1400" dirty="0"/>
          </a:p>
        </p:txBody>
      </p:sp>
      <p:sp>
        <p:nvSpPr>
          <p:cNvPr id="12" name="card Cross-valida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Cross-valida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Cross-validation</a:t>
            </a:r>
            <a:endParaRPr lang="en-US" sz="1600" dirty="0"/>
          </a:p>
        </p:txBody>
      </p:sp>
      <p:sp>
        <p:nvSpPr>
          <p:cNvPr id="14" name="equation Cross-validation"/>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CV = (1/K) Σₖ loss(y_k, f̂₋ₖ(x_k))</a:t>
            </a:r>
            <a:endParaRPr lang="en-US" sz="1600" dirty="0"/>
          </a:p>
        </p:txBody>
      </p:sp>
      <p:sp>
        <p:nvSpPr>
          <p:cNvPr id="15" name="desc Cross-validation"/>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K-fold or leave-one-subject-out; nested CV when tuning hyper-parameters too.</a:t>
            </a:r>
            <a:endParaRPr lang="en-US" sz="1400" dirty="0"/>
          </a:p>
        </p:txBody>
      </p:sp>
      <p:sp>
        <p:nvSpPr>
          <p:cNvPr id="16" name="card Predictive check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Predictive check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Predictive checks</a:t>
            </a:r>
            <a:endParaRPr lang="en-US" sz="1600" dirty="0"/>
          </a:p>
        </p:txBody>
      </p:sp>
      <p:sp>
        <p:nvSpPr>
          <p:cNvPr id="18" name="equation Predictive checks"/>
          <p:cNvSpPr txBox="1"/>
          <p:nvPr/>
        </p:nvSpPr>
        <p:spPr>
          <a:xfrm>
            <a:off x="6419088" y="4572000"/>
            <a:ext cx="4992624" cy="8229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posterior predictive: y_rep ~ p(y | θ), θ ~ p(θ | y)</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VPC: observed percentiles inside simulated bands</a:t>
            </a:r>
            <a:endParaRPr lang="en-US" sz="1400" dirty="0"/>
          </a:p>
        </p:txBody>
      </p:sp>
      <p:sp>
        <p:nvSpPr>
          <p:cNvPr id="19" name="desc Predictive checks"/>
          <p:cNvSpPr txBox="1"/>
          <p:nvPr/>
        </p:nvSpPr>
        <p:spPr>
          <a:xfrm>
            <a:off x="641908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Simulate new data from the fitted model and compare to what was observed.</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FAMILY 12 · VERIFICATION, VALIDATION, CREDIBILITY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When can a twin be trusted?</a:t>
            </a:r>
            <a:endParaRPr lang="en-US" sz="3600" dirty="0"/>
          </a:p>
        </p:txBody>
      </p:sp>
      <p:sp>
        <p:nvSpPr>
          <p:cNvPr id="4" name="card Verification (solve equations right)"/>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Verification (solve equations right)"/>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Verification (solve equations right)</a:t>
            </a:r>
            <a:endParaRPr lang="en-US" sz="1600" dirty="0"/>
          </a:p>
        </p:txBody>
      </p:sp>
      <p:sp>
        <p:nvSpPr>
          <p:cNvPr id="6" name="equation Verification (solve equations right)"/>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observed order p = ln(e₁ / e₂) / ln r</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Richardson: f_exact ≈ f₁ + (f₁ − f₂) / (rᵖ − 1)</a:t>
            </a:r>
            <a:endParaRPr lang="en-US" sz="1600" dirty="0"/>
          </a:p>
        </p:txBody>
      </p:sp>
      <p:sp>
        <p:nvSpPr>
          <p:cNvPr id="7" name="desc Verification (solve equations right)"/>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Mesh and time-step convergence; code tested against analytical solutions.</a:t>
            </a:r>
            <a:endParaRPr lang="en-US" sz="1400" dirty="0"/>
          </a:p>
        </p:txBody>
      </p:sp>
      <p:sp>
        <p:nvSpPr>
          <p:cNvPr id="8" name="card Validation (solve right equations)"/>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Validation (solve right equations)"/>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Validation (solve right equations)</a:t>
            </a:r>
            <a:endParaRPr lang="en-US" sz="1600" dirty="0"/>
          </a:p>
        </p:txBody>
      </p:sp>
      <p:sp>
        <p:nvSpPr>
          <p:cNvPr id="10" name="equation Validation (solve right equations)"/>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E = S − D,   compare |E| with u_val = √(u_num² + u_input² + u_D²)</a:t>
            </a:r>
            <a:endParaRPr lang="en-US" sz="1400" dirty="0"/>
          </a:p>
        </p:txBody>
      </p:sp>
      <p:sp>
        <p:nvSpPr>
          <p:cNvPr id="11" name="desc Validation (solve right equations)"/>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Simulation S vs experiment D, judged against combined uncertainty (ASME V&amp;V 20).</a:t>
            </a:r>
            <a:endParaRPr lang="en-US" sz="1400" dirty="0"/>
          </a:p>
        </p:txBody>
      </p:sp>
      <p:sp>
        <p:nvSpPr>
          <p:cNvPr id="12" name="card Probabilistic calibra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Probabilistic calibra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Probabilistic calibration</a:t>
            </a:r>
            <a:endParaRPr lang="en-US" sz="1600" dirty="0"/>
          </a:p>
        </p:txBody>
      </p:sp>
      <p:sp>
        <p:nvSpPr>
          <p:cNvPr id="14" name="equation Probabilistic calibration"/>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coverage = P(y ∈ 95 % prediction interval) ≈ 0.95</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PIT values ~ Uniform(0, 1)</a:t>
            </a:r>
            <a:endParaRPr lang="en-US" sz="1600" dirty="0"/>
          </a:p>
        </p:txBody>
      </p:sp>
      <p:sp>
        <p:nvSpPr>
          <p:cNvPr id="15" name="desc Probabilistic calibration"/>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Are the twin's uncertainty bands honest? Check on new subjects.</a:t>
            </a:r>
            <a:endParaRPr lang="en-US" sz="1400" dirty="0"/>
          </a:p>
        </p:txBody>
      </p:sp>
      <p:sp>
        <p:nvSpPr>
          <p:cNvPr id="16" name="card Risk-informed credibility"/>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Risk-informed credibility"/>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Risk-informed credibility</a:t>
            </a:r>
            <a:endParaRPr lang="en-US" sz="1600" dirty="0"/>
          </a:p>
        </p:txBody>
      </p:sp>
      <p:sp>
        <p:nvSpPr>
          <p:cNvPr id="18" name="equation Risk-informed credibility"/>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evidence needed ∝ model influence × decision consequence</a:t>
            </a:r>
            <a:endParaRPr lang="en-US" sz="1500" dirty="0"/>
          </a:p>
        </p:txBody>
      </p:sp>
      <p:sp>
        <p:nvSpPr>
          <p:cNvPr id="19" name="desc Risk-informed credibility"/>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ASME V&amp;V 40 and FDA guidance: define context of use, then scale verification, validation and UQ.</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CHOOSING A MODEL</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Match the question to the model family</a:t>
            </a:r>
            <a:endParaRPr lang="en-US" sz="3600" dirty="0"/>
          </a:p>
        </p:txBody>
      </p:sp>
      <p:graphicFrame>
        <p:nvGraphicFramePr>
          <p:cNvPr id="30" name="choosing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023360"/>
                <a:gridCol w="3749040"/>
                <a:gridCol w="3291840"/>
              </a:tblGrid>
              <a:tr h="429768">
                <a:tc>
                  <a:txBody>
                    <a:bodyPr/>
                    <a:lstStyle/>
                    <a:p>
                      <a:pPr indent="0" marL="0">
                        <a:buNone/>
                      </a:pPr>
                      <a:r>
                        <a:rPr lang="en-US" sz="1300" b="1" dirty="0">
                          <a:solidFill>
                            <a:schemeClr val="bg1"/>
                          </a:solidFill>
                        </a:rPr>
                        <a:t>Question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Start with</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Upgrade to</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r>
              <a:tr h="429768">
                <a:tc>
                  <a:txBody>
                    <a:bodyPr/>
                    <a:lstStyle/>
                    <a:p>
                      <a:pPr indent="0" marL="0">
                        <a:buNone/>
                      </a:pPr>
                      <a:r>
                        <a:rPr lang="en-US" sz="1300" b="1" dirty="0">
                          <a:solidFill>
                            <a:schemeClr val="tx2"/>
                          </a:solidFill>
                        </a:rPr>
                        <a:t>How does exposure change over time?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Compartmental PK</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PBPK, TMDD</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How does exposure produce effect?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Emax / Hill, indirect response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QSP network</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How does disease evolve?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Logistic / Gompertz, SIR, slope model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Reaction–diffusion, agent-based</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How do individuals differ?</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Mixed effects (NLME, LMM)</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Hierarchical Bayes, copula cohorts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How do I keep the twin current?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Kalman / EKF</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Particle filter, 4D-Var, SBI</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How sure is the prediction?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Monte Carlo + Morris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Sobol, polynomial chaos, KOH</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Too slow to run thousands of times?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GP emulator, POD</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Neural operator, PINN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Does the treatment work in a virtual trial?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Paired design, power by simulation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Adaptive design, PROCOVA</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What should be done next?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Optimal control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MPC, reinforcement learning</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TAKEAWAYS</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Mechanism, data, uncertainty, decision</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marL="342900" indent="-342900">
              <a:spcAft>
                <a:spcPts val="600"/>
              </a:spcAft>
              <a:buSzPct val="100000"/>
              <a:buChar char="•"/>
            </a:pPr>
            <a:r>
              <a:rPr lang="en-US" sz="1800" dirty="0">
                <a:solidFill>
                  <a:schemeClr val="bg2"/>
                </a:solidFill>
              </a:rPr>
              <a:t>A twin is a state-space model (Families 1–6) kept current by data assimilation (8).</a:t>
            </a:r>
            <a:endParaRPr lang="en-US" sz="1800" dirty="0"/>
          </a:p>
          <a:p>
            <a:pPr marL="342900" indent="-342900">
              <a:spcAft>
                <a:spcPts val="600"/>
              </a:spcAft>
              <a:buSzPct val="100000"/>
              <a:buChar char="•"/>
            </a:pPr>
            <a:r>
              <a:rPr lang="en-US" sz="1800" dirty="0">
                <a:solidFill>
                  <a:schemeClr val="bg2"/>
                </a:solidFill>
              </a:rPr>
              <a:t>Population, UQ and surrogate models (7, 9, 10) turn one twin into a fast, honest virtual cohort.</a:t>
            </a:r>
            <a:endParaRPr lang="en-US" sz="1800" dirty="0"/>
          </a:p>
          <a:p>
            <a:pPr marL="342900" indent="-342900">
              <a:buSzPct val="100000"/>
              <a:buChar char="•"/>
            </a:pPr>
            <a:r>
              <a:rPr lang="en-US" sz="1800" dirty="0">
                <a:solidFill>
                  <a:schemeClr val="bg2"/>
                </a:solidFill>
              </a:rPr>
              <a:t>Trial, control and V&amp;V models (11, 12) turn the cohort into credible decisions.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KEY REFERENCES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Classic sources for the models</a:t>
            </a:r>
            <a:endParaRPr lang="en-US" sz="3600" dirty="0"/>
          </a:p>
        </p:txBody>
      </p:sp>
      <p:sp>
        <p:nvSpPr>
          <p:cNvPr id="4" name="Text 2"/>
          <p:cNvSpPr txBox="1"/>
          <p:nvPr/>
        </p:nvSpPr>
        <p:spPr>
          <a:xfrm>
            <a:off x="548640" y="1554480"/>
            <a:ext cx="5440680" cy="4480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Gabrielsson J, Weiner D. Pharmacokinetic and Pharmacodynamic Data Analysis. 5th ed. 2016</a:t>
            </a:r>
            <a:endParaRPr lang="en-US" sz="1300" dirty="0"/>
          </a:p>
          <a:p>
            <a:pPr marL="342900" indent="-342900">
              <a:spcAft>
                <a:spcPts val="600"/>
              </a:spcAft>
              <a:buSzPct val="100000"/>
              <a:buChar char="•"/>
            </a:pPr>
            <a:r>
              <a:rPr lang="en-US" sz="1300" dirty="0">
                <a:solidFill>
                  <a:schemeClr val="tx1"/>
                </a:solidFill>
              </a:rPr>
              <a:t>Owen JS, Fiedler-Kelly J. Introduction to Population PK/PD Analysis with NONMEM. 2014</a:t>
            </a:r>
            <a:endParaRPr lang="en-US" sz="1300" dirty="0"/>
          </a:p>
          <a:p>
            <a:pPr marL="342900" indent="-342900">
              <a:spcAft>
                <a:spcPts val="600"/>
              </a:spcAft>
              <a:buSzPct val="100000"/>
              <a:buChar char="•"/>
            </a:pPr>
            <a:r>
              <a:rPr lang="en-US" sz="1300" dirty="0">
                <a:solidFill>
                  <a:schemeClr val="tx1"/>
                </a:solidFill>
              </a:rPr>
              <a:t>Keener J, Sneyd J. Mathematical Physiology. 2nd ed. Springer 2009</a:t>
            </a:r>
            <a:endParaRPr lang="en-US" sz="1300" dirty="0"/>
          </a:p>
          <a:p>
            <a:pPr marL="342900" indent="-342900">
              <a:spcAft>
                <a:spcPts val="600"/>
              </a:spcAft>
              <a:buSzPct val="100000"/>
              <a:buChar char="•"/>
            </a:pPr>
            <a:r>
              <a:rPr lang="en-US" sz="1300" dirty="0">
                <a:solidFill>
                  <a:schemeClr val="tx1"/>
                </a:solidFill>
              </a:rPr>
              <a:t>Murray JD. Mathematical Biology I &amp; II. Springer 2002–03</a:t>
            </a:r>
            <a:endParaRPr lang="en-US" sz="1300" dirty="0"/>
          </a:p>
          <a:p>
            <a:pPr marL="342900" indent="-342900">
              <a:spcAft>
                <a:spcPts val="600"/>
              </a:spcAft>
              <a:buSzPct val="100000"/>
              <a:buChar char="•"/>
            </a:pPr>
            <a:r>
              <a:rPr lang="en-US" sz="1300" dirty="0">
                <a:solidFill>
                  <a:schemeClr val="tx1"/>
                </a:solidFill>
              </a:rPr>
              <a:t>Kalman RE. A new approach to linear filtering. J Basic Eng 1960</a:t>
            </a:r>
            <a:endParaRPr lang="en-US" sz="1300" dirty="0"/>
          </a:p>
          <a:p>
            <a:pPr marL="342900" indent="-342900">
              <a:spcAft>
                <a:spcPts val="600"/>
              </a:spcAft>
              <a:buSzPct val="100000"/>
              <a:buChar char="•"/>
            </a:pPr>
            <a:r>
              <a:rPr lang="en-US" sz="1300" dirty="0">
                <a:solidFill>
                  <a:schemeClr val="tx1"/>
                </a:solidFill>
              </a:rPr>
              <a:t>Särkkä S. Bayesian Filtering and Smoothing. Cambridge 2013</a:t>
            </a:r>
            <a:endParaRPr lang="en-US" sz="1300" dirty="0"/>
          </a:p>
          <a:p>
            <a:pPr marL="342900" indent="-342900">
              <a:spcAft>
                <a:spcPts val="600"/>
              </a:spcAft>
              <a:buSzPct val="100000"/>
              <a:buChar char="•"/>
            </a:pPr>
            <a:r>
              <a:rPr lang="en-US" sz="1300" dirty="0">
                <a:solidFill>
                  <a:schemeClr val="tx1"/>
                </a:solidFill>
              </a:rPr>
              <a:t>Kennedy MC, O'Hagan A. Bayesian calibration of computer models. JRSS B 2001</a:t>
            </a:r>
            <a:endParaRPr lang="en-US" sz="1300" dirty="0"/>
          </a:p>
          <a:p>
            <a:pPr marL="342900" indent="-342900">
              <a:spcAft>
                <a:spcPts val="600"/>
              </a:spcAft>
              <a:buSzPct val="100000"/>
              <a:buChar char="•"/>
            </a:pPr>
            <a:r>
              <a:rPr lang="en-US" sz="1300" dirty="0">
                <a:solidFill>
                  <a:schemeClr val="tx1"/>
                </a:solidFill>
              </a:rPr>
              <a:t>Saltelli A et al. Global Sensitivity Analysis: The Primer. Wiley 2008</a:t>
            </a:r>
            <a:endParaRPr lang="en-US" sz="1300" dirty="0"/>
          </a:p>
        </p:txBody>
      </p:sp>
      <p:sp>
        <p:nvSpPr>
          <p:cNvPr id="5" name="Text 3"/>
          <p:cNvSpPr txBox="1"/>
          <p:nvPr/>
        </p:nvSpPr>
        <p:spPr>
          <a:xfrm>
            <a:off x="6172200" y="1554480"/>
            <a:ext cx="5440680" cy="4480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Smith RC. Uncertainty Quantification. SIAM 2014</a:t>
            </a:r>
            <a:endParaRPr lang="en-US" sz="1300" dirty="0"/>
          </a:p>
          <a:p>
            <a:pPr marL="342900" indent="-342900">
              <a:spcAft>
                <a:spcPts val="600"/>
              </a:spcAft>
              <a:buSzPct val="100000"/>
              <a:buChar char="•"/>
            </a:pPr>
            <a:r>
              <a:rPr lang="en-US" sz="1300" dirty="0">
                <a:solidFill>
                  <a:schemeClr val="tx1"/>
                </a:solidFill>
              </a:rPr>
              <a:t>Rasmussen CE, Williams CKI. Gaussian Processes for ML. MIT Press 2006</a:t>
            </a:r>
            <a:endParaRPr lang="en-US" sz="1300" dirty="0"/>
          </a:p>
          <a:p>
            <a:pPr marL="342900" indent="-342900">
              <a:spcAft>
                <a:spcPts val="600"/>
              </a:spcAft>
              <a:buSzPct val="100000"/>
              <a:buChar char="•"/>
            </a:pPr>
            <a:r>
              <a:rPr lang="en-US" sz="1300" dirty="0">
                <a:solidFill>
                  <a:schemeClr val="tx1"/>
                </a:solidFill>
              </a:rPr>
              <a:t>Allen RJ et al. Efficient generation of virtual populations. CPT:PSP 2016</a:t>
            </a:r>
            <a:endParaRPr lang="en-US" sz="1300" dirty="0"/>
          </a:p>
          <a:p>
            <a:pPr marL="342900" indent="-342900">
              <a:spcAft>
                <a:spcPts val="600"/>
              </a:spcAft>
              <a:buSzPct val="100000"/>
              <a:buChar char="•"/>
            </a:pPr>
            <a:r>
              <a:rPr lang="en-US" sz="1300" dirty="0">
                <a:solidFill>
                  <a:schemeClr val="tx1"/>
                </a:solidFill>
              </a:rPr>
              <a:t>Berry SM et al. Bayesian Adaptive Methods for Clinical Trials. CRC 2010</a:t>
            </a:r>
            <a:endParaRPr lang="en-US" sz="1300" dirty="0"/>
          </a:p>
          <a:p>
            <a:pPr marL="342900" indent="-342900">
              <a:spcAft>
                <a:spcPts val="600"/>
              </a:spcAft>
              <a:buSzPct val="100000"/>
              <a:buChar char="•"/>
            </a:pPr>
            <a:r>
              <a:rPr lang="en-US" sz="1300" dirty="0">
                <a:solidFill>
                  <a:schemeClr val="tx1"/>
                </a:solidFill>
              </a:rPr>
              <a:t>Schuler A et al. Prognostic covariate adjustment (PROCOVA). Int J Biostat 2022</a:t>
            </a:r>
            <a:endParaRPr lang="en-US" sz="1300" dirty="0"/>
          </a:p>
          <a:p>
            <a:pPr marL="342900" indent="-342900">
              <a:spcAft>
                <a:spcPts val="600"/>
              </a:spcAft>
              <a:buSzPct val="100000"/>
              <a:buChar char="•"/>
            </a:pPr>
            <a:r>
              <a:rPr lang="en-US" sz="1300" dirty="0">
                <a:solidFill>
                  <a:schemeClr val="tx1"/>
                </a:solidFill>
              </a:rPr>
              <a:t>Badano A et al. VICTRE in silico imaging trial. JAMA Netw Open 2018</a:t>
            </a:r>
            <a:endParaRPr lang="en-US" sz="1300" dirty="0"/>
          </a:p>
          <a:p>
            <a:pPr marL="342900" indent="-342900">
              <a:spcAft>
                <a:spcPts val="600"/>
              </a:spcAft>
              <a:buSzPct val="100000"/>
              <a:buChar char="•"/>
            </a:pPr>
            <a:r>
              <a:rPr lang="en-US" sz="1300" dirty="0">
                <a:solidFill>
                  <a:schemeClr val="tx1"/>
                </a:solidFill>
              </a:rPr>
              <a:t>ASME V&amp;V 40-2018; FDA guidance on computational model credibility 2023</a:t>
            </a:r>
            <a:endParaRPr lang="en-US" sz="1300" dirty="0"/>
          </a:p>
          <a:p>
            <a:pPr marL="342900" indent="-342900">
              <a:spcAft>
                <a:spcPts val="600"/>
              </a:spcAft>
              <a:buSzPct val="100000"/>
              <a:buChar char="•"/>
            </a:pPr>
            <a:r>
              <a:rPr lang="en-US" sz="1300" dirty="0">
                <a:solidFill>
                  <a:schemeClr val="tx1"/>
                </a:solidFill>
              </a:rPr>
              <a:t>NASEM. Foundational Research Gaps for Digital Twins. 2024</a:t>
            </a:r>
            <a:endParaRPr lang="en-US" sz="1300" dirty="0"/>
          </a:p>
        </p:txBody>
      </p:sp>
      <p:sp>
        <p:nvSpPr>
          <p:cNvPr id="6" name="Text 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chemeClr val="accent6"/>
                </a:solidFill>
              </a:rPr>
              <a:t>Compiled from memory; verify editions and page numbers before formal citation.</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Digital Twin Models">
  <a:themeElements>
    <a:clrScheme name="Digital Twin Models">
      <a:dk1>
        <a:srgbClr val="1B2430"/>
      </a:dk1>
      <a:lt1>
        <a:srgbClr val="FFFFFF"/>
      </a:lt1>
      <a:dk2>
        <a:srgbClr val="0B3C49"/>
      </a:dk2>
      <a:lt2>
        <a:srgbClr val="EEF4F5"/>
      </a:lt2>
      <a:accent1>
        <a:srgbClr val="F2A541"/>
      </a:accent1>
      <a:accent2>
        <a:srgbClr val="1F7A70"/>
      </a:accent2>
      <a:accent3>
        <a:srgbClr val="E76F51"/>
      </a:accent3>
      <a:accent4>
        <a:srgbClr val="264653"/>
      </a:accent4>
      <a:accent5>
        <a:srgbClr val="8AB17D"/>
      </a:accent5>
      <a:accent6>
        <a:srgbClr val="5F6B76"/>
      </a:accent6>
      <a:hlink>
        <a:srgbClr val="1F7A70"/>
      </a:hlink>
      <a:folHlink>
        <a:srgbClr val="264653"/>
      </a:folHlink>
    </a:clrScheme>
    <a:fontScheme name="Digital Twin Model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Models for Digital Twins and Virtual Trials</dc:title>
  <dc:subject>PptxGenJS Presentation</dc:subject>
  <dc:creator>Hamid Abdollahi</dc:creator>
  <cp:lastModifiedBy>Hamid Abdollahi</cp:lastModifiedBy>
  <cp:revision>1</cp:revision>
  <dcterms:created xsi:type="dcterms:W3CDTF">2026-10-16T17:18:16Z</dcterms:created>
  <dcterms:modified xsi:type="dcterms:W3CDTF">2026-10-16T17:18:16Z</dcterms:modified>
</cp:coreProperties>
</file>