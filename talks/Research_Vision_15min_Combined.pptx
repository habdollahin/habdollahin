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ain talk (15 min)" id="{ff674351-ba5e-9666-d2d3-5529b5198d8d}">
          <p14:sldIdLst>
            <p14:sldId id="256"/>
            <p14:sldId id="257"/>
            <p14:sldId id="258"/>
            <p14:sldId id="259"/>
            <p14:sldId id="260"/>
            <p14:sldId id="261"/>
            <p14:sldId id="262"/>
            <p14:sldId id="263"/>
            <p14:sldId id="264"/>
            <p14:sldId id="265"/>
            <p14:sldId id="266"/>
            <p14:sldId id="267"/>
            <p14:sldId id="268"/>
          </p14:sldIdLst>
        </p14:section>
        <p14:section name="Backup" id="{c1a081fb-32a2-94a2-8ee8-ce7e366dc933}">
          <p14:sldIdLst>
            <p14:sldId id="269"/>
            <p14:sldId id="270"/>
            <p14:sldId id="271"/>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Reports</c:v>
                </c:pt>
              </c:strCache>
            </c:strRef>
          </c:tx>
          <c:spPr>
            <a:solidFill>
              <a:srgbClr val="1A9AA0"/>
            </a:solidFill>
            <a:effectLst/>
          </c:spPr>
          <c:invertIfNegative val="0"/>
          <c:dLbls>
            <c:numFmt formatCode="#,##0" sourceLinked="0"/>
            <c:txPr>
              <a:bodyPr/>
              <a:lstStyle/>
              <a:p>
                <a:pPr>
                  <a:defRPr b="1" i="0" strike="noStrike" sz="1400" u="none">
                    <a:solidFill>
                      <a:srgbClr val="12263F"/>
                    </a:solidFill>
                    <a:latin typeface="+mn-lt"/>
                  </a:defRPr>
                </a:pPr>
              </a:p>
            </c:txPr>
            <c:showLegendKey val="0"/>
            <c:showVal val="1"/>
            <c:showCatName val="0"/>
            <c:showSerName val="0"/>
            <c:showPercent val="0"/>
            <c:showBubbleSize val="0"/>
            <c:showLeaderLines val="0"/>
          </c:dLbls>
          <c:cat>
            <c:multiLvlStrRef>
              <c:f>Sheet1!$A$2:$A$4</c:f>
              <c:multiLvlStrCache>
                <c:ptCount val="3"/>
                <c:lvl>
                  <c:pt idx="0">
                    <c:v>External-type evaluation</c:v>
                  </c:pt>
                  <c:pt idx="1">
                    <c:v>Explicit calibration</c:v>
                  </c:pt>
                  <c:pt idx="2">
                    <c:v>Prospective AI treatment policy</c:v>
                  </c:pt>
                </c:lvl>
              </c:multiLvlStrCache>
            </c:multiLvlStrRef>
          </c:cat>
          <c:val>
            <c:numRef>
              <c:f>Sheet1!$B$2:$B$4</c:f>
              <c:numCache>
                <c:formatCode>General</c:formatCode>
                <c:ptCount val="3"/>
                <c:pt idx="0">
                  <c:v>7</c:v>
                </c:pt>
                <c:pt idx="1">
                  <c:v>1</c:v>
                </c:pt>
                <c:pt idx="2">
                  <c:v>0</c:v>
                </c:pt>
              </c:numCache>
            </c:numRef>
          </c:val>
        </c:ser>
        <c:dLbls>
          <c:numFmt formatCode="#,##0" sourceLinked="0"/>
          <c:txPr>
            <a:bodyPr/>
            <a:lstStyle/>
            <a:p>
              <a:pPr>
                <a:defRPr b="1" i="0" strike="noStrike" sz="1400" u="none">
                  <a:solidFill>
                    <a:srgbClr val="12263F"/>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1F2937"/>
                </a:solidFill>
                <a:latin typeface="+mn-lt"/>
              </a:defRPr>
            </a:pPr>
            <a:endParaRPr lang="en-US"/>
          </a:p>
        </c:txPr>
        <c:crossAx val="2094734552"/>
        <c:crosses val="autoZero"/>
        <c:auto val="1"/>
        <c:lblAlgn val="ctr"/>
        <c:noMultiLvlLbl val="1"/>
      </c:catAx>
      <c:valAx>
        <c:axId val="2094734552"/>
        <c:scaling>
          <c:orientation val="minMax"/>
          <c:max val="1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0:45 (main talk totals 15:00 across slides 1–13)
SAY:
My research vision is to make molecular imaging a predictive platform that can guide patient-specific therapy. This figure brings together five connected aims: imaging biomarkers describe tumour and normal-tissue biology; AI makes the measurements reliable and efficient; digital twins combine those measurements with pharmacokinetics and radiobiology; integration with treatment technologies connects the models to therapy; and virtual trials test strategies and prioritize new agents before prospective studies. The central question is how we can capture biological heterogeneity and use it to design better therapy for each patient. I will start with a tractable radiopharmaceutical therapy use case and expand as evidence and partnerships mature.
TRANSITION:
Let me start with where imaging already sits in therapy.
SOURCES:
Illustration: AI-generated conceptual art, not clinical images or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1:00
SAY:
Theranostics is where molecular imaging already guides therapy. One target, two isotopes: we see the target with PET, select patients whose disease expresses it, treat with a beta, alpha or Auger emitter, and monitor with post-therapy imaging. PSMA in prostate cancer and DOTATATE in neuroendocrine tumours prove the concept. But step 3, Plan, outlined in orange, is still mostly missing: activity is largely fixed. And diagnostic and therapeutic agents can share a target without being kinetically interchangeable, so imaging-based predictions must be verified for each pair. Planning is the research opportunity.
TRANSITION:
Why hasn't planning caught up? The evidence points to three gaps.
SOURCES:
Yazdani E, et al. Theranostics 2026;16(15):8775–8807.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1:15
SAY:
On the left is the motivation from a recent review. Across 73 full journal reports on AI in theranostics, seven reported an external-type held-out evaluation, one explicit calibration, and none evaluated a prospective AI-guided treatment policy. These categories overlap; it was a narrative evidence map, so I would not claim the numbers describe every study. The message still holds: an accurate segmentation or a promising model does not establish better treatment decisions. On the right are the three gaps my program addresses. Heterogeneity: lesion effective half-life varies about twice as much as kidney half-life. Dosimetry: patient-specific dosimetry needs three to four scans over four to seven days, plus segmentation and Monte Carlo time. Integration: only 3.4 percent of oncology drugs entering Phase 1 reach approval. My program connects quantitative fidelity, practical workflow and decision validation, with clinician oversight.
TRANSITION:
Here is how the five aims answer these gaps.
SOURCES:
Banala M, et al. Front Nucl Med 2026;6:1935247.
Yazdani E, et al. Theranostics 2026;16(15):8775–8807.
Wong CH, Siah KW, Lo AW. Biostatistics 2019.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1:00
SAY:
My vision is imaging that predicts, not just sees. Five aims answer the three gaps. Aims 1 and 2 produce reliable inputs: biomarkers of heterogeneity, and AI that makes measurement fast without distorting it. Aim 3, the digital twin, turns those inputs into predictions of dose and response. Aims 4 and 5 turn predictions into decisions: integration with therapy workflows, and virtual trials of agents and protocols. All five feed one output: a validated engine that plans the treatment for each patient and tests strategies in virtual trials before real ones. I'll take each aim in turn.
TRANSITION:
Starting with heterogeneity: Aim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1:15
SAY:
I begin by distinguishing what an image measures from the biology we hope to infer. PET uptake reflects target expression, delivery and clearance; it is not a direct measurement of every element of the microenvironment. The first project quantifies within-lesion, between-lesion and longitudinal heterogeneity, initially in a PSMA-targeted therapy cohort. I will compare radiomic and kinetic features with simple baselines such as SUV and total disease burden. Repeatability, reconstruction sensitivity and segmentation uncertainty decide which features move forward. Where tissue or complementary imaging is available, I will test biological associations, with patient-level splits and independent evaluation. Success is an interpretable panel that adds reproducible information, not a high-dimensional signature.
TRANSITION:
Biomarkers are only useful if measurement is fast and robust: Aim 2.
SOURCES:
Illustration: AI-generated conceptual art, not clinical images or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1:15
SAY:
This aim supports every downstream model. I investigate AI reconstruction, denoising and automated segmentation with physical consistency as a design constraint; the figure shows the chain on a synthetic phantom, from low-count SPECT to a voxel dose map. Visually attractive images are not enough: a method that smooths a lesion or shifts activity concentration can change dosimetry even when image-quality scores improve. So I evaluate activity recovery, small-lesion behaviour and downstream dose error on phantoms and clinical reference acquisitions, and distinguish shorter scans from fewer time points. The literature is encouraging: 50 to 75 percent shorter 177Lu SPECT, and dosimetry in seconds rather than hours. Outputs are reviewable and flag unfamiliar data. The first deliverable is a measurement tool a clinician can audit, with quantified limits across scanners.
TRANSITION:
With reliable, fast inputs, we can turn images into plans: Aim 3.
SOURCES:
Yazdani E, et al. Theranostics 2026;16(15):8775–8807. (Table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1:30
SAY:
A digital twin here is a patient-specific model that updates as new measurements arrive. PBPK models describe delivery and retention in organs and tumours; dosimetry turns time-integrated activity into absorbed dose; radiobiology explores how dose rate and tissue sensitivity affect response. The schematic shows the idea: cycle 1 starts from a population prior with a wide band, and a few post-therapy measurements tighten the cycle-2 prediction for tumour and kidney. I validate dose prediction first, then the harder response problem. Baseline PET alone may not identify every parameter, and diagnostic and therapeutic agents can differ in kinetics, so I use identifiability analysis, population priors and well-chosen post-therapy scans. Outputs support research and clinical review; they do not prescribe autonomously. This builds directly on my published work on digital twins, PBPK and low-dose-rate radiobiology.
TRANSITION:
What does the twin let us ask for one patient?
SOURCES:
Yazdani E, et al. Theranostics 2026;16(15):8775–8807.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1:15
SAY:
Planning is not one number. Most radiopharmaceutical therapy is given at a fixed activity, for example 7.4 GBq per cycle as in VISION and NETTER-1. On the left is an illustrative 177Lu-PSMA twin from the literature: at 7.4 GBq organs are safe but the tumour is refractory; at 8.3 it responds safely; at 10 there is organ toxicity. But activity is only one decision. On the right are the decisions we can change, and the biology the model must represent: cycles and intervals, where dose rate and repair matter; infusion and ligand amount; and adaptation from cycle to cycle. These factors are coupled, so the twin compares whole strategies with uncertainty. Circadian timing is a hypothesis I would test first in silico and preclinically. These are research comparisons, not clinical recommendations.
TRANSITION:
The same engine connects to treatment workflows beyond RPT: Aim 4.
SOURCES:
Yazdani E, et al. Theranostics 2026;16(15):8775–8807.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1:00
SAY:
This aim is staged to keep the program feasible. The near-term priority is PET-informed radiopharmaceutical treatment planning, supported by measured post-therapy dosimetry. Combined RPT and external-beam therapy can follow, but only under explicit tissue, repair and dose-rate assumptions; simply adding BED across therapies does not establish safety. Longer term, molecular imaging could inform proton therapy verification and biology-guided radiotherapy, with partners who have those systems. These need different validation: proton-activation PET is not a direct dose or range measurement, and BGRT raises questions of signal reliability and latency. I would build one well-defined integration project at a time.
TRANSITION:
And the same models can test strategies before patients are treated: Aim 5.
SOURCES:
Illustration: AI-generated conceptual art, not clinical images or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1:30
SAY:
Please focus on the three column headings. Validated patient models become virtual cohorts that represent observed variability in anatomy, kinetics, tumour burden and response. At T0, virtual preclinical trials test dose-rate and biological mechanisms against experimental data. At T1, virtual translational trials explore cross-species scaling and a safe first-in-human activity and schedule, with explicit uncertainty. At T2, virtual clinical trials compare agents and adaptive protocols in patient-derived cohorts. Their immediate value is prioritization and trial design, not replacing clinical trials. I separate parameter uncertainty from between-patient variation, check that virtual cohorts reproduce observed distributions, and use held-out outcomes where available. T3 practice and T4 population studies are longer-term extensions, and clinical findings recalibrate earlier models. Only 3.4 percent of oncology drugs entering Phase 1 reach approval; this is where virtual trials can help.
TRANSITION:
None of this matters unless the models are trusted.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1:00
SAY:
All five aims share this validation pathway, shown as a staircase. Step 1, technical fidelity: does the measurement preserve activity and clinically relevant dose, and do uncertainty estimates match the errors we observe? Step 2, external testing on a held-out site, scanner or time period, evaluating calibration as well as discrimination. Step 3, prospective silent evaluation in the real workflow without changing care; only then clinician-reviewed decision support and eventually patient outcomes. Acceptance limits depend on intended use and are set before evaluation: a segmentation model, a dose predictor and a treatment policy never share one definition of success. Credibility follows ASME V&amp;V 40 and the FDA guidance, and federated learning can reduce data transfer, though it does not remove every privacy risk.
TRANSITION:
Here is how this unfolds over five years.
SOURCES:
Illustration: AI-generated conceptual art, not clinical images or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1:15
SAY:
This is a proposed implementation, not five separate large projects. In years one and two I establish data agreements, governance and a reproducible imaging pipeline, then biomarker and dose-model baselines in a focused RPT use case. In years two and three the emphasis shifts to independent testing, model updating and uncertainty; the virtual-trial work reuses this infrastructure. Years four and five target prospective workflow evaluation and a clinician-reviewed decision-support pilot, contingent on earlier validation. The diamonds are evidence gates. Proton and BGRT extensions depend on access and partners and do not decide whether the core program succeeds. Trainees own connected, well-scoped projects: MSc on imaging reproducibility, PhD on pharmacokinetic or radiobiological modelling. Proposed partners include UBC/BC Cancer, Geneva, Johns Hopkins and Iranian centres.
TRANSITION:
Let me close with the contribution I aim to make.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1:00
SAY:
I close by returning to the central figure. The strength of this program is the connection between the aims: better measurements improve models, models identify the most informative measurements, and virtual experiments show which hypotheses deserve prospective testing. My contribution is a rigorous bridge between molecular imaging and patient-specific treatment design, drawing on medical physics, quantitative imaging, AI and radiopharmaceutical therapy, with natural collaborations in biology, mathematics, computer science and clinical oncology. The near-term impact is more reliable, practical quantification; the longer-term goal is evidence that these predictions improve treatment decisions. Thank you; I welcome discussion on the best initial clinical use case and partnerships.
TRANSITION:
End of the 15-minute talk. Slides 14–18 are backup.
SOURCES:
Illustration: AI-generated conceptual art, not clinical images or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Backup
SAY:
Use only for questions. Distinguish existing co-authorship from committed data access or formal agreements. International data work depends on institutional approvals; federated learning keeps patient data local but does not remove every privacy 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Backup
SAY:
Students own bounded questions on one shared, reproducible platform. MSc projects focus on measurement reliability; PhD projects on coupled models, uncertainty and optimization. Transparent recruitment and clear expectations support an inclusive group whose methods others can reuse.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Backup
SAY:
Use if asked what a virtual trial outputs. Each dot is a simulated patient. A virtual trial cannot prove clinical benefit by simulation alone; it prioritizes which real studies to run and which measurements most reduce uncertainty.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Backup
SAY:
T3 evaluates implementation with real-world registries; T4 examines cost, access and isotope supply. The figure's curves and bars are schematic, not study results. There are almost no health-economic studies comparing dosimetry-guided and fixed-activity treatment.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Backup
SAY:
Biggest risk: clinical validation of digital twins. Reduce it by starting where kinetics are stable, reporting uncertainty, and validating prospectively before predictions guide decisions. A model that cannot predict response may still support a strong dosimetry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640080"/>
          </a:xfrm>
          <a:prstGeom prst="rect">
            <a:avLst/>
          </a:prstGeom>
          <a:noFill/>
          <a:ln/>
        </p:spPr>
        <p:txBody>
          <a:bodyPr wrap="square" rtlCol="0"/>
          <a:lstStyle>
            <a:lvl1pPr algn="l" indent="0" marL="0">
              <a:buNone/>
              <a:defRPr lang="en-US" sz="3400" b="1" dirty="0">
                <a:solidFill>
                  <a:schemeClr val="tx2"/>
                </a:solidFill>
              </a:defRPr>
            </a:lvl1pPr>
          </a:lstStyle>
          <a:p>
            <a:pPr algn="l" indent="0" marL="0">
              <a:buNone/>
            </a:pPr>
            <a:endParaRPr lang="en-US" sz="3400" dirty="0"/>
          </a:p>
        </p:txBody>
      </p:sp>
      <p:sp>
        <p:nvSpPr>
          <p:cNvPr id="3" name="Text 0"/>
          <p:cNvSpPr/>
          <p:nvPr>
            <p:ph idx="101" type="body" hasCustomPrompt="1"/>
          </p:nvPr>
        </p:nvSpPr>
        <p:spPr>
          <a:xfrm>
            <a:off x="548640" y="1051560"/>
            <a:ext cx="11094415" cy="411480"/>
          </a:xfrm>
          <a:prstGeom prst="rect">
            <a:avLst/>
          </a:prstGeom>
          <a:noFill/>
          <a:ln/>
        </p:spPr>
        <p:txBody>
          <a:bodyPr wrap="square" rtlCol="0"/>
          <a:lstStyle>
            <a:lvl1pPr indent="0" marL="0">
              <a:buNone/>
              <a:defRPr lang="en-US" sz="1600" dirty="0">
                <a:solidFill>
                  <a:schemeClr val="accent6"/>
                </a:solidFill>
              </a:defRPr>
            </a:lvl1pPr>
          </a:lstStyle>
          <a:p>
            <a:pPr indent="0" marL="0">
              <a:buNone/>
            </a:pPr>
            <a:endParaRPr lang="en-US" sz="1600" dirty="0"/>
          </a:p>
        </p:txBody>
      </p:sp>
      <p:sp>
        <p:nvSpPr>
          <p:cNvPr id="4"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chemeClr val="accent6"/>
                </a:solidFill>
              </a:rPr>
              <a:t>Hamid Abdollahi  ·  Research vision</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PLAIN">
    <p:bg>
      <p:bgPr>
        <a:solidFill>
          <a:schemeClr val="bg1"/>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2.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3-1.png"/><Relationship Id="rId3" Type="http://schemas.openxmlformats.org/officeDocument/2006/relationships/image" Target="../media/image-3-2.png"/><Relationship Id="rId4" Type="http://schemas.openxmlformats.org/officeDocument/2006/relationships/image" Target="../media/image-3-3.png"/><Relationship Id="rId5" Type="http://schemas.openxmlformats.org/officeDocument/2006/relationships/slideLayout" Target="../slideLayouts/slideLayout2.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2.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2.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2.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2.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2.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2.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2.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2.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2.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2.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image" Target="../media/image-15-7.png"/><Relationship Id="rId8" Type="http://schemas.openxmlformats.org/officeDocument/2006/relationships/slideLayout" Target="../slideLayouts/slideLayout2.xml"/><Relationship Id="rId9"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image" Target="../media/image-18-7.png"/><Relationship Id="rId8" Type="http://schemas.openxmlformats.org/officeDocument/2006/relationships/image" Target="../media/image-18-8.png"/><Relationship Id="rId9" Type="http://schemas.openxmlformats.org/officeDocument/2006/relationships/slideLayout" Target="../slideLayouts/slideLayout2.xml"/><Relationship Id="rId10"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4434840" cy="6858000"/>
          </a:xfrm>
          <a:prstGeom prst="rect">
            <a:avLst/>
          </a:prstGeom>
          <a:solidFill>
            <a:schemeClr val="tx2"/>
          </a:solidFill>
          <a:ln/>
        </p:spPr>
      </p:sp>
      <p:sp>
        <p:nvSpPr>
          <p:cNvPr id="3" name="Text 1"/>
          <p:cNvSpPr txBox="1"/>
          <p:nvPr/>
        </p:nvSpPr>
        <p:spPr>
          <a:xfrm>
            <a:off x="502920" y="914400"/>
            <a:ext cx="3657600" cy="457200"/>
          </a:xfrm>
          <a:prstGeom prst="rect">
            <a:avLst/>
          </a:prstGeom>
          <a:noFill/>
          <a:ln/>
        </p:spPr>
        <p:txBody>
          <a:bodyPr wrap="square" lIns="0" tIns="0" rIns="0" bIns="0" rtlCol="0" anchor="t"/>
          <a:lstStyle/>
          <a:p>
            <a:pPr indent="0" marL="0">
              <a:buNone/>
            </a:pPr>
            <a:r>
              <a:rPr lang="en-US" sz="1200" b="1" spc="150" kern="0" dirty="0">
                <a:solidFill>
                  <a:schemeClr val="accent1"/>
                </a:solidFill>
              </a:rPr>
              <a:t>FACULTY / CRC TIER 2 RESEARCH VISION</a:t>
            </a:r>
            <a:endParaRPr lang="en-US" sz="1200" dirty="0"/>
          </a:p>
        </p:txBody>
      </p:sp>
      <p:sp>
        <p:nvSpPr>
          <p:cNvPr id="4" name="Text 2"/>
          <p:cNvSpPr txBox="1"/>
          <p:nvPr/>
        </p:nvSpPr>
        <p:spPr>
          <a:xfrm>
            <a:off x="502920" y="1463040"/>
            <a:ext cx="3657600" cy="1737360"/>
          </a:xfrm>
          <a:prstGeom prst="rect">
            <a:avLst/>
          </a:prstGeom>
          <a:noFill/>
          <a:ln/>
        </p:spPr>
        <p:txBody>
          <a:bodyPr wrap="square" lIns="0" tIns="0" rIns="0" bIns="0" rtlCol="0" anchor="t"/>
          <a:lstStyle/>
          <a:p>
            <a:pPr indent="0" marL="0">
              <a:buNone/>
            </a:pPr>
            <a:r>
              <a:rPr lang="en-US" sz="3800" b="1" dirty="0">
                <a:solidFill>
                  <a:schemeClr val="bg1"/>
                </a:solidFill>
              </a:rPr>
              <a:t>Imaging-Informed Virtual Trials</a:t>
            </a:r>
            <a:endParaRPr lang="en-US" sz="3800" dirty="0"/>
          </a:p>
        </p:txBody>
      </p:sp>
      <p:sp>
        <p:nvSpPr>
          <p:cNvPr id="5" name="Text 3"/>
          <p:cNvSpPr txBox="1"/>
          <p:nvPr/>
        </p:nvSpPr>
        <p:spPr>
          <a:xfrm>
            <a:off x="502920" y="3246120"/>
            <a:ext cx="3657600" cy="868680"/>
          </a:xfrm>
          <a:prstGeom prst="rect">
            <a:avLst/>
          </a:prstGeom>
          <a:noFill/>
          <a:ln/>
        </p:spPr>
        <p:txBody>
          <a:bodyPr wrap="square" lIns="0" tIns="0" rIns="0" bIns="0" rtlCol="0" anchor="t"/>
          <a:lstStyle/>
          <a:p>
            <a:pPr indent="0" marL="0">
              <a:buNone/>
            </a:pPr>
            <a:r>
              <a:rPr lang="en-US" sz="1700" dirty="0">
                <a:solidFill>
                  <a:schemeClr val="bg2"/>
                </a:solidFill>
              </a:rPr>
              <a:t>Molecular imaging as a predictive platform for patient-specific therapy</a:t>
            </a:r>
            <a:endParaRPr lang="en-US" sz="1700" dirty="0"/>
          </a:p>
        </p:txBody>
      </p:sp>
      <p:sp>
        <p:nvSpPr>
          <p:cNvPr id="6" name="Text 4"/>
          <p:cNvSpPr txBox="1"/>
          <p:nvPr/>
        </p:nvSpPr>
        <p:spPr>
          <a:xfrm>
            <a:off x="502920" y="4937760"/>
            <a:ext cx="3657600" cy="365760"/>
          </a:xfrm>
          <a:prstGeom prst="rect">
            <a:avLst/>
          </a:prstGeom>
          <a:noFill/>
          <a:ln/>
        </p:spPr>
        <p:txBody>
          <a:bodyPr wrap="square" lIns="0" tIns="0" rIns="0" bIns="0" rtlCol="0" anchor="t"/>
          <a:lstStyle/>
          <a:p>
            <a:pPr indent="0" marL="0">
              <a:buNone/>
            </a:pPr>
            <a:r>
              <a:rPr lang="en-US" sz="1800" b="1" dirty="0">
                <a:solidFill>
                  <a:schemeClr val="bg1"/>
                </a:solidFill>
              </a:rPr>
              <a:t>Hamid Abdollahi, PhD</a:t>
            </a:r>
            <a:endParaRPr lang="en-US" sz="1800" dirty="0"/>
          </a:p>
        </p:txBody>
      </p:sp>
      <p:sp>
        <p:nvSpPr>
          <p:cNvPr id="7" name="Text 5"/>
          <p:cNvSpPr txBox="1"/>
          <p:nvPr/>
        </p:nvSpPr>
        <p:spPr>
          <a:xfrm>
            <a:off x="502920" y="5321808"/>
            <a:ext cx="3657600" cy="548640"/>
          </a:xfrm>
          <a:prstGeom prst="rect">
            <a:avLst/>
          </a:prstGeom>
          <a:noFill/>
          <a:ln/>
        </p:spPr>
        <p:txBody>
          <a:bodyPr wrap="square" lIns="0" tIns="0" rIns="0" bIns="0" rtlCol="0" anchor="t"/>
          <a:lstStyle/>
          <a:p>
            <a:pPr indent="0" marL="0">
              <a:buNone/>
            </a:pPr>
            <a:r>
              <a:rPr lang="en-US" sz="1300" dirty="0">
                <a:solidFill>
                  <a:schemeClr val="bg2"/>
                </a:solidFill>
              </a:rPr>
              <a:t>Medical physics · quantitative imaging · AI · radiopharmaceutical therapy</a:t>
            </a:r>
            <a:endParaRPr lang="en-US" sz="1300" dirty="0"/>
          </a:p>
        </p:txBody>
      </p:sp>
      <p:pic>
        <p:nvPicPr>
          <p:cNvPr id="8" name="Image 0" descr="Five aims around predictive and personalized therapy">    </p:cNvPr>
          <p:cNvPicPr>
            <a:picLocks noChangeAspect="1"/>
          </p:cNvPicPr>
          <p:nvPr/>
        </p:nvPicPr>
        <p:blipFill>
          <a:blip r:embed="rId1"/>
          <a:stretch>
            <a:fillRect/>
          </a:stretch>
        </p:blipFill>
        <p:spPr>
          <a:xfrm>
            <a:off x="4572000" y="1253335"/>
            <a:ext cx="7406640" cy="4168450"/>
          </a:xfrm>
          <a:prstGeom prst="rect">
            <a:avLst/>
          </a:prstGeom>
        </p:spPr>
      </p:pic>
      <p:sp>
        <p:nvSpPr>
          <p:cNvPr id="9" name="Text 6"/>
          <p:cNvSpPr txBox="1"/>
          <p:nvPr/>
        </p:nvSpPr>
        <p:spPr>
          <a:xfrm>
            <a:off x="4572000" y="5467505"/>
            <a:ext cx="7406640" cy="228600"/>
          </a:xfrm>
          <a:prstGeom prst="rect">
            <a:avLst/>
          </a:prstGeom>
          <a:noFill/>
          <a:ln/>
        </p:spPr>
        <p:txBody>
          <a:bodyPr wrap="square" lIns="0" tIns="0" rIns="0" bIns="0" rtlCol="0" anchor="t"/>
          <a:lstStyle/>
          <a:p>
            <a:pPr algn="r" indent="0" marL="0">
              <a:buNone/>
            </a:pPr>
            <a:r>
              <a:rPr lang="en-US" sz="1000" i="1" dirty="0">
                <a:solidFill>
                  <a:schemeClr val="accent6"/>
                </a:solidFill>
              </a:rPr>
              <a:t>Conceptual illustration</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640080"/>
          </a:xfrm>
          <a:prstGeom prst="rect">
            <a:avLst/>
          </a:prstGeom>
          <a:noFill/>
          <a:ln/>
        </p:spPr>
        <p:txBody>
          <a:bodyPr wrap="square" lIns="0" tIns="0" rIns="0" bIns="0" rtlCol="0" anchor="ctr"/>
          <a:lstStyle/>
          <a:p>
            <a:pPr algn="l" indent="0" marL="0">
              <a:buNone/>
            </a:pPr>
            <a:r>
              <a:rPr lang="en-US" sz="3400" b="1" dirty="0">
                <a:solidFill>
                  <a:schemeClr val="tx2"/>
                </a:solidFill>
              </a:rPr>
              <a:t>Theranostics closes the loop, except for planning</a:t>
            </a:r>
            <a:endParaRPr lang="en-US" sz="3400" dirty="0"/>
          </a:p>
        </p:txBody>
      </p:sp>
      <p:sp>
        <p:nvSpPr>
          <p:cNvPr id="3" name="Text 0"/>
          <p:cNvSpPr/>
          <p:nvPr>
            <p:ph idx="101" type="body" hasCustomPrompt="1"/>
          </p:nvPr>
        </p:nvSpPr>
        <p:spPr>
          <a:xfrm>
            <a:off x="548640" y="1051560"/>
            <a:ext cx="11094415" cy="411480"/>
          </a:xfrm>
          <a:prstGeom prst="rect">
            <a:avLst/>
          </a:prstGeom>
          <a:noFill/>
          <a:ln/>
        </p:spPr>
        <p:txBody>
          <a:bodyPr wrap="square" lIns="0" tIns="0" rIns="0" bIns="0" rtlCol="0" anchor="t"/>
          <a:lstStyle/>
          <a:p>
            <a:pPr indent="0" marL="0">
              <a:buNone/>
            </a:pPr>
            <a:r>
              <a:rPr lang="en-US" sz="1600" dirty="0">
                <a:solidFill>
                  <a:schemeClr val="accent6"/>
                </a:solidFill>
              </a:rPr>
              <a:t>Which treatment strategy is best for this patient, at this time?</a:t>
            </a:r>
            <a:endParaRPr lang="en-US" sz="1600" dirty="0"/>
          </a:p>
        </p:txBody>
      </p:sp>
      <p:sp>
        <p:nvSpPr>
          <p:cNvPr id="4" name="Text 2"/>
          <p:cNvSpPr txBox="1"/>
          <p:nvPr/>
        </p:nvSpPr>
        <p:spPr>
          <a:xfrm>
            <a:off x="548640" y="164592"/>
            <a:ext cx="7315200" cy="256032"/>
          </a:xfrm>
          <a:prstGeom prst="rect">
            <a:avLst/>
          </a:prstGeom>
          <a:noFill/>
          <a:ln/>
        </p:spPr>
        <p:txBody>
          <a:bodyPr wrap="square" lIns="0" tIns="0" rIns="0" bIns="0" rtlCol="0" anchor="t"/>
          <a:lstStyle/>
          <a:p>
            <a:pPr indent="0" marL="0">
              <a:buNone/>
            </a:pPr>
            <a:r>
              <a:rPr lang="en-US" sz="1200" b="1" spc="150" kern="0" dirty="0">
                <a:solidFill>
                  <a:schemeClr val="accent1"/>
                </a:solidFill>
              </a:rPr>
              <a:t>WHY THIS PROGRAM</a:t>
            </a:r>
            <a:endParaRPr lang="en-US" sz="1200" dirty="0"/>
          </a:p>
        </p:txBody>
      </p:sp>
      <p:sp>
        <p:nvSpPr>
          <p:cNvPr id="5" name="Shape 3"/>
          <p:cNvSpPr/>
          <p:nvPr/>
        </p:nvSpPr>
        <p:spPr>
          <a:xfrm>
            <a:off x="5059558" y="2011680"/>
            <a:ext cx="2072579" cy="2286000"/>
          </a:xfrm>
          <a:prstGeom prst="roundRect">
            <a:avLst>
              <a:gd name="adj" fmla="val 3530"/>
            </a:avLst>
          </a:prstGeom>
          <a:solidFill>
            <a:schemeClr val="bg1"/>
          </a:solidFill>
          <a:ln w="22225">
            <a:solidFill>
              <a:schemeClr val="accent2"/>
            </a:solidFill>
            <a:prstDash val="dash"/>
          </a:ln>
        </p:spPr>
      </p:sp>
      <p:sp>
        <p:nvSpPr>
          <p:cNvPr id="6" name="Text 4"/>
          <p:cNvSpPr txBox="1"/>
          <p:nvPr/>
        </p:nvSpPr>
        <p:spPr>
          <a:xfrm>
            <a:off x="4437766" y="1691640"/>
            <a:ext cx="3316163" cy="274320"/>
          </a:xfrm>
          <a:prstGeom prst="rect">
            <a:avLst/>
          </a:prstGeom>
          <a:noFill/>
          <a:ln/>
        </p:spPr>
        <p:txBody>
          <a:bodyPr wrap="square" lIns="0" tIns="0" rIns="0" bIns="0" rtlCol="0" anchor="t"/>
          <a:lstStyle/>
          <a:p>
            <a:pPr algn="ctr" indent="0" marL="0">
              <a:buNone/>
            </a:pPr>
            <a:r>
              <a:rPr lang="en-US" sz="1200" b="1" dirty="0">
                <a:solidFill>
                  <a:schemeClr val="accent2"/>
                </a:solidFill>
              </a:rPr>
              <a:t>Missing in routine care: activity is mostly fixed</a:t>
            </a:r>
            <a:endParaRPr lang="en-US" sz="1200" dirty="0"/>
          </a:p>
        </p:txBody>
      </p:sp>
      <p:sp>
        <p:nvSpPr>
          <p:cNvPr id="7" name="Shape 5"/>
          <p:cNvSpPr/>
          <p:nvPr/>
        </p:nvSpPr>
        <p:spPr>
          <a:xfrm>
            <a:off x="1223742" y="2240280"/>
            <a:ext cx="868680" cy="868680"/>
          </a:xfrm>
          <a:prstGeom prst="ellipse">
            <a:avLst/>
          </a:prstGeom>
          <a:solidFill>
            <a:schemeClr val="accent1"/>
          </a:solidFill>
          <a:ln/>
        </p:spPr>
      </p:sp>
      <p:pic>
        <p:nvPicPr>
          <p:cNvPr id="8" name="Image 0" descr="preencoded.png">    </p:cNvPr>
          <p:cNvPicPr>
            <a:picLocks noChangeAspect="1"/>
          </p:cNvPicPr>
          <p:nvPr/>
        </p:nvPicPr>
        <p:blipFill>
          <a:blip r:embed="rId1"/>
          <a:stretch>
            <a:fillRect/>
          </a:stretch>
        </p:blipFill>
        <p:spPr>
          <a:xfrm>
            <a:off x="1458285" y="2474824"/>
            <a:ext cx="399593" cy="399593"/>
          </a:xfrm>
          <a:prstGeom prst="rect">
            <a:avLst/>
          </a:prstGeom>
        </p:spPr>
      </p:pic>
      <p:sp>
        <p:nvSpPr>
          <p:cNvPr id="9" name="Text 6"/>
          <p:cNvSpPr txBox="1"/>
          <p:nvPr/>
        </p:nvSpPr>
        <p:spPr>
          <a:xfrm>
            <a:off x="731520" y="3246120"/>
            <a:ext cx="1853123" cy="320040"/>
          </a:xfrm>
          <a:prstGeom prst="rect">
            <a:avLst/>
          </a:prstGeom>
          <a:noFill/>
          <a:ln/>
        </p:spPr>
        <p:txBody>
          <a:bodyPr wrap="square" lIns="0" tIns="0" rIns="0" bIns="0" rtlCol="0" anchor="t"/>
          <a:lstStyle/>
          <a:p>
            <a:pPr algn="ctr" indent="0" marL="0">
              <a:buNone/>
            </a:pPr>
            <a:r>
              <a:rPr lang="en-US" sz="1600" b="1" dirty="0">
                <a:solidFill>
                  <a:schemeClr val="tx2"/>
                </a:solidFill>
              </a:rPr>
              <a:t>1 · See the target</a:t>
            </a:r>
            <a:endParaRPr lang="en-US" sz="1600" dirty="0"/>
          </a:p>
        </p:txBody>
      </p:sp>
      <p:sp>
        <p:nvSpPr>
          <p:cNvPr id="10" name="Text 7"/>
          <p:cNvSpPr txBox="1"/>
          <p:nvPr/>
        </p:nvSpPr>
        <p:spPr>
          <a:xfrm>
            <a:off x="731520" y="3593592"/>
            <a:ext cx="1853123" cy="640080"/>
          </a:xfrm>
          <a:prstGeom prst="rect">
            <a:avLst/>
          </a:prstGeom>
          <a:noFill/>
          <a:ln/>
        </p:spPr>
        <p:txBody>
          <a:bodyPr wrap="square" lIns="0" tIns="0" rIns="0" bIns="0" rtlCol="0" anchor="t"/>
          <a:lstStyle/>
          <a:p>
            <a:pPr algn="ctr" indent="0" marL="0">
              <a:buNone/>
            </a:pPr>
            <a:r>
              <a:rPr lang="en-US" sz="1400" dirty="0">
                <a:solidFill>
                  <a:schemeClr val="tx1"/>
                </a:solidFill>
              </a:rPr>
              <a:t>PET maps target expression and tumour burden</a:t>
            </a:r>
            <a:endParaRPr lang="en-US" sz="1400" dirty="0"/>
          </a:p>
        </p:txBody>
      </p:sp>
      <p:sp>
        <p:nvSpPr>
          <p:cNvPr id="11" name="Shape 8"/>
          <p:cNvSpPr/>
          <p:nvPr/>
        </p:nvSpPr>
        <p:spPr>
          <a:xfrm>
            <a:off x="2202150" y="2674620"/>
            <a:ext cx="1130747" cy="0"/>
          </a:xfrm>
          <a:prstGeom prst="line">
            <a:avLst/>
          </a:prstGeom>
          <a:noFill/>
          <a:ln w="22225">
            <a:solidFill>
              <a:schemeClr val="accent6"/>
            </a:solidFill>
            <a:prstDash val="solid"/>
            <a:tailEnd type="triangle"/>
          </a:ln>
        </p:spPr>
      </p:sp>
      <p:sp>
        <p:nvSpPr>
          <p:cNvPr id="12" name="Shape 9"/>
          <p:cNvSpPr/>
          <p:nvPr/>
        </p:nvSpPr>
        <p:spPr>
          <a:xfrm>
            <a:off x="3442625" y="2240280"/>
            <a:ext cx="868680" cy="868680"/>
          </a:xfrm>
          <a:prstGeom prst="ellipse">
            <a:avLst/>
          </a:prstGeom>
          <a:solidFill>
            <a:schemeClr val="accent1"/>
          </a:solidFill>
          <a:ln/>
        </p:spPr>
      </p:sp>
      <p:pic>
        <p:nvPicPr>
          <p:cNvPr id="13" name="Image 1" descr="preencoded.png">    </p:cNvPr>
          <p:cNvPicPr>
            <a:picLocks noChangeAspect="1"/>
          </p:cNvPicPr>
          <p:nvPr/>
        </p:nvPicPr>
        <p:blipFill>
          <a:blip r:embed="rId2"/>
          <a:stretch>
            <a:fillRect/>
          </a:stretch>
        </p:blipFill>
        <p:spPr>
          <a:xfrm>
            <a:off x="3677168" y="2474824"/>
            <a:ext cx="399593" cy="399593"/>
          </a:xfrm>
          <a:prstGeom prst="rect">
            <a:avLst/>
          </a:prstGeom>
        </p:spPr>
      </p:pic>
      <p:sp>
        <p:nvSpPr>
          <p:cNvPr id="14" name="Text 10"/>
          <p:cNvSpPr txBox="1"/>
          <p:nvPr/>
        </p:nvSpPr>
        <p:spPr>
          <a:xfrm>
            <a:off x="2950403" y="3246120"/>
            <a:ext cx="1853123" cy="320040"/>
          </a:xfrm>
          <a:prstGeom prst="rect">
            <a:avLst/>
          </a:prstGeom>
          <a:noFill/>
          <a:ln/>
        </p:spPr>
        <p:txBody>
          <a:bodyPr wrap="square" lIns="0" tIns="0" rIns="0" bIns="0" rtlCol="0" anchor="t"/>
          <a:lstStyle/>
          <a:p>
            <a:pPr algn="ctr" indent="0" marL="0">
              <a:buNone/>
            </a:pPr>
            <a:r>
              <a:rPr lang="en-US" sz="1600" b="1" dirty="0">
                <a:solidFill>
                  <a:schemeClr val="tx2"/>
                </a:solidFill>
              </a:rPr>
              <a:t>2 · Select</a:t>
            </a:r>
            <a:endParaRPr lang="en-US" sz="1600" dirty="0"/>
          </a:p>
        </p:txBody>
      </p:sp>
      <p:sp>
        <p:nvSpPr>
          <p:cNvPr id="15" name="Text 11"/>
          <p:cNvSpPr txBox="1"/>
          <p:nvPr/>
        </p:nvSpPr>
        <p:spPr>
          <a:xfrm>
            <a:off x="2950403" y="3593592"/>
            <a:ext cx="1853123" cy="640080"/>
          </a:xfrm>
          <a:prstGeom prst="rect">
            <a:avLst/>
          </a:prstGeom>
          <a:noFill/>
          <a:ln/>
        </p:spPr>
        <p:txBody>
          <a:bodyPr wrap="square" lIns="0" tIns="0" rIns="0" bIns="0" rtlCol="0" anchor="t"/>
          <a:lstStyle/>
          <a:p>
            <a:pPr algn="ctr" indent="0" marL="0">
              <a:buNone/>
            </a:pPr>
            <a:r>
              <a:rPr lang="en-US" sz="1400" dirty="0">
                <a:solidFill>
                  <a:schemeClr val="tx1"/>
                </a:solidFill>
              </a:rPr>
              <a:t>Treat when disease expresses the target</a:t>
            </a:r>
            <a:endParaRPr lang="en-US" sz="1400" dirty="0"/>
          </a:p>
        </p:txBody>
      </p:sp>
      <p:sp>
        <p:nvSpPr>
          <p:cNvPr id="16" name="Shape 12"/>
          <p:cNvSpPr/>
          <p:nvPr/>
        </p:nvSpPr>
        <p:spPr>
          <a:xfrm>
            <a:off x="4421033" y="2674620"/>
            <a:ext cx="1130747" cy="0"/>
          </a:xfrm>
          <a:prstGeom prst="line">
            <a:avLst/>
          </a:prstGeom>
          <a:noFill/>
          <a:ln w="22225">
            <a:solidFill>
              <a:schemeClr val="accent6"/>
            </a:solidFill>
            <a:prstDash val="solid"/>
            <a:tailEnd type="triangle"/>
          </a:ln>
        </p:spPr>
      </p:sp>
      <p:sp>
        <p:nvSpPr>
          <p:cNvPr id="17" name="Shape 13"/>
          <p:cNvSpPr/>
          <p:nvPr/>
        </p:nvSpPr>
        <p:spPr>
          <a:xfrm>
            <a:off x="5661508" y="2240280"/>
            <a:ext cx="868680" cy="868680"/>
          </a:xfrm>
          <a:prstGeom prst="ellipse">
            <a:avLst/>
          </a:prstGeom>
          <a:solidFill>
            <a:schemeClr val="accent2"/>
          </a:solidFill>
          <a:ln/>
        </p:spPr>
      </p:sp>
      <p:pic>
        <p:nvPicPr>
          <p:cNvPr id="18" name="Image 2" descr="preencoded.png">    </p:cNvPr>
          <p:cNvPicPr>
            <a:picLocks noChangeAspect="1"/>
          </p:cNvPicPr>
          <p:nvPr/>
        </p:nvPicPr>
        <p:blipFill>
          <a:blip r:embed="rId3"/>
          <a:stretch>
            <a:fillRect/>
          </a:stretch>
        </p:blipFill>
        <p:spPr>
          <a:xfrm>
            <a:off x="5896051" y="2474824"/>
            <a:ext cx="399593" cy="399593"/>
          </a:xfrm>
          <a:prstGeom prst="rect">
            <a:avLst/>
          </a:prstGeom>
        </p:spPr>
      </p:pic>
      <p:sp>
        <p:nvSpPr>
          <p:cNvPr id="19" name="Text 14"/>
          <p:cNvSpPr txBox="1"/>
          <p:nvPr/>
        </p:nvSpPr>
        <p:spPr>
          <a:xfrm>
            <a:off x="5169286" y="3246120"/>
            <a:ext cx="1853123" cy="320040"/>
          </a:xfrm>
          <a:prstGeom prst="rect">
            <a:avLst/>
          </a:prstGeom>
          <a:noFill/>
          <a:ln/>
        </p:spPr>
        <p:txBody>
          <a:bodyPr wrap="square" lIns="0" tIns="0" rIns="0" bIns="0" rtlCol="0" anchor="t"/>
          <a:lstStyle/>
          <a:p>
            <a:pPr algn="ctr" indent="0" marL="0">
              <a:buNone/>
            </a:pPr>
            <a:r>
              <a:rPr lang="en-US" sz="1600" b="1" dirty="0">
                <a:solidFill>
                  <a:schemeClr val="accent2"/>
                </a:solidFill>
              </a:rPr>
              <a:t>3 · Plan</a:t>
            </a:r>
            <a:endParaRPr lang="en-US" sz="1600" dirty="0"/>
          </a:p>
        </p:txBody>
      </p:sp>
      <p:sp>
        <p:nvSpPr>
          <p:cNvPr id="20" name="Text 15"/>
          <p:cNvSpPr txBox="1"/>
          <p:nvPr/>
        </p:nvSpPr>
        <p:spPr>
          <a:xfrm>
            <a:off x="5169286" y="3593592"/>
            <a:ext cx="1853123" cy="640080"/>
          </a:xfrm>
          <a:prstGeom prst="rect">
            <a:avLst/>
          </a:prstGeom>
          <a:noFill/>
          <a:ln/>
        </p:spPr>
        <p:txBody>
          <a:bodyPr wrap="square" lIns="0" tIns="0" rIns="0" bIns="0" rtlCol="0" anchor="t"/>
          <a:lstStyle/>
          <a:p>
            <a:pPr algn="ctr" indent="0" marL="0">
              <a:buNone/>
            </a:pPr>
            <a:r>
              <a:rPr lang="en-US" sz="1400" dirty="0">
                <a:solidFill>
                  <a:schemeClr val="tx1"/>
                </a:solidFill>
              </a:rPr>
              <a:t>Predict tumour and organ dose; choose the strategy</a:t>
            </a:r>
            <a:endParaRPr lang="en-US" sz="1400" dirty="0"/>
          </a:p>
        </p:txBody>
      </p:sp>
      <p:sp>
        <p:nvSpPr>
          <p:cNvPr id="21" name="Shape 16"/>
          <p:cNvSpPr/>
          <p:nvPr/>
        </p:nvSpPr>
        <p:spPr>
          <a:xfrm>
            <a:off x="6639916" y="2674620"/>
            <a:ext cx="1130747" cy="0"/>
          </a:xfrm>
          <a:prstGeom prst="line">
            <a:avLst/>
          </a:prstGeom>
          <a:noFill/>
          <a:ln w="22225">
            <a:solidFill>
              <a:schemeClr val="accent6"/>
            </a:solidFill>
            <a:prstDash val="solid"/>
            <a:tailEnd type="triangle"/>
          </a:ln>
        </p:spPr>
      </p:sp>
      <p:sp>
        <p:nvSpPr>
          <p:cNvPr id="22" name="Shape 17"/>
          <p:cNvSpPr/>
          <p:nvPr/>
        </p:nvSpPr>
        <p:spPr>
          <a:xfrm>
            <a:off x="7880391" y="2240280"/>
            <a:ext cx="868680" cy="868680"/>
          </a:xfrm>
          <a:prstGeom prst="ellipse">
            <a:avLst/>
          </a:prstGeom>
          <a:solidFill>
            <a:schemeClr val="accent1"/>
          </a:solidFill>
          <a:ln/>
        </p:spPr>
      </p:sp>
      <p:pic>
        <p:nvPicPr>
          <p:cNvPr id="23" name="Image 3" descr="preencoded.png">    </p:cNvPr>
          <p:cNvPicPr>
            <a:picLocks noChangeAspect="1"/>
          </p:cNvPicPr>
          <p:nvPr/>
        </p:nvPicPr>
        <p:blipFill>
          <a:blip r:embed="rId4"/>
          <a:stretch>
            <a:fillRect/>
          </a:stretch>
        </p:blipFill>
        <p:spPr>
          <a:xfrm>
            <a:off x="8114934" y="2474824"/>
            <a:ext cx="399593" cy="399593"/>
          </a:xfrm>
          <a:prstGeom prst="rect">
            <a:avLst/>
          </a:prstGeom>
        </p:spPr>
      </p:pic>
      <p:sp>
        <p:nvSpPr>
          <p:cNvPr id="24" name="Text 18"/>
          <p:cNvSpPr txBox="1"/>
          <p:nvPr/>
        </p:nvSpPr>
        <p:spPr>
          <a:xfrm>
            <a:off x="7388169" y="3246120"/>
            <a:ext cx="1853123" cy="320040"/>
          </a:xfrm>
          <a:prstGeom prst="rect">
            <a:avLst/>
          </a:prstGeom>
          <a:noFill/>
          <a:ln/>
        </p:spPr>
        <p:txBody>
          <a:bodyPr wrap="square" lIns="0" tIns="0" rIns="0" bIns="0" rtlCol="0" anchor="t"/>
          <a:lstStyle/>
          <a:p>
            <a:pPr algn="ctr" indent="0" marL="0">
              <a:buNone/>
            </a:pPr>
            <a:r>
              <a:rPr lang="en-US" sz="1600" b="1" dirty="0">
                <a:solidFill>
                  <a:schemeClr val="tx2"/>
                </a:solidFill>
              </a:rPr>
              <a:t>4 · Treat</a:t>
            </a:r>
            <a:endParaRPr lang="en-US" sz="1600" dirty="0"/>
          </a:p>
        </p:txBody>
      </p:sp>
      <p:sp>
        <p:nvSpPr>
          <p:cNvPr id="25" name="Text 19"/>
          <p:cNvSpPr txBox="1"/>
          <p:nvPr/>
        </p:nvSpPr>
        <p:spPr>
          <a:xfrm>
            <a:off x="7388169" y="3593592"/>
            <a:ext cx="1853123" cy="640080"/>
          </a:xfrm>
          <a:prstGeom prst="rect">
            <a:avLst/>
          </a:prstGeom>
          <a:noFill/>
          <a:ln/>
        </p:spPr>
        <p:txBody>
          <a:bodyPr wrap="square" lIns="0" tIns="0" rIns="0" bIns="0" rtlCol="0" anchor="t"/>
          <a:lstStyle/>
          <a:p>
            <a:pPr algn="ctr" indent="0" marL="0">
              <a:buNone/>
            </a:pPr>
            <a:r>
              <a:rPr lang="en-US" sz="1400" dirty="0">
                <a:solidFill>
                  <a:schemeClr val="tx1"/>
                </a:solidFill>
              </a:rPr>
              <a:t>Same target, β, α or Auger emitter</a:t>
            </a:r>
            <a:endParaRPr lang="en-US" sz="1400" dirty="0"/>
          </a:p>
        </p:txBody>
      </p:sp>
      <p:sp>
        <p:nvSpPr>
          <p:cNvPr id="26" name="Shape 20"/>
          <p:cNvSpPr/>
          <p:nvPr/>
        </p:nvSpPr>
        <p:spPr>
          <a:xfrm>
            <a:off x="8858799" y="2674620"/>
            <a:ext cx="1130747" cy="0"/>
          </a:xfrm>
          <a:prstGeom prst="line">
            <a:avLst/>
          </a:prstGeom>
          <a:noFill/>
          <a:ln w="22225">
            <a:solidFill>
              <a:schemeClr val="accent6"/>
            </a:solidFill>
            <a:prstDash val="solid"/>
            <a:tailEnd type="triangle"/>
          </a:ln>
        </p:spPr>
      </p:sp>
      <p:sp>
        <p:nvSpPr>
          <p:cNvPr id="27" name="Shape 21"/>
          <p:cNvSpPr/>
          <p:nvPr/>
        </p:nvSpPr>
        <p:spPr>
          <a:xfrm>
            <a:off x="10099274" y="2240280"/>
            <a:ext cx="868680" cy="868680"/>
          </a:xfrm>
          <a:prstGeom prst="ellipse">
            <a:avLst/>
          </a:prstGeom>
          <a:solidFill>
            <a:schemeClr val="accent1"/>
          </a:solidFill>
          <a:ln/>
        </p:spPr>
      </p:sp>
      <p:pic>
        <p:nvPicPr>
          <p:cNvPr id="28" name="Image 4" descr="preencoded.png">    </p:cNvPr>
          <p:cNvPicPr>
            <a:picLocks noChangeAspect="1"/>
          </p:cNvPicPr>
          <p:nvPr/>
        </p:nvPicPr>
        <p:blipFill>
          <a:blip r:embed="rId5"/>
          <a:stretch>
            <a:fillRect/>
          </a:stretch>
        </p:blipFill>
        <p:spPr>
          <a:xfrm>
            <a:off x="10333817" y="2474824"/>
            <a:ext cx="399593" cy="399593"/>
          </a:xfrm>
          <a:prstGeom prst="rect">
            <a:avLst/>
          </a:prstGeom>
        </p:spPr>
      </p:pic>
      <p:sp>
        <p:nvSpPr>
          <p:cNvPr id="29" name="Text 22"/>
          <p:cNvSpPr txBox="1"/>
          <p:nvPr/>
        </p:nvSpPr>
        <p:spPr>
          <a:xfrm>
            <a:off x="9607052" y="3246120"/>
            <a:ext cx="1853123" cy="320040"/>
          </a:xfrm>
          <a:prstGeom prst="rect">
            <a:avLst/>
          </a:prstGeom>
          <a:noFill/>
          <a:ln/>
        </p:spPr>
        <p:txBody>
          <a:bodyPr wrap="square" lIns="0" tIns="0" rIns="0" bIns="0" rtlCol="0" anchor="t"/>
          <a:lstStyle/>
          <a:p>
            <a:pPr algn="ctr" indent="0" marL="0">
              <a:buNone/>
            </a:pPr>
            <a:r>
              <a:rPr lang="en-US" sz="1600" b="1" dirty="0">
                <a:solidFill>
                  <a:schemeClr val="tx2"/>
                </a:solidFill>
              </a:rPr>
              <a:t>5 · Monitor and adapt</a:t>
            </a:r>
            <a:endParaRPr lang="en-US" sz="1600" dirty="0"/>
          </a:p>
        </p:txBody>
      </p:sp>
      <p:sp>
        <p:nvSpPr>
          <p:cNvPr id="30" name="Text 23"/>
          <p:cNvSpPr txBox="1"/>
          <p:nvPr/>
        </p:nvSpPr>
        <p:spPr>
          <a:xfrm>
            <a:off x="9607052" y="3593592"/>
            <a:ext cx="1853123" cy="640080"/>
          </a:xfrm>
          <a:prstGeom prst="rect">
            <a:avLst/>
          </a:prstGeom>
          <a:noFill/>
          <a:ln/>
        </p:spPr>
        <p:txBody>
          <a:bodyPr wrap="square" lIns="0" tIns="0" rIns="0" bIns="0" rtlCol="0" anchor="t"/>
          <a:lstStyle/>
          <a:p>
            <a:pPr algn="ctr" indent="0" marL="0">
              <a:buNone/>
            </a:pPr>
            <a:r>
              <a:rPr lang="en-US" sz="1400" dirty="0">
                <a:solidFill>
                  <a:schemeClr val="tx1"/>
                </a:solidFill>
              </a:rPr>
              <a:t>Post-therapy SPECT/PET guide the next cycle</a:t>
            </a:r>
            <a:endParaRPr lang="en-US" sz="1400" dirty="0"/>
          </a:p>
        </p:txBody>
      </p:sp>
      <p:sp>
        <p:nvSpPr>
          <p:cNvPr id="31" name="Shape 24"/>
          <p:cNvSpPr/>
          <p:nvPr/>
        </p:nvSpPr>
        <p:spPr>
          <a:xfrm>
            <a:off x="10533614" y="4297680"/>
            <a:ext cx="0" cy="228600"/>
          </a:xfrm>
          <a:prstGeom prst="line">
            <a:avLst/>
          </a:prstGeom>
          <a:noFill/>
          <a:ln w="19050">
            <a:solidFill>
              <a:schemeClr val="accent6"/>
            </a:solidFill>
            <a:prstDash val="dash"/>
          </a:ln>
        </p:spPr>
      </p:sp>
      <p:sp>
        <p:nvSpPr>
          <p:cNvPr id="32" name="Shape 25"/>
          <p:cNvSpPr/>
          <p:nvPr/>
        </p:nvSpPr>
        <p:spPr>
          <a:xfrm flipH="1">
            <a:off x="1658082" y="4526280"/>
            <a:ext cx="8875532" cy="0"/>
          </a:xfrm>
          <a:prstGeom prst="line">
            <a:avLst/>
          </a:prstGeom>
          <a:noFill/>
          <a:ln w="19050">
            <a:solidFill>
              <a:schemeClr val="accent6"/>
            </a:solidFill>
            <a:prstDash val="dash"/>
          </a:ln>
        </p:spPr>
      </p:sp>
      <p:sp>
        <p:nvSpPr>
          <p:cNvPr id="33" name="Shape 26"/>
          <p:cNvSpPr/>
          <p:nvPr/>
        </p:nvSpPr>
        <p:spPr>
          <a:xfrm flipV="1">
            <a:off x="1658082" y="4343400"/>
            <a:ext cx="0" cy="182880"/>
          </a:xfrm>
          <a:prstGeom prst="line">
            <a:avLst/>
          </a:prstGeom>
          <a:noFill/>
          <a:ln w="22225">
            <a:solidFill>
              <a:schemeClr val="accent6"/>
            </a:solidFill>
            <a:prstDash val="dash"/>
            <a:tailEnd type="triangle"/>
          </a:ln>
        </p:spPr>
      </p:sp>
      <p:sp>
        <p:nvSpPr>
          <p:cNvPr id="34" name="Text 27"/>
          <p:cNvSpPr txBox="1"/>
          <p:nvPr/>
        </p:nvSpPr>
        <p:spPr>
          <a:xfrm>
            <a:off x="5181448" y="4562856"/>
            <a:ext cx="1828800" cy="256032"/>
          </a:xfrm>
          <a:prstGeom prst="rect">
            <a:avLst/>
          </a:prstGeom>
          <a:noFill/>
          <a:ln/>
        </p:spPr>
        <p:txBody>
          <a:bodyPr wrap="square" lIns="0" tIns="0" rIns="0" bIns="0" rtlCol="0" anchor="t"/>
          <a:lstStyle/>
          <a:p>
            <a:pPr algn="ctr" indent="0" marL="0">
              <a:buNone/>
            </a:pPr>
            <a:r>
              <a:rPr lang="en-US" sz="1200" i="1" dirty="0">
                <a:solidFill>
                  <a:schemeClr val="accent6"/>
                </a:solidFill>
              </a:rPr>
              <a:t>every cycle</a:t>
            </a:r>
            <a:endParaRPr lang="en-US" sz="1200" dirty="0"/>
          </a:p>
        </p:txBody>
      </p:sp>
      <p:sp>
        <p:nvSpPr>
          <p:cNvPr id="35" name="Shape 28"/>
          <p:cNvSpPr/>
          <p:nvPr/>
        </p:nvSpPr>
        <p:spPr>
          <a:xfrm>
            <a:off x="548640" y="5074920"/>
            <a:ext cx="11094415" cy="1051560"/>
          </a:xfrm>
          <a:prstGeom prst="roundRect">
            <a:avLst>
              <a:gd name="adj" fmla="val 6957"/>
            </a:avLst>
          </a:prstGeom>
          <a:solidFill>
            <a:schemeClr val="bg2"/>
          </a:solidFill>
          <a:ln/>
        </p:spPr>
      </p:sp>
      <p:sp>
        <p:nvSpPr>
          <p:cNvPr id="36" name="Text 29"/>
          <p:cNvSpPr txBox="1"/>
          <p:nvPr/>
        </p:nvSpPr>
        <p:spPr>
          <a:xfrm>
            <a:off x="822960" y="5193792"/>
            <a:ext cx="2743200" cy="256032"/>
          </a:xfrm>
          <a:prstGeom prst="rect">
            <a:avLst/>
          </a:prstGeom>
          <a:noFill/>
          <a:ln/>
        </p:spPr>
        <p:txBody>
          <a:bodyPr wrap="square" lIns="0" tIns="0" rIns="0" bIns="0" rtlCol="0" anchor="t"/>
          <a:lstStyle/>
          <a:p>
            <a:pPr indent="0" marL="0">
              <a:buNone/>
            </a:pPr>
            <a:r>
              <a:rPr lang="en-US" sz="1100" b="1" spc="100" kern="0" dirty="0">
                <a:solidFill>
                  <a:schemeClr val="accent1"/>
                </a:solidFill>
              </a:rPr>
              <a:t>PROVEN PAIRS</a:t>
            </a:r>
            <a:endParaRPr lang="en-US" sz="1100" dirty="0"/>
          </a:p>
        </p:txBody>
      </p:sp>
      <p:sp>
        <p:nvSpPr>
          <p:cNvPr id="37" name="Text 30"/>
          <p:cNvSpPr txBox="1"/>
          <p:nvPr/>
        </p:nvSpPr>
        <p:spPr>
          <a:xfrm>
            <a:off x="822960" y="5468112"/>
            <a:ext cx="6949440" cy="594360"/>
          </a:xfrm>
          <a:prstGeom prst="rect">
            <a:avLst/>
          </a:prstGeom>
          <a:noFill/>
          <a:ln/>
        </p:spPr>
        <p:txBody>
          <a:bodyPr wrap="square" lIns="0" tIns="0" rIns="0" bIns="0" rtlCol="0" anchor="t"/>
          <a:lstStyle/>
          <a:p>
            <a:pPr indent="0" marL="0">
              <a:buNone/>
            </a:pPr>
            <a:r>
              <a:rPr lang="en-US" sz="1400" b="1" dirty="0">
                <a:solidFill>
                  <a:schemeClr val="tx2"/>
                </a:solidFill>
              </a:rPr>
              <a:t>PSMA: </a:t>
            </a:r>
            <a:pPr indent="0" marL="0">
              <a:buNone/>
            </a:pPr>
            <a:r>
              <a:rPr lang="en-US" sz="1400" dirty="0">
                <a:solidFill>
                  <a:schemeClr val="tx2"/>
                </a:solidFill>
              </a:rPr>
              <a:t>68Ga-PSMA-11 PET → 177Lu-PSMA-617 in prostate cancer</a:t>
            </a:r>
            <a:endParaRPr lang="en-US" sz="1400" dirty="0"/>
          </a:p>
          <a:p>
            <a:pPr indent="0" marL="0">
              <a:buNone/>
            </a:pPr>
            <a:r>
              <a:rPr lang="en-US" sz="1400" b="1" dirty="0">
                <a:solidFill>
                  <a:schemeClr val="tx2"/>
                </a:solidFill>
              </a:rPr>
              <a:t>SSTR: </a:t>
            </a:r>
            <a:pPr indent="0" marL="0">
              <a:buNone/>
            </a:pPr>
            <a:r>
              <a:rPr lang="en-US" sz="1400" dirty="0">
                <a:solidFill>
                  <a:schemeClr val="tx2"/>
                </a:solidFill>
              </a:rPr>
              <a:t>68Ga-DOTATATE PET → 177Lu-DOTATATE in neuroendocrine tumours</a:t>
            </a:r>
            <a:endParaRPr lang="en-US" sz="1400" dirty="0"/>
          </a:p>
        </p:txBody>
      </p:sp>
      <p:sp>
        <p:nvSpPr>
          <p:cNvPr id="38" name="Text 31"/>
          <p:cNvSpPr txBox="1"/>
          <p:nvPr/>
        </p:nvSpPr>
        <p:spPr>
          <a:xfrm>
            <a:off x="7772400" y="5193792"/>
            <a:ext cx="3642055" cy="868680"/>
          </a:xfrm>
          <a:prstGeom prst="rect">
            <a:avLst/>
          </a:prstGeom>
          <a:noFill/>
          <a:ln/>
        </p:spPr>
        <p:txBody>
          <a:bodyPr wrap="square" lIns="0" tIns="0" rIns="0" bIns="0" rtlCol="0" anchor="ctr"/>
          <a:lstStyle/>
          <a:p>
            <a:pPr indent="0" marL="0">
              <a:buNone/>
            </a:pPr>
            <a:r>
              <a:rPr lang="en-US" sz="1300" i="1" dirty="0">
                <a:solidFill>
                  <a:schemeClr val="tx2"/>
                </a:solidFill>
              </a:rPr>
              <a:t>Diagnostic and therapeutic agents share a target but not always kinetics: predictions must be checked per pair.</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640080"/>
          </a:xfrm>
          <a:prstGeom prst="rect">
            <a:avLst/>
          </a:prstGeom>
          <a:noFill/>
          <a:ln/>
        </p:spPr>
        <p:txBody>
          <a:bodyPr wrap="square" lIns="0" tIns="0" rIns="0" bIns="0" rtlCol="0" anchor="ctr"/>
          <a:lstStyle/>
          <a:p>
            <a:pPr algn="l" indent="0" marL="0">
              <a:buNone/>
            </a:pPr>
            <a:r>
              <a:rPr lang="en-US" sz="3400" b="1" dirty="0">
                <a:solidFill>
                  <a:schemeClr val="tx2"/>
                </a:solidFill>
              </a:rPr>
              <a:t>The missing link is validated treatment planning</a:t>
            </a:r>
            <a:endParaRPr lang="en-US" sz="3400" dirty="0"/>
          </a:p>
        </p:txBody>
      </p:sp>
      <p:sp>
        <p:nvSpPr>
          <p:cNvPr id="3" name="Text 0"/>
          <p:cNvSpPr/>
          <p:nvPr>
            <p:ph idx="101" type="body" hasCustomPrompt="1"/>
          </p:nvPr>
        </p:nvSpPr>
        <p:spPr>
          <a:xfrm>
            <a:off x="548640" y="1051560"/>
            <a:ext cx="11094415" cy="411480"/>
          </a:xfrm>
          <a:prstGeom prst="rect">
            <a:avLst/>
          </a:prstGeom>
          <a:noFill/>
          <a:ln/>
        </p:spPr>
        <p:txBody>
          <a:bodyPr wrap="square" lIns="0" tIns="0" rIns="0" bIns="0" rtlCol="0" anchor="t"/>
          <a:lstStyle/>
          <a:p>
            <a:pPr indent="0" marL="0">
              <a:buNone/>
            </a:pPr>
            <a:r>
              <a:rPr lang="en-US" sz="1600" dirty="0">
                <a:solidFill>
                  <a:schemeClr val="accent6"/>
                </a:solidFill>
              </a:rPr>
              <a:t>AI and dosimetry are advancing, but few models are tested where decisions are made</a:t>
            </a:r>
            <a:endParaRPr lang="en-US" sz="1600" dirty="0"/>
          </a:p>
        </p:txBody>
      </p:sp>
      <p:sp>
        <p:nvSpPr>
          <p:cNvPr id="4" name="Text 2"/>
          <p:cNvSpPr txBox="1"/>
          <p:nvPr/>
        </p:nvSpPr>
        <p:spPr>
          <a:xfrm>
            <a:off x="548640" y="164592"/>
            <a:ext cx="7315200" cy="256032"/>
          </a:xfrm>
          <a:prstGeom prst="rect">
            <a:avLst/>
          </a:prstGeom>
          <a:noFill/>
          <a:ln/>
        </p:spPr>
        <p:txBody>
          <a:bodyPr wrap="square" lIns="0" tIns="0" rIns="0" bIns="0" rtlCol="0" anchor="t"/>
          <a:lstStyle/>
          <a:p>
            <a:pPr indent="0" marL="0">
              <a:buNone/>
            </a:pPr>
            <a:r>
              <a:rPr lang="en-US" sz="1200" b="1" spc="150" kern="0" dirty="0">
                <a:solidFill>
                  <a:schemeClr val="accent1"/>
                </a:solidFill>
              </a:rPr>
              <a:t>WHY THIS PROGRAM</a:t>
            </a:r>
            <a:endParaRPr lang="en-US" sz="1200" dirty="0"/>
          </a:p>
        </p:txBody>
      </p:sp>
      <p:sp>
        <p:nvSpPr>
          <p:cNvPr id="5" name="Shape 3"/>
          <p:cNvSpPr/>
          <p:nvPr/>
        </p:nvSpPr>
        <p:spPr>
          <a:xfrm>
            <a:off x="548640" y="1645920"/>
            <a:ext cx="5486400" cy="4206240"/>
          </a:xfrm>
          <a:prstGeom prst="roundRect">
            <a:avLst>
              <a:gd name="adj" fmla="val 1739"/>
            </a:avLst>
          </a:prstGeom>
          <a:solidFill>
            <a:schemeClr val="bg2"/>
          </a:solidFill>
          <a:ln/>
        </p:spPr>
      </p:sp>
      <p:sp>
        <p:nvSpPr>
          <p:cNvPr id="6" name="Text 4"/>
          <p:cNvSpPr txBox="1"/>
          <p:nvPr/>
        </p:nvSpPr>
        <p:spPr>
          <a:xfrm>
            <a:off x="822960" y="1783080"/>
            <a:ext cx="4937760" cy="320040"/>
          </a:xfrm>
          <a:prstGeom prst="rect">
            <a:avLst/>
          </a:prstGeom>
          <a:noFill/>
          <a:ln/>
        </p:spPr>
        <p:txBody>
          <a:bodyPr wrap="square" lIns="0" tIns="0" rIns="0" bIns="0" rtlCol="0" anchor="t"/>
          <a:lstStyle/>
          <a:p>
            <a:pPr indent="0" marL="0">
              <a:buNone/>
            </a:pPr>
            <a:r>
              <a:rPr lang="en-US" sz="1600" b="1" dirty="0">
                <a:solidFill>
                  <a:schemeClr val="tx2"/>
                </a:solidFill>
              </a:rPr>
              <a:t>AI in theranostics: 73 full journal reports mapped</a:t>
            </a:r>
            <a:endParaRPr lang="en-US" sz="1600" dirty="0"/>
          </a:p>
        </p:txBody>
      </p:sp>
      <p:graphicFrame>
        <p:nvGraphicFramePr>
          <p:cNvPr id="7" name="Chart 0" descr=""/>
          <p:cNvGraphicFramePr/>
          <p:nvPr/>
        </p:nvGraphicFramePr>
        <p:xfrm>
          <a:off x="731520" y="2194560"/>
          <a:ext cx="5120640" cy="2926080"/>
        </p:xfrm>
        <a:graphic xmlns:a="http://schemas.openxmlformats.org/drawingml/2006/main">
          <a:graphicData uri="http://schemas.openxmlformats.org/drawingml/2006/chart">
            <c:chart xmlns:c="http://schemas.openxmlformats.org/drawingml/2006/chart" r:id="rId1"/>
          </a:graphicData>
        </a:graphic>
      </p:graphicFrame>
      <p:sp>
        <p:nvSpPr>
          <p:cNvPr id="8" name="Text 5"/>
          <p:cNvSpPr txBox="1"/>
          <p:nvPr/>
        </p:nvSpPr>
        <p:spPr>
          <a:xfrm>
            <a:off x="822960" y="5166360"/>
            <a:ext cx="4937760" cy="594360"/>
          </a:xfrm>
          <a:prstGeom prst="rect">
            <a:avLst/>
          </a:prstGeom>
          <a:noFill/>
          <a:ln/>
        </p:spPr>
        <p:txBody>
          <a:bodyPr wrap="square" lIns="0" tIns="0" rIns="0" bIns="0" rtlCol="0" anchor="t"/>
          <a:lstStyle/>
          <a:p>
            <a:pPr indent="0" marL="0">
              <a:buNone/>
            </a:pPr>
            <a:r>
              <a:rPr lang="en-US" sz="1100" i="1" dirty="0">
                <a:solidFill>
                  <a:schemeClr val="accent6"/>
                </a:solidFill>
              </a:rPr>
              <a:t>Number of the 73 reports meeting each criterion. Categories overlap; narrative evidence map, not a systematic review. Banala et al., Front Nucl Med 2026.</a:t>
            </a:r>
            <a:endParaRPr lang="en-US" sz="1100" dirty="0"/>
          </a:p>
        </p:txBody>
      </p:sp>
      <p:sp>
        <p:nvSpPr>
          <p:cNvPr id="9" name="Shape 6"/>
          <p:cNvSpPr/>
          <p:nvPr/>
        </p:nvSpPr>
        <p:spPr>
          <a:xfrm>
            <a:off x="6400800" y="1737360"/>
            <a:ext cx="548640" cy="548640"/>
          </a:xfrm>
          <a:prstGeom prst="ellipse">
            <a:avLst/>
          </a:prstGeom>
          <a:solidFill>
            <a:schemeClr val="accent1"/>
          </a:solidFill>
          <a:ln/>
        </p:spPr>
      </p:sp>
      <p:pic>
        <p:nvPicPr>
          <p:cNvPr id="10" name="Image 0" descr="preencoded.png">    </p:cNvPr>
          <p:cNvPicPr>
            <a:picLocks noChangeAspect="1"/>
          </p:cNvPicPr>
          <p:nvPr/>
        </p:nvPicPr>
        <p:blipFill>
          <a:blip r:embed="rId2"/>
          <a:stretch>
            <a:fillRect/>
          </a:stretch>
        </p:blipFill>
        <p:spPr>
          <a:xfrm>
            <a:off x="6548933" y="1885493"/>
            <a:ext cx="252374" cy="252374"/>
          </a:xfrm>
          <a:prstGeom prst="rect">
            <a:avLst/>
          </a:prstGeom>
        </p:spPr>
      </p:pic>
      <p:sp>
        <p:nvSpPr>
          <p:cNvPr id="11" name="Text 7"/>
          <p:cNvSpPr txBox="1"/>
          <p:nvPr/>
        </p:nvSpPr>
        <p:spPr>
          <a:xfrm>
            <a:off x="7132320" y="1691640"/>
            <a:ext cx="2194560" cy="365760"/>
          </a:xfrm>
          <a:prstGeom prst="rect">
            <a:avLst/>
          </a:prstGeom>
          <a:noFill/>
          <a:ln/>
        </p:spPr>
        <p:txBody>
          <a:bodyPr wrap="square" lIns="0" tIns="0" rIns="0" bIns="0" rtlCol="0" anchor="t"/>
          <a:lstStyle/>
          <a:p>
            <a:pPr indent="0" marL="0">
              <a:buNone/>
            </a:pPr>
            <a:r>
              <a:rPr lang="en-US" sz="1700" b="1" dirty="0">
                <a:solidFill>
                  <a:schemeClr val="tx2"/>
                </a:solidFill>
              </a:rPr>
              <a:t>Heterogeneity</a:t>
            </a:r>
            <a:endParaRPr lang="en-US" sz="1700" dirty="0"/>
          </a:p>
        </p:txBody>
      </p:sp>
      <p:sp>
        <p:nvSpPr>
          <p:cNvPr id="12" name="Text 8"/>
          <p:cNvSpPr txBox="1"/>
          <p:nvPr/>
        </p:nvSpPr>
        <p:spPr>
          <a:xfrm>
            <a:off x="7132320" y="2057400"/>
            <a:ext cx="4510735" cy="548640"/>
          </a:xfrm>
          <a:prstGeom prst="rect">
            <a:avLst/>
          </a:prstGeom>
          <a:noFill/>
          <a:ln/>
        </p:spPr>
        <p:txBody>
          <a:bodyPr wrap="square" lIns="0" tIns="0" rIns="0" bIns="0" rtlCol="0" anchor="t"/>
          <a:lstStyle/>
          <a:p>
            <a:pPr indent="0" marL="0">
              <a:buNone/>
            </a:pPr>
            <a:r>
              <a:rPr lang="en-US" sz="3200" b="1" dirty="0">
                <a:solidFill>
                  <a:schemeClr val="accent1"/>
                </a:solidFill>
              </a:rPr>
              <a:t>33% vs 18%</a:t>
            </a:r>
            <a:endParaRPr lang="en-US" sz="3200" dirty="0"/>
          </a:p>
        </p:txBody>
      </p:sp>
      <p:sp>
        <p:nvSpPr>
          <p:cNvPr id="13" name="Text 9"/>
          <p:cNvSpPr txBox="1"/>
          <p:nvPr/>
        </p:nvSpPr>
        <p:spPr>
          <a:xfrm>
            <a:off x="7132320" y="2587752"/>
            <a:ext cx="4510735" cy="365760"/>
          </a:xfrm>
          <a:prstGeom prst="rect">
            <a:avLst/>
          </a:prstGeom>
          <a:noFill/>
          <a:ln/>
        </p:spPr>
        <p:txBody>
          <a:bodyPr wrap="square" lIns="0" tIns="0" rIns="0" bIns="0" rtlCol="0" anchor="t"/>
          <a:lstStyle/>
          <a:p>
            <a:pPr indent="0" marL="0">
              <a:buNone/>
            </a:pPr>
            <a:r>
              <a:rPr lang="en-US" sz="1200" dirty="0">
                <a:solidFill>
                  <a:schemeClr val="accent6"/>
                </a:solidFill>
              </a:rPr>
              <a:t>variability in effective half-life: lesions vs kidneys</a:t>
            </a:r>
            <a:endParaRPr lang="en-US" sz="1200" dirty="0"/>
          </a:p>
        </p:txBody>
      </p:sp>
      <p:sp>
        <p:nvSpPr>
          <p:cNvPr id="14" name="Shape 10"/>
          <p:cNvSpPr/>
          <p:nvPr/>
        </p:nvSpPr>
        <p:spPr>
          <a:xfrm>
            <a:off x="6400800" y="3172968"/>
            <a:ext cx="548640" cy="548640"/>
          </a:xfrm>
          <a:prstGeom prst="ellipse">
            <a:avLst/>
          </a:prstGeom>
          <a:solidFill>
            <a:schemeClr val="accent3"/>
          </a:solidFill>
          <a:ln/>
        </p:spPr>
      </p:sp>
      <p:pic>
        <p:nvPicPr>
          <p:cNvPr id="15" name="Image 1" descr="preencoded.png">    </p:cNvPr>
          <p:cNvPicPr>
            <a:picLocks noChangeAspect="1"/>
          </p:cNvPicPr>
          <p:nvPr/>
        </p:nvPicPr>
        <p:blipFill>
          <a:blip r:embed="rId3"/>
          <a:stretch>
            <a:fillRect/>
          </a:stretch>
        </p:blipFill>
        <p:spPr>
          <a:xfrm>
            <a:off x="6548933" y="3321101"/>
            <a:ext cx="252374" cy="252374"/>
          </a:xfrm>
          <a:prstGeom prst="rect">
            <a:avLst/>
          </a:prstGeom>
        </p:spPr>
      </p:pic>
      <p:sp>
        <p:nvSpPr>
          <p:cNvPr id="16" name="Text 11"/>
          <p:cNvSpPr txBox="1"/>
          <p:nvPr/>
        </p:nvSpPr>
        <p:spPr>
          <a:xfrm>
            <a:off x="7132320" y="3127248"/>
            <a:ext cx="2194560" cy="365760"/>
          </a:xfrm>
          <a:prstGeom prst="rect">
            <a:avLst/>
          </a:prstGeom>
          <a:noFill/>
          <a:ln/>
        </p:spPr>
        <p:txBody>
          <a:bodyPr wrap="square" lIns="0" tIns="0" rIns="0" bIns="0" rtlCol="0" anchor="t"/>
          <a:lstStyle/>
          <a:p>
            <a:pPr indent="0" marL="0">
              <a:buNone/>
            </a:pPr>
            <a:r>
              <a:rPr lang="en-US" sz="1700" b="1" dirty="0">
                <a:solidFill>
                  <a:schemeClr val="tx2"/>
                </a:solidFill>
              </a:rPr>
              <a:t>Dosimetry</a:t>
            </a:r>
            <a:endParaRPr lang="en-US" sz="1700" dirty="0"/>
          </a:p>
        </p:txBody>
      </p:sp>
      <p:sp>
        <p:nvSpPr>
          <p:cNvPr id="17" name="Text 12"/>
          <p:cNvSpPr txBox="1"/>
          <p:nvPr/>
        </p:nvSpPr>
        <p:spPr>
          <a:xfrm>
            <a:off x="7132320" y="3493008"/>
            <a:ext cx="4510735" cy="548640"/>
          </a:xfrm>
          <a:prstGeom prst="rect">
            <a:avLst/>
          </a:prstGeom>
          <a:noFill/>
          <a:ln/>
        </p:spPr>
        <p:txBody>
          <a:bodyPr wrap="square" lIns="0" tIns="0" rIns="0" bIns="0" rtlCol="0" anchor="t"/>
          <a:lstStyle/>
          <a:p>
            <a:pPr indent="0" marL="0">
              <a:buNone/>
            </a:pPr>
            <a:r>
              <a:rPr lang="en-US" sz="3200" b="1" dirty="0">
                <a:solidFill>
                  <a:schemeClr val="accent3"/>
                </a:solidFill>
              </a:rPr>
              <a:t>3–4 scans</a:t>
            </a:r>
            <a:endParaRPr lang="en-US" sz="3200" dirty="0"/>
          </a:p>
        </p:txBody>
      </p:sp>
      <p:sp>
        <p:nvSpPr>
          <p:cNvPr id="18" name="Text 13"/>
          <p:cNvSpPr txBox="1"/>
          <p:nvPr/>
        </p:nvSpPr>
        <p:spPr>
          <a:xfrm>
            <a:off x="7132320" y="4023360"/>
            <a:ext cx="4510735" cy="365760"/>
          </a:xfrm>
          <a:prstGeom prst="rect">
            <a:avLst/>
          </a:prstGeom>
          <a:noFill/>
          <a:ln/>
        </p:spPr>
        <p:txBody>
          <a:bodyPr wrap="square" lIns="0" tIns="0" rIns="0" bIns="0" rtlCol="0" anchor="t"/>
          <a:lstStyle/>
          <a:p>
            <a:pPr indent="0" marL="0">
              <a:buNone/>
            </a:pPr>
            <a:r>
              <a:rPr lang="en-US" sz="1200" dirty="0">
                <a:solidFill>
                  <a:schemeClr val="accent6"/>
                </a:solidFill>
              </a:rPr>
              <a:t>over 4–7 days; 30–60 min segmentation; hours of Monte Carlo</a:t>
            </a:r>
            <a:endParaRPr lang="en-US" sz="1200" dirty="0"/>
          </a:p>
        </p:txBody>
      </p:sp>
      <p:sp>
        <p:nvSpPr>
          <p:cNvPr id="19" name="Shape 14"/>
          <p:cNvSpPr/>
          <p:nvPr/>
        </p:nvSpPr>
        <p:spPr>
          <a:xfrm>
            <a:off x="6400800" y="4608576"/>
            <a:ext cx="548640" cy="548640"/>
          </a:xfrm>
          <a:prstGeom prst="ellipse">
            <a:avLst/>
          </a:prstGeom>
          <a:solidFill>
            <a:schemeClr val="accent2"/>
          </a:solidFill>
          <a:ln/>
        </p:spPr>
      </p:sp>
      <p:pic>
        <p:nvPicPr>
          <p:cNvPr id="20" name="Image 2" descr="preencoded.png">    </p:cNvPr>
          <p:cNvPicPr>
            <a:picLocks noChangeAspect="1"/>
          </p:cNvPicPr>
          <p:nvPr/>
        </p:nvPicPr>
        <p:blipFill>
          <a:blip r:embed="rId4"/>
          <a:stretch>
            <a:fillRect/>
          </a:stretch>
        </p:blipFill>
        <p:spPr>
          <a:xfrm>
            <a:off x="6548933" y="4756709"/>
            <a:ext cx="252374" cy="252374"/>
          </a:xfrm>
          <a:prstGeom prst="rect">
            <a:avLst/>
          </a:prstGeom>
        </p:spPr>
      </p:pic>
      <p:sp>
        <p:nvSpPr>
          <p:cNvPr id="21" name="Text 15"/>
          <p:cNvSpPr txBox="1"/>
          <p:nvPr/>
        </p:nvSpPr>
        <p:spPr>
          <a:xfrm>
            <a:off x="7132320" y="4562856"/>
            <a:ext cx="2194560" cy="365760"/>
          </a:xfrm>
          <a:prstGeom prst="rect">
            <a:avLst/>
          </a:prstGeom>
          <a:noFill/>
          <a:ln/>
        </p:spPr>
        <p:txBody>
          <a:bodyPr wrap="square" lIns="0" tIns="0" rIns="0" bIns="0" rtlCol="0" anchor="t"/>
          <a:lstStyle/>
          <a:p>
            <a:pPr indent="0" marL="0">
              <a:buNone/>
            </a:pPr>
            <a:r>
              <a:rPr lang="en-US" sz="1700" b="1" dirty="0">
                <a:solidFill>
                  <a:schemeClr val="tx2"/>
                </a:solidFill>
              </a:rPr>
              <a:t>Integration</a:t>
            </a:r>
            <a:endParaRPr lang="en-US" sz="1700" dirty="0"/>
          </a:p>
        </p:txBody>
      </p:sp>
      <p:sp>
        <p:nvSpPr>
          <p:cNvPr id="22" name="Text 16"/>
          <p:cNvSpPr txBox="1"/>
          <p:nvPr/>
        </p:nvSpPr>
        <p:spPr>
          <a:xfrm>
            <a:off x="7132320" y="4928616"/>
            <a:ext cx="4510735" cy="548640"/>
          </a:xfrm>
          <a:prstGeom prst="rect">
            <a:avLst/>
          </a:prstGeom>
          <a:noFill/>
          <a:ln/>
        </p:spPr>
        <p:txBody>
          <a:bodyPr wrap="square" lIns="0" tIns="0" rIns="0" bIns="0" rtlCol="0" anchor="t"/>
          <a:lstStyle/>
          <a:p>
            <a:pPr indent="0" marL="0">
              <a:buNone/>
            </a:pPr>
            <a:r>
              <a:rPr lang="en-US" sz="3200" b="1" dirty="0">
                <a:solidFill>
                  <a:schemeClr val="accent2"/>
                </a:solidFill>
              </a:rPr>
              <a:t>3.4%</a:t>
            </a:r>
            <a:endParaRPr lang="en-US" sz="3200" dirty="0"/>
          </a:p>
        </p:txBody>
      </p:sp>
      <p:sp>
        <p:nvSpPr>
          <p:cNvPr id="23" name="Text 17"/>
          <p:cNvSpPr txBox="1"/>
          <p:nvPr/>
        </p:nvSpPr>
        <p:spPr>
          <a:xfrm>
            <a:off x="7132320" y="5458968"/>
            <a:ext cx="4510735" cy="365760"/>
          </a:xfrm>
          <a:prstGeom prst="rect">
            <a:avLst/>
          </a:prstGeom>
          <a:noFill/>
          <a:ln/>
        </p:spPr>
        <p:txBody>
          <a:bodyPr wrap="square" lIns="0" tIns="0" rIns="0" bIns="0" rtlCol="0" anchor="t"/>
          <a:lstStyle/>
          <a:p>
            <a:pPr indent="0" marL="0">
              <a:buNone/>
            </a:pPr>
            <a:r>
              <a:rPr lang="en-US" sz="1200" dirty="0">
                <a:solidFill>
                  <a:schemeClr val="accent6"/>
                </a:solidFill>
              </a:rPr>
              <a:t>of oncology drugs entering Phase 1 reach approval</a:t>
            </a:r>
            <a:endParaRPr lang="en-US" sz="1200" dirty="0"/>
          </a:p>
        </p:txBody>
      </p:sp>
      <p:sp>
        <p:nvSpPr>
          <p:cNvPr id="24" name="Text 18"/>
          <p:cNvSpPr txBox="1"/>
          <p:nvPr/>
        </p:nvSpPr>
        <p:spPr>
          <a:xfrm>
            <a:off x="6400800" y="5897880"/>
            <a:ext cx="5242255" cy="274320"/>
          </a:xfrm>
          <a:prstGeom prst="rect">
            <a:avLst/>
          </a:prstGeom>
          <a:noFill/>
          <a:ln/>
        </p:spPr>
        <p:txBody>
          <a:bodyPr wrap="square" lIns="0" tIns="0" rIns="0" bIns="0" rtlCol="0" anchor="t"/>
          <a:lstStyle/>
          <a:p>
            <a:pPr algn="l" indent="0" marL="0">
              <a:buNone/>
            </a:pPr>
            <a:r>
              <a:rPr lang="en-US" sz="1000" i="1" dirty="0">
                <a:solidFill>
                  <a:schemeClr val="accent6"/>
                </a:solidFill>
              </a:rPr>
              <a:t>Gap figures: Yazdani et al., Theranostics 2026; Wong, Siah &amp; Lo, Biostatistics 2019.</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640080"/>
          </a:xfrm>
          <a:prstGeom prst="rect">
            <a:avLst/>
          </a:prstGeom>
          <a:noFill/>
          <a:ln/>
        </p:spPr>
        <p:txBody>
          <a:bodyPr wrap="square" lIns="0" tIns="0" rIns="0" bIns="0" rtlCol="0" anchor="ctr"/>
          <a:lstStyle/>
          <a:p>
            <a:pPr algn="l" indent="0" marL="0">
              <a:buNone/>
            </a:pPr>
            <a:r>
              <a:rPr lang="en-US" sz="3400" b="1" dirty="0">
                <a:solidFill>
                  <a:schemeClr val="tx2"/>
                </a:solidFill>
              </a:rPr>
              <a:t>Five connected aims, one predictive engine</a:t>
            </a:r>
            <a:endParaRPr lang="en-US" sz="3400" dirty="0"/>
          </a:p>
        </p:txBody>
      </p:sp>
      <p:sp>
        <p:nvSpPr>
          <p:cNvPr id="3" name="Text 1"/>
          <p:cNvSpPr txBox="1"/>
          <p:nvPr/>
        </p:nvSpPr>
        <p:spPr>
          <a:xfrm>
            <a:off x="548640" y="164592"/>
            <a:ext cx="7315200" cy="256032"/>
          </a:xfrm>
          <a:prstGeom prst="rect">
            <a:avLst/>
          </a:prstGeom>
          <a:noFill/>
          <a:ln/>
        </p:spPr>
        <p:txBody>
          <a:bodyPr wrap="square" lIns="0" tIns="0" rIns="0" bIns="0" rtlCol="0" anchor="t"/>
          <a:lstStyle/>
          <a:p>
            <a:pPr indent="0" marL="0">
              <a:buNone/>
            </a:pPr>
            <a:r>
              <a:rPr lang="en-US" sz="1200" b="1" spc="150" kern="0" dirty="0">
                <a:solidFill>
                  <a:schemeClr val="accent1"/>
                </a:solidFill>
              </a:rPr>
              <a:t>MY VISION</a:t>
            </a:r>
            <a:endParaRPr lang="en-US" sz="1200" dirty="0"/>
          </a:p>
        </p:txBody>
      </p:sp>
      <p:sp>
        <p:nvSpPr>
          <p:cNvPr id="4" name="Shape 2"/>
          <p:cNvSpPr/>
          <p:nvPr/>
        </p:nvSpPr>
        <p:spPr>
          <a:xfrm>
            <a:off x="548640" y="1188720"/>
            <a:ext cx="11094415" cy="777240"/>
          </a:xfrm>
          <a:prstGeom prst="roundRect">
            <a:avLst>
              <a:gd name="adj" fmla="val 9412"/>
            </a:avLst>
          </a:prstGeom>
          <a:solidFill>
            <a:schemeClr val="tx2"/>
          </a:solidFill>
          <a:ln/>
        </p:spPr>
      </p:sp>
      <p:sp>
        <p:nvSpPr>
          <p:cNvPr id="5" name="Text 3"/>
          <p:cNvSpPr txBox="1"/>
          <p:nvPr/>
        </p:nvSpPr>
        <p:spPr>
          <a:xfrm>
            <a:off x="822960" y="1188720"/>
            <a:ext cx="10545775" cy="777240"/>
          </a:xfrm>
          <a:prstGeom prst="rect">
            <a:avLst/>
          </a:prstGeom>
          <a:noFill/>
          <a:ln/>
        </p:spPr>
        <p:txBody>
          <a:bodyPr wrap="square" lIns="0" tIns="0" rIns="0" bIns="0" rtlCol="0" anchor="ctr"/>
          <a:lstStyle/>
          <a:p>
            <a:pPr algn="ctr" indent="0" marL="0">
              <a:buNone/>
            </a:pPr>
            <a:r>
              <a:rPr lang="en-US" sz="2000" b="1" dirty="0">
                <a:solidFill>
                  <a:schemeClr val="bg1"/>
                </a:solidFill>
              </a:rPr>
              <a:t>How can molecular imaging capture heterogeneity and guide patient-specific therapy?</a:t>
            </a:r>
            <a:endParaRPr lang="en-US" sz="2000" dirty="0"/>
          </a:p>
        </p:txBody>
      </p:sp>
      <p:sp>
        <p:nvSpPr>
          <p:cNvPr id="6" name="Shape 4"/>
          <p:cNvSpPr/>
          <p:nvPr/>
        </p:nvSpPr>
        <p:spPr>
          <a:xfrm>
            <a:off x="548640" y="2240280"/>
            <a:ext cx="4160520" cy="3017520"/>
          </a:xfrm>
          <a:prstGeom prst="roundRect">
            <a:avLst>
              <a:gd name="adj" fmla="val 2424"/>
            </a:avLst>
          </a:prstGeom>
          <a:solidFill>
            <a:schemeClr val="accent1">
              <a:alpha val="12000"/>
            </a:schemeClr>
          </a:solidFill>
          <a:ln/>
        </p:spPr>
      </p:sp>
      <p:sp>
        <p:nvSpPr>
          <p:cNvPr id="7" name="Text 5"/>
          <p:cNvSpPr txBox="1"/>
          <p:nvPr/>
        </p:nvSpPr>
        <p:spPr>
          <a:xfrm>
            <a:off x="548640" y="2404872"/>
            <a:ext cx="4160520" cy="274320"/>
          </a:xfrm>
          <a:prstGeom prst="rect">
            <a:avLst/>
          </a:prstGeom>
          <a:noFill/>
          <a:ln/>
        </p:spPr>
        <p:txBody>
          <a:bodyPr wrap="square" lIns="0" tIns="0" rIns="0" bIns="0" rtlCol="0" anchor="t"/>
          <a:lstStyle/>
          <a:p>
            <a:pPr algn="ctr" indent="0" marL="0">
              <a:buNone/>
            </a:pPr>
            <a:r>
              <a:rPr lang="en-US" sz="1200" b="1" spc="100" kern="0" dirty="0">
                <a:solidFill>
                  <a:schemeClr val="accent1"/>
                </a:solidFill>
              </a:rPr>
              <a:t>RELIABLE INPUTS</a:t>
            </a:r>
            <a:endParaRPr lang="en-US" sz="1200" dirty="0"/>
          </a:p>
        </p:txBody>
      </p:sp>
      <p:sp>
        <p:nvSpPr>
          <p:cNvPr id="8" name="Shape 6"/>
          <p:cNvSpPr/>
          <p:nvPr/>
        </p:nvSpPr>
        <p:spPr>
          <a:xfrm>
            <a:off x="1131570" y="2834640"/>
            <a:ext cx="914400" cy="914400"/>
          </a:xfrm>
          <a:prstGeom prst="ellipse">
            <a:avLst/>
          </a:prstGeom>
          <a:solidFill>
            <a:schemeClr val="accent1"/>
          </a:solidFill>
          <a:ln/>
        </p:spPr>
      </p:sp>
      <p:pic>
        <p:nvPicPr>
          <p:cNvPr id="9" name="Image 0" descr="preencoded.png">    </p:cNvPr>
          <p:cNvPicPr>
            <a:picLocks noChangeAspect="1"/>
          </p:cNvPicPr>
          <p:nvPr/>
        </p:nvPicPr>
        <p:blipFill>
          <a:blip r:embed="rId1"/>
          <a:stretch>
            <a:fillRect/>
          </a:stretch>
        </p:blipFill>
        <p:spPr>
          <a:xfrm>
            <a:off x="1378458" y="3081528"/>
            <a:ext cx="420624" cy="420624"/>
          </a:xfrm>
          <a:prstGeom prst="rect">
            <a:avLst/>
          </a:prstGeom>
        </p:spPr>
      </p:pic>
      <p:sp>
        <p:nvSpPr>
          <p:cNvPr id="10" name="Text 7"/>
          <p:cNvSpPr txBox="1"/>
          <p:nvPr/>
        </p:nvSpPr>
        <p:spPr>
          <a:xfrm>
            <a:off x="640080" y="3886200"/>
            <a:ext cx="1897380" cy="640080"/>
          </a:xfrm>
          <a:prstGeom prst="rect">
            <a:avLst/>
          </a:prstGeom>
          <a:noFill/>
          <a:ln/>
        </p:spPr>
        <p:txBody>
          <a:bodyPr wrap="square" lIns="0" tIns="0" rIns="0" bIns="0" rtlCol="0" anchor="ctr"/>
          <a:lstStyle/>
          <a:p>
            <a:pPr algn="ctr" indent="0" marL="0">
              <a:buNone/>
            </a:pPr>
            <a:r>
              <a:rPr lang="en-US" sz="1600" b="1" dirty="0">
                <a:solidFill>
                  <a:schemeClr val="tx2"/>
                </a:solidFill>
              </a:rPr>
              <a:t>1 · Imaging biomarkers</a:t>
            </a:r>
            <a:endParaRPr lang="en-US" sz="1600" dirty="0"/>
          </a:p>
        </p:txBody>
      </p:sp>
      <p:sp>
        <p:nvSpPr>
          <p:cNvPr id="11" name="Text 8"/>
          <p:cNvSpPr txBox="1"/>
          <p:nvPr/>
        </p:nvSpPr>
        <p:spPr>
          <a:xfrm>
            <a:off x="685800" y="4526280"/>
            <a:ext cx="1805940" cy="548640"/>
          </a:xfrm>
          <a:prstGeom prst="rect">
            <a:avLst/>
          </a:prstGeom>
          <a:noFill/>
          <a:ln/>
        </p:spPr>
        <p:txBody>
          <a:bodyPr wrap="square" lIns="0" tIns="0" rIns="0" bIns="0" rtlCol="0" anchor="t"/>
          <a:lstStyle/>
          <a:p>
            <a:pPr algn="ctr" indent="0" marL="0">
              <a:buNone/>
            </a:pPr>
            <a:r>
              <a:rPr lang="en-US" sz="1300" dirty="0">
                <a:solidFill>
                  <a:schemeClr val="accent6"/>
                </a:solidFill>
              </a:rPr>
              <a:t>Answers: Heterogeneity</a:t>
            </a:r>
            <a:endParaRPr lang="en-US" sz="1300" dirty="0"/>
          </a:p>
        </p:txBody>
      </p:sp>
      <p:sp>
        <p:nvSpPr>
          <p:cNvPr id="12" name="Shape 9"/>
          <p:cNvSpPr/>
          <p:nvPr/>
        </p:nvSpPr>
        <p:spPr>
          <a:xfrm>
            <a:off x="3211830" y="2834640"/>
            <a:ext cx="914400" cy="914400"/>
          </a:xfrm>
          <a:prstGeom prst="ellipse">
            <a:avLst/>
          </a:prstGeom>
          <a:solidFill>
            <a:schemeClr val="accent1"/>
          </a:solidFill>
          <a:ln/>
        </p:spPr>
      </p:sp>
      <p:pic>
        <p:nvPicPr>
          <p:cNvPr id="13" name="Image 1" descr="preencoded.png">    </p:cNvPr>
          <p:cNvPicPr>
            <a:picLocks noChangeAspect="1"/>
          </p:cNvPicPr>
          <p:nvPr/>
        </p:nvPicPr>
        <p:blipFill>
          <a:blip r:embed="rId2"/>
          <a:stretch>
            <a:fillRect/>
          </a:stretch>
        </p:blipFill>
        <p:spPr>
          <a:xfrm>
            <a:off x="3458718" y="3081528"/>
            <a:ext cx="420624" cy="420624"/>
          </a:xfrm>
          <a:prstGeom prst="rect">
            <a:avLst/>
          </a:prstGeom>
        </p:spPr>
      </p:pic>
      <p:sp>
        <p:nvSpPr>
          <p:cNvPr id="14" name="Text 10"/>
          <p:cNvSpPr txBox="1"/>
          <p:nvPr/>
        </p:nvSpPr>
        <p:spPr>
          <a:xfrm>
            <a:off x="2720340" y="3886200"/>
            <a:ext cx="1897380" cy="640080"/>
          </a:xfrm>
          <a:prstGeom prst="rect">
            <a:avLst/>
          </a:prstGeom>
          <a:noFill/>
          <a:ln/>
        </p:spPr>
        <p:txBody>
          <a:bodyPr wrap="square" lIns="0" tIns="0" rIns="0" bIns="0" rtlCol="0" anchor="ctr"/>
          <a:lstStyle/>
          <a:p>
            <a:pPr algn="ctr" indent="0" marL="0">
              <a:buNone/>
            </a:pPr>
            <a:r>
              <a:rPr lang="en-US" sz="1600" b="1" dirty="0">
                <a:solidFill>
                  <a:schemeClr val="tx2"/>
                </a:solidFill>
              </a:rPr>
              <a:t>2 · AI-enhanced imaging</a:t>
            </a:r>
            <a:endParaRPr lang="en-US" sz="1600" dirty="0"/>
          </a:p>
        </p:txBody>
      </p:sp>
      <p:sp>
        <p:nvSpPr>
          <p:cNvPr id="15" name="Text 11"/>
          <p:cNvSpPr txBox="1"/>
          <p:nvPr/>
        </p:nvSpPr>
        <p:spPr>
          <a:xfrm>
            <a:off x="2766060" y="4526280"/>
            <a:ext cx="1805940" cy="548640"/>
          </a:xfrm>
          <a:prstGeom prst="rect">
            <a:avLst/>
          </a:prstGeom>
          <a:noFill/>
          <a:ln/>
        </p:spPr>
        <p:txBody>
          <a:bodyPr wrap="square" lIns="0" tIns="0" rIns="0" bIns="0" rtlCol="0" anchor="t"/>
          <a:lstStyle/>
          <a:p>
            <a:pPr algn="ctr" indent="0" marL="0">
              <a:buNone/>
            </a:pPr>
            <a:r>
              <a:rPr lang="en-US" sz="1300" dirty="0">
                <a:solidFill>
                  <a:schemeClr val="accent6"/>
                </a:solidFill>
              </a:rPr>
              <a:t>Answers: Heterogeneity · dosimetry</a:t>
            </a:r>
            <a:endParaRPr lang="en-US" sz="1300" dirty="0"/>
          </a:p>
        </p:txBody>
      </p:sp>
      <p:sp>
        <p:nvSpPr>
          <p:cNvPr id="16" name="Shape 12"/>
          <p:cNvSpPr/>
          <p:nvPr/>
        </p:nvSpPr>
        <p:spPr>
          <a:xfrm>
            <a:off x="5074920" y="2240280"/>
            <a:ext cx="2103120" cy="3017520"/>
          </a:xfrm>
          <a:prstGeom prst="roundRect">
            <a:avLst>
              <a:gd name="adj" fmla="val 3478"/>
            </a:avLst>
          </a:prstGeom>
          <a:solidFill>
            <a:schemeClr val="accent3">
              <a:alpha val="12000"/>
            </a:schemeClr>
          </a:solidFill>
          <a:ln/>
        </p:spPr>
      </p:sp>
      <p:sp>
        <p:nvSpPr>
          <p:cNvPr id="17" name="Text 13"/>
          <p:cNvSpPr txBox="1"/>
          <p:nvPr/>
        </p:nvSpPr>
        <p:spPr>
          <a:xfrm>
            <a:off x="5074920" y="2404872"/>
            <a:ext cx="2103120" cy="274320"/>
          </a:xfrm>
          <a:prstGeom prst="rect">
            <a:avLst/>
          </a:prstGeom>
          <a:noFill/>
          <a:ln/>
        </p:spPr>
        <p:txBody>
          <a:bodyPr wrap="square" lIns="0" tIns="0" rIns="0" bIns="0" rtlCol="0" anchor="t"/>
          <a:lstStyle/>
          <a:p>
            <a:pPr algn="ctr" indent="0" marL="0">
              <a:buNone/>
            </a:pPr>
            <a:r>
              <a:rPr lang="en-US" sz="1200" b="1" spc="100" kern="0" dirty="0">
                <a:solidFill>
                  <a:schemeClr val="accent3"/>
                </a:solidFill>
              </a:rPr>
              <a:t>PREDICTION</a:t>
            </a:r>
            <a:endParaRPr lang="en-US" sz="1200" dirty="0"/>
          </a:p>
        </p:txBody>
      </p:sp>
      <p:sp>
        <p:nvSpPr>
          <p:cNvPr id="18" name="Shape 14"/>
          <p:cNvSpPr/>
          <p:nvPr/>
        </p:nvSpPr>
        <p:spPr>
          <a:xfrm>
            <a:off x="5669280" y="2834640"/>
            <a:ext cx="914400" cy="914400"/>
          </a:xfrm>
          <a:prstGeom prst="ellipse">
            <a:avLst/>
          </a:prstGeom>
          <a:solidFill>
            <a:schemeClr val="accent3"/>
          </a:solidFill>
          <a:ln/>
        </p:spPr>
      </p:sp>
      <p:pic>
        <p:nvPicPr>
          <p:cNvPr id="19" name="Image 2" descr="preencoded.png">    </p:cNvPr>
          <p:cNvPicPr>
            <a:picLocks noChangeAspect="1"/>
          </p:cNvPicPr>
          <p:nvPr/>
        </p:nvPicPr>
        <p:blipFill>
          <a:blip r:embed="rId3"/>
          <a:stretch>
            <a:fillRect/>
          </a:stretch>
        </p:blipFill>
        <p:spPr>
          <a:xfrm>
            <a:off x="5916168" y="3081528"/>
            <a:ext cx="420624" cy="420624"/>
          </a:xfrm>
          <a:prstGeom prst="rect">
            <a:avLst/>
          </a:prstGeom>
        </p:spPr>
      </p:pic>
      <p:sp>
        <p:nvSpPr>
          <p:cNvPr id="20" name="Text 15"/>
          <p:cNvSpPr txBox="1"/>
          <p:nvPr/>
        </p:nvSpPr>
        <p:spPr>
          <a:xfrm>
            <a:off x="5166360" y="3886200"/>
            <a:ext cx="1920240" cy="640080"/>
          </a:xfrm>
          <a:prstGeom prst="rect">
            <a:avLst/>
          </a:prstGeom>
          <a:noFill/>
          <a:ln/>
        </p:spPr>
        <p:txBody>
          <a:bodyPr wrap="square" lIns="0" tIns="0" rIns="0" bIns="0" rtlCol="0" anchor="ctr"/>
          <a:lstStyle/>
          <a:p>
            <a:pPr algn="ctr" indent="0" marL="0">
              <a:buNone/>
            </a:pPr>
            <a:r>
              <a:rPr lang="en-US" sz="1600" b="1" dirty="0">
                <a:solidFill>
                  <a:schemeClr val="tx2"/>
                </a:solidFill>
              </a:rPr>
              <a:t>3 · Digital twins</a:t>
            </a:r>
            <a:endParaRPr lang="en-US" sz="1600" dirty="0"/>
          </a:p>
        </p:txBody>
      </p:sp>
      <p:sp>
        <p:nvSpPr>
          <p:cNvPr id="21" name="Text 16"/>
          <p:cNvSpPr txBox="1"/>
          <p:nvPr/>
        </p:nvSpPr>
        <p:spPr>
          <a:xfrm>
            <a:off x="5212080" y="4526280"/>
            <a:ext cx="1828800" cy="548640"/>
          </a:xfrm>
          <a:prstGeom prst="rect">
            <a:avLst/>
          </a:prstGeom>
          <a:noFill/>
          <a:ln/>
        </p:spPr>
        <p:txBody>
          <a:bodyPr wrap="square" lIns="0" tIns="0" rIns="0" bIns="0" rtlCol="0" anchor="t"/>
          <a:lstStyle/>
          <a:p>
            <a:pPr algn="ctr" indent="0" marL="0">
              <a:buNone/>
            </a:pPr>
            <a:r>
              <a:rPr lang="en-US" sz="1300" dirty="0">
                <a:solidFill>
                  <a:schemeClr val="accent6"/>
                </a:solidFill>
              </a:rPr>
              <a:t>Answers: Dosimetry</a:t>
            </a:r>
            <a:endParaRPr lang="en-US" sz="1300" dirty="0"/>
          </a:p>
        </p:txBody>
      </p:sp>
      <p:sp>
        <p:nvSpPr>
          <p:cNvPr id="22" name="Shape 17"/>
          <p:cNvSpPr/>
          <p:nvPr/>
        </p:nvSpPr>
        <p:spPr>
          <a:xfrm>
            <a:off x="7543800" y="2240280"/>
            <a:ext cx="4096512" cy="3017520"/>
          </a:xfrm>
          <a:prstGeom prst="roundRect">
            <a:avLst>
              <a:gd name="adj" fmla="val 2424"/>
            </a:avLst>
          </a:prstGeom>
          <a:solidFill>
            <a:schemeClr val="accent2">
              <a:alpha val="12000"/>
            </a:schemeClr>
          </a:solidFill>
          <a:ln/>
        </p:spPr>
      </p:sp>
      <p:sp>
        <p:nvSpPr>
          <p:cNvPr id="23" name="Text 18"/>
          <p:cNvSpPr txBox="1"/>
          <p:nvPr/>
        </p:nvSpPr>
        <p:spPr>
          <a:xfrm>
            <a:off x="7543800" y="2404872"/>
            <a:ext cx="4096512" cy="274320"/>
          </a:xfrm>
          <a:prstGeom prst="rect">
            <a:avLst/>
          </a:prstGeom>
          <a:noFill/>
          <a:ln/>
        </p:spPr>
        <p:txBody>
          <a:bodyPr wrap="square" lIns="0" tIns="0" rIns="0" bIns="0" rtlCol="0" anchor="t"/>
          <a:lstStyle/>
          <a:p>
            <a:pPr algn="ctr" indent="0" marL="0">
              <a:buNone/>
            </a:pPr>
            <a:r>
              <a:rPr lang="en-US" sz="1200" b="1" spc="100" kern="0" dirty="0">
                <a:solidFill>
                  <a:schemeClr val="accent2"/>
                </a:solidFill>
              </a:rPr>
              <a:t>DECISIONS</a:t>
            </a:r>
            <a:endParaRPr lang="en-US" sz="1200" dirty="0"/>
          </a:p>
        </p:txBody>
      </p:sp>
      <p:sp>
        <p:nvSpPr>
          <p:cNvPr id="24" name="Shape 19"/>
          <p:cNvSpPr/>
          <p:nvPr/>
        </p:nvSpPr>
        <p:spPr>
          <a:xfrm>
            <a:off x="8110728" y="2834640"/>
            <a:ext cx="914400" cy="914400"/>
          </a:xfrm>
          <a:prstGeom prst="ellipse">
            <a:avLst/>
          </a:prstGeom>
          <a:solidFill>
            <a:schemeClr val="accent2"/>
          </a:solidFill>
          <a:ln/>
        </p:spPr>
      </p:sp>
      <p:pic>
        <p:nvPicPr>
          <p:cNvPr id="25" name="Image 3" descr="preencoded.png">    </p:cNvPr>
          <p:cNvPicPr>
            <a:picLocks noChangeAspect="1"/>
          </p:cNvPicPr>
          <p:nvPr/>
        </p:nvPicPr>
        <p:blipFill>
          <a:blip r:embed="rId4"/>
          <a:stretch>
            <a:fillRect/>
          </a:stretch>
        </p:blipFill>
        <p:spPr>
          <a:xfrm>
            <a:off x="8357616" y="3081528"/>
            <a:ext cx="420624" cy="420624"/>
          </a:xfrm>
          <a:prstGeom prst="rect">
            <a:avLst/>
          </a:prstGeom>
        </p:spPr>
      </p:pic>
      <p:sp>
        <p:nvSpPr>
          <p:cNvPr id="26" name="Text 20"/>
          <p:cNvSpPr txBox="1"/>
          <p:nvPr/>
        </p:nvSpPr>
        <p:spPr>
          <a:xfrm>
            <a:off x="7635240" y="3886200"/>
            <a:ext cx="1865376" cy="640080"/>
          </a:xfrm>
          <a:prstGeom prst="rect">
            <a:avLst/>
          </a:prstGeom>
          <a:noFill/>
          <a:ln/>
        </p:spPr>
        <p:txBody>
          <a:bodyPr wrap="square" lIns="0" tIns="0" rIns="0" bIns="0" rtlCol="0" anchor="ctr"/>
          <a:lstStyle/>
          <a:p>
            <a:pPr algn="ctr" indent="0" marL="0">
              <a:buNone/>
            </a:pPr>
            <a:r>
              <a:rPr lang="en-US" sz="1600" b="1" dirty="0">
                <a:solidFill>
                  <a:schemeClr val="tx2"/>
                </a:solidFill>
              </a:rPr>
              <a:t>4 · Therapy integration</a:t>
            </a:r>
            <a:endParaRPr lang="en-US" sz="1600" dirty="0"/>
          </a:p>
        </p:txBody>
      </p:sp>
      <p:sp>
        <p:nvSpPr>
          <p:cNvPr id="27" name="Text 21"/>
          <p:cNvSpPr txBox="1"/>
          <p:nvPr/>
        </p:nvSpPr>
        <p:spPr>
          <a:xfrm>
            <a:off x="7680960" y="4526280"/>
            <a:ext cx="1773936" cy="548640"/>
          </a:xfrm>
          <a:prstGeom prst="rect">
            <a:avLst/>
          </a:prstGeom>
          <a:noFill/>
          <a:ln/>
        </p:spPr>
        <p:txBody>
          <a:bodyPr wrap="square" lIns="0" tIns="0" rIns="0" bIns="0" rtlCol="0" anchor="t"/>
          <a:lstStyle/>
          <a:p>
            <a:pPr algn="ctr" indent="0" marL="0">
              <a:buNone/>
            </a:pPr>
            <a:r>
              <a:rPr lang="en-US" sz="1300" dirty="0">
                <a:solidFill>
                  <a:schemeClr val="accent6"/>
                </a:solidFill>
              </a:rPr>
              <a:t>Answers: Integration</a:t>
            </a:r>
            <a:endParaRPr lang="en-US" sz="1300" dirty="0"/>
          </a:p>
        </p:txBody>
      </p:sp>
      <p:sp>
        <p:nvSpPr>
          <p:cNvPr id="28" name="Shape 22"/>
          <p:cNvSpPr/>
          <p:nvPr/>
        </p:nvSpPr>
        <p:spPr>
          <a:xfrm>
            <a:off x="10158984" y="2834640"/>
            <a:ext cx="914400" cy="914400"/>
          </a:xfrm>
          <a:prstGeom prst="ellipse">
            <a:avLst/>
          </a:prstGeom>
          <a:solidFill>
            <a:schemeClr val="accent2"/>
          </a:solidFill>
          <a:ln/>
        </p:spPr>
      </p:sp>
      <p:pic>
        <p:nvPicPr>
          <p:cNvPr id="29" name="Image 4" descr="preencoded.png">    </p:cNvPr>
          <p:cNvPicPr>
            <a:picLocks noChangeAspect="1"/>
          </p:cNvPicPr>
          <p:nvPr/>
        </p:nvPicPr>
        <p:blipFill>
          <a:blip r:embed="rId5"/>
          <a:stretch>
            <a:fillRect/>
          </a:stretch>
        </p:blipFill>
        <p:spPr>
          <a:xfrm>
            <a:off x="10405872" y="3081528"/>
            <a:ext cx="420624" cy="420624"/>
          </a:xfrm>
          <a:prstGeom prst="rect">
            <a:avLst/>
          </a:prstGeom>
        </p:spPr>
      </p:pic>
      <p:sp>
        <p:nvSpPr>
          <p:cNvPr id="30" name="Text 23"/>
          <p:cNvSpPr txBox="1"/>
          <p:nvPr/>
        </p:nvSpPr>
        <p:spPr>
          <a:xfrm>
            <a:off x="9683496" y="3886200"/>
            <a:ext cx="1865376" cy="640080"/>
          </a:xfrm>
          <a:prstGeom prst="rect">
            <a:avLst/>
          </a:prstGeom>
          <a:noFill/>
          <a:ln/>
        </p:spPr>
        <p:txBody>
          <a:bodyPr wrap="square" lIns="0" tIns="0" rIns="0" bIns="0" rtlCol="0" anchor="ctr"/>
          <a:lstStyle/>
          <a:p>
            <a:pPr algn="ctr" indent="0" marL="0">
              <a:buNone/>
            </a:pPr>
            <a:r>
              <a:rPr lang="en-US" sz="1600" b="1" dirty="0">
                <a:solidFill>
                  <a:schemeClr val="tx2"/>
                </a:solidFill>
              </a:rPr>
              <a:t>5 · Virtual trials</a:t>
            </a:r>
            <a:endParaRPr lang="en-US" sz="1600" dirty="0"/>
          </a:p>
        </p:txBody>
      </p:sp>
      <p:sp>
        <p:nvSpPr>
          <p:cNvPr id="31" name="Text 24"/>
          <p:cNvSpPr txBox="1"/>
          <p:nvPr/>
        </p:nvSpPr>
        <p:spPr>
          <a:xfrm>
            <a:off x="9729216" y="4526280"/>
            <a:ext cx="1773936" cy="548640"/>
          </a:xfrm>
          <a:prstGeom prst="rect">
            <a:avLst/>
          </a:prstGeom>
          <a:noFill/>
          <a:ln/>
        </p:spPr>
        <p:txBody>
          <a:bodyPr wrap="square" lIns="0" tIns="0" rIns="0" bIns="0" rtlCol="0" anchor="t"/>
          <a:lstStyle/>
          <a:p>
            <a:pPr algn="ctr" indent="0" marL="0">
              <a:buNone/>
            </a:pPr>
            <a:r>
              <a:rPr lang="en-US" sz="1300" dirty="0">
                <a:solidFill>
                  <a:schemeClr val="accent6"/>
                </a:solidFill>
              </a:rPr>
              <a:t>Answers: Integration</a:t>
            </a:r>
            <a:endParaRPr lang="en-US" sz="1300" dirty="0"/>
          </a:p>
        </p:txBody>
      </p:sp>
      <p:sp>
        <p:nvSpPr>
          <p:cNvPr id="32" name="Shape 25"/>
          <p:cNvSpPr/>
          <p:nvPr/>
        </p:nvSpPr>
        <p:spPr>
          <a:xfrm>
            <a:off x="4754880" y="3291840"/>
            <a:ext cx="274320" cy="0"/>
          </a:xfrm>
          <a:prstGeom prst="line">
            <a:avLst/>
          </a:prstGeom>
          <a:noFill/>
          <a:ln w="31750">
            <a:solidFill>
              <a:schemeClr val="tx2"/>
            </a:solidFill>
            <a:prstDash val="solid"/>
            <a:tailEnd type="triangle"/>
          </a:ln>
        </p:spPr>
      </p:sp>
      <p:sp>
        <p:nvSpPr>
          <p:cNvPr id="33" name="Shape 26"/>
          <p:cNvSpPr/>
          <p:nvPr/>
        </p:nvSpPr>
        <p:spPr>
          <a:xfrm>
            <a:off x="7223760" y="3291840"/>
            <a:ext cx="274320" cy="0"/>
          </a:xfrm>
          <a:prstGeom prst="line">
            <a:avLst/>
          </a:prstGeom>
          <a:noFill/>
          <a:ln w="31750">
            <a:solidFill>
              <a:schemeClr val="tx2"/>
            </a:solidFill>
            <a:prstDash val="solid"/>
            <a:tailEnd type="triangle"/>
          </a:ln>
        </p:spPr>
      </p:sp>
      <p:sp>
        <p:nvSpPr>
          <p:cNvPr id="34" name="Shape 27"/>
          <p:cNvSpPr/>
          <p:nvPr/>
        </p:nvSpPr>
        <p:spPr>
          <a:xfrm>
            <a:off x="548640" y="5532120"/>
            <a:ext cx="11094415" cy="502920"/>
          </a:xfrm>
          <a:prstGeom prst="roundRect">
            <a:avLst>
              <a:gd name="adj" fmla="val 14545"/>
            </a:avLst>
          </a:prstGeom>
          <a:solidFill>
            <a:schemeClr val="tx2"/>
          </a:solidFill>
          <a:ln/>
        </p:spPr>
      </p:sp>
      <p:sp>
        <p:nvSpPr>
          <p:cNvPr id="35" name="Text 28"/>
          <p:cNvSpPr txBox="1"/>
          <p:nvPr/>
        </p:nvSpPr>
        <p:spPr>
          <a:xfrm>
            <a:off x="822960" y="5532120"/>
            <a:ext cx="10545775" cy="502920"/>
          </a:xfrm>
          <a:prstGeom prst="rect">
            <a:avLst/>
          </a:prstGeom>
          <a:noFill/>
          <a:ln/>
        </p:spPr>
        <p:txBody>
          <a:bodyPr wrap="square" lIns="0" tIns="0" rIns="0" bIns="0" rtlCol="0" anchor="ctr"/>
          <a:lstStyle/>
          <a:p>
            <a:pPr indent="0" marL="0">
              <a:buNone/>
            </a:pPr>
            <a:r>
              <a:rPr lang="en-US" sz="1500" b="1" dirty="0">
                <a:solidFill>
                  <a:schemeClr val="bg1"/>
                </a:solidFill>
              </a:rPr>
              <a:t>Output: a validated engine that plans activity, cycles, timing and adaptation, and tests them in virtual trials first</a:t>
            </a:r>
            <a:endParaRPr lang="en-US" sz="1500" dirty="0"/>
          </a:p>
        </p:txBody>
      </p:sp>
      <p:sp>
        <p:nvSpPr>
          <p:cNvPr id="37" name="Text 0"/>
          <p:cNvSpPr/>
          <p:nvPr>
            <p:ph idx="101" type="body" hasCustomPrompt="1"/>
          </p:nvPr>
        </p:nvSpPr>
        <p:spPr>
          <a:xfrm>
            <a:off x="548640" y="1051560"/>
            <a:ext cx="11094415" cy="411480"/>
          </a:xfrm>
          <a:prstGeom prst="rect">
            <a:avLst/>
          </a:prstGeom>
          <a:noFill/>
          <a:ln/>
        </p:spPr>
        <p:txBody>
          <a:bodyPr wrap="square" lIns="0" tIns="0" rIns="0" bIns="0" rtlCol="0" anchor="t"/>
          <a:lstStyle/>
          <a:p>
            <a:pPr indent="0" marL="0">
              <a:buNone/>
            </a:pP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640080"/>
          </a:xfrm>
          <a:prstGeom prst="rect">
            <a:avLst/>
          </a:prstGeom>
          <a:noFill/>
          <a:ln/>
        </p:spPr>
        <p:txBody>
          <a:bodyPr wrap="square" lIns="0" tIns="0" rIns="0" bIns="0" rtlCol="0" anchor="ctr"/>
          <a:lstStyle/>
          <a:p>
            <a:pPr algn="l" indent="0" marL="0">
              <a:buNone/>
            </a:pPr>
            <a:r>
              <a:rPr lang="en-US" sz="3400" b="1" dirty="0">
                <a:solidFill>
                  <a:schemeClr val="tx2"/>
                </a:solidFill>
              </a:rPr>
              <a:t>Imaging biomarkers of heterogeneity</a:t>
            </a:r>
            <a:endParaRPr lang="en-US" sz="3400" dirty="0"/>
          </a:p>
        </p:txBody>
      </p:sp>
      <p:sp>
        <p:nvSpPr>
          <p:cNvPr id="3" name="Text 1"/>
          <p:cNvSpPr txBox="1"/>
          <p:nvPr/>
        </p:nvSpPr>
        <p:spPr>
          <a:xfrm>
            <a:off x="548640" y="164592"/>
            <a:ext cx="7315200" cy="256032"/>
          </a:xfrm>
          <a:prstGeom prst="rect">
            <a:avLst/>
          </a:prstGeom>
          <a:noFill/>
          <a:ln/>
        </p:spPr>
        <p:txBody>
          <a:bodyPr wrap="square" lIns="0" tIns="0" rIns="0" bIns="0" rtlCol="0" anchor="t"/>
          <a:lstStyle/>
          <a:p>
            <a:pPr indent="0" marL="0">
              <a:buNone/>
            </a:pPr>
            <a:r>
              <a:rPr lang="en-US" sz="1200" b="1" spc="150" kern="0" dirty="0">
                <a:solidFill>
                  <a:schemeClr val="accent1"/>
                </a:solidFill>
              </a:rPr>
              <a:t>AIM 1 · HETEROGENEITY</a:t>
            </a:r>
            <a:endParaRPr lang="en-US" sz="1200" dirty="0"/>
          </a:p>
        </p:txBody>
      </p:sp>
      <p:sp>
        <p:nvSpPr>
          <p:cNvPr id="4" name="Text 2"/>
          <p:cNvSpPr txBox="1"/>
          <p:nvPr/>
        </p:nvSpPr>
        <p:spPr>
          <a:xfrm>
            <a:off x="548640" y="1600200"/>
            <a:ext cx="4343400" cy="1143000"/>
          </a:xfrm>
          <a:prstGeom prst="rect">
            <a:avLst/>
          </a:prstGeom>
          <a:noFill/>
          <a:ln/>
        </p:spPr>
        <p:txBody>
          <a:bodyPr wrap="square" lIns="0" tIns="0" rIns="0" bIns="0" rtlCol="0" anchor="t"/>
          <a:lstStyle/>
          <a:p>
            <a:pPr indent="0" marL="0">
              <a:buNone/>
            </a:pPr>
            <a:r>
              <a:rPr lang="en-US" sz="2200" b="1" dirty="0">
                <a:solidFill>
                  <a:schemeClr val="tx2"/>
                </a:solidFill>
              </a:rPr>
              <a:t>Which imaging features capture clinically relevant heterogeneity?</a:t>
            </a:r>
            <a:endParaRPr lang="en-US" sz="2200" dirty="0"/>
          </a:p>
        </p:txBody>
      </p:sp>
      <p:sp>
        <p:nvSpPr>
          <p:cNvPr id="5" name="Shape 3"/>
          <p:cNvSpPr/>
          <p:nvPr/>
        </p:nvSpPr>
        <p:spPr>
          <a:xfrm>
            <a:off x="548640" y="2926080"/>
            <a:ext cx="411480" cy="411480"/>
          </a:xfrm>
          <a:prstGeom prst="ellipse">
            <a:avLst/>
          </a:prstGeom>
          <a:solidFill>
            <a:schemeClr val="accent1"/>
          </a:solidFill>
          <a:ln/>
        </p:spPr>
      </p:sp>
      <p:pic>
        <p:nvPicPr>
          <p:cNvPr id="6" name="Image 0" descr="preencoded.png">    </p:cNvPr>
          <p:cNvPicPr>
            <a:picLocks noChangeAspect="1"/>
          </p:cNvPicPr>
          <p:nvPr/>
        </p:nvPicPr>
        <p:blipFill>
          <a:blip r:embed="rId1"/>
          <a:stretch>
            <a:fillRect/>
          </a:stretch>
        </p:blipFill>
        <p:spPr>
          <a:xfrm>
            <a:off x="659740" y="3037180"/>
            <a:ext cx="189281" cy="189281"/>
          </a:xfrm>
          <a:prstGeom prst="rect">
            <a:avLst/>
          </a:prstGeom>
        </p:spPr>
      </p:pic>
      <p:sp>
        <p:nvSpPr>
          <p:cNvPr id="7" name="Text 4"/>
          <p:cNvSpPr txBox="1"/>
          <p:nvPr/>
        </p:nvSpPr>
        <p:spPr>
          <a:xfrm>
            <a:off x="1097280" y="2926080"/>
            <a:ext cx="3657600" cy="411480"/>
          </a:xfrm>
          <a:prstGeom prst="rect">
            <a:avLst/>
          </a:prstGeom>
          <a:noFill/>
          <a:ln/>
        </p:spPr>
        <p:txBody>
          <a:bodyPr wrap="square" lIns="0" tIns="0" rIns="0" bIns="0" rtlCol="0" anchor="ctr"/>
          <a:lstStyle/>
          <a:p>
            <a:pPr indent="0" marL="0">
              <a:buNone/>
            </a:pPr>
            <a:r>
              <a:rPr lang="en-US" sz="1600" b="1" dirty="0">
                <a:solidFill>
                  <a:schemeClr val="accent1"/>
                </a:solidFill>
              </a:rPr>
              <a:t>Approach</a:t>
            </a:r>
            <a:endParaRPr lang="en-US" sz="1600" dirty="0"/>
          </a:p>
        </p:txBody>
      </p:sp>
      <p:sp>
        <p:nvSpPr>
          <p:cNvPr id="8" name="Text 5"/>
          <p:cNvSpPr txBox="1"/>
          <p:nvPr/>
        </p:nvSpPr>
        <p:spPr>
          <a:xfrm>
            <a:off x="1097280" y="3364992"/>
            <a:ext cx="3794760" cy="868680"/>
          </a:xfrm>
          <a:prstGeom prst="rect">
            <a:avLst/>
          </a:prstGeom>
          <a:noFill/>
          <a:ln/>
        </p:spPr>
        <p:txBody>
          <a:bodyPr wrap="square" lIns="0" tIns="0" rIns="0" bIns="0" rtlCol="0" anchor="t"/>
          <a:lstStyle/>
          <a:p>
            <a:pPr indent="0" marL="0">
              <a:buNone/>
            </a:pPr>
            <a:r>
              <a:rPr lang="en-US" sz="1500" dirty="0">
                <a:solidFill>
                  <a:schemeClr val="tx1"/>
                </a:solidFill>
              </a:rPr>
              <a:t>Combine PET, SPECT and MRI with radiomics, kinetics and biological correlates.</a:t>
            </a:r>
            <a:endParaRPr lang="en-US" sz="1500" dirty="0"/>
          </a:p>
        </p:txBody>
      </p:sp>
      <p:sp>
        <p:nvSpPr>
          <p:cNvPr id="9" name="Shape 6"/>
          <p:cNvSpPr/>
          <p:nvPr/>
        </p:nvSpPr>
        <p:spPr>
          <a:xfrm>
            <a:off x="548640" y="4315968"/>
            <a:ext cx="411480" cy="411480"/>
          </a:xfrm>
          <a:prstGeom prst="ellipse">
            <a:avLst/>
          </a:prstGeom>
          <a:solidFill>
            <a:schemeClr val="accent1"/>
          </a:solidFill>
          <a:ln/>
        </p:spPr>
      </p:sp>
      <p:pic>
        <p:nvPicPr>
          <p:cNvPr id="10" name="Image 1" descr="preencoded.png">    </p:cNvPr>
          <p:cNvPicPr>
            <a:picLocks noChangeAspect="1"/>
          </p:cNvPicPr>
          <p:nvPr/>
        </p:nvPicPr>
        <p:blipFill>
          <a:blip r:embed="rId2"/>
          <a:stretch>
            <a:fillRect/>
          </a:stretch>
        </p:blipFill>
        <p:spPr>
          <a:xfrm>
            <a:off x="659740" y="4427068"/>
            <a:ext cx="189281" cy="189281"/>
          </a:xfrm>
          <a:prstGeom prst="rect">
            <a:avLst/>
          </a:prstGeom>
        </p:spPr>
      </p:pic>
      <p:sp>
        <p:nvSpPr>
          <p:cNvPr id="11" name="Text 7"/>
          <p:cNvSpPr txBox="1"/>
          <p:nvPr/>
        </p:nvSpPr>
        <p:spPr>
          <a:xfrm>
            <a:off x="1097280" y="4315968"/>
            <a:ext cx="3657600" cy="411480"/>
          </a:xfrm>
          <a:prstGeom prst="rect">
            <a:avLst/>
          </a:prstGeom>
          <a:noFill/>
          <a:ln/>
        </p:spPr>
        <p:txBody>
          <a:bodyPr wrap="square" lIns="0" tIns="0" rIns="0" bIns="0" rtlCol="0" anchor="ctr"/>
          <a:lstStyle/>
          <a:p>
            <a:pPr indent="0" marL="0">
              <a:buNone/>
            </a:pPr>
            <a:r>
              <a:rPr lang="en-US" sz="1600" b="1" dirty="0">
                <a:solidFill>
                  <a:schemeClr val="accent1"/>
                </a:solidFill>
              </a:rPr>
              <a:t>Test of success</a:t>
            </a:r>
            <a:endParaRPr lang="en-US" sz="1600" dirty="0"/>
          </a:p>
        </p:txBody>
      </p:sp>
      <p:sp>
        <p:nvSpPr>
          <p:cNvPr id="12" name="Text 8"/>
          <p:cNvSpPr txBox="1"/>
          <p:nvPr/>
        </p:nvSpPr>
        <p:spPr>
          <a:xfrm>
            <a:off x="1097280" y="4754880"/>
            <a:ext cx="3794760" cy="868680"/>
          </a:xfrm>
          <a:prstGeom prst="rect">
            <a:avLst/>
          </a:prstGeom>
          <a:noFill/>
          <a:ln/>
        </p:spPr>
        <p:txBody>
          <a:bodyPr wrap="square" lIns="0" tIns="0" rIns="0" bIns="0" rtlCol="0" anchor="t"/>
          <a:lstStyle/>
          <a:p>
            <a:pPr indent="0" marL="0">
              <a:buNone/>
            </a:pPr>
            <a:r>
              <a:rPr lang="en-US" sz="1500" dirty="0">
                <a:solidFill>
                  <a:schemeClr val="tx1"/>
                </a:solidFill>
              </a:rPr>
              <a:t>Test PSMA and SSTR biomarkers against uptake, burden and clinical outcomes, beating simple baselines.</a:t>
            </a:r>
            <a:endParaRPr lang="en-US" sz="1500" dirty="0"/>
          </a:p>
        </p:txBody>
      </p:sp>
      <p:pic>
        <p:nvPicPr>
          <p:cNvPr id="13" name="Image 2" descr="/tmp/claude-0/-home-user-habdollahin/757748ce-ce00-518f-b6e2-dec1c5e36469/scratchpad/build/figs/c_aim1.png">    </p:cNvPr>
          <p:cNvPicPr>
            <a:picLocks noChangeAspect="1"/>
          </p:cNvPicPr>
          <p:nvPr/>
        </p:nvPicPr>
        <p:blipFill>
          <a:blip r:embed="rId3"/>
          <a:stretch>
            <a:fillRect/>
          </a:stretch>
        </p:blipFill>
        <p:spPr>
          <a:xfrm>
            <a:off x="5605272" y="1463040"/>
            <a:ext cx="6035040" cy="4023360"/>
          </a:xfrm>
          <a:prstGeom prst="rect">
            <a:avLst/>
          </a:prstGeom>
        </p:spPr>
      </p:pic>
      <p:sp>
        <p:nvSpPr>
          <p:cNvPr id="14" name="Text 9"/>
          <p:cNvSpPr txBox="1"/>
          <p:nvPr/>
        </p:nvSpPr>
        <p:spPr>
          <a:xfrm>
            <a:off x="5605272" y="5486400"/>
            <a:ext cx="6035040" cy="228600"/>
          </a:xfrm>
          <a:prstGeom prst="rect">
            <a:avLst/>
          </a:prstGeom>
          <a:noFill/>
          <a:ln/>
        </p:spPr>
        <p:txBody>
          <a:bodyPr wrap="square" lIns="0" tIns="0" rIns="0" bIns="0" rtlCol="0" anchor="t"/>
          <a:lstStyle/>
          <a:p>
            <a:pPr algn="r" indent="0" marL="0">
              <a:buNone/>
            </a:pPr>
            <a:r>
              <a:rPr lang="en-US" sz="1000" i="1" dirty="0">
                <a:solidFill>
                  <a:schemeClr val="accent6"/>
                </a:solidFill>
              </a:rPr>
              <a:t>Conceptual illustration</a:t>
            </a:r>
            <a:endParaRPr lang="en-US" sz="1000" dirty="0"/>
          </a:p>
        </p:txBody>
      </p:sp>
      <p:sp>
        <p:nvSpPr>
          <p:cNvPr id="15" name="Shape 10"/>
          <p:cNvSpPr/>
          <p:nvPr/>
        </p:nvSpPr>
        <p:spPr>
          <a:xfrm>
            <a:off x="548640" y="5806440"/>
            <a:ext cx="11094415" cy="502920"/>
          </a:xfrm>
          <a:prstGeom prst="roundRect">
            <a:avLst>
              <a:gd name="adj" fmla="val 14545"/>
            </a:avLst>
          </a:prstGeom>
          <a:solidFill>
            <a:schemeClr val="accent1"/>
          </a:solidFill>
          <a:ln/>
        </p:spPr>
      </p:sp>
      <p:sp>
        <p:nvSpPr>
          <p:cNvPr id="16" name="Text 11"/>
          <p:cNvSpPr txBox="1"/>
          <p:nvPr/>
        </p:nvSpPr>
        <p:spPr>
          <a:xfrm>
            <a:off x="822960" y="5806440"/>
            <a:ext cx="10545775" cy="502920"/>
          </a:xfrm>
          <a:prstGeom prst="rect">
            <a:avLst/>
          </a:prstGeom>
          <a:noFill/>
          <a:ln/>
        </p:spPr>
        <p:txBody>
          <a:bodyPr wrap="square" lIns="0" tIns="0" rIns="0" bIns="0" rtlCol="0" anchor="ctr"/>
          <a:lstStyle/>
          <a:p>
            <a:pPr indent="0" marL="0">
              <a:buNone/>
            </a:pPr>
            <a:r>
              <a:rPr lang="en-US" sz="1500" b="1" dirty="0">
                <a:solidFill>
                  <a:schemeClr val="bg1"/>
                </a:solidFill>
              </a:rPr>
              <a:t>Output: an interpretable biomarker panel for patient stratification and as inputs to the digital twin</a:t>
            </a:r>
            <a:endParaRPr lang="en-US" sz="1500" dirty="0"/>
          </a:p>
        </p:txBody>
      </p:sp>
      <p:sp>
        <p:nvSpPr>
          <p:cNvPr id="18" name="Text 0"/>
          <p:cNvSpPr/>
          <p:nvPr>
            <p:ph idx="101" type="body" hasCustomPrompt="1"/>
          </p:nvPr>
        </p:nvSpPr>
        <p:spPr>
          <a:xfrm>
            <a:off x="548640" y="1051560"/>
            <a:ext cx="11094415" cy="411480"/>
          </a:xfrm>
          <a:prstGeom prst="rect">
            <a:avLst/>
          </a:prstGeom>
          <a:noFill/>
          <a:ln/>
        </p:spPr>
        <p:txBody>
          <a:bodyPr wrap="square" lIns="0" tIns="0" rIns="0" bIns="0" rtlCol="0" anchor="t"/>
          <a:lstStyle/>
          <a:p>
            <a:pPr indent="0" marL="0">
              <a:buNone/>
            </a:pP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640080"/>
          </a:xfrm>
          <a:prstGeom prst="rect">
            <a:avLst/>
          </a:prstGeom>
          <a:noFill/>
          <a:ln/>
        </p:spPr>
        <p:txBody>
          <a:bodyPr wrap="square" lIns="0" tIns="0" rIns="0" bIns="0" rtlCol="0" anchor="ctr"/>
          <a:lstStyle/>
          <a:p>
            <a:pPr algn="l" indent="0" marL="0">
              <a:buNone/>
            </a:pPr>
            <a:r>
              <a:rPr lang="en-US" sz="3400" b="1" dirty="0">
                <a:solidFill>
                  <a:schemeClr val="tx2"/>
                </a:solidFill>
              </a:rPr>
              <a:t>AI that preserves quantitative meaning</a:t>
            </a:r>
            <a:endParaRPr lang="en-US" sz="3400" dirty="0"/>
          </a:p>
        </p:txBody>
      </p:sp>
      <p:sp>
        <p:nvSpPr>
          <p:cNvPr id="3" name="Text 1"/>
          <p:cNvSpPr txBox="1"/>
          <p:nvPr/>
        </p:nvSpPr>
        <p:spPr>
          <a:xfrm>
            <a:off x="548640" y="164592"/>
            <a:ext cx="7315200" cy="256032"/>
          </a:xfrm>
          <a:prstGeom prst="rect">
            <a:avLst/>
          </a:prstGeom>
          <a:noFill/>
          <a:ln/>
        </p:spPr>
        <p:txBody>
          <a:bodyPr wrap="square" lIns="0" tIns="0" rIns="0" bIns="0" rtlCol="0" anchor="t"/>
          <a:lstStyle/>
          <a:p>
            <a:pPr indent="0" marL="0">
              <a:buNone/>
            </a:pPr>
            <a:r>
              <a:rPr lang="en-US" sz="1200" b="1" spc="150" kern="0" dirty="0">
                <a:solidFill>
                  <a:schemeClr val="accent3"/>
                </a:solidFill>
              </a:rPr>
              <a:t>AIM 2 · HETEROGENEITY · DOSIMETRY</a:t>
            </a:r>
            <a:endParaRPr lang="en-US" sz="1200" dirty="0"/>
          </a:p>
        </p:txBody>
      </p:sp>
      <p:sp>
        <p:nvSpPr>
          <p:cNvPr id="4" name="Text 2"/>
          <p:cNvSpPr txBox="1"/>
          <p:nvPr/>
        </p:nvSpPr>
        <p:spPr>
          <a:xfrm>
            <a:off x="548640" y="1600200"/>
            <a:ext cx="4343400" cy="1143000"/>
          </a:xfrm>
          <a:prstGeom prst="rect">
            <a:avLst/>
          </a:prstGeom>
          <a:noFill/>
          <a:ln/>
        </p:spPr>
        <p:txBody>
          <a:bodyPr wrap="square" lIns="0" tIns="0" rIns="0" bIns="0" rtlCol="0" anchor="t"/>
          <a:lstStyle/>
          <a:p>
            <a:pPr indent="0" marL="0">
              <a:buNone/>
            </a:pPr>
            <a:r>
              <a:rPr lang="en-US" sz="2200" b="1" dirty="0">
                <a:solidFill>
                  <a:schemeClr val="tx2"/>
                </a:solidFill>
              </a:rPr>
              <a:t>Can AI reduce imaging workload without distorting the signal?</a:t>
            </a:r>
            <a:endParaRPr lang="en-US" sz="2200" dirty="0"/>
          </a:p>
        </p:txBody>
      </p:sp>
      <p:sp>
        <p:nvSpPr>
          <p:cNvPr id="5" name="Shape 3"/>
          <p:cNvSpPr/>
          <p:nvPr/>
        </p:nvSpPr>
        <p:spPr>
          <a:xfrm>
            <a:off x="548640" y="2926080"/>
            <a:ext cx="411480" cy="411480"/>
          </a:xfrm>
          <a:prstGeom prst="ellipse">
            <a:avLst/>
          </a:prstGeom>
          <a:solidFill>
            <a:schemeClr val="accent3"/>
          </a:solidFill>
          <a:ln/>
        </p:spPr>
      </p:sp>
      <p:pic>
        <p:nvPicPr>
          <p:cNvPr id="6" name="Image 0" descr="preencoded.png">    </p:cNvPr>
          <p:cNvPicPr>
            <a:picLocks noChangeAspect="1"/>
          </p:cNvPicPr>
          <p:nvPr/>
        </p:nvPicPr>
        <p:blipFill>
          <a:blip r:embed="rId1"/>
          <a:stretch>
            <a:fillRect/>
          </a:stretch>
        </p:blipFill>
        <p:spPr>
          <a:xfrm>
            <a:off x="659740" y="3037180"/>
            <a:ext cx="189281" cy="189281"/>
          </a:xfrm>
          <a:prstGeom prst="rect">
            <a:avLst/>
          </a:prstGeom>
        </p:spPr>
      </p:pic>
      <p:sp>
        <p:nvSpPr>
          <p:cNvPr id="7" name="Text 4"/>
          <p:cNvSpPr txBox="1"/>
          <p:nvPr/>
        </p:nvSpPr>
        <p:spPr>
          <a:xfrm>
            <a:off x="1097280" y="2926080"/>
            <a:ext cx="3657600" cy="411480"/>
          </a:xfrm>
          <a:prstGeom prst="rect">
            <a:avLst/>
          </a:prstGeom>
          <a:noFill/>
          <a:ln/>
        </p:spPr>
        <p:txBody>
          <a:bodyPr wrap="square" lIns="0" tIns="0" rIns="0" bIns="0" rtlCol="0" anchor="ctr"/>
          <a:lstStyle/>
          <a:p>
            <a:pPr indent="0" marL="0">
              <a:buNone/>
            </a:pPr>
            <a:r>
              <a:rPr lang="en-US" sz="1600" b="1" dirty="0">
                <a:solidFill>
                  <a:schemeClr val="accent3"/>
                </a:solidFill>
              </a:rPr>
              <a:t>Approach</a:t>
            </a:r>
            <a:endParaRPr lang="en-US" sz="1600" dirty="0"/>
          </a:p>
        </p:txBody>
      </p:sp>
      <p:sp>
        <p:nvSpPr>
          <p:cNvPr id="8" name="Text 5"/>
          <p:cNvSpPr txBox="1"/>
          <p:nvPr/>
        </p:nvSpPr>
        <p:spPr>
          <a:xfrm>
            <a:off x="1097280" y="3364992"/>
            <a:ext cx="3794760" cy="868680"/>
          </a:xfrm>
          <a:prstGeom prst="rect">
            <a:avLst/>
          </a:prstGeom>
          <a:noFill/>
          <a:ln/>
        </p:spPr>
        <p:txBody>
          <a:bodyPr wrap="square" lIns="0" tIns="0" rIns="0" bIns="0" rtlCol="0" anchor="t"/>
          <a:lstStyle/>
          <a:p>
            <a:pPr indent="0" marL="0">
              <a:buNone/>
            </a:pPr>
            <a:r>
              <a:rPr lang="en-US" sz="1500" dirty="0">
                <a:solidFill>
                  <a:schemeClr val="tx1"/>
                </a:solidFill>
              </a:rPr>
              <a:t>Automate reconstruction, corrections, segmentation and serial registration.</a:t>
            </a:r>
            <a:endParaRPr lang="en-US" sz="1500" dirty="0"/>
          </a:p>
        </p:txBody>
      </p:sp>
      <p:sp>
        <p:nvSpPr>
          <p:cNvPr id="9" name="Shape 6"/>
          <p:cNvSpPr/>
          <p:nvPr/>
        </p:nvSpPr>
        <p:spPr>
          <a:xfrm>
            <a:off x="548640" y="4315968"/>
            <a:ext cx="411480" cy="411480"/>
          </a:xfrm>
          <a:prstGeom prst="ellipse">
            <a:avLst/>
          </a:prstGeom>
          <a:solidFill>
            <a:schemeClr val="accent3"/>
          </a:solidFill>
          <a:ln/>
        </p:spPr>
      </p:sp>
      <p:pic>
        <p:nvPicPr>
          <p:cNvPr id="10" name="Image 1" descr="preencoded.png">    </p:cNvPr>
          <p:cNvPicPr>
            <a:picLocks noChangeAspect="1"/>
          </p:cNvPicPr>
          <p:nvPr/>
        </p:nvPicPr>
        <p:blipFill>
          <a:blip r:embed="rId2"/>
          <a:stretch>
            <a:fillRect/>
          </a:stretch>
        </p:blipFill>
        <p:spPr>
          <a:xfrm>
            <a:off x="659740" y="4427068"/>
            <a:ext cx="189281" cy="189281"/>
          </a:xfrm>
          <a:prstGeom prst="rect">
            <a:avLst/>
          </a:prstGeom>
        </p:spPr>
      </p:pic>
      <p:sp>
        <p:nvSpPr>
          <p:cNvPr id="11" name="Text 7"/>
          <p:cNvSpPr txBox="1"/>
          <p:nvPr/>
        </p:nvSpPr>
        <p:spPr>
          <a:xfrm>
            <a:off x="1097280" y="4315968"/>
            <a:ext cx="3657600" cy="411480"/>
          </a:xfrm>
          <a:prstGeom prst="rect">
            <a:avLst/>
          </a:prstGeom>
          <a:noFill/>
          <a:ln/>
        </p:spPr>
        <p:txBody>
          <a:bodyPr wrap="square" lIns="0" tIns="0" rIns="0" bIns="0" rtlCol="0" anchor="ctr"/>
          <a:lstStyle/>
          <a:p>
            <a:pPr indent="0" marL="0">
              <a:buNone/>
            </a:pPr>
            <a:r>
              <a:rPr lang="en-US" sz="1600" b="1" dirty="0">
                <a:solidFill>
                  <a:schemeClr val="accent3"/>
                </a:solidFill>
              </a:rPr>
              <a:t>Test of success</a:t>
            </a:r>
            <a:endParaRPr lang="en-US" sz="1600" dirty="0"/>
          </a:p>
        </p:txBody>
      </p:sp>
      <p:sp>
        <p:nvSpPr>
          <p:cNvPr id="12" name="Text 8"/>
          <p:cNvSpPr txBox="1"/>
          <p:nvPr/>
        </p:nvSpPr>
        <p:spPr>
          <a:xfrm>
            <a:off x="1097280" y="4754880"/>
            <a:ext cx="3794760" cy="868680"/>
          </a:xfrm>
          <a:prstGeom prst="rect">
            <a:avLst/>
          </a:prstGeom>
          <a:noFill/>
          <a:ln/>
        </p:spPr>
        <p:txBody>
          <a:bodyPr wrap="square" lIns="0" tIns="0" rIns="0" bIns="0" rtlCol="0" anchor="t"/>
          <a:lstStyle/>
          <a:p>
            <a:pPr indent="0" marL="0">
              <a:buNone/>
            </a:pPr>
            <a:r>
              <a:rPr lang="en-US" sz="1500" dirty="0">
                <a:solidFill>
                  <a:schemeClr val="tx1"/>
                </a:solidFill>
              </a:rPr>
              <a:t>Measure activity and dose bias, small-lesion recovery and failure detection on phantoms and reference scans.</a:t>
            </a:r>
            <a:endParaRPr lang="en-US" sz="1500" dirty="0"/>
          </a:p>
        </p:txBody>
      </p:sp>
      <p:pic>
        <p:nvPicPr>
          <p:cNvPr id="13" name="Image 2" descr="/tmp/claude-0/-home-user-habdollahin/757748ce-ce00-518f-b6e2-dec1c5e36469/scratchpad/build/figs/pipe1.png">    </p:cNvPr>
          <p:cNvPicPr>
            <a:picLocks noChangeAspect="1"/>
          </p:cNvPicPr>
          <p:nvPr/>
        </p:nvPicPr>
        <p:blipFill>
          <a:blip r:embed="rId3"/>
          <a:stretch>
            <a:fillRect/>
          </a:stretch>
        </p:blipFill>
        <p:spPr>
          <a:xfrm>
            <a:off x="6391656" y="1463040"/>
            <a:ext cx="1600200" cy="1600200"/>
          </a:xfrm>
          <a:prstGeom prst="rect">
            <a:avLst/>
          </a:prstGeom>
        </p:spPr>
      </p:pic>
      <p:sp>
        <p:nvSpPr>
          <p:cNvPr id="14" name="Text 9"/>
          <p:cNvSpPr txBox="1"/>
          <p:nvPr/>
        </p:nvSpPr>
        <p:spPr>
          <a:xfrm>
            <a:off x="6208776" y="3108960"/>
            <a:ext cx="1965960" cy="274320"/>
          </a:xfrm>
          <a:prstGeom prst="rect">
            <a:avLst/>
          </a:prstGeom>
          <a:noFill/>
          <a:ln/>
        </p:spPr>
        <p:txBody>
          <a:bodyPr wrap="square" lIns="0" tIns="0" rIns="0" bIns="0" rtlCol="0" anchor="t"/>
          <a:lstStyle/>
          <a:p>
            <a:pPr algn="ctr" indent="0" marL="0">
              <a:buNone/>
            </a:pPr>
            <a:r>
              <a:rPr lang="en-US" sz="1400" b="1" dirty="0">
                <a:solidFill>
                  <a:schemeClr val="tx2"/>
                </a:solidFill>
              </a:rPr>
              <a:t>1 · Low-count SPECT</a:t>
            </a:r>
            <a:endParaRPr lang="en-US" sz="1400" dirty="0"/>
          </a:p>
        </p:txBody>
      </p:sp>
      <p:pic>
        <p:nvPicPr>
          <p:cNvPr id="15" name="Image 3" descr="/tmp/claude-0/-home-user-habdollahin/757748ce-ce00-518f-b6e2-dec1c5e36469/scratchpad/build/figs/pipe2.png">    </p:cNvPr>
          <p:cNvPicPr>
            <a:picLocks noChangeAspect="1"/>
          </p:cNvPicPr>
          <p:nvPr/>
        </p:nvPicPr>
        <p:blipFill>
          <a:blip r:embed="rId4"/>
          <a:stretch>
            <a:fillRect/>
          </a:stretch>
        </p:blipFill>
        <p:spPr>
          <a:xfrm>
            <a:off x="8906256" y="1463040"/>
            <a:ext cx="1600200" cy="1600200"/>
          </a:xfrm>
          <a:prstGeom prst="rect">
            <a:avLst/>
          </a:prstGeom>
        </p:spPr>
      </p:pic>
      <p:sp>
        <p:nvSpPr>
          <p:cNvPr id="16" name="Text 10"/>
          <p:cNvSpPr txBox="1"/>
          <p:nvPr/>
        </p:nvSpPr>
        <p:spPr>
          <a:xfrm>
            <a:off x="8723376" y="3108960"/>
            <a:ext cx="1965960" cy="274320"/>
          </a:xfrm>
          <a:prstGeom prst="rect">
            <a:avLst/>
          </a:prstGeom>
          <a:noFill/>
          <a:ln/>
        </p:spPr>
        <p:txBody>
          <a:bodyPr wrap="square" lIns="0" tIns="0" rIns="0" bIns="0" rtlCol="0" anchor="t"/>
          <a:lstStyle/>
          <a:p>
            <a:pPr algn="ctr" indent="0" marL="0">
              <a:buNone/>
            </a:pPr>
            <a:r>
              <a:rPr lang="en-US" sz="1400" b="1" dirty="0">
                <a:solidFill>
                  <a:schemeClr val="tx2"/>
                </a:solidFill>
              </a:rPr>
              <a:t>2 · AI denoising</a:t>
            </a:r>
            <a:endParaRPr lang="en-US" sz="1400" dirty="0"/>
          </a:p>
        </p:txBody>
      </p:sp>
      <p:pic>
        <p:nvPicPr>
          <p:cNvPr id="17" name="Image 4" descr="/tmp/claude-0/-home-user-habdollahin/757748ce-ce00-518f-b6e2-dec1c5e36469/scratchpad/build/figs/pipe3.png">    </p:cNvPr>
          <p:cNvPicPr>
            <a:picLocks noChangeAspect="1"/>
          </p:cNvPicPr>
          <p:nvPr/>
        </p:nvPicPr>
        <p:blipFill>
          <a:blip r:embed="rId5"/>
          <a:stretch>
            <a:fillRect/>
          </a:stretch>
        </p:blipFill>
        <p:spPr>
          <a:xfrm>
            <a:off x="6391656" y="3520440"/>
            <a:ext cx="1600200" cy="1600200"/>
          </a:xfrm>
          <a:prstGeom prst="rect">
            <a:avLst/>
          </a:prstGeom>
        </p:spPr>
      </p:pic>
      <p:sp>
        <p:nvSpPr>
          <p:cNvPr id="18" name="Text 11"/>
          <p:cNvSpPr txBox="1"/>
          <p:nvPr/>
        </p:nvSpPr>
        <p:spPr>
          <a:xfrm>
            <a:off x="6208776" y="5166360"/>
            <a:ext cx="1965960" cy="274320"/>
          </a:xfrm>
          <a:prstGeom prst="rect">
            <a:avLst/>
          </a:prstGeom>
          <a:noFill/>
          <a:ln/>
        </p:spPr>
        <p:txBody>
          <a:bodyPr wrap="square" lIns="0" tIns="0" rIns="0" bIns="0" rtlCol="0" anchor="t"/>
          <a:lstStyle/>
          <a:p>
            <a:pPr algn="ctr" indent="0" marL="0">
              <a:buNone/>
            </a:pPr>
            <a:r>
              <a:rPr lang="en-US" sz="1400" b="1" dirty="0">
                <a:solidFill>
                  <a:schemeClr val="tx2"/>
                </a:solidFill>
              </a:rPr>
              <a:t>3 · Organs + lesions</a:t>
            </a:r>
            <a:endParaRPr lang="en-US" sz="1400" dirty="0"/>
          </a:p>
        </p:txBody>
      </p:sp>
      <p:pic>
        <p:nvPicPr>
          <p:cNvPr id="19" name="Image 5" descr="/tmp/claude-0/-home-user-habdollahin/757748ce-ce00-518f-b6e2-dec1c5e36469/scratchpad/build/figs/pipe4.png">    </p:cNvPr>
          <p:cNvPicPr>
            <a:picLocks noChangeAspect="1"/>
          </p:cNvPicPr>
          <p:nvPr/>
        </p:nvPicPr>
        <p:blipFill>
          <a:blip r:embed="rId6"/>
          <a:stretch>
            <a:fillRect/>
          </a:stretch>
        </p:blipFill>
        <p:spPr>
          <a:xfrm>
            <a:off x="8906256" y="3520440"/>
            <a:ext cx="1600200" cy="1600200"/>
          </a:xfrm>
          <a:prstGeom prst="rect">
            <a:avLst/>
          </a:prstGeom>
        </p:spPr>
      </p:pic>
      <p:sp>
        <p:nvSpPr>
          <p:cNvPr id="20" name="Text 12"/>
          <p:cNvSpPr txBox="1"/>
          <p:nvPr/>
        </p:nvSpPr>
        <p:spPr>
          <a:xfrm>
            <a:off x="8723376" y="5166360"/>
            <a:ext cx="1965960" cy="274320"/>
          </a:xfrm>
          <a:prstGeom prst="rect">
            <a:avLst/>
          </a:prstGeom>
          <a:noFill/>
          <a:ln/>
        </p:spPr>
        <p:txBody>
          <a:bodyPr wrap="square" lIns="0" tIns="0" rIns="0" bIns="0" rtlCol="0" anchor="t"/>
          <a:lstStyle/>
          <a:p>
            <a:pPr algn="ctr" indent="0" marL="0">
              <a:buNone/>
            </a:pPr>
            <a:r>
              <a:rPr lang="en-US" sz="1400" b="1" dirty="0">
                <a:solidFill>
                  <a:schemeClr val="tx2"/>
                </a:solidFill>
              </a:rPr>
              <a:t>4 · Voxel dose</a:t>
            </a:r>
            <a:endParaRPr lang="en-US" sz="1400" dirty="0"/>
          </a:p>
        </p:txBody>
      </p:sp>
      <p:sp>
        <p:nvSpPr>
          <p:cNvPr id="21" name="Shape 13"/>
          <p:cNvSpPr/>
          <p:nvPr/>
        </p:nvSpPr>
        <p:spPr>
          <a:xfrm>
            <a:off x="8129016" y="2263140"/>
            <a:ext cx="640080" cy="0"/>
          </a:xfrm>
          <a:prstGeom prst="line">
            <a:avLst/>
          </a:prstGeom>
          <a:noFill/>
          <a:ln w="28575">
            <a:solidFill>
              <a:schemeClr val="tx2"/>
            </a:solidFill>
            <a:prstDash val="solid"/>
            <a:tailEnd type="triangle"/>
          </a:ln>
        </p:spPr>
      </p:sp>
      <p:sp>
        <p:nvSpPr>
          <p:cNvPr id="22" name="Shape 14"/>
          <p:cNvSpPr/>
          <p:nvPr/>
        </p:nvSpPr>
        <p:spPr>
          <a:xfrm>
            <a:off x="8129016" y="4320540"/>
            <a:ext cx="640080" cy="0"/>
          </a:xfrm>
          <a:prstGeom prst="line">
            <a:avLst/>
          </a:prstGeom>
          <a:noFill/>
          <a:ln w="28575">
            <a:solidFill>
              <a:schemeClr val="tx2"/>
            </a:solidFill>
            <a:prstDash val="solid"/>
            <a:tailEnd type="triangle"/>
          </a:ln>
        </p:spPr>
      </p:sp>
      <p:sp>
        <p:nvSpPr>
          <p:cNvPr id="23" name="Text 15"/>
          <p:cNvSpPr txBox="1"/>
          <p:nvPr/>
        </p:nvSpPr>
        <p:spPr>
          <a:xfrm>
            <a:off x="6391656" y="5468112"/>
            <a:ext cx="4114800" cy="228600"/>
          </a:xfrm>
          <a:prstGeom prst="rect">
            <a:avLst/>
          </a:prstGeom>
          <a:noFill/>
          <a:ln/>
        </p:spPr>
        <p:txBody>
          <a:bodyPr wrap="square" lIns="0" tIns="0" rIns="0" bIns="0" rtlCol="0" anchor="t"/>
          <a:lstStyle/>
          <a:p>
            <a:pPr algn="r" indent="0" marL="0">
              <a:buNone/>
            </a:pPr>
            <a:r>
              <a:rPr lang="en-US" sz="1000" i="1" dirty="0">
                <a:solidFill>
                  <a:schemeClr val="accent6"/>
                </a:solidFill>
              </a:rPr>
              <a:t>Schematic, synthetic phantom</a:t>
            </a:r>
            <a:endParaRPr lang="en-US" sz="1000" dirty="0"/>
          </a:p>
        </p:txBody>
      </p:sp>
      <p:sp>
        <p:nvSpPr>
          <p:cNvPr id="24" name="Text 16"/>
          <p:cNvSpPr txBox="1"/>
          <p:nvPr/>
        </p:nvSpPr>
        <p:spPr>
          <a:xfrm>
            <a:off x="548640" y="5760720"/>
            <a:ext cx="11094415" cy="457200"/>
          </a:xfrm>
          <a:prstGeom prst="rect">
            <a:avLst/>
          </a:prstGeom>
          <a:noFill/>
          <a:ln/>
        </p:spPr>
        <p:txBody>
          <a:bodyPr wrap="square" lIns="0" tIns="0" rIns="0" bIns="0" rtlCol="0" anchor="ctr"/>
          <a:lstStyle/>
          <a:p>
            <a:pPr indent="0" marL="0">
              <a:buNone/>
            </a:pPr>
            <a:r>
              <a:rPr lang="en-US" sz="1400" b="1" dirty="0">
                <a:solidFill>
                  <a:schemeClr val="accent3"/>
                </a:solidFill>
              </a:rPr>
              <a:t>Evidence: </a:t>
            </a:r>
            <a:pPr indent="0" marL="0">
              <a:buNone/>
            </a:pPr>
            <a:r>
              <a:rPr lang="en-US" sz="1400" dirty="0">
                <a:solidFill>
                  <a:schemeClr val="tx2"/>
                </a:solidFill>
              </a:rPr>
              <a:t>deep learning can cut 177Lu SPECT time by 50–75%; transformer dosimetry takes ~3 s vs hours of Monte Carlo; lesion segmentation still needs caution.</a:t>
            </a:r>
            <a:endParaRPr lang="en-US" sz="1400" dirty="0"/>
          </a:p>
        </p:txBody>
      </p:sp>
      <p:sp>
        <p:nvSpPr>
          <p:cNvPr id="26" name="Text 0"/>
          <p:cNvSpPr/>
          <p:nvPr>
            <p:ph idx="101" type="body" hasCustomPrompt="1"/>
          </p:nvPr>
        </p:nvSpPr>
        <p:spPr>
          <a:xfrm>
            <a:off x="548640" y="1051560"/>
            <a:ext cx="11094415" cy="411480"/>
          </a:xfrm>
          <a:prstGeom prst="rect">
            <a:avLst/>
          </a:prstGeom>
          <a:noFill/>
          <a:ln/>
        </p:spPr>
        <p:txBody>
          <a:bodyPr wrap="square" lIns="0" tIns="0" rIns="0" bIns="0" rtlCol="0" anchor="t"/>
          <a:lstStyle/>
          <a:p>
            <a:pPr indent="0" marL="0">
              <a:buNone/>
            </a:pP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640080"/>
          </a:xfrm>
          <a:prstGeom prst="rect">
            <a:avLst/>
          </a:prstGeom>
          <a:noFill/>
          <a:ln/>
        </p:spPr>
        <p:txBody>
          <a:bodyPr wrap="square" lIns="0" tIns="0" rIns="0" bIns="0" rtlCol="0" anchor="ctr"/>
          <a:lstStyle/>
          <a:p>
            <a:pPr algn="l" indent="0" marL="0">
              <a:buNone/>
            </a:pPr>
            <a:r>
              <a:rPr lang="en-US" sz="3400" b="1" dirty="0">
                <a:solidFill>
                  <a:schemeClr val="tx2"/>
                </a:solidFill>
              </a:rPr>
              <a:t>Digital twins for personalized RPT</a:t>
            </a:r>
            <a:endParaRPr lang="en-US" sz="3400" dirty="0"/>
          </a:p>
        </p:txBody>
      </p:sp>
      <p:sp>
        <p:nvSpPr>
          <p:cNvPr id="3" name="Text 1"/>
          <p:cNvSpPr txBox="1"/>
          <p:nvPr/>
        </p:nvSpPr>
        <p:spPr>
          <a:xfrm>
            <a:off x="548640" y="164592"/>
            <a:ext cx="7315200" cy="256032"/>
          </a:xfrm>
          <a:prstGeom prst="rect">
            <a:avLst/>
          </a:prstGeom>
          <a:noFill/>
          <a:ln/>
        </p:spPr>
        <p:txBody>
          <a:bodyPr wrap="square" lIns="0" tIns="0" rIns="0" bIns="0" rtlCol="0" anchor="t"/>
          <a:lstStyle/>
          <a:p>
            <a:pPr indent="0" marL="0">
              <a:buNone/>
            </a:pPr>
            <a:r>
              <a:rPr lang="en-US" sz="1200" b="1" spc="150" kern="0" dirty="0">
                <a:solidFill>
                  <a:schemeClr val="accent3"/>
                </a:solidFill>
              </a:rPr>
              <a:t>AIM 3 · DOSIMETRY</a:t>
            </a:r>
            <a:endParaRPr lang="en-US" sz="1200" dirty="0"/>
          </a:p>
        </p:txBody>
      </p:sp>
      <p:sp>
        <p:nvSpPr>
          <p:cNvPr id="4" name="Text 2"/>
          <p:cNvSpPr txBox="1"/>
          <p:nvPr/>
        </p:nvSpPr>
        <p:spPr>
          <a:xfrm>
            <a:off x="548640" y="1600200"/>
            <a:ext cx="4343400" cy="1143000"/>
          </a:xfrm>
          <a:prstGeom prst="rect">
            <a:avLst/>
          </a:prstGeom>
          <a:noFill/>
          <a:ln/>
        </p:spPr>
        <p:txBody>
          <a:bodyPr wrap="square" lIns="0" tIns="0" rIns="0" bIns="0" rtlCol="0" anchor="t"/>
          <a:lstStyle/>
          <a:p>
            <a:pPr indent="0" marL="0">
              <a:buNone/>
            </a:pPr>
            <a:r>
              <a:rPr lang="en-US" sz="2200" b="1" dirty="0">
                <a:solidFill>
                  <a:schemeClr val="tx2"/>
                </a:solidFill>
              </a:rPr>
              <a:t>Can we predict patient-specific dose and update it across cycles?</a:t>
            </a:r>
            <a:endParaRPr lang="en-US" sz="2200" dirty="0"/>
          </a:p>
        </p:txBody>
      </p:sp>
      <p:sp>
        <p:nvSpPr>
          <p:cNvPr id="5" name="Shape 3"/>
          <p:cNvSpPr/>
          <p:nvPr/>
        </p:nvSpPr>
        <p:spPr>
          <a:xfrm>
            <a:off x="548640" y="2926080"/>
            <a:ext cx="411480" cy="411480"/>
          </a:xfrm>
          <a:prstGeom prst="ellipse">
            <a:avLst/>
          </a:prstGeom>
          <a:solidFill>
            <a:schemeClr val="accent3"/>
          </a:solidFill>
          <a:ln/>
        </p:spPr>
      </p:sp>
      <p:pic>
        <p:nvPicPr>
          <p:cNvPr id="6" name="Image 0" descr="preencoded.png">    </p:cNvPr>
          <p:cNvPicPr>
            <a:picLocks noChangeAspect="1"/>
          </p:cNvPicPr>
          <p:nvPr/>
        </p:nvPicPr>
        <p:blipFill>
          <a:blip r:embed="rId1"/>
          <a:stretch>
            <a:fillRect/>
          </a:stretch>
        </p:blipFill>
        <p:spPr>
          <a:xfrm>
            <a:off x="659740" y="3037180"/>
            <a:ext cx="189281" cy="189281"/>
          </a:xfrm>
          <a:prstGeom prst="rect">
            <a:avLst/>
          </a:prstGeom>
        </p:spPr>
      </p:pic>
      <p:sp>
        <p:nvSpPr>
          <p:cNvPr id="7" name="Text 4"/>
          <p:cNvSpPr txBox="1"/>
          <p:nvPr/>
        </p:nvSpPr>
        <p:spPr>
          <a:xfrm>
            <a:off x="1097280" y="2926080"/>
            <a:ext cx="3657600" cy="411480"/>
          </a:xfrm>
          <a:prstGeom prst="rect">
            <a:avLst/>
          </a:prstGeom>
          <a:noFill/>
          <a:ln/>
        </p:spPr>
        <p:txBody>
          <a:bodyPr wrap="square" lIns="0" tIns="0" rIns="0" bIns="0" rtlCol="0" anchor="ctr"/>
          <a:lstStyle/>
          <a:p>
            <a:pPr indent="0" marL="0">
              <a:buNone/>
            </a:pPr>
            <a:r>
              <a:rPr lang="en-US" sz="1600" b="1" dirty="0">
                <a:solidFill>
                  <a:schemeClr val="accent3"/>
                </a:solidFill>
              </a:rPr>
              <a:t>Approach</a:t>
            </a:r>
            <a:endParaRPr lang="en-US" sz="1600" dirty="0"/>
          </a:p>
        </p:txBody>
      </p:sp>
      <p:sp>
        <p:nvSpPr>
          <p:cNvPr id="8" name="Text 5"/>
          <p:cNvSpPr txBox="1"/>
          <p:nvPr/>
        </p:nvSpPr>
        <p:spPr>
          <a:xfrm>
            <a:off x="1097280" y="3364992"/>
            <a:ext cx="3794760" cy="868680"/>
          </a:xfrm>
          <a:prstGeom prst="rect">
            <a:avLst/>
          </a:prstGeom>
          <a:noFill/>
          <a:ln/>
        </p:spPr>
        <p:txBody>
          <a:bodyPr wrap="square" lIns="0" tIns="0" rIns="0" bIns="0" rtlCol="0" anchor="t"/>
          <a:lstStyle/>
          <a:p>
            <a:pPr indent="0" marL="0">
              <a:buNone/>
            </a:pPr>
            <a:r>
              <a:rPr lang="en-US" sz="1500" dirty="0">
                <a:solidFill>
                  <a:schemeClr val="tx1"/>
                </a:solidFill>
              </a:rPr>
              <a:t>Link PET/SPECT to PBPK or population kinetics, voxel dose and radiobiology.</a:t>
            </a:r>
            <a:endParaRPr lang="en-US" sz="1500" dirty="0"/>
          </a:p>
        </p:txBody>
      </p:sp>
      <p:sp>
        <p:nvSpPr>
          <p:cNvPr id="9" name="Shape 6"/>
          <p:cNvSpPr/>
          <p:nvPr/>
        </p:nvSpPr>
        <p:spPr>
          <a:xfrm>
            <a:off x="548640" y="4315968"/>
            <a:ext cx="411480" cy="411480"/>
          </a:xfrm>
          <a:prstGeom prst="ellipse">
            <a:avLst/>
          </a:prstGeom>
          <a:solidFill>
            <a:schemeClr val="accent3"/>
          </a:solidFill>
          <a:ln/>
        </p:spPr>
      </p:sp>
      <p:pic>
        <p:nvPicPr>
          <p:cNvPr id="10" name="Image 1" descr="preencoded.png">    </p:cNvPr>
          <p:cNvPicPr>
            <a:picLocks noChangeAspect="1"/>
          </p:cNvPicPr>
          <p:nvPr/>
        </p:nvPicPr>
        <p:blipFill>
          <a:blip r:embed="rId2"/>
          <a:stretch>
            <a:fillRect/>
          </a:stretch>
        </p:blipFill>
        <p:spPr>
          <a:xfrm>
            <a:off x="659740" y="4427068"/>
            <a:ext cx="189281" cy="189281"/>
          </a:xfrm>
          <a:prstGeom prst="rect">
            <a:avLst/>
          </a:prstGeom>
        </p:spPr>
      </p:pic>
      <p:sp>
        <p:nvSpPr>
          <p:cNvPr id="11" name="Text 7"/>
          <p:cNvSpPr txBox="1"/>
          <p:nvPr/>
        </p:nvSpPr>
        <p:spPr>
          <a:xfrm>
            <a:off x="1097280" y="4315968"/>
            <a:ext cx="3657600" cy="411480"/>
          </a:xfrm>
          <a:prstGeom prst="rect">
            <a:avLst/>
          </a:prstGeom>
          <a:noFill/>
          <a:ln/>
        </p:spPr>
        <p:txBody>
          <a:bodyPr wrap="square" lIns="0" tIns="0" rIns="0" bIns="0" rtlCol="0" anchor="ctr"/>
          <a:lstStyle/>
          <a:p>
            <a:pPr indent="0" marL="0">
              <a:buNone/>
            </a:pPr>
            <a:r>
              <a:rPr lang="en-US" sz="1600" b="1" dirty="0">
                <a:solidFill>
                  <a:schemeClr val="accent3"/>
                </a:solidFill>
              </a:rPr>
              <a:t>Test of success</a:t>
            </a:r>
            <a:endParaRPr lang="en-US" sz="1600" dirty="0"/>
          </a:p>
        </p:txBody>
      </p:sp>
      <p:sp>
        <p:nvSpPr>
          <p:cNvPr id="12" name="Text 8"/>
          <p:cNvSpPr txBox="1"/>
          <p:nvPr/>
        </p:nvSpPr>
        <p:spPr>
          <a:xfrm>
            <a:off x="1097280" y="4754880"/>
            <a:ext cx="3794760" cy="868680"/>
          </a:xfrm>
          <a:prstGeom prst="rect">
            <a:avLst/>
          </a:prstGeom>
          <a:noFill/>
          <a:ln/>
        </p:spPr>
        <p:txBody>
          <a:bodyPr wrap="square" lIns="0" tIns="0" rIns="0" bIns="0" rtlCol="0" anchor="t"/>
          <a:lstStyle/>
          <a:p>
            <a:pPr indent="0" marL="0">
              <a:buNone/>
            </a:pPr>
            <a:r>
              <a:rPr lang="en-US" sz="1500" dirty="0">
                <a:solidFill>
                  <a:schemeClr val="tx1"/>
                </a:solidFill>
              </a:rPr>
              <a:t>Update the model after each cycle. Validate dose first, then response, separately.</a:t>
            </a:r>
            <a:endParaRPr lang="en-US" sz="1500" dirty="0"/>
          </a:p>
        </p:txBody>
      </p:sp>
      <p:pic>
        <p:nvPicPr>
          <p:cNvPr id="13" name="Image 2" descr="/tmp/claude-0/-home-user-habdollahin/757748ce-ce00-518f-b6e2-dec1c5e36469/scratchpad/build/figs/twin.png">    </p:cNvPr>
          <p:cNvPicPr>
            <a:picLocks noChangeAspect="1"/>
          </p:cNvPicPr>
          <p:nvPr/>
        </p:nvPicPr>
        <p:blipFill>
          <a:blip r:embed="rId3"/>
          <a:stretch>
            <a:fillRect/>
          </a:stretch>
        </p:blipFill>
        <p:spPr>
          <a:xfrm>
            <a:off x="5120640" y="1508760"/>
            <a:ext cx="6519672" cy="3602736"/>
          </a:xfrm>
          <a:prstGeom prst="rect">
            <a:avLst/>
          </a:prstGeom>
        </p:spPr>
      </p:pic>
      <p:sp>
        <p:nvSpPr>
          <p:cNvPr id="14" name="Text 9"/>
          <p:cNvSpPr txBox="1"/>
          <p:nvPr/>
        </p:nvSpPr>
        <p:spPr>
          <a:xfrm>
            <a:off x="5257800" y="5120640"/>
            <a:ext cx="6382512" cy="411480"/>
          </a:xfrm>
          <a:prstGeom prst="rect">
            <a:avLst/>
          </a:prstGeom>
          <a:noFill/>
          <a:ln/>
        </p:spPr>
        <p:txBody>
          <a:bodyPr wrap="square" lIns="0" tIns="0" rIns="0" bIns="0" rtlCol="0" anchor="t"/>
          <a:lstStyle/>
          <a:p>
            <a:pPr algn="l" indent="0" marL="0">
              <a:buNone/>
            </a:pPr>
            <a:r>
              <a:rPr lang="en-US" sz="1000" i="1" dirty="0">
                <a:solidFill>
                  <a:schemeClr val="accent6"/>
                </a:solidFill>
              </a:rPr>
              <a:t>Schematic: sparse post-therapy measurements (dots) narrow the prediction band from cycle 1 to cycle 2. Not patient data.</a:t>
            </a:r>
            <a:endParaRPr lang="en-US" sz="1000" dirty="0"/>
          </a:p>
        </p:txBody>
      </p:sp>
      <p:sp>
        <p:nvSpPr>
          <p:cNvPr id="15" name="Text 10"/>
          <p:cNvSpPr txBox="1"/>
          <p:nvPr/>
        </p:nvSpPr>
        <p:spPr>
          <a:xfrm>
            <a:off x="548640" y="5760720"/>
            <a:ext cx="11094415" cy="457200"/>
          </a:xfrm>
          <a:prstGeom prst="rect">
            <a:avLst/>
          </a:prstGeom>
          <a:noFill/>
          <a:ln/>
        </p:spPr>
        <p:txBody>
          <a:bodyPr wrap="square" lIns="0" tIns="0" rIns="0" bIns="0" rtlCol="0" anchor="ctr"/>
          <a:lstStyle/>
          <a:p>
            <a:pPr indent="0" marL="0">
              <a:buNone/>
            </a:pPr>
            <a:r>
              <a:rPr lang="en-US" sz="1400" b="1" dirty="0">
                <a:solidFill>
                  <a:schemeClr val="accent3"/>
                </a:solidFill>
              </a:rPr>
              <a:t>Builds on: </a:t>
            </a:r>
            <a:pPr indent="0" marL="0">
              <a:buNone/>
            </a:pPr>
            <a:r>
              <a:rPr lang="en-US" sz="1400" dirty="0">
                <a:solidFill>
                  <a:schemeClr val="tx2"/>
                </a:solidFill>
              </a:rPr>
              <a:t>Abdollahi et al., theranostic digital twins (Theranostics 2024); PBPK in 177Lu-PSMA (Cancers 2024); low-dose-rate radiobiology (IEEE TRPMS 2025).</a:t>
            </a:r>
            <a:endParaRPr lang="en-US" sz="1400" dirty="0"/>
          </a:p>
        </p:txBody>
      </p:sp>
      <p:sp>
        <p:nvSpPr>
          <p:cNvPr id="17" name="Text 0"/>
          <p:cNvSpPr/>
          <p:nvPr>
            <p:ph idx="101" type="body" hasCustomPrompt="1"/>
          </p:nvPr>
        </p:nvSpPr>
        <p:spPr>
          <a:xfrm>
            <a:off x="548640" y="1051560"/>
            <a:ext cx="11094415" cy="411480"/>
          </a:xfrm>
          <a:prstGeom prst="rect">
            <a:avLst/>
          </a:prstGeom>
          <a:noFill/>
          <a:ln/>
        </p:spPr>
        <p:txBody>
          <a:bodyPr wrap="square" lIns="0" tIns="0" rIns="0" bIns="0" rtlCol="0" anchor="t"/>
          <a:lstStyle/>
          <a:p>
            <a:pPr indent="0" marL="0">
              <a:buNone/>
            </a:pP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640080"/>
          </a:xfrm>
          <a:prstGeom prst="rect">
            <a:avLst/>
          </a:prstGeom>
          <a:noFill/>
          <a:ln/>
        </p:spPr>
        <p:txBody>
          <a:bodyPr wrap="square" lIns="0" tIns="0" rIns="0" bIns="0" rtlCol="0" anchor="ctr"/>
          <a:lstStyle/>
          <a:p>
            <a:pPr algn="l" indent="0" marL="0">
              <a:buNone/>
            </a:pPr>
            <a:r>
              <a:rPr lang="en-US" sz="3400" b="1" dirty="0">
                <a:solidFill>
                  <a:schemeClr val="tx2"/>
                </a:solidFill>
              </a:rPr>
              <a:t>Therapy is a design space, not one number</a:t>
            </a:r>
            <a:endParaRPr lang="en-US" sz="3400" dirty="0"/>
          </a:p>
        </p:txBody>
      </p:sp>
      <p:sp>
        <p:nvSpPr>
          <p:cNvPr id="3" name="Text 0"/>
          <p:cNvSpPr/>
          <p:nvPr>
            <p:ph idx="101" type="body" hasCustomPrompt="1"/>
          </p:nvPr>
        </p:nvSpPr>
        <p:spPr>
          <a:xfrm>
            <a:off x="548640" y="1051560"/>
            <a:ext cx="11094415" cy="411480"/>
          </a:xfrm>
          <a:prstGeom prst="rect">
            <a:avLst/>
          </a:prstGeom>
          <a:noFill/>
          <a:ln/>
        </p:spPr>
        <p:txBody>
          <a:bodyPr wrap="square" lIns="0" tIns="0" rIns="0" bIns="0" rtlCol="0" anchor="t"/>
          <a:lstStyle/>
          <a:p>
            <a:pPr indent="0" marL="0">
              <a:buNone/>
            </a:pPr>
            <a:r>
              <a:rPr lang="en-US" sz="1600" dirty="0">
                <a:solidFill>
                  <a:schemeClr val="accent6"/>
                </a:solidFill>
              </a:rPr>
              <a:t>Today activity is mostly fixed (e.g., 7.4 GBq per cycle in VISION and NETTER-1)</a:t>
            </a:r>
            <a:endParaRPr lang="en-US" sz="1600" dirty="0"/>
          </a:p>
        </p:txBody>
      </p:sp>
      <p:sp>
        <p:nvSpPr>
          <p:cNvPr id="4" name="Text 2"/>
          <p:cNvSpPr txBox="1"/>
          <p:nvPr/>
        </p:nvSpPr>
        <p:spPr>
          <a:xfrm>
            <a:off x="548640" y="164592"/>
            <a:ext cx="7315200" cy="256032"/>
          </a:xfrm>
          <a:prstGeom prst="rect">
            <a:avLst/>
          </a:prstGeom>
          <a:noFill/>
          <a:ln/>
        </p:spPr>
        <p:txBody>
          <a:bodyPr wrap="square" lIns="0" tIns="0" rIns="0" bIns="0" rtlCol="0" anchor="t"/>
          <a:lstStyle/>
          <a:p>
            <a:pPr indent="0" marL="0">
              <a:buNone/>
            </a:pPr>
            <a:r>
              <a:rPr lang="en-US" sz="1200" b="1" spc="150" kern="0" dirty="0">
                <a:solidFill>
                  <a:schemeClr val="accent3"/>
                </a:solidFill>
              </a:rPr>
              <a:t>AIM 3 IN ACTION</a:t>
            </a:r>
            <a:endParaRPr lang="en-US" sz="1200" dirty="0"/>
          </a:p>
        </p:txBody>
      </p:sp>
      <p:sp>
        <p:nvSpPr>
          <p:cNvPr id="5" name="Shape 3"/>
          <p:cNvSpPr/>
          <p:nvPr/>
        </p:nvSpPr>
        <p:spPr>
          <a:xfrm>
            <a:off x="548640" y="1645920"/>
            <a:ext cx="4297680" cy="3931920"/>
          </a:xfrm>
          <a:prstGeom prst="roundRect">
            <a:avLst>
              <a:gd name="adj" fmla="val 1860"/>
            </a:avLst>
          </a:prstGeom>
          <a:solidFill>
            <a:schemeClr val="bg2"/>
          </a:solidFill>
          <a:ln/>
        </p:spPr>
      </p:sp>
      <p:sp>
        <p:nvSpPr>
          <p:cNvPr id="6" name="Text 4"/>
          <p:cNvSpPr txBox="1"/>
          <p:nvPr/>
        </p:nvSpPr>
        <p:spPr>
          <a:xfrm>
            <a:off x="822960" y="1828800"/>
            <a:ext cx="3749040" cy="320040"/>
          </a:xfrm>
          <a:prstGeom prst="rect">
            <a:avLst/>
          </a:prstGeom>
          <a:noFill/>
          <a:ln/>
        </p:spPr>
        <p:txBody>
          <a:bodyPr wrap="square" lIns="0" tIns="0" rIns="0" bIns="0" rtlCol="0" anchor="t"/>
          <a:lstStyle/>
          <a:p>
            <a:pPr indent="0" marL="0">
              <a:buNone/>
            </a:pPr>
            <a:r>
              <a:rPr lang="en-US" sz="1500" b="1" dirty="0">
                <a:solidFill>
                  <a:schemeClr val="tx2"/>
                </a:solidFill>
              </a:rPr>
              <a:t>Activity alone (illustrative 177Lu-PSMA twin)</a:t>
            </a:r>
            <a:endParaRPr lang="en-US" sz="1500" dirty="0"/>
          </a:p>
        </p:txBody>
      </p:sp>
      <p:sp>
        <p:nvSpPr>
          <p:cNvPr id="7" name="Shape 5"/>
          <p:cNvSpPr/>
          <p:nvPr/>
        </p:nvSpPr>
        <p:spPr>
          <a:xfrm>
            <a:off x="822960" y="2331720"/>
            <a:ext cx="1325880" cy="658368"/>
          </a:xfrm>
          <a:prstGeom prst="roundRect">
            <a:avLst>
              <a:gd name="adj" fmla="val 11111"/>
            </a:avLst>
          </a:prstGeom>
          <a:solidFill>
            <a:schemeClr val="accent6"/>
          </a:solidFill>
          <a:ln/>
        </p:spPr>
      </p:sp>
      <p:sp>
        <p:nvSpPr>
          <p:cNvPr id="8" name="Text 6"/>
          <p:cNvSpPr txBox="1"/>
          <p:nvPr/>
        </p:nvSpPr>
        <p:spPr>
          <a:xfrm>
            <a:off x="822960" y="2331720"/>
            <a:ext cx="1325880" cy="658368"/>
          </a:xfrm>
          <a:prstGeom prst="rect">
            <a:avLst/>
          </a:prstGeom>
          <a:noFill/>
          <a:ln/>
        </p:spPr>
        <p:txBody>
          <a:bodyPr wrap="square" lIns="0" tIns="0" rIns="0" bIns="0" rtlCol="0" anchor="ctr"/>
          <a:lstStyle/>
          <a:p>
            <a:pPr algn="ctr" indent="0" marL="0">
              <a:buNone/>
            </a:pPr>
            <a:r>
              <a:rPr lang="en-US" sz="2000" b="1" dirty="0">
                <a:solidFill>
                  <a:schemeClr val="bg1"/>
                </a:solidFill>
              </a:rPr>
              <a:t>7.4 GBq</a:t>
            </a:r>
            <a:endParaRPr lang="en-US" sz="2000" dirty="0"/>
          </a:p>
        </p:txBody>
      </p:sp>
      <p:sp>
        <p:nvSpPr>
          <p:cNvPr id="9" name="Text 7"/>
          <p:cNvSpPr txBox="1"/>
          <p:nvPr/>
        </p:nvSpPr>
        <p:spPr>
          <a:xfrm>
            <a:off x="2331720" y="2331720"/>
            <a:ext cx="2286000" cy="658368"/>
          </a:xfrm>
          <a:prstGeom prst="rect">
            <a:avLst/>
          </a:prstGeom>
          <a:noFill/>
          <a:ln/>
        </p:spPr>
        <p:txBody>
          <a:bodyPr wrap="square" lIns="0" tIns="0" rIns="0" bIns="0" rtlCol="0" anchor="ctr"/>
          <a:lstStyle/>
          <a:p>
            <a:pPr indent="0" marL="0">
              <a:buNone/>
            </a:pPr>
            <a:r>
              <a:rPr lang="en-US" sz="1500" dirty="0">
                <a:solidFill>
                  <a:schemeClr val="tx1"/>
                </a:solidFill>
              </a:rPr>
              <a:t>Organs safe · tumour refractory</a:t>
            </a:r>
            <a:endParaRPr lang="en-US" sz="1500" dirty="0"/>
          </a:p>
        </p:txBody>
      </p:sp>
      <p:sp>
        <p:nvSpPr>
          <p:cNvPr id="10" name="Shape 8"/>
          <p:cNvSpPr/>
          <p:nvPr/>
        </p:nvSpPr>
        <p:spPr>
          <a:xfrm>
            <a:off x="822960" y="3200400"/>
            <a:ext cx="1325880" cy="658368"/>
          </a:xfrm>
          <a:prstGeom prst="roundRect">
            <a:avLst>
              <a:gd name="adj" fmla="val 11111"/>
            </a:avLst>
          </a:prstGeom>
          <a:solidFill>
            <a:schemeClr val="accent1"/>
          </a:solidFill>
          <a:ln/>
        </p:spPr>
      </p:sp>
      <p:sp>
        <p:nvSpPr>
          <p:cNvPr id="11" name="Text 9"/>
          <p:cNvSpPr txBox="1"/>
          <p:nvPr/>
        </p:nvSpPr>
        <p:spPr>
          <a:xfrm>
            <a:off x="822960" y="3200400"/>
            <a:ext cx="1325880" cy="658368"/>
          </a:xfrm>
          <a:prstGeom prst="rect">
            <a:avLst/>
          </a:prstGeom>
          <a:noFill/>
          <a:ln/>
        </p:spPr>
        <p:txBody>
          <a:bodyPr wrap="square" lIns="0" tIns="0" rIns="0" bIns="0" rtlCol="0" anchor="ctr"/>
          <a:lstStyle/>
          <a:p>
            <a:pPr algn="ctr" indent="0" marL="0">
              <a:buNone/>
            </a:pPr>
            <a:r>
              <a:rPr lang="en-US" sz="2000" b="1" dirty="0">
                <a:solidFill>
                  <a:schemeClr val="bg1"/>
                </a:solidFill>
              </a:rPr>
              <a:t>8.3 GBq</a:t>
            </a:r>
            <a:endParaRPr lang="en-US" sz="2000" dirty="0"/>
          </a:p>
        </p:txBody>
      </p:sp>
      <p:sp>
        <p:nvSpPr>
          <p:cNvPr id="12" name="Text 10"/>
          <p:cNvSpPr txBox="1"/>
          <p:nvPr/>
        </p:nvSpPr>
        <p:spPr>
          <a:xfrm>
            <a:off x="2331720" y="3200400"/>
            <a:ext cx="2286000" cy="658368"/>
          </a:xfrm>
          <a:prstGeom prst="rect">
            <a:avLst/>
          </a:prstGeom>
          <a:noFill/>
          <a:ln/>
        </p:spPr>
        <p:txBody>
          <a:bodyPr wrap="square" lIns="0" tIns="0" rIns="0" bIns="0" rtlCol="0" anchor="ctr"/>
          <a:lstStyle/>
          <a:p>
            <a:pPr indent="0" marL="0">
              <a:buNone/>
            </a:pPr>
            <a:r>
              <a:rPr lang="en-US" sz="1500" dirty="0">
                <a:solidFill>
                  <a:schemeClr val="tx1"/>
                </a:solidFill>
              </a:rPr>
              <a:t>Organs safe · tumour responds</a:t>
            </a:r>
            <a:endParaRPr lang="en-US" sz="1500" dirty="0"/>
          </a:p>
        </p:txBody>
      </p:sp>
      <p:sp>
        <p:nvSpPr>
          <p:cNvPr id="13" name="Shape 11"/>
          <p:cNvSpPr/>
          <p:nvPr/>
        </p:nvSpPr>
        <p:spPr>
          <a:xfrm>
            <a:off x="822960" y="4069080"/>
            <a:ext cx="1325880" cy="658368"/>
          </a:xfrm>
          <a:prstGeom prst="roundRect">
            <a:avLst>
              <a:gd name="adj" fmla="val 11111"/>
            </a:avLst>
          </a:prstGeom>
          <a:solidFill>
            <a:schemeClr val="accent5"/>
          </a:solidFill>
          <a:ln/>
        </p:spPr>
      </p:sp>
      <p:sp>
        <p:nvSpPr>
          <p:cNvPr id="14" name="Text 12"/>
          <p:cNvSpPr txBox="1"/>
          <p:nvPr/>
        </p:nvSpPr>
        <p:spPr>
          <a:xfrm>
            <a:off x="822960" y="4069080"/>
            <a:ext cx="1325880" cy="658368"/>
          </a:xfrm>
          <a:prstGeom prst="rect">
            <a:avLst/>
          </a:prstGeom>
          <a:noFill/>
          <a:ln/>
        </p:spPr>
        <p:txBody>
          <a:bodyPr wrap="square" lIns="0" tIns="0" rIns="0" bIns="0" rtlCol="0" anchor="ctr"/>
          <a:lstStyle/>
          <a:p>
            <a:pPr algn="ctr" indent="0" marL="0">
              <a:buNone/>
            </a:pPr>
            <a:r>
              <a:rPr lang="en-US" sz="2000" b="1" dirty="0">
                <a:solidFill>
                  <a:schemeClr val="bg1"/>
                </a:solidFill>
              </a:rPr>
              <a:t>10 GBq</a:t>
            </a:r>
            <a:endParaRPr lang="en-US" sz="2000" dirty="0"/>
          </a:p>
        </p:txBody>
      </p:sp>
      <p:sp>
        <p:nvSpPr>
          <p:cNvPr id="15" name="Text 13"/>
          <p:cNvSpPr txBox="1"/>
          <p:nvPr/>
        </p:nvSpPr>
        <p:spPr>
          <a:xfrm>
            <a:off x="2331720" y="4069080"/>
            <a:ext cx="2286000" cy="658368"/>
          </a:xfrm>
          <a:prstGeom prst="rect">
            <a:avLst/>
          </a:prstGeom>
          <a:noFill/>
          <a:ln/>
        </p:spPr>
        <p:txBody>
          <a:bodyPr wrap="square" lIns="0" tIns="0" rIns="0" bIns="0" rtlCol="0" anchor="ctr"/>
          <a:lstStyle/>
          <a:p>
            <a:pPr indent="0" marL="0">
              <a:buNone/>
            </a:pPr>
            <a:r>
              <a:rPr lang="en-US" sz="1500" dirty="0">
                <a:solidFill>
                  <a:schemeClr val="tx1"/>
                </a:solidFill>
              </a:rPr>
              <a:t>Tumour responds · organ toxicity</a:t>
            </a:r>
            <a:endParaRPr lang="en-US" sz="1500" dirty="0"/>
          </a:p>
        </p:txBody>
      </p:sp>
      <p:sp>
        <p:nvSpPr>
          <p:cNvPr id="16" name="Text 14"/>
          <p:cNvSpPr txBox="1"/>
          <p:nvPr/>
        </p:nvSpPr>
        <p:spPr>
          <a:xfrm>
            <a:off x="822960" y="4937760"/>
            <a:ext cx="3749040" cy="548640"/>
          </a:xfrm>
          <a:prstGeom prst="rect">
            <a:avLst/>
          </a:prstGeom>
          <a:noFill/>
          <a:ln/>
        </p:spPr>
        <p:txBody>
          <a:bodyPr wrap="square" lIns="0" tIns="0" rIns="0" bIns="0" rtlCol="0" anchor="t"/>
          <a:lstStyle/>
          <a:p>
            <a:pPr indent="0" marL="0">
              <a:buNone/>
            </a:pPr>
            <a:r>
              <a:rPr lang="en-US" sz="1400" i="1" dirty="0">
                <a:solidFill>
                  <a:schemeClr val="tx2"/>
                </a:solidFill>
              </a:rPr>
              <a:t>A fixed activity can under-treat one patient and harm another.</a:t>
            </a:r>
            <a:endParaRPr lang="en-US" sz="1400" dirty="0"/>
          </a:p>
        </p:txBody>
      </p:sp>
      <p:sp>
        <p:nvSpPr>
          <p:cNvPr id="17" name="Text 15"/>
          <p:cNvSpPr txBox="1"/>
          <p:nvPr/>
        </p:nvSpPr>
        <p:spPr>
          <a:xfrm>
            <a:off x="548640" y="5623560"/>
            <a:ext cx="4297680" cy="411480"/>
          </a:xfrm>
          <a:prstGeom prst="rect">
            <a:avLst/>
          </a:prstGeom>
          <a:noFill/>
          <a:ln/>
        </p:spPr>
        <p:txBody>
          <a:bodyPr wrap="square" lIns="0" tIns="0" rIns="0" bIns="0" rtlCol="0" anchor="t"/>
          <a:lstStyle/>
          <a:p>
            <a:pPr algn="l" indent="0" marL="0">
              <a:buNone/>
            </a:pPr>
            <a:r>
              <a:rPr lang="en-US" sz="1000" i="1" dirty="0">
                <a:solidFill>
                  <a:schemeClr val="accent6"/>
                </a:solidFill>
              </a:rPr>
              <a:t>After Yazdani et al., Theranostics 2026 (Fig. 5); Abdollahi et al., Theranostics 2024. Illustrative, not a recommendation.</a:t>
            </a:r>
            <a:endParaRPr lang="en-US" sz="1000" dirty="0"/>
          </a:p>
        </p:txBody>
      </p:sp>
      <p:sp>
        <p:nvSpPr>
          <p:cNvPr id="18" name="Text 16"/>
          <p:cNvSpPr txBox="1"/>
          <p:nvPr/>
        </p:nvSpPr>
        <p:spPr>
          <a:xfrm>
            <a:off x="6080760" y="1645920"/>
            <a:ext cx="2377440" cy="274320"/>
          </a:xfrm>
          <a:prstGeom prst="rect">
            <a:avLst/>
          </a:prstGeom>
          <a:noFill/>
          <a:ln/>
        </p:spPr>
        <p:txBody>
          <a:bodyPr wrap="square" lIns="0" tIns="0" rIns="0" bIns="0" rtlCol="0" anchor="t"/>
          <a:lstStyle/>
          <a:p>
            <a:pPr indent="0" marL="0">
              <a:buNone/>
            </a:pPr>
            <a:r>
              <a:rPr lang="en-US" sz="1100" b="1" spc="100" kern="0" dirty="0">
                <a:solidFill>
                  <a:schemeClr val="accent6"/>
                </a:solidFill>
              </a:rPr>
              <a:t>DECISIONS TO COMPARE</a:t>
            </a:r>
            <a:endParaRPr lang="en-US" sz="1100" dirty="0"/>
          </a:p>
        </p:txBody>
      </p:sp>
      <p:sp>
        <p:nvSpPr>
          <p:cNvPr id="19" name="Text 17"/>
          <p:cNvSpPr txBox="1"/>
          <p:nvPr/>
        </p:nvSpPr>
        <p:spPr>
          <a:xfrm>
            <a:off x="8778240" y="1645920"/>
            <a:ext cx="2926080" cy="274320"/>
          </a:xfrm>
          <a:prstGeom prst="rect">
            <a:avLst/>
          </a:prstGeom>
          <a:noFill/>
          <a:ln/>
        </p:spPr>
        <p:txBody>
          <a:bodyPr wrap="square" lIns="0" tIns="0" rIns="0" bIns="0" rtlCol="0" anchor="t"/>
          <a:lstStyle/>
          <a:p>
            <a:pPr indent="0" marL="0">
              <a:buNone/>
            </a:pPr>
            <a:r>
              <a:rPr lang="en-US" sz="1100" b="1" spc="100" kern="0" dirty="0">
                <a:solidFill>
                  <a:schemeClr val="accent6"/>
                </a:solidFill>
              </a:rPr>
              <a:t>BIOLOGY AND PHYSICS TO REPRESENT</a:t>
            </a:r>
            <a:endParaRPr lang="en-US" sz="1100" dirty="0"/>
          </a:p>
        </p:txBody>
      </p:sp>
      <p:sp>
        <p:nvSpPr>
          <p:cNvPr id="20" name="Shape 18"/>
          <p:cNvSpPr/>
          <p:nvPr/>
        </p:nvSpPr>
        <p:spPr>
          <a:xfrm>
            <a:off x="5257800" y="2011680"/>
            <a:ext cx="6385255" cy="749808"/>
          </a:xfrm>
          <a:prstGeom prst="roundRect">
            <a:avLst>
              <a:gd name="adj" fmla="val 9756"/>
            </a:avLst>
          </a:prstGeom>
          <a:solidFill>
            <a:schemeClr val="bg2"/>
          </a:solidFill>
          <a:ln/>
        </p:spPr>
      </p:sp>
      <p:sp>
        <p:nvSpPr>
          <p:cNvPr id="21" name="Shape 19"/>
          <p:cNvSpPr/>
          <p:nvPr/>
        </p:nvSpPr>
        <p:spPr>
          <a:xfrm>
            <a:off x="5422392" y="2130552"/>
            <a:ext cx="512064" cy="512064"/>
          </a:xfrm>
          <a:prstGeom prst="ellipse">
            <a:avLst/>
          </a:prstGeom>
          <a:solidFill>
            <a:schemeClr val="accent3"/>
          </a:solidFill>
          <a:ln/>
        </p:spPr>
      </p:sp>
      <p:pic>
        <p:nvPicPr>
          <p:cNvPr id="22" name="Image 0" descr="preencoded.png">    </p:cNvPr>
          <p:cNvPicPr>
            <a:picLocks noChangeAspect="1"/>
          </p:cNvPicPr>
          <p:nvPr/>
        </p:nvPicPr>
        <p:blipFill>
          <a:blip r:embed="rId1"/>
          <a:stretch>
            <a:fillRect/>
          </a:stretch>
        </p:blipFill>
        <p:spPr>
          <a:xfrm>
            <a:off x="5560649" y="2268809"/>
            <a:ext cx="235549" cy="235549"/>
          </a:xfrm>
          <a:prstGeom prst="rect">
            <a:avLst/>
          </a:prstGeom>
        </p:spPr>
      </p:pic>
      <p:sp>
        <p:nvSpPr>
          <p:cNvPr id="23" name="Text 20"/>
          <p:cNvSpPr txBox="1"/>
          <p:nvPr/>
        </p:nvSpPr>
        <p:spPr>
          <a:xfrm>
            <a:off x="6080760" y="2011680"/>
            <a:ext cx="2331720" cy="749808"/>
          </a:xfrm>
          <a:prstGeom prst="rect">
            <a:avLst/>
          </a:prstGeom>
          <a:noFill/>
          <a:ln/>
        </p:spPr>
        <p:txBody>
          <a:bodyPr wrap="square" lIns="0" tIns="0" rIns="0" bIns="0" rtlCol="0" anchor="ctr"/>
          <a:lstStyle/>
          <a:p>
            <a:pPr indent="0" marL="0">
              <a:buNone/>
            </a:pPr>
            <a:r>
              <a:rPr lang="en-US" sz="1600" b="1" dirty="0">
                <a:solidFill>
                  <a:schemeClr val="tx2"/>
                </a:solidFill>
              </a:rPr>
              <a:t>Administered activity</a:t>
            </a:r>
            <a:endParaRPr lang="en-US" sz="1600" dirty="0"/>
          </a:p>
        </p:txBody>
      </p:sp>
      <p:sp>
        <p:nvSpPr>
          <p:cNvPr id="24" name="Shape 21"/>
          <p:cNvSpPr/>
          <p:nvPr/>
        </p:nvSpPr>
        <p:spPr>
          <a:xfrm>
            <a:off x="8385048" y="2386584"/>
            <a:ext cx="274320" cy="0"/>
          </a:xfrm>
          <a:prstGeom prst="line">
            <a:avLst/>
          </a:prstGeom>
          <a:noFill/>
          <a:ln w="22225">
            <a:solidFill>
              <a:schemeClr val="accent6"/>
            </a:solidFill>
            <a:prstDash val="solid"/>
            <a:tailEnd type="triangle"/>
          </a:ln>
        </p:spPr>
      </p:sp>
      <p:sp>
        <p:nvSpPr>
          <p:cNvPr id="25" name="Text 22"/>
          <p:cNvSpPr txBox="1"/>
          <p:nvPr/>
        </p:nvSpPr>
        <p:spPr>
          <a:xfrm>
            <a:off x="8778240" y="2011680"/>
            <a:ext cx="2727655" cy="749808"/>
          </a:xfrm>
          <a:prstGeom prst="rect">
            <a:avLst/>
          </a:prstGeom>
          <a:noFill/>
          <a:ln/>
        </p:spPr>
        <p:txBody>
          <a:bodyPr wrap="square" lIns="0" tIns="0" rIns="0" bIns="0" rtlCol="0" anchor="ctr"/>
          <a:lstStyle/>
          <a:p>
            <a:pPr indent="0" marL="0">
              <a:buNone/>
            </a:pPr>
            <a:r>
              <a:rPr lang="en-US" sz="1400" dirty="0">
                <a:solidFill>
                  <a:schemeClr val="tx1"/>
                </a:solidFill>
              </a:rPr>
              <a:t>Kinetics, organ function, tumour sink effect</a:t>
            </a:r>
            <a:endParaRPr lang="en-US" sz="1400" dirty="0"/>
          </a:p>
        </p:txBody>
      </p:sp>
      <p:sp>
        <p:nvSpPr>
          <p:cNvPr id="26" name="Shape 23"/>
          <p:cNvSpPr/>
          <p:nvPr/>
        </p:nvSpPr>
        <p:spPr>
          <a:xfrm>
            <a:off x="5257800" y="2898648"/>
            <a:ext cx="6385255" cy="749808"/>
          </a:xfrm>
          <a:prstGeom prst="roundRect">
            <a:avLst>
              <a:gd name="adj" fmla="val 9756"/>
            </a:avLst>
          </a:prstGeom>
          <a:solidFill>
            <a:schemeClr val="bg2"/>
          </a:solidFill>
          <a:ln/>
        </p:spPr>
      </p:sp>
      <p:sp>
        <p:nvSpPr>
          <p:cNvPr id="27" name="Shape 24"/>
          <p:cNvSpPr/>
          <p:nvPr/>
        </p:nvSpPr>
        <p:spPr>
          <a:xfrm>
            <a:off x="5422392" y="3017520"/>
            <a:ext cx="512064" cy="512064"/>
          </a:xfrm>
          <a:prstGeom prst="ellipse">
            <a:avLst/>
          </a:prstGeom>
          <a:solidFill>
            <a:schemeClr val="accent3"/>
          </a:solidFill>
          <a:ln/>
        </p:spPr>
      </p:sp>
      <p:pic>
        <p:nvPicPr>
          <p:cNvPr id="28" name="Image 1" descr="preencoded.png">    </p:cNvPr>
          <p:cNvPicPr>
            <a:picLocks noChangeAspect="1"/>
          </p:cNvPicPr>
          <p:nvPr/>
        </p:nvPicPr>
        <p:blipFill>
          <a:blip r:embed="rId2"/>
          <a:stretch>
            <a:fillRect/>
          </a:stretch>
        </p:blipFill>
        <p:spPr>
          <a:xfrm>
            <a:off x="5560649" y="3155777"/>
            <a:ext cx="235549" cy="235549"/>
          </a:xfrm>
          <a:prstGeom prst="rect">
            <a:avLst/>
          </a:prstGeom>
        </p:spPr>
      </p:pic>
      <p:sp>
        <p:nvSpPr>
          <p:cNvPr id="29" name="Text 25"/>
          <p:cNvSpPr txBox="1"/>
          <p:nvPr/>
        </p:nvSpPr>
        <p:spPr>
          <a:xfrm>
            <a:off x="6080760" y="2898648"/>
            <a:ext cx="2331720" cy="749808"/>
          </a:xfrm>
          <a:prstGeom prst="rect">
            <a:avLst/>
          </a:prstGeom>
          <a:noFill/>
          <a:ln/>
        </p:spPr>
        <p:txBody>
          <a:bodyPr wrap="square" lIns="0" tIns="0" rIns="0" bIns="0" rtlCol="0" anchor="ctr"/>
          <a:lstStyle/>
          <a:p>
            <a:pPr indent="0" marL="0">
              <a:buNone/>
            </a:pPr>
            <a:r>
              <a:rPr lang="en-US" sz="1600" b="1" dirty="0">
                <a:solidFill>
                  <a:schemeClr val="tx2"/>
                </a:solidFill>
              </a:rPr>
              <a:t>Cycles and intervals</a:t>
            </a:r>
            <a:endParaRPr lang="en-US" sz="1600" dirty="0"/>
          </a:p>
        </p:txBody>
      </p:sp>
      <p:sp>
        <p:nvSpPr>
          <p:cNvPr id="30" name="Shape 26"/>
          <p:cNvSpPr/>
          <p:nvPr/>
        </p:nvSpPr>
        <p:spPr>
          <a:xfrm>
            <a:off x="8385048" y="3273552"/>
            <a:ext cx="274320" cy="0"/>
          </a:xfrm>
          <a:prstGeom prst="line">
            <a:avLst/>
          </a:prstGeom>
          <a:noFill/>
          <a:ln w="22225">
            <a:solidFill>
              <a:schemeClr val="accent6"/>
            </a:solidFill>
            <a:prstDash val="solid"/>
            <a:tailEnd type="triangle"/>
          </a:ln>
        </p:spPr>
      </p:sp>
      <p:sp>
        <p:nvSpPr>
          <p:cNvPr id="31" name="Text 27"/>
          <p:cNvSpPr txBox="1"/>
          <p:nvPr/>
        </p:nvSpPr>
        <p:spPr>
          <a:xfrm>
            <a:off x="8778240" y="2898648"/>
            <a:ext cx="2727655" cy="749808"/>
          </a:xfrm>
          <a:prstGeom prst="rect">
            <a:avLst/>
          </a:prstGeom>
          <a:noFill/>
          <a:ln/>
        </p:spPr>
        <p:txBody>
          <a:bodyPr wrap="square" lIns="0" tIns="0" rIns="0" bIns="0" rtlCol="0" anchor="ctr"/>
          <a:lstStyle/>
          <a:p>
            <a:pPr indent="0" marL="0">
              <a:buNone/>
            </a:pPr>
            <a:r>
              <a:rPr lang="en-US" sz="1400" dirty="0">
                <a:solidFill>
                  <a:schemeClr val="tx1"/>
                </a:solidFill>
              </a:rPr>
              <a:t>Dose rate, repair (G factor), BED/EQD2</a:t>
            </a:r>
            <a:endParaRPr lang="en-US" sz="1400" dirty="0"/>
          </a:p>
        </p:txBody>
      </p:sp>
      <p:sp>
        <p:nvSpPr>
          <p:cNvPr id="32" name="Shape 28"/>
          <p:cNvSpPr/>
          <p:nvPr/>
        </p:nvSpPr>
        <p:spPr>
          <a:xfrm>
            <a:off x="5257800" y="3785616"/>
            <a:ext cx="6385255" cy="749808"/>
          </a:xfrm>
          <a:prstGeom prst="roundRect">
            <a:avLst>
              <a:gd name="adj" fmla="val 9756"/>
            </a:avLst>
          </a:prstGeom>
          <a:solidFill>
            <a:schemeClr val="bg2"/>
          </a:solidFill>
          <a:ln/>
        </p:spPr>
      </p:sp>
      <p:sp>
        <p:nvSpPr>
          <p:cNvPr id="33" name="Shape 29"/>
          <p:cNvSpPr/>
          <p:nvPr/>
        </p:nvSpPr>
        <p:spPr>
          <a:xfrm>
            <a:off x="5422392" y="3904488"/>
            <a:ext cx="512064" cy="512064"/>
          </a:xfrm>
          <a:prstGeom prst="ellipse">
            <a:avLst/>
          </a:prstGeom>
          <a:solidFill>
            <a:schemeClr val="accent3"/>
          </a:solidFill>
          <a:ln/>
        </p:spPr>
      </p:sp>
      <p:pic>
        <p:nvPicPr>
          <p:cNvPr id="34" name="Image 2" descr="preencoded.png">    </p:cNvPr>
          <p:cNvPicPr>
            <a:picLocks noChangeAspect="1"/>
          </p:cNvPicPr>
          <p:nvPr/>
        </p:nvPicPr>
        <p:blipFill>
          <a:blip r:embed="rId3"/>
          <a:stretch>
            <a:fillRect/>
          </a:stretch>
        </p:blipFill>
        <p:spPr>
          <a:xfrm>
            <a:off x="5560649" y="4042745"/>
            <a:ext cx="235549" cy="235549"/>
          </a:xfrm>
          <a:prstGeom prst="rect">
            <a:avLst/>
          </a:prstGeom>
        </p:spPr>
      </p:pic>
      <p:sp>
        <p:nvSpPr>
          <p:cNvPr id="35" name="Text 30"/>
          <p:cNvSpPr txBox="1"/>
          <p:nvPr/>
        </p:nvSpPr>
        <p:spPr>
          <a:xfrm>
            <a:off x="6080760" y="3785616"/>
            <a:ext cx="2331720" cy="749808"/>
          </a:xfrm>
          <a:prstGeom prst="rect">
            <a:avLst/>
          </a:prstGeom>
          <a:noFill/>
          <a:ln/>
        </p:spPr>
        <p:txBody>
          <a:bodyPr wrap="square" lIns="0" tIns="0" rIns="0" bIns="0" rtlCol="0" anchor="ctr"/>
          <a:lstStyle/>
          <a:p>
            <a:pPr indent="0" marL="0">
              <a:buNone/>
            </a:pPr>
            <a:r>
              <a:rPr lang="en-US" sz="1600" b="1" dirty="0">
                <a:solidFill>
                  <a:schemeClr val="tx2"/>
                </a:solidFill>
              </a:rPr>
              <a:t>Infusion and ligand</a:t>
            </a:r>
            <a:endParaRPr lang="en-US" sz="1600" dirty="0"/>
          </a:p>
        </p:txBody>
      </p:sp>
      <p:sp>
        <p:nvSpPr>
          <p:cNvPr id="36" name="Shape 31"/>
          <p:cNvSpPr/>
          <p:nvPr/>
        </p:nvSpPr>
        <p:spPr>
          <a:xfrm>
            <a:off x="8385048" y="4160520"/>
            <a:ext cx="274320" cy="0"/>
          </a:xfrm>
          <a:prstGeom prst="line">
            <a:avLst/>
          </a:prstGeom>
          <a:noFill/>
          <a:ln w="22225">
            <a:solidFill>
              <a:schemeClr val="accent6"/>
            </a:solidFill>
            <a:prstDash val="solid"/>
            <a:tailEnd type="triangle"/>
          </a:ln>
        </p:spPr>
      </p:sp>
      <p:sp>
        <p:nvSpPr>
          <p:cNvPr id="37" name="Text 32"/>
          <p:cNvSpPr txBox="1"/>
          <p:nvPr/>
        </p:nvSpPr>
        <p:spPr>
          <a:xfrm>
            <a:off x="8778240" y="3785616"/>
            <a:ext cx="2727655" cy="749808"/>
          </a:xfrm>
          <a:prstGeom prst="rect">
            <a:avLst/>
          </a:prstGeom>
          <a:noFill/>
          <a:ln/>
        </p:spPr>
        <p:txBody>
          <a:bodyPr wrap="square" lIns="0" tIns="0" rIns="0" bIns="0" rtlCol="0" anchor="ctr"/>
          <a:lstStyle/>
          <a:p>
            <a:pPr indent="0" marL="0">
              <a:buNone/>
            </a:pPr>
            <a:r>
              <a:rPr lang="en-US" sz="1400" dirty="0">
                <a:solidFill>
                  <a:schemeClr val="tx1"/>
                </a:solidFill>
              </a:rPr>
              <a:t>Bolus vs metronomic; hot/cold ligand competition</a:t>
            </a:r>
            <a:endParaRPr lang="en-US" sz="1400" dirty="0"/>
          </a:p>
        </p:txBody>
      </p:sp>
      <p:sp>
        <p:nvSpPr>
          <p:cNvPr id="38" name="Shape 33"/>
          <p:cNvSpPr/>
          <p:nvPr/>
        </p:nvSpPr>
        <p:spPr>
          <a:xfrm>
            <a:off x="5257800" y="4672584"/>
            <a:ext cx="6385255" cy="749808"/>
          </a:xfrm>
          <a:prstGeom prst="roundRect">
            <a:avLst>
              <a:gd name="adj" fmla="val 9756"/>
            </a:avLst>
          </a:prstGeom>
          <a:solidFill>
            <a:schemeClr val="bg2"/>
          </a:solidFill>
          <a:ln/>
        </p:spPr>
      </p:sp>
      <p:sp>
        <p:nvSpPr>
          <p:cNvPr id="39" name="Shape 34"/>
          <p:cNvSpPr/>
          <p:nvPr/>
        </p:nvSpPr>
        <p:spPr>
          <a:xfrm>
            <a:off x="5422392" y="4791456"/>
            <a:ext cx="512064" cy="512064"/>
          </a:xfrm>
          <a:prstGeom prst="ellipse">
            <a:avLst/>
          </a:prstGeom>
          <a:solidFill>
            <a:schemeClr val="accent3"/>
          </a:solidFill>
          <a:ln/>
        </p:spPr>
      </p:sp>
      <p:pic>
        <p:nvPicPr>
          <p:cNvPr id="40" name="Image 3" descr="preencoded.png">    </p:cNvPr>
          <p:cNvPicPr>
            <a:picLocks noChangeAspect="1"/>
          </p:cNvPicPr>
          <p:nvPr/>
        </p:nvPicPr>
        <p:blipFill>
          <a:blip r:embed="rId4"/>
          <a:stretch>
            <a:fillRect/>
          </a:stretch>
        </p:blipFill>
        <p:spPr>
          <a:xfrm>
            <a:off x="5560649" y="4929713"/>
            <a:ext cx="235549" cy="235549"/>
          </a:xfrm>
          <a:prstGeom prst="rect">
            <a:avLst/>
          </a:prstGeom>
        </p:spPr>
      </p:pic>
      <p:sp>
        <p:nvSpPr>
          <p:cNvPr id="41" name="Text 35"/>
          <p:cNvSpPr txBox="1"/>
          <p:nvPr/>
        </p:nvSpPr>
        <p:spPr>
          <a:xfrm>
            <a:off x="6080760" y="4672584"/>
            <a:ext cx="2331720" cy="749808"/>
          </a:xfrm>
          <a:prstGeom prst="rect">
            <a:avLst/>
          </a:prstGeom>
          <a:noFill/>
          <a:ln/>
        </p:spPr>
        <p:txBody>
          <a:bodyPr wrap="square" lIns="0" tIns="0" rIns="0" bIns="0" rtlCol="0" anchor="ctr"/>
          <a:lstStyle/>
          <a:p>
            <a:pPr indent="0" marL="0">
              <a:buNone/>
            </a:pPr>
            <a:r>
              <a:rPr lang="en-US" sz="1600" b="1" dirty="0">
                <a:solidFill>
                  <a:schemeClr val="tx2"/>
                </a:solidFill>
              </a:rPr>
              <a:t>Cycle-by-cycle adaptation</a:t>
            </a:r>
            <a:endParaRPr lang="en-US" sz="1600" dirty="0"/>
          </a:p>
        </p:txBody>
      </p:sp>
      <p:sp>
        <p:nvSpPr>
          <p:cNvPr id="42" name="Shape 36"/>
          <p:cNvSpPr/>
          <p:nvPr/>
        </p:nvSpPr>
        <p:spPr>
          <a:xfrm>
            <a:off x="8385048" y="5047488"/>
            <a:ext cx="274320" cy="0"/>
          </a:xfrm>
          <a:prstGeom prst="line">
            <a:avLst/>
          </a:prstGeom>
          <a:noFill/>
          <a:ln w="22225">
            <a:solidFill>
              <a:schemeClr val="accent6"/>
            </a:solidFill>
            <a:prstDash val="solid"/>
            <a:tailEnd type="triangle"/>
          </a:ln>
        </p:spPr>
      </p:sp>
      <p:sp>
        <p:nvSpPr>
          <p:cNvPr id="43" name="Text 37"/>
          <p:cNvSpPr txBox="1"/>
          <p:nvPr/>
        </p:nvSpPr>
        <p:spPr>
          <a:xfrm>
            <a:off x="8778240" y="4672584"/>
            <a:ext cx="2727655" cy="749808"/>
          </a:xfrm>
          <a:prstGeom prst="rect">
            <a:avLst/>
          </a:prstGeom>
          <a:noFill/>
          <a:ln/>
        </p:spPr>
        <p:txBody>
          <a:bodyPr wrap="square" lIns="0" tIns="0" rIns="0" bIns="0" rtlCol="0" anchor="ctr"/>
          <a:lstStyle/>
          <a:p>
            <a:pPr indent="0" marL="0">
              <a:buNone/>
            </a:pPr>
            <a:r>
              <a:rPr lang="en-US" sz="1400" dirty="0">
                <a:solidFill>
                  <a:schemeClr val="tx1"/>
                </a:solidFill>
              </a:rPr>
              <a:t>Changing burden, kinetics and sensitivity</a:t>
            </a:r>
            <a:endParaRPr lang="en-US" sz="1400" dirty="0"/>
          </a:p>
        </p:txBody>
      </p:sp>
      <p:sp>
        <p:nvSpPr>
          <p:cNvPr id="44" name="Text 38"/>
          <p:cNvSpPr txBox="1"/>
          <p:nvPr/>
        </p:nvSpPr>
        <p:spPr>
          <a:xfrm>
            <a:off x="5257800" y="5577840"/>
            <a:ext cx="6385255" cy="320040"/>
          </a:xfrm>
          <a:prstGeom prst="rect">
            <a:avLst/>
          </a:prstGeom>
          <a:noFill/>
          <a:ln/>
        </p:spPr>
        <p:txBody>
          <a:bodyPr wrap="square" lIns="0" tIns="0" rIns="0" bIns="0" rtlCol="0" anchor="t"/>
          <a:lstStyle/>
          <a:p>
            <a:pPr indent="0" marL="0">
              <a:buNone/>
            </a:pPr>
            <a:r>
              <a:rPr lang="en-US" sz="1400" i="1" dirty="0">
                <a:solidFill>
                  <a:schemeClr val="accent3"/>
                </a:solidFill>
              </a:rPr>
              <a:t>Hypothesis to test: circadian timing, first in silico and preclinically.</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640080"/>
          </a:xfrm>
          <a:prstGeom prst="rect">
            <a:avLst/>
          </a:prstGeom>
          <a:noFill/>
          <a:ln/>
        </p:spPr>
        <p:txBody>
          <a:bodyPr wrap="square" lIns="0" tIns="0" rIns="0" bIns="0" rtlCol="0" anchor="ctr"/>
          <a:lstStyle/>
          <a:p>
            <a:pPr algn="l" indent="0" marL="0">
              <a:buNone/>
            </a:pPr>
            <a:r>
              <a:rPr lang="en-US" sz="3400" b="1" dirty="0">
                <a:solidFill>
                  <a:schemeClr val="tx2"/>
                </a:solidFill>
              </a:rPr>
              <a:t>Molecular imaging within therapy workflows</a:t>
            </a:r>
            <a:endParaRPr lang="en-US" sz="3400" dirty="0"/>
          </a:p>
        </p:txBody>
      </p:sp>
      <p:sp>
        <p:nvSpPr>
          <p:cNvPr id="3" name="Text 1"/>
          <p:cNvSpPr txBox="1"/>
          <p:nvPr/>
        </p:nvSpPr>
        <p:spPr>
          <a:xfrm>
            <a:off x="548640" y="164592"/>
            <a:ext cx="7315200" cy="256032"/>
          </a:xfrm>
          <a:prstGeom prst="rect">
            <a:avLst/>
          </a:prstGeom>
          <a:noFill/>
          <a:ln/>
        </p:spPr>
        <p:txBody>
          <a:bodyPr wrap="square" lIns="0" tIns="0" rIns="0" bIns="0" rtlCol="0" anchor="t"/>
          <a:lstStyle/>
          <a:p>
            <a:pPr indent="0" marL="0">
              <a:buNone/>
            </a:pPr>
            <a:r>
              <a:rPr lang="en-US" sz="1200" b="1" spc="150" kern="0" dirty="0">
                <a:solidFill>
                  <a:schemeClr val="accent2"/>
                </a:solidFill>
              </a:rPr>
              <a:t>AIM 4 · INTEGRATION</a:t>
            </a:r>
            <a:endParaRPr lang="en-US" sz="1200" dirty="0"/>
          </a:p>
        </p:txBody>
      </p:sp>
      <p:sp>
        <p:nvSpPr>
          <p:cNvPr id="4" name="Text 2"/>
          <p:cNvSpPr txBox="1"/>
          <p:nvPr/>
        </p:nvSpPr>
        <p:spPr>
          <a:xfrm>
            <a:off x="548640" y="1600200"/>
            <a:ext cx="4343400" cy="1143000"/>
          </a:xfrm>
          <a:prstGeom prst="rect">
            <a:avLst/>
          </a:prstGeom>
          <a:noFill/>
          <a:ln/>
        </p:spPr>
        <p:txBody>
          <a:bodyPr wrap="square" lIns="0" tIns="0" rIns="0" bIns="0" rtlCol="0" anchor="t"/>
          <a:lstStyle/>
          <a:p>
            <a:pPr indent="0" marL="0">
              <a:buNone/>
            </a:pPr>
            <a:r>
              <a:rPr lang="en-US" sz="2200" b="1" dirty="0">
                <a:solidFill>
                  <a:schemeClr val="tx2"/>
                </a:solidFill>
              </a:rPr>
              <a:t>Where can molecular information improve treatment adaptation?</a:t>
            </a:r>
            <a:endParaRPr lang="en-US" sz="2200" dirty="0"/>
          </a:p>
        </p:txBody>
      </p:sp>
      <p:sp>
        <p:nvSpPr>
          <p:cNvPr id="5" name="Shape 3"/>
          <p:cNvSpPr/>
          <p:nvPr/>
        </p:nvSpPr>
        <p:spPr>
          <a:xfrm>
            <a:off x="548640" y="2926080"/>
            <a:ext cx="411480" cy="411480"/>
          </a:xfrm>
          <a:prstGeom prst="ellipse">
            <a:avLst/>
          </a:prstGeom>
          <a:solidFill>
            <a:schemeClr val="accent2"/>
          </a:solidFill>
          <a:ln/>
        </p:spPr>
      </p:sp>
      <p:pic>
        <p:nvPicPr>
          <p:cNvPr id="6" name="Image 0" descr="preencoded.png">    </p:cNvPr>
          <p:cNvPicPr>
            <a:picLocks noChangeAspect="1"/>
          </p:cNvPicPr>
          <p:nvPr/>
        </p:nvPicPr>
        <p:blipFill>
          <a:blip r:embed="rId1"/>
          <a:stretch>
            <a:fillRect/>
          </a:stretch>
        </p:blipFill>
        <p:spPr>
          <a:xfrm>
            <a:off x="659740" y="3037180"/>
            <a:ext cx="189281" cy="189281"/>
          </a:xfrm>
          <a:prstGeom prst="rect">
            <a:avLst/>
          </a:prstGeom>
        </p:spPr>
      </p:pic>
      <p:sp>
        <p:nvSpPr>
          <p:cNvPr id="7" name="Text 4"/>
          <p:cNvSpPr txBox="1"/>
          <p:nvPr/>
        </p:nvSpPr>
        <p:spPr>
          <a:xfrm>
            <a:off x="1097280" y="2926080"/>
            <a:ext cx="3657600" cy="411480"/>
          </a:xfrm>
          <a:prstGeom prst="rect">
            <a:avLst/>
          </a:prstGeom>
          <a:noFill/>
          <a:ln/>
        </p:spPr>
        <p:txBody>
          <a:bodyPr wrap="square" lIns="0" tIns="0" rIns="0" bIns="0" rtlCol="0" anchor="ctr"/>
          <a:lstStyle/>
          <a:p>
            <a:pPr indent="0" marL="0">
              <a:buNone/>
            </a:pPr>
            <a:r>
              <a:rPr lang="en-US" sz="1600" b="1" dirty="0">
                <a:solidFill>
                  <a:schemeClr val="accent2"/>
                </a:solidFill>
              </a:rPr>
              <a:t>Approach</a:t>
            </a:r>
            <a:endParaRPr lang="en-US" sz="1600" dirty="0"/>
          </a:p>
        </p:txBody>
      </p:sp>
      <p:sp>
        <p:nvSpPr>
          <p:cNvPr id="8" name="Text 5"/>
          <p:cNvSpPr txBox="1"/>
          <p:nvPr/>
        </p:nvSpPr>
        <p:spPr>
          <a:xfrm>
            <a:off x="1097280" y="3364992"/>
            <a:ext cx="3794760" cy="868680"/>
          </a:xfrm>
          <a:prstGeom prst="rect">
            <a:avLst/>
          </a:prstGeom>
          <a:noFill/>
          <a:ln/>
        </p:spPr>
        <p:txBody>
          <a:bodyPr wrap="square" lIns="0" tIns="0" rIns="0" bIns="0" rtlCol="0" anchor="t"/>
          <a:lstStyle/>
          <a:p>
            <a:pPr indent="0" marL="0">
              <a:buNone/>
            </a:pPr>
            <a:r>
              <a:rPr lang="en-US" sz="1500" dirty="0">
                <a:solidFill>
                  <a:schemeClr val="tx1"/>
                </a:solidFill>
              </a:rPr>
              <a:t>Start with PET-informed RPT planning. Then explore combined RPT and external-beam therapy.</a:t>
            </a:r>
            <a:endParaRPr lang="en-US" sz="1500" dirty="0"/>
          </a:p>
        </p:txBody>
      </p:sp>
      <p:sp>
        <p:nvSpPr>
          <p:cNvPr id="9" name="Shape 6"/>
          <p:cNvSpPr/>
          <p:nvPr/>
        </p:nvSpPr>
        <p:spPr>
          <a:xfrm>
            <a:off x="548640" y="4315968"/>
            <a:ext cx="411480" cy="411480"/>
          </a:xfrm>
          <a:prstGeom prst="ellipse">
            <a:avLst/>
          </a:prstGeom>
          <a:solidFill>
            <a:schemeClr val="accent2"/>
          </a:solidFill>
          <a:ln/>
        </p:spPr>
      </p:sp>
      <p:pic>
        <p:nvPicPr>
          <p:cNvPr id="10" name="Image 1" descr="preencoded.png">    </p:cNvPr>
          <p:cNvPicPr>
            <a:picLocks noChangeAspect="1"/>
          </p:cNvPicPr>
          <p:nvPr/>
        </p:nvPicPr>
        <p:blipFill>
          <a:blip r:embed="rId2"/>
          <a:stretch>
            <a:fillRect/>
          </a:stretch>
        </p:blipFill>
        <p:spPr>
          <a:xfrm>
            <a:off x="659740" y="4427068"/>
            <a:ext cx="189281" cy="189281"/>
          </a:xfrm>
          <a:prstGeom prst="rect">
            <a:avLst/>
          </a:prstGeom>
        </p:spPr>
      </p:pic>
      <p:sp>
        <p:nvSpPr>
          <p:cNvPr id="11" name="Text 7"/>
          <p:cNvSpPr txBox="1"/>
          <p:nvPr/>
        </p:nvSpPr>
        <p:spPr>
          <a:xfrm>
            <a:off x="1097280" y="4315968"/>
            <a:ext cx="3657600" cy="411480"/>
          </a:xfrm>
          <a:prstGeom prst="rect">
            <a:avLst/>
          </a:prstGeom>
          <a:noFill/>
          <a:ln/>
        </p:spPr>
        <p:txBody>
          <a:bodyPr wrap="square" lIns="0" tIns="0" rIns="0" bIns="0" rtlCol="0" anchor="ctr"/>
          <a:lstStyle/>
          <a:p>
            <a:pPr indent="0" marL="0">
              <a:buNone/>
            </a:pPr>
            <a:r>
              <a:rPr lang="en-US" sz="1600" b="1" dirty="0">
                <a:solidFill>
                  <a:schemeClr val="accent2"/>
                </a:solidFill>
              </a:rPr>
              <a:t>Test of success</a:t>
            </a:r>
            <a:endParaRPr lang="en-US" sz="1600" dirty="0"/>
          </a:p>
        </p:txBody>
      </p:sp>
      <p:sp>
        <p:nvSpPr>
          <p:cNvPr id="12" name="Text 8"/>
          <p:cNvSpPr txBox="1"/>
          <p:nvPr/>
        </p:nvSpPr>
        <p:spPr>
          <a:xfrm>
            <a:off x="1097280" y="4754880"/>
            <a:ext cx="3794760" cy="868680"/>
          </a:xfrm>
          <a:prstGeom prst="rect">
            <a:avLst/>
          </a:prstGeom>
          <a:noFill/>
          <a:ln/>
        </p:spPr>
        <p:txBody>
          <a:bodyPr wrap="square" lIns="0" tIns="0" rIns="0" bIns="0" rtlCol="0" anchor="t"/>
          <a:lstStyle/>
          <a:p>
            <a:pPr indent="0" marL="0">
              <a:buNone/>
            </a:pPr>
            <a:r>
              <a:rPr lang="en-US" sz="1500" dirty="0">
                <a:solidFill>
                  <a:schemeClr val="tx1"/>
                </a:solidFill>
              </a:rPr>
              <a:t>Validate pair-specific kinetics, biological dose models and workflow feasibility.</a:t>
            </a:r>
            <a:endParaRPr lang="en-US" sz="1500" dirty="0"/>
          </a:p>
        </p:txBody>
      </p:sp>
      <p:pic>
        <p:nvPicPr>
          <p:cNvPr id="13" name="Image 2" descr="/tmp/claude-0/-home-user-habdollahin/757748ce-ce00-518f-b6e2-dec1c5e36469/scratchpad/build/figs/c_aim4.png">    </p:cNvPr>
          <p:cNvPicPr>
            <a:picLocks noChangeAspect="1"/>
          </p:cNvPicPr>
          <p:nvPr/>
        </p:nvPicPr>
        <p:blipFill>
          <a:blip r:embed="rId3"/>
          <a:stretch>
            <a:fillRect/>
          </a:stretch>
        </p:blipFill>
        <p:spPr>
          <a:xfrm>
            <a:off x="5605272" y="1463040"/>
            <a:ext cx="6035040" cy="4023360"/>
          </a:xfrm>
          <a:prstGeom prst="rect">
            <a:avLst/>
          </a:prstGeom>
        </p:spPr>
      </p:pic>
      <p:sp>
        <p:nvSpPr>
          <p:cNvPr id="14" name="Text 9"/>
          <p:cNvSpPr txBox="1"/>
          <p:nvPr/>
        </p:nvSpPr>
        <p:spPr>
          <a:xfrm>
            <a:off x="5605272" y="5486400"/>
            <a:ext cx="6035040" cy="228600"/>
          </a:xfrm>
          <a:prstGeom prst="rect">
            <a:avLst/>
          </a:prstGeom>
          <a:noFill/>
          <a:ln/>
        </p:spPr>
        <p:txBody>
          <a:bodyPr wrap="square" lIns="0" tIns="0" rIns="0" bIns="0" rtlCol="0" anchor="t"/>
          <a:lstStyle/>
          <a:p>
            <a:pPr algn="r" indent="0" marL="0">
              <a:buNone/>
            </a:pPr>
            <a:r>
              <a:rPr lang="en-US" sz="1000" i="1" dirty="0">
                <a:solidFill>
                  <a:schemeClr val="accent6"/>
                </a:solidFill>
              </a:rPr>
              <a:t>Conceptual illustration</a:t>
            </a:r>
            <a:endParaRPr lang="en-US" sz="1000" dirty="0"/>
          </a:p>
        </p:txBody>
      </p:sp>
      <p:sp>
        <p:nvSpPr>
          <p:cNvPr id="15" name="Shape 10"/>
          <p:cNvSpPr/>
          <p:nvPr/>
        </p:nvSpPr>
        <p:spPr>
          <a:xfrm>
            <a:off x="548640" y="5806440"/>
            <a:ext cx="11094415" cy="502920"/>
          </a:xfrm>
          <a:prstGeom prst="roundRect">
            <a:avLst>
              <a:gd name="adj" fmla="val 14545"/>
            </a:avLst>
          </a:prstGeom>
          <a:solidFill>
            <a:schemeClr val="accent2"/>
          </a:solidFill>
          <a:ln/>
        </p:spPr>
      </p:sp>
      <p:sp>
        <p:nvSpPr>
          <p:cNvPr id="16" name="Text 11"/>
          <p:cNvSpPr txBox="1"/>
          <p:nvPr/>
        </p:nvSpPr>
        <p:spPr>
          <a:xfrm>
            <a:off x="822960" y="5806440"/>
            <a:ext cx="10545775" cy="502920"/>
          </a:xfrm>
          <a:prstGeom prst="rect">
            <a:avLst/>
          </a:prstGeom>
          <a:noFill/>
          <a:ln/>
        </p:spPr>
        <p:txBody>
          <a:bodyPr wrap="square" lIns="0" tIns="0" rIns="0" bIns="0" rtlCol="0" anchor="ctr"/>
          <a:lstStyle/>
          <a:p>
            <a:pPr indent="0" marL="0">
              <a:buNone/>
            </a:pPr>
            <a:r>
              <a:rPr lang="en-US" sz="1500" b="1" dirty="0">
                <a:solidFill>
                  <a:schemeClr val="bg1"/>
                </a:solidFill>
              </a:rPr>
              <a:t>Later, partner-led extensions: proton therapy with PET and biology-guided radiotherapy (BGRT)</a:t>
            </a:r>
            <a:endParaRPr lang="en-US" sz="1500" dirty="0"/>
          </a:p>
        </p:txBody>
      </p:sp>
      <p:sp>
        <p:nvSpPr>
          <p:cNvPr id="18" name="Text 0"/>
          <p:cNvSpPr/>
          <p:nvPr>
            <p:ph idx="101" type="body" hasCustomPrompt="1"/>
          </p:nvPr>
        </p:nvSpPr>
        <p:spPr>
          <a:xfrm>
            <a:off x="548640" y="1051560"/>
            <a:ext cx="11094415" cy="411480"/>
          </a:xfrm>
          <a:prstGeom prst="rect">
            <a:avLst/>
          </a:prstGeom>
          <a:noFill/>
          <a:ln/>
        </p:spPr>
        <p:txBody>
          <a:bodyPr wrap="square" lIns="0" tIns="0" rIns="0" bIns="0" rtlCol="0" anchor="t"/>
          <a:lstStyle/>
          <a:p>
            <a:pPr indent="0" marL="0">
              <a:buNone/>
            </a:pP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640080"/>
          </a:xfrm>
          <a:prstGeom prst="rect">
            <a:avLst/>
          </a:prstGeom>
          <a:noFill/>
          <a:ln/>
        </p:spPr>
        <p:txBody>
          <a:bodyPr wrap="square" lIns="0" tIns="0" rIns="0" bIns="0" rtlCol="0" anchor="ctr"/>
          <a:lstStyle/>
          <a:p>
            <a:pPr algn="l" indent="0" marL="0">
              <a:buNone/>
            </a:pPr>
            <a:r>
              <a:rPr lang="en-US" sz="3400" b="1" dirty="0">
                <a:solidFill>
                  <a:schemeClr val="tx2"/>
                </a:solidFill>
              </a:rPr>
              <a:t>Virtual trials across the translational pathway</a:t>
            </a:r>
            <a:endParaRPr lang="en-US" sz="3400" dirty="0"/>
          </a:p>
        </p:txBody>
      </p:sp>
      <p:sp>
        <p:nvSpPr>
          <p:cNvPr id="3" name="Text 0"/>
          <p:cNvSpPr/>
          <p:nvPr>
            <p:ph idx="101" type="body" hasCustomPrompt="1"/>
          </p:nvPr>
        </p:nvSpPr>
        <p:spPr>
          <a:xfrm>
            <a:off x="548640" y="1051560"/>
            <a:ext cx="11094415" cy="411480"/>
          </a:xfrm>
          <a:prstGeom prst="rect">
            <a:avLst/>
          </a:prstGeom>
          <a:noFill/>
          <a:ln/>
        </p:spPr>
        <p:txBody>
          <a:bodyPr wrap="square" lIns="0" tIns="0" rIns="0" bIns="0" rtlCol="0" anchor="t"/>
          <a:lstStyle/>
          <a:p>
            <a:pPr indent="0" marL="0">
              <a:buNone/>
            </a:pPr>
            <a:r>
              <a:rPr lang="en-US" sz="1600" dirty="0">
                <a:solidFill>
                  <a:schemeClr val="accent6"/>
                </a:solidFill>
              </a:rPr>
              <a:t>T0 preclinical → T1 first-in-human → T2 patient trials; T3–T4 practice and population are later extensions</a:t>
            </a:r>
            <a:endParaRPr lang="en-US" sz="1600" dirty="0"/>
          </a:p>
        </p:txBody>
      </p:sp>
      <p:sp>
        <p:nvSpPr>
          <p:cNvPr id="4" name="Text 2"/>
          <p:cNvSpPr txBox="1"/>
          <p:nvPr/>
        </p:nvSpPr>
        <p:spPr>
          <a:xfrm>
            <a:off x="548640" y="164592"/>
            <a:ext cx="7315200" cy="256032"/>
          </a:xfrm>
          <a:prstGeom prst="rect">
            <a:avLst/>
          </a:prstGeom>
          <a:noFill/>
          <a:ln/>
        </p:spPr>
        <p:txBody>
          <a:bodyPr wrap="square" lIns="0" tIns="0" rIns="0" bIns="0" rtlCol="0" anchor="t"/>
          <a:lstStyle/>
          <a:p>
            <a:pPr indent="0" marL="0">
              <a:buNone/>
            </a:pPr>
            <a:r>
              <a:rPr lang="en-US" sz="1200" b="1" spc="150" kern="0" dirty="0">
                <a:solidFill>
                  <a:schemeClr val="accent2"/>
                </a:solidFill>
              </a:rPr>
              <a:t>AIM 5 · INTEGRATION</a:t>
            </a:r>
            <a:endParaRPr lang="en-US" sz="1200" dirty="0"/>
          </a:p>
        </p:txBody>
      </p:sp>
      <p:pic>
        <p:nvPicPr>
          <p:cNvPr id="5" name="Image 0" descr="Virtual preclinical (T0), translational (T1) and clinical (T2) trials">    </p:cNvPr>
          <p:cNvPicPr>
            <a:picLocks noChangeAspect="1"/>
          </p:cNvPicPr>
          <p:nvPr/>
        </p:nvPicPr>
        <p:blipFill>
          <a:blip r:embed="rId1"/>
          <a:stretch>
            <a:fillRect/>
          </a:stretch>
        </p:blipFill>
        <p:spPr>
          <a:xfrm>
            <a:off x="1523848" y="1536192"/>
            <a:ext cx="9144000" cy="4729843"/>
          </a:xfrm>
          <a:prstGeom prst="rect">
            <a:avLst/>
          </a:prstGeom>
        </p:spPr>
      </p:pic>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640080"/>
          </a:xfrm>
          <a:prstGeom prst="rect">
            <a:avLst/>
          </a:prstGeom>
          <a:noFill/>
          <a:ln/>
        </p:spPr>
        <p:txBody>
          <a:bodyPr wrap="square" lIns="0" tIns="0" rIns="0" bIns="0" rtlCol="0" anchor="ctr"/>
          <a:lstStyle/>
          <a:p>
            <a:pPr algn="l" indent="0" marL="0">
              <a:buNone/>
            </a:pPr>
            <a:r>
              <a:rPr lang="en-US" sz="3400" b="1" dirty="0">
                <a:solidFill>
                  <a:schemeClr val="tx2"/>
                </a:solidFill>
              </a:rPr>
              <a:t>Validation before treatment adaptation</a:t>
            </a:r>
            <a:endParaRPr lang="en-US" sz="3400" dirty="0"/>
          </a:p>
        </p:txBody>
      </p:sp>
      <p:sp>
        <p:nvSpPr>
          <p:cNvPr id="3" name="Text 1"/>
          <p:cNvSpPr txBox="1"/>
          <p:nvPr/>
        </p:nvSpPr>
        <p:spPr>
          <a:xfrm>
            <a:off x="548640" y="164592"/>
            <a:ext cx="7315200" cy="256032"/>
          </a:xfrm>
          <a:prstGeom prst="rect">
            <a:avLst/>
          </a:prstGeom>
          <a:noFill/>
          <a:ln/>
        </p:spPr>
        <p:txBody>
          <a:bodyPr wrap="square" lIns="0" tIns="0" rIns="0" bIns="0" rtlCol="0" anchor="t"/>
          <a:lstStyle/>
          <a:p>
            <a:pPr indent="0" marL="0">
              <a:buNone/>
            </a:pPr>
            <a:r>
              <a:rPr lang="en-US" sz="1200" b="1" spc="150" kern="0" dirty="0">
                <a:solidFill>
                  <a:schemeClr val="accent1"/>
                </a:solidFill>
              </a:rPr>
              <a:t>SHARED ACROSS ALL FIVE AIMS</a:t>
            </a:r>
            <a:endParaRPr lang="en-US" sz="1200" dirty="0"/>
          </a:p>
        </p:txBody>
      </p:sp>
      <p:pic>
        <p:nvPicPr>
          <p:cNvPr id="4" name="Image 0" descr="/tmp/claude-0/-home-user-habdollahin/757748ce-ce00-518f-b6e2-dec1c5e36469/scratchpad/build/figs/c_valid.png">    </p:cNvPr>
          <p:cNvPicPr>
            <a:picLocks noChangeAspect="1"/>
          </p:cNvPicPr>
          <p:nvPr/>
        </p:nvPicPr>
        <p:blipFill>
          <a:blip r:embed="rId1"/>
          <a:stretch>
            <a:fillRect/>
          </a:stretch>
        </p:blipFill>
        <p:spPr>
          <a:xfrm>
            <a:off x="548640" y="1188720"/>
            <a:ext cx="3429000" cy="2286000"/>
          </a:xfrm>
          <a:prstGeom prst="rect">
            <a:avLst/>
          </a:prstGeom>
        </p:spPr>
      </p:pic>
      <p:sp>
        <p:nvSpPr>
          <p:cNvPr id="5" name="Text 2"/>
          <p:cNvSpPr txBox="1"/>
          <p:nvPr/>
        </p:nvSpPr>
        <p:spPr>
          <a:xfrm>
            <a:off x="548640" y="3474720"/>
            <a:ext cx="3429000" cy="228600"/>
          </a:xfrm>
          <a:prstGeom prst="rect">
            <a:avLst/>
          </a:prstGeom>
          <a:noFill/>
          <a:ln/>
        </p:spPr>
        <p:txBody>
          <a:bodyPr wrap="square" lIns="0" tIns="0" rIns="0" bIns="0" rtlCol="0" anchor="t"/>
          <a:lstStyle/>
          <a:p>
            <a:pPr algn="l" indent="0" marL="0">
              <a:buNone/>
            </a:pPr>
            <a:r>
              <a:rPr lang="en-US" sz="1000" i="1" dirty="0">
                <a:solidFill>
                  <a:schemeClr val="accent6"/>
                </a:solidFill>
              </a:rPr>
              <a:t>Conceptual illustration</a:t>
            </a:r>
            <a:endParaRPr lang="en-US" sz="1000" dirty="0"/>
          </a:p>
        </p:txBody>
      </p:sp>
      <p:sp>
        <p:nvSpPr>
          <p:cNvPr id="6" name="Shape 3"/>
          <p:cNvSpPr/>
          <p:nvPr/>
        </p:nvSpPr>
        <p:spPr>
          <a:xfrm>
            <a:off x="548640" y="3886200"/>
            <a:ext cx="3576218" cy="1645920"/>
          </a:xfrm>
          <a:prstGeom prst="roundRect">
            <a:avLst>
              <a:gd name="adj" fmla="val 4444"/>
            </a:avLst>
          </a:prstGeom>
          <a:solidFill>
            <a:schemeClr val="accent1">
              <a:alpha val="14000"/>
            </a:schemeClr>
          </a:solidFill>
          <a:ln/>
        </p:spPr>
      </p:sp>
      <p:sp>
        <p:nvSpPr>
          <p:cNvPr id="7" name="Shape 4"/>
          <p:cNvSpPr/>
          <p:nvPr/>
        </p:nvSpPr>
        <p:spPr>
          <a:xfrm>
            <a:off x="822960" y="4160520"/>
            <a:ext cx="640080" cy="640080"/>
          </a:xfrm>
          <a:prstGeom prst="ellipse">
            <a:avLst/>
          </a:prstGeom>
          <a:solidFill>
            <a:schemeClr val="accent1"/>
          </a:solidFill>
          <a:ln/>
        </p:spPr>
      </p:sp>
      <p:pic>
        <p:nvPicPr>
          <p:cNvPr id="8" name="Image 1" descr="preencoded.png">    </p:cNvPr>
          <p:cNvPicPr>
            <a:picLocks noChangeAspect="1"/>
          </p:cNvPicPr>
          <p:nvPr/>
        </p:nvPicPr>
        <p:blipFill>
          <a:blip r:embed="rId2"/>
          <a:stretch>
            <a:fillRect/>
          </a:stretch>
        </p:blipFill>
        <p:spPr>
          <a:xfrm>
            <a:off x="995782" y="4333342"/>
            <a:ext cx="294437" cy="294437"/>
          </a:xfrm>
          <a:prstGeom prst="rect">
            <a:avLst/>
          </a:prstGeom>
        </p:spPr>
      </p:pic>
      <p:sp>
        <p:nvSpPr>
          <p:cNvPr id="9" name="Text 5"/>
          <p:cNvSpPr txBox="1"/>
          <p:nvPr/>
        </p:nvSpPr>
        <p:spPr>
          <a:xfrm>
            <a:off x="1600200" y="4160520"/>
            <a:ext cx="2387498" cy="274320"/>
          </a:xfrm>
          <a:prstGeom prst="rect">
            <a:avLst/>
          </a:prstGeom>
          <a:noFill/>
          <a:ln/>
        </p:spPr>
        <p:txBody>
          <a:bodyPr wrap="square" lIns="0" tIns="0" rIns="0" bIns="0" rtlCol="0" anchor="t"/>
          <a:lstStyle/>
          <a:p>
            <a:pPr indent="0" marL="0">
              <a:buNone/>
            </a:pPr>
            <a:r>
              <a:rPr lang="en-US" sz="1200" b="1" dirty="0">
                <a:solidFill>
                  <a:schemeClr val="accent1"/>
                </a:solidFill>
              </a:rPr>
              <a:t>Step 1</a:t>
            </a:r>
            <a:endParaRPr lang="en-US" sz="1200" dirty="0"/>
          </a:p>
        </p:txBody>
      </p:sp>
      <p:sp>
        <p:nvSpPr>
          <p:cNvPr id="10" name="Text 6"/>
          <p:cNvSpPr txBox="1"/>
          <p:nvPr/>
        </p:nvSpPr>
        <p:spPr>
          <a:xfrm>
            <a:off x="1600200" y="4416552"/>
            <a:ext cx="2387498" cy="384048"/>
          </a:xfrm>
          <a:prstGeom prst="rect">
            <a:avLst/>
          </a:prstGeom>
          <a:noFill/>
          <a:ln/>
        </p:spPr>
        <p:txBody>
          <a:bodyPr wrap="square" lIns="0" tIns="0" rIns="0" bIns="0" rtlCol="0" anchor="t"/>
          <a:lstStyle/>
          <a:p>
            <a:pPr indent="0" marL="0">
              <a:buNone/>
            </a:pPr>
            <a:r>
              <a:rPr lang="en-US" sz="1900" b="1" dirty="0">
                <a:solidFill>
                  <a:schemeClr val="tx2"/>
                </a:solidFill>
              </a:rPr>
              <a:t>Technical fidelity</a:t>
            </a:r>
            <a:endParaRPr lang="en-US" sz="1900" dirty="0"/>
          </a:p>
        </p:txBody>
      </p:sp>
      <p:sp>
        <p:nvSpPr>
          <p:cNvPr id="11" name="Text 7"/>
          <p:cNvSpPr txBox="1"/>
          <p:nvPr/>
        </p:nvSpPr>
        <p:spPr>
          <a:xfrm>
            <a:off x="822960" y="4910328"/>
            <a:ext cx="3027578" cy="594360"/>
          </a:xfrm>
          <a:prstGeom prst="rect">
            <a:avLst/>
          </a:prstGeom>
          <a:noFill/>
          <a:ln/>
        </p:spPr>
        <p:txBody>
          <a:bodyPr wrap="square" lIns="0" tIns="0" rIns="0" bIns="0" rtlCol="0" anchor="t"/>
          <a:lstStyle/>
          <a:p>
            <a:pPr indent="0" marL="0">
              <a:buNone/>
            </a:pPr>
            <a:r>
              <a:rPr lang="en-US" sz="1400" dirty="0">
                <a:solidFill>
                  <a:schemeClr val="tx1"/>
                </a:solidFill>
              </a:rPr>
              <a:t>Activity and dose agreement; uncertainty that matches observed error</a:t>
            </a:r>
            <a:endParaRPr lang="en-US" sz="1400" dirty="0"/>
          </a:p>
        </p:txBody>
      </p:sp>
      <p:sp>
        <p:nvSpPr>
          <p:cNvPr id="12" name="Shape 8"/>
          <p:cNvSpPr/>
          <p:nvPr/>
        </p:nvSpPr>
        <p:spPr>
          <a:xfrm>
            <a:off x="4307738" y="3017520"/>
            <a:ext cx="3576218" cy="2514600"/>
          </a:xfrm>
          <a:prstGeom prst="roundRect">
            <a:avLst>
              <a:gd name="adj" fmla="val 2909"/>
            </a:avLst>
          </a:prstGeom>
          <a:solidFill>
            <a:schemeClr val="accent3">
              <a:alpha val="14000"/>
            </a:schemeClr>
          </a:solidFill>
          <a:ln/>
        </p:spPr>
      </p:sp>
      <p:sp>
        <p:nvSpPr>
          <p:cNvPr id="13" name="Shape 9"/>
          <p:cNvSpPr/>
          <p:nvPr/>
        </p:nvSpPr>
        <p:spPr>
          <a:xfrm>
            <a:off x="4582058" y="3291840"/>
            <a:ext cx="640080" cy="640080"/>
          </a:xfrm>
          <a:prstGeom prst="ellipse">
            <a:avLst/>
          </a:prstGeom>
          <a:solidFill>
            <a:schemeClr val="accent3"/>
          </a:solidFill>
          <a:ln/>
        </p:spPr>
      </p:sp>
      <p:pic>
        <p:nvPicPr>
          <p:cNvPr id="14" name="Image 2" descr="preencoded.png">    </p:cNvPr>
          <p:cNvPicPr>
            <a:picLocks noChangeAspect="1"/>
          </p:cNvPicPr>
          <p:nvPr/>
        </p:nvPicPr>
        <p:blipFill>
          <a:blip r:embed="rId3"/>
          <a:stretch>
            <a:fillRect/>
          </a:stretch>
        </p:blipFill>
        <p:spPr>
          <a:xfrm>
            <a:off x="4754880" y="3464662"/>
            <a:ext cx="294437" cy="294437"/>
          </a:xfrm>
          <a:prstGeom prst="rect">
            <a:avLst/>
          </a:prstGeom>
        </p:spPr>
      </p:pic>
      <p:sp>
        <p:nvSpPr>
          <p:cNvPr id="15" name="Text 10"/>
          <p:cNvSpPr txBox="1"/>
          <p:nvPr/>
        </p:nvSpPr>
        <p:spPr>
          <a:xfrm>
            <a:off x="5359298" y="3291840"/>
            <a:ext cx="2387498" cy="274320"/>
          </a:xfrm>
          <a:prstGeom prst="rect">
            <a:avLst/>
          </a:prstGeom>
          <a:noFill/>
          <a:ln/>
        </p:spPr>
        <p:txBody>
          <a:bodyPr wrap="square" lIns="0" tIns="0" rIns="0" bIns="0" rtlCol="0" anchor="t"/>
          <a:lstStyle/>
          <a:p>
            <a:pPr indent="0" marL="0">
              <a:buNone/>
            </a:pPr>
            <a:r>
              <a:rPr lang="en-US" sz="1200" b="1" dirty="0">
                <a:solidFill>
                  <a:schemeClr val="accent3"/>
                </a:solidFill>
              </a:rPr>
              <a:t>Step 2</a:t>
            </a:r>
            <a:endParaRPr lang="en-US" sz="1200" dirty="0"/>
          </a:p>
        </p:txBody>
      </p:sp>
      <p:sp>
        <p:nvSpPr>
          <p:cNvPr id="16" name="Text 11"/>
          <p:cNvSpPr txBox="1"/>
          <p:nvPr/>
        </p:nvSpPr>
        <p:spPr>
          <a:xfrm>
            <a:off x="5359298" y="3547872"/>
            <a:ext cx="2387498" cy="384048"/>
          </a:xfrm>
          <a:prstGeom prst="rect">
            <a:avLst/>
          </a:prstGeom>
          <a:noFill/>
          <a:ln/>
        </p:spPr>
        <p:txBody>
          <a:bodyPr wrap="square" lIns="0" tIns="0" rIns="0" bIns="0" rtlCol="0" anchor="t"/>
          <a:lstStyle/>
          <a:p>
            <a:pPr indent="0" marL="0">
              <a:buNone/>
            </a:pPr>
            <a:r>
              <a:rPr lang="en-US" sz="1900" b="1" dirty="0">
                <a:solidFill>
                  <a:schemeClr val="tx2"/>
                </a:solidFill>
              </a:rPr>
              <a:t>External testing</a:t>
            </a:r>
            <a:endParaRPr lang="en-US" sz="1900" dirty="0"/>
          </a:p>
        </p:txBody>
      </p:sp>
      <p:sp>
        <p:nvSpPr>
          <p:cNvPr id="17" name="Text 12"/>
          <p:cNvSpPr txBox="1"/>
          <p:nvPr/>
        </p:nvSpPr>
        <p:spPr>
          <a:xfrm>
            <a:off x="4582058" y="4041648"/>
            <a:ext cx="3027578" cy="594360"/>
          </a:xfrm>
          <a:prstGeom prst="rect">
            <a:avLst/>
          </a:prstGeom>
          <a:noFill/>
          <a:ln/>
        </p:spPr>
        <p:txBody>
          <a:bodyPr wrap="square" lIns="0" tIns="0" rIns="0" bIns="0" rtlCol="0" anchor="t"/>
          <a:lstStyle/>
          <a:p>
            <a:pPr indent="0" marL="0">
              <a:buNone/>
            </a:pPr>
            <a:r>
              <a:rPr lang="en-US" sz="1400" dirty="0">
                <a:solidFill>
                  <a:schemeClr val="tx1"/>
                </a:solidFill>
              </a:rPr>
              <a:t>Held-out site, scanner or time period; calibration and dataset shift</a:t>
            </a:r>
            <a:endParaRPr lang="en-US" sz="1400" dirty="0"/>
          </a:p>
        </p:txBody>
      </p:sp>
      <p:sp>
        <p:nvSpPr>
          <p:cNvPr id="18" name="Text 13"/>
          <p:cNvSpPr txBox="1"/>
          <p:nvPr/>
        </p:nvSpPr>
        <p:spPr>
          <a:xfrm>
            <a:off x="4582058" y="4709160"/>
            <a:ext cx="3027578" cy="457200"/>
          </a:xfrm>
          <a:prstGeom prst="rect">
            <a:avLst/>
          </a:prstGeom>
          <a:noFill/>
          <a:ln/>
        </p:spPr>
        <p:txBody>
          <a:bodyPr wrap="square" lIns="0" tIns="0" rIns="0" bIns="0" rtlCol="0" anchor="t"/>
          <a:lstStyle/>
          <a:p>
            <a:pPr indent="0" marL="0">
              <a:buNone/>
            </a:pPr>
            <a:r>
              <a:rPr lang="en-US" sz="1300" i="1" dirty="0">
                <a:solidFill>
                  <a:schemeClr val="accent6"/>
                </a:solidFill>
              </a:rPr>
              <a:t>Reference: independent cohorts</a:t>
            </a:r>
            <a:endParaRPr lang="en-US" sz="1300" dirty="0"/>
          </a:p>
        </p:txBody>
      </p:sp>
      <p:sp>
        <p:nvSpPr>
          <p:cNvPr id="19" name="Shape 14"/>
          <p:cNvSpPr/>
          <p:nvPr/>
        </p:nvSpPr>
        <p:spPr>
          <a:xfrm>
            <a:off x="8066837" y="2148840"/>
            <a:ext cx="3576218" cy="3383280"/>
          </a:xfrm>
          <a:prstGeom prst="roundRect">
            <a:avLst>
              <a:gd name="adj" fmla="val 2162"/>
            </a:avLst>
          </a:prstGeom>
          <a:solidFill>
            <a:schemeClr val="accent2">
              <a:alpha val="14000"/>
            </a:schemeClr>
          </a:solidFill>
          <a:ln/>
        </p:spPr>
      </p:sp>
      <p:sp>
        <p:nvSpPr>
          <p:cNvPr id="20" name="Shape 15"/>
          <p:cNvSpPr/>
          <p:nvPr/>
        </p:nvSpPr>
        <p:spPr>
          <a:xfrm>
            <a:off x="8341157" y="2423160"/>
            <a:ext cx="640080" cy="640080"/>
          </a:xfrm>
          <a:prstGeom prst="ellipse">
            <a:avLst/>
          </a:prstGeom>
          <a:solidFill>
            <a:schemeClr val="accent2"/>
          </a:solidFill>
          <a:ln/>
        </p:spPr>
      </p:sp>
      <p:pic>
        <p:nvPicPr>
          <p:cNvPr id="21" name="Image 3" descr="preencoded.png">    </p:cNvPr>
          <p:cNvPicPr>
            <a:picLocks noChangeAspect="1"/>
          </p:cNvPicPr>
          <p:nvPr/>
        </p:nvPicPr>
        <p:blipFill>
          <a:blip r:embed="rId4"/>
          <a:stretch>
            <a:fillRect/>
          </a:stretch>
        </p:blipFill>
        <p:spPr>
          <a:xfrm>
            <a:off x="8513978" y="2595982"/>
            <a:ext cx="294437" cy="294437"/>
          </a:xfrm>
          <a:prstGeom prst="rect">
            <a:avLst/>
          </a:prstGeom>
        </p:spPr>
      </p:pic>
      <p:sp>
        <p:nvSpPr>
          <p:cNvPr id="22" name="Text 16"/>
          <p:cNvSpPr txBox="1"/>
          <p:nvPr/>
        </p:nvSpPr>
        <p:spPr>
          <a:xfrm>
            <a:off x="9118397" y="2423160"/>
            <a:ext cx="2387498" cy="274320"/>
          </a:xfrm>
          <a:prstGeom prst="rect">
            <a:avLst/>
          </a:prstGeom>
          <a:noFill/>
          <a:ln/>
        </p:spPr>
        <p:txBody>
          <a:bodyPr wrap="square" lIns="0" tIns="0" rIns="0" bIns="0" rtlCol="0" anchor="t"/>
          <a:lstStyle/>
          <a:p>
            <a:pPr indent="0" marL="0">
              <a:buNone/>
            </a:pPr>
            <a:r>
              <a:rPr lang="en-US" sz="1200" b="1" dirty="0">
                <a:solidFill>
                  <a:schemeClr val="accent2"/>
                </a:solidFill>
              </a:rPr>
              <a:t>Step 3</a:t>
            </a:r>
            <a:endParaRPr lang="en-US" sz="1200" dirty="0"/>
          </a:p>
        </p:txBody>
      </p:sp>
      <p:sp>
        <p:nvSpPr>
          <p:cNvPr id="23" name="Text 17"/>
          <p:cNvSpPr txBox="1"/>
          <p:nvPr/>
        </p:nvSpPr>
        <p:spPr>
          <a:xfrm>
            <a:off x="9118397" y="2679192"/>
            <a:ext cx="2387498" cy="384048"/>
          </a:xfrm>
          <a:prstGeom prst="rect">
            <a:avLst/>
          </a:prstGeom>
          <a:noFill/>
          <a:ln/>
        </p:spPr>
        <p:txBody>
          <a:bodyPr wrap="square" lIns="0" tIns="0" rIns="0" bIns="0" rtlCol="0" anchor="t"/>
          <a:lstStyle/>
          <a:p>
            <a:pPr indent="0" marL="0">
              <a:buNone/>
            </a:pPr>
            <a:r>
              <a:rPr lang="en-US" sz="1900" b="1" dirty="0">
                <a:solidFill>
                  <a:schemeClr val="tx2"/>
                </a:solidFill>
              </a:rPr>
              <a:t>Prospective evaluation</a:t>
            </a:r>
            <a:endParaRPr lang="en-US" sz="1900" dirty="0"/>
          </a:p>
        </p:txBody>
      </p:sp>
      <p:sp>
        <p:nvSpPr>
          <p:cNvPr id="24" name="Text 18"/>
          <p:cNvSpPr txBox="1"/>
          <p:nvPr/>
        </p:nvSpPr>
        <p:spPr>
          <a:xfrm>
            <a:off x="8341157" y="3172968"/>
            <a:ext cx="3027578" cy="594360"/>
          </a:xfrm>
          <a:prstGeom prst="rect">
            <a:avLst/>
          </a:prstGeom>
          <a:noFill/>
          <a:ln/>
        </p:spPr>
        <p:txBody>
          <a:bodyPr wrap="square" lIns="0" tIns="0" rIns="0" bIns="0" rtlCol="0" anchor="t"/>
          <a:lstStyle/>
          <a:p>
            <a:pPr indent="0" marL="0">
              <a:buNone/>
            </a:pPr>
            <a:r>
              <a:rPr lang="en-US" sz="1400" dirty="0">
                <a:solidFill>
                  <a:schemeClr val="tx1"/>
                </a:solidFill>
              </a:rPr>
              <a:t>Silent workflow testing, then clinician-reviewed decision support</a:t>
            </a:r>
            <a:endParaRPr lang="en-US" sz="1400" dirty="0"/>
          </a:p>
        </p:txBody>
      </p:sp>
      <p:sp>
        <p:nvSpPr>
          <p:cNvPr id="25" name="Text 19"/>
          <p:cNvSpPr txBox="1"/>
          <p:nvPr/>
        </p:nvSpPr>
        <p:spPr>
          <a:xfrm>
            <a:off x="8341157" y="3840480"/>
            <a:ext cx="3027578" cy="457200"/>
          </a:xfrm>
          <a:prstGeom prst="rect">
            <a:avLst/>
          </a:prstGeom>
          <a:noFill/>
          <a:ln/>
        </p:spPr>
        <p:txBody>
          <a:bodyPr wrap="square" lIns="0" tIns="0" rIns="0" bIns="0" rtlCol="0" anchor="t"/>
          <a:lstStyle/>
          <a:p>
            <a:pPr indent="0" marL="0">
              <a:buNone/>
            </a:pPr>
            <a:r>
              <a:rPr lang="en-US" sz="1300" i="1" dirty="0">
                <a:solidFill>
                  <a:schemeClr val="accent6"/>
                </a:solidFill>
              </a:rPr>
              <a:t>Reference: observed response and toxicity</a:t>
            </a:r>
            <a:endParaRPr lang="en-US" sz="1300" dirty="0"/>
          </a:p>
        </p:txBody>
      </p:sp>
      <p:sp>
        <p:nvSpPr>
          <p:cNvPr id="26" name="Shape 20"/>
          <p:cNvSpPr/>
          <p:nvPr/>
        </p:nvSpPr>
        <p:spPr>
          <a:xfrm>
            <a:off x="548640" y="5715000"/>
            <a:ext cx="11094415" cy="502920"/>
          </a:xfrm>
          <a:prstGeom prst="roundRect">
            <a:avLst>
              <a:gd name="adj" fmla="val 14545"/>
            </a:avLst>
          </a:prstGeom>
          <a:solidFill>
            <a:schemeClr val="tx2"/>
          </a:solidFill>
          <a:ln/>
        </p:spPr>
      </p:sp>
      <p:sp>
        <p:nvSpPr>
          <p:cNvPr id="27" name="Text 21"/>
          <p:cNvSpPr txBox="1"/>
          <p:nvPr/>
        </p:nvSpPr>
        <p:spPr>
          <a:xfrm>
            <a:off x="822960" y="5715000"/>
            <a:ext cx="10545775" cy="502920"/>
          </a:xfrm>
          <a:prstGeom prst="rect">
            <a:avLst/>
          </a:prstGeom>
          <a:noFill/>
          <a:ln/>
        </p:spPr>
        <p:txBody>
          <a:bodyPr wrap="square" lIns="0" tIns="0" rIns="0" bIns="0" rtlCol="0" anchor="ctr"/>
          <a:lstStyle/>
          <a:p>
            <a:pPr indent="0" marL="0">
              <a:buNone/>
            </a:pPr>
            <a:r>
              <a:rPr lang="en-US" sz="1500" b="1" dirty="0">
                <a:solidFill>
                  <a:schemeClr val="bg1"/>
                </a:solidFill>
              </a:rPr>
              <a:t>Human review, explicit uncertainty and simple comparators at every stage</a:t>
            </a:r>
            <a:endParaRPr lang="en-US" sz="1500" dirty="0"/>
          </a:p>
        </p:txBody>
      </p:sp>
      <p:sp>
        <p:nvSpPr>
          <p:cNvPr id="29" name="Text 0"/>
          <p:cNvSpPr/>
          <p:nvPr>
            <p:ph idx="101" type="body" hasCustomPrompt="1"/>
          </p:nvPr>
        </p:nvSpPr>
        <p:spPr>
          <a:xfrm>
            <a:off x="548640" y="1051560"/>
            <a:ext cx="11094415" cy="411480"/>
          </a:xfrm>
          <a:prstGeom prst="rect">
            <a:avLst/>
          </a:prstGeom>
          <a:noFill/>
          <a:ln/>
        </p:spPr>
        <p:txBody>
          <a:bodyPr wrap="square" lIns="0" tIns="0" rIns="0" bIns="0" rtlCol="0" anchor="t"/>
          <a:lstStyle/>
          <a:p>
            <a:pPr indent="0" marL="0">
              <a:buNone/>
            </a:pP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640080"/>
          </a:xfrm>
          <a:prstGeom prst="rect">
            <a:avLst/>
          </a:prstGeom>
          <a:noFill/>
          <a:ln/>
        </p:spPr>
        <p:txBody>
          <a:bodyPr wrap="square" lIns="0" tIns="0" rIns="0" bIns="0" rtlCol="0" anchor="ctr"/>
          <a:lstStyle/>
          <a:p>
            <a:pPr algn="l" indent="0" marL="0">
              <a:buNone/>
            </a:pPr>
            <a:r>
              <a:rPr lang="en-US" sz="3400" b="1" dirty="0">
                <a:solidFill>
                  <a:schemeClr val="tx2"/>
                </a:solidFill>
              </a:rPr>
              <a:t>A staged five-year research program</a:t>
            </a:r>
            <a:endParaRPr lang="en-US" sz="3400" dirty="0"/>
          </a:p>
        </p:txBody>
      </p:sp>
      <p:sp>
        <p:nvSpPr>
          <p:cNvPr id="3" name="Text 0"/>
          <p:cNvSpPr/>
          <p:nvPr>
            <p:ph idx="101" type="body" hasCustomPrompt="1"/>
          </p:nvPr>
        </p:nvSpPr>
        <p:spPr>
          <a:xfrm>
            <a:off x="548640" y="1051560"/>
            <a:ext cx="11094415" cy="411480"/>
          </a:xfrm>
          <a:prstGeom prst="rect">
            <a:avLst/>
          </a:prstGeom>
          <a:noFill/>
          <a:ln/>
        </p:spPr>
        <p:txBody>
          <a:bodyPr wrap="square" lIns="0" tIns="0" rIns="0" bIns="0" rtlCol="0" anchor="t"/>
          <a:lstStyle/>
          <a:p>
            <a:pPr indent="0" marL="0">
              <a:buNone/>
            </a:pPr>
            <a:r>
              <a:rPr lang="en-US" sz="1600" dirty="0">
                <a:solidFill>
                  <a:schemeClr val="accent6"/>
                </a:solidFill>
              </a:rPr>
              <a:t>Overlapping workstreams with evidence gates; expansion follows validated results</a:t>
            </a:r>
            <a:endParaRPr lang="en-US" sz="1600" dirty="0"/>
          </a:p>
        </p:txBody>
      </p:sp>
      <p:sp>
        <p:nvSpPr>
          <p:cNvPr id="4" name="Text 2"/>
          <p:cNvSpPr txBox="1"/>
          <p:nvPr/>
        </p:nvSpPr>
        <p:spPr>
          <a:xfrm>
            <a:off x="548640" y="164592"/>
            <a:ext cx="7315200" cy="256032"/>
          </a:xfrm>
          <a:prstGeom prst="rect">
            <a:avLst/>
          </a:prstGeom>
          <a:noFill/>
          <a:ln/>
        </p:spPr>
        <p:txBody>
          <a:bodyPr wrap="square" lIns="0" tIns="0" rIns="0" bIns="0" rtlCol="0" anchor="t"/>
          <a:lstStyle/>
          <a:p>
            <a:pPr indent="0" marL="0">
              <a:buNone/>
            </a:pPr>
            <a:r>
              <a:rPr lang="en-US" sz="1200" b="1" spc="150" kern="0" dirty="0">
                <a:solidFill>
                  <a:schemeClr val="accent1"/>
                </a:solidFill>
              </a:rPr>
              <a:t>PROPOSED DELIVERY PLAN</a:t>
            </a:r>
            <a:endParaRPr lang="en-US" sz="1200" dirty="0"/>
          </a:p>
        </p:txBody>
      </p:sp>
      <p:sp>
        <p:nvSpPr>
          <p:cNvPr id="5" name="Shape 3"/>
          <p:cNvSpPr/>
          <p:nvPr/>
        </p:nvSpPr>
        <p:spPr>
          <a:xfrm>
            <a:off x="3063240" y="1965960"/>
            <a:ext cx="0" cy="3383280"/>
          </a:xfrm>
          <a:prstGeom prst="line">
            <a:avLst/>
          </a:prstGeom>
          <a:noFill/>
          <a:ln w="12700">
            <a:solidFill>
              <a:srgbClr val="E5E7EB"/>
            </a:solidFill>
            <a:prstDash val="solid"/>
          </a:ln>
        </p:spPr>
      </p:sp>
      <p:sp>
        <p:nvSpPr>
          <p:cNvPr id="6" name="Shape 4"/>
          <p:cNvSpPr/>
          <p:nvPr/>
        </p:nvSpPr>
        <p:spPr>
          <a:xfrm>
            <a:off x="4779203" y="1965960"/>
            <a:ext cx="0" cy="3383280"/>
          </a:xfrm>
          <a:prstGeom prst="line">
            <a:avLst/>
          </a:prstGeom>
          <a:noFill/>
          <a:ln w="12700">
            <a:solidFill>
              <a:srgbClr val="E5E7EB"/>
            </a:solidFill>
            <a:prstDash val="solid"/>
          </a:ln>
        </p:spPr>
      </p:sp>
      <p:sp>
        <p:nvSpPr>
          <p:cNvPr id="7" name="Shape 5"/>
          <p:cNvSpPr/>
          <p:nvPr/>
        </p:nvSpPr>
        <p:spPr>
          <a:xfrm>
            <a:off x="6495166" y="1965960"/>
            <a:ext cx="0" cy="3383280"/>
          </a:xfrm>
          <a:prstGeom prst="line">
            <a:avLst/>
          </a:prstGeom>
          <a:noFill/>
          <a:ln w="12700">
            <a:solidFill>
              <a:srgbClr val="E5E7EB"/>
            </a:solidFill>
            <a:prstDash val="solid"/>
          </a:ln>
        </p:spPr>
      </p:sp>
      <p:sp>
        <p:nvSpPr>
          <p:cNvPr id="8" name="Shape 6"/>
          <p:cNvSpPr/>
          <p:nvPr/>
        </p:nvSpPr>
        <p:spPr>
          <a:xfrm>
            <a:off x="8211129" y="1965960"/>
            <a:ext cx="0" cy="3383280"/>
          </a:xfrm>
          <a:prstGeom prst="line">
            <a:avLst/>
          </a:prstGeom>
          <a:noFill/>
          <a:ln w="12700">
            <a:solidFill>
              <a:srgbClr val="E5E7EB"/>
            </a:solidFill>
            <a:prstDash val="solid"/>
          </a:ln>
        </p:spPr>
      </p:sp>
      <p:sp>
        <p:nvSpPr>
          <p:cNvPr id="9" name="Shape 7"/>
          <p:cNvSpPr/>
          <p:nvPr/>
        </p:nvSpPr>
        <p:spPr>
          <a:xfrm>
            <a:off x="9927092" y="1965960"/>
            <a:ext cx="0" cy="3383280"/>
          </a:xfrm>
          <a:prstGeom prst="line">
            <a:avLst/>
          </a:prstGeom>
          <a:noFill/>
          <a:ln w="12700">
            <a:solidFill>
              <a:srgbClr val="E5E7EB"/>
            </a:solidFill>
            <a:prstDash val="solid"/>
          </a:ln>
        </p:spPr>
      </p:sp>
      <p:sp>
        <p:nvSpPr>
          <p:cNvPr id="10" name="Shape 8"/>
          <p:cNvSpPr/>
          <p:nvPr/>
        </p:nvSpPr>
        <p:spPr>
          <a:xfrm>
            <a:off x="11643055" y="1965960"/>
            <a:ext cx="0" cy="3383280"/>
          </a:xfrm>
          <a:prstGeom prst="line">
            <a:avLst/>
          </a:prstGeom>
          <a:noFill/>
          <a:ln w="12700">
            <a:solidFill>
              <a:srgbClr val="E5E7EB"/>
            </a:solidFill>
            <a:prstDash val="solid"/>
          </a:ln>
        </p:spPr>
      </p:sp>
      <p:sp>
        <p:nvSpPr>
          <p:cNvPr id="11" name="Text 9"/>
          <p:cNvSpPr txBox="1"/>
          <p:nvPr/>
        </p:nvSpPr>
        <p:spPr>
          <a:xfrm>
            <a:off x="3063240" y="1645920"/>
            <a:ext cx="1715963" cy="274320"/>
          </a:xfrm>
          <a:prstGeom prst="rect">
            <a:avLst/>
          </a:prstGeom>
          <a:noFill/>
          <a:ln/>
        </p:spPr>
        <p:txBody>
          <a:bodyPr wrap="square" lIns="0" tIns="0" rIns="0" bIns="0" rtlCol="0" anchor="t"/>
          <a:lstStyle/>
          <a:p>
            <a:pPr algn="ctr" indent="0" marL="0">
              <a:buNone/>
            </a:pPr>
            <a:r>
              <a:rPr lang="en-US" sz="1300" b="1" dirty="0">
                <a:solidFill>
                  <a:schemeClr val="accent6"/>
                </a:solidFill>
              </a:rPr>
              <a:t>Year 1</a:t>
            </a:r>
            <a:endParaRPr lang="en-US" sz="1300" dirty="0"/>
          </a:p>
        </p:txBody>
      </p:sp>
      <p:sp>
        <p:nvSpPr>
          <p:cNvPr id="12" name="Text 10"/>
          <p:cNvSpPr txBox="1"/>
          <p:nvPr/>
        </p:nvSpPr>
        <p:spPr>
          <a:xfrm>
            <a:off x="4779203" y="1645920"/>
            <a:ext cx="1715963" cy="274320"/>
          </a:xfrm>
          <a:prstGeom prst="rect">
            <a:avLst/>
          </a:prstGeom>
          <a:noFill/>
          <a:ln/>
        </p:spPr>
        <p:txBody>
          <a:bodyPr wrap="square" lIns="0" tIns="0" rIns="0" bIns="0" rtlCol="0" anchor="t"/>
          <a:lstStyle/>
          <a:p>
            <a:pPr algn="ctr" indent="0" marL="0">
              <a:buNone/>
            </a:pPr>
            <a:r>
              <a:rPr lang="en-US" sz="1300" b="1" dirty="0">
                <a:solidFill>
                  <a:schemeClr val="accent6"/>
                </a:solidFill>
              </a:rPr>
              <a:t>Year 2</a:t>
            </a:r>
            <a:endParaRPr lang="en-US" sz="1300" dirty="0"/>
          </a:p>
        </p:txBody>
      </p:sp>
      <p:sp>
        <p:nvSpPr>
          <p:cNvPr id="13" name="Text 11"/>
          <p:cNvSpPr txBox="1"/>
          <p:nvPr/>
        </p:nvSpPr>
        <p:spPr>
          <a:xfrm>
            <a:off x="6495166" y="1645920"/>
            <a:ext cx="1715963" cy="274320"/>
          </a:xfrm>
          <a:prstGeom prst="rect">
            <a:avLst/>
          </a:prstGeom>
          <a:noFill/>
          <a:ln/>
        </p:spPr>
        <p:txBody>
          <a:bodyPr wrap="square" lIns="0" tIns="0" rIns="0" bIns="0" rtlCol="0" anchor="t"/>
          <a:lstStyle/>
          <a:p>
            <a:pPr algn="ctr" indent="0" marL="0">
              <a:buNone/>
            </a:pPr>
            <a:r>
              <a:rPr lang="en-US" sz="1300" b="1" dirty="0">
                <a:solidFill>
                  <a:schemeClr val="accent6"/>
                </a:solidFill>
              </a:rPr>
              <a:t>Year 3</a:t>
            </a:r>
            <a:endParaRPr lang="en-US" sz="1300" dirty="0"/>
          </a:p>
        </p:txBody>
      </p:sp>
      <p:sp>
        <p:nvSpPr>
          <p:cNvPr id="14" name="Text 12"/>
          <p:cNvSpPr txBox="1"/>
          <p:nvPr/>
        </p:nvSpPr>
        <p:spPr>
          <a:xfrm>
            <a:off x="8211129" y="1645920"/>
            <a:ext cx="1715963" cy="274320"/>
          </a:xfrm>
          <a:prstGeom prst="rect">
            <a:avLst/>
          </a:prstGeom>
          <a:noFill/>
          <a:ln/>
        </p:spPr>
        <p:txBody>
          <a:bodyPr wrap="square" lIns="0" tIns="0" rIns="0" bIns="0" rtlCol="0" anchor="t"/>
          <a:lstStyle/>
          <a:p>
            <a:pPr algn="ctr" indent="0" marL="0">
              <a:buNone/>
            </a:pPr>
            <a:r>
              <a:rPr lang="en-US" sz="1300" b="1" dirty="0">
                <a:solidFill>
                  <a:schemeClr val="accent6"/>
                </a:solidFill>
              </a:rPr>
              <a:t>Year 4</a:t>
            </a:r>
            <a:endParaRPr lang="en-US" sz="1300" dirty="0"/>
          </a:p>
        </p:txBody>
      </p:sp>
      <p:sp>
        <p:nvSpPr>
          <p:cNvPr id="15" name="Text 13"/>
          <p:cNvSpPr txBox="1"/>
          <p:nvPr/>
        </p:nvSpPr>
        <p:spPr>
          <a:xfrm>
            <a:off x="9927092" y="1645920"/>
            <a:ext cx="1715963" cy="274320"/>
          </a:xfrm>
          <a:prstGeom prst="rect">
            <a:avLst/>
          </a:prstGeom>
          <a:noFill/>
          <a:ln/>
        </p:spPr>
        <p:txBody>
          <a:bodyPr wrap="square" lIns="0" tIns="0" rIns="0" bIns="0" rtlCol="0" anchor="t"/>
          <a:lstStyle/>
          <a:p>
            <a:pPr algn="ctr" indent="0" marL="0">
              <a:buNone/>
            </a:pPr>
            <a:r>
              <a:rPr lang="en-US" sz="1300" b="1" dirty="0">
                <a:solidFill>
                  <a:schemeClr val="accent6"/>
                </a:solidFill>
              </a:rPr>
              <a:t>Year 5</a:t>
            </a:r>
            <a:endParaRPr lang="en-US" sz="1300" dirty="0"/>
          </a:p>
        </p:txBody>
      </p:sp>
      <p:sp>
        <p:nvSpPr>
          <p:cNvPr id="16" name="Shape 14"/>
          <p:cNvSpPr/>
          <p:nvPr/>
        </p:nvSpPr>
        <p:spPr>
          <a:xfrm>
            <a:off x="548640" y="2194560"/>
            <a:ext cx="502920" cy="502920"/>
          </a:xfrm>
          <a:prstGeom prst="ellipse">
            <a:avLst/>
          </a:prstGeom>
          <a:solidFill>
            <a:schemeClr val="accent1"/>
          </a:solidFill>
          <a:ln/>
        </p:spPr>
      </p:sp>
      <p:pic>
        <p:nvPicPr>
          <p:cNvPr id="17" name="Image 0" descr="preencoded.png">    </p:cNvPr>
          <p:cNvPicPr>
            <a:picLocks noChangeAspect="1"/>
          </p:cNvPicPr>
          <p:nvPr/>
        </p:nvPicPr>
        <p:blipFill>
          <a:blip r:embed="rId1"/>
          <a:stretch>
            <a:fillRect/>
          </a:stretch>
        </p:blipFill>
        <p:spPr>
          <a:xfrm>
            <a:off x="684428" y="2330348"/>
            <a:ext cx="231343" cy="231343"/>
          </a:xfrm>
          <a:prstGeom prst="rect">
            <a:avLst/>
          </a:prstGeom>
        </p:spPr>
      </p:pic>
      <p:sp>
        <p:nvSpPr>
          <p:cNvPr id="18" name="Text 15"/>
          <p:cNvSpPr txBox="1"/>
          <p:nvPr/>
        </p:nvSpPr>
        <p:spPr>
          <a:xfrm>
            <a:off x="1188720" y="2103120"/>
            <a:ext cx="1828800" cy="685800"/>
          </a:xfrm>
          <a:prstGeom prst="rect">
            <a:avLst/>
          </a:prstGeom>
          <a:noFill/>
          <a:ln/>
        </p:spPr>
        <p:txBody>
          <a:bodyPr wrap="square" lIns="0" tIns="0" rIns="0" bIns="0" rtlCol="0" anchor="ctr"/>
          <a:lstStyle/>
          <a:p>
            <a:pPr indent="0" marL="0">
              <a:buNone/>
            </a:pPr>
            <a:r>
              <a:rPr lang="en-US" sz="1500" b="1" dirty="0">
                <a:solidFill>
                  <a:schemeClr val="tx2"/>
                </a:solidFill>
              </a:rPr>
              <a:t>Biomarkers and AI</a:t>
            </a:r>
            <a:endParaRPr lang="en-US" sz="1500" dirty="0"/>
          </a:p>
        </p:txBody>
      </p:sp>
      <p:sp>
        <p:nvSpPr>
          <p:cNvPr id="19" name="Shape 16"/>
          <p:cNvSpPr/>
          <p:nvPr/>
        </p:nvSpPr>
        <p:spPr>
          <a:xfrm>
            <a:off x="3099816" y="2103120"/>
            <a:ext cx="3358774" cy="685800"/>
          </a:xfrm>
          <a:prstGeom prst="roundRect">
            <a:avLst>
              <a:gd name="adj" fmla="val 10667"/>
            </a:avLst>
          </a:prstGeom>
          <a:solidFill>
            <a:schemeClr val="accent1">
              <a:alpha val="50000"/>
            </a:schemeClr>
          </a:solidFill>
          <a:ln/>
        </p:spPr>
      </p:sp>
      <p:sp>
        <p:nvSpPr>
          <p:cNvPr id="20" name="Text 17"/>
          <p:cNvSpPr txBox="1"/>
          <p:nvPr/>
        </p:nvSpPr>
        <p:spPr>
          <a:xfrm>
            <a:off x="3200400" y="2103120"/>
            <a:ext cx="3157606" cy="685800"/>
          </a:xfrm>
          <a:prstGeom prst="rect">
            <a:avLst/>
          </a:prstGeom>
          <a:noFill/>
          <a:ln/>
        </p:spPr>
        <p:txBody>
          <a:bodyPr wrap="square" lIns="0" tIns="0" rIns="0" bIns="0" rtlCol="0" anchor="ctr"/>
          <a:lstStyle/>
          <a:p>
            <a:pPr algn="ctr" indent="0" marL="0">
              <a:buNone/>
            </a:pPr>
            <a:r>
              <a:rPr lang="en-US" sz="1300" b="1" dirty="0">
                <a:solidFill>
                  <a:schemeClr val="tx2"/>
                </a:solidFill>
              </a:rPr>
              <a:t>Data quality · reproducibility</a:t>
            </a:r>
            <a:endParaRPr lang="en-US" sz="1300" dirty="0"/>
          </a:p>
        </p:txBody>
      </p:sp>
      <p:sp>
        <p:nvSpPr>
          <p:cNvPr id="21" name="Shape 18"/>
          <p:cNvSpPr/>
          <p:nvPr/>
        </p:nvSpPr>
        <p:spPr>
          <a:xfrm>
            <a:off x="6531742" y="2103120"/>
            <a:ext cx="1642811" cy="685800"/>
          </a:xfrm>
          <a:prstGeom prst="roundRect">
            <a:avLst>
              <a:gd name="adj" fmla="val 10667"/>
            </a:avLst>
          </a:prstGeom>
          <a:solidFill>
            <a:schemeClr val="accent1">
              <a:alpha val="75000"/>
            </a:schemeClr>
          </a:solidFill>
          <a:ln/>
        </p:spPr>
      </p:sp>
      <p:sp>
        <p:nvSpPr>
          <p:cNvPr id="22" name="Text 19"/>
          <p:cNvSpPr txBox="1"/>
          <p:nvPr/>
        </p:nvSpPr>
        <p:spPr>
          <a:xfrm>
            <a:off x="6632326" y="2103120"/>
            <a:ext cx="1441643" cy="685800"/>
          </a:xfrm>
          <a:prstGeom prst="rect">
            <a:avLst/>
          </a:prstGeom>
          <a:noFill/>
          <a:ln/>
        </p:spPr>
        <p:txBody>
          <a:bodyPr wrap="square" lIns="0" tIns="0" rIns="0" bIns="0" rtlCol="0" anchor="ctr"/>
          <a:lstStyle/>
          <a:p>
            <a:pPr algn="ctr" indent="0" marL="0">
              <a:buNone/>
            </a:pPr>
            <a:r>
              <a:rPr lang="en-US" sz="1300" b="1" dirty="0">
                <a:solidFill>
                  <a:schemeClr val="tx2"/>
                </a:solidFill>
              </a:rPr>
              <a:t>External testing</a:t>
            </a:r>
            <a:endParaRPr lang="en-US" sz="1300" dirty="0"/>
          </a:p>
        </p:txBody>
      </p:sp>
      <p:sp>
        <p:nvSpPr>
          <p:cNvPr id="23" name="Shape 20"/>
          <p:cNvSpPr/>
          <p:nvPr/>
        </p:nvSpPr>
        <p:spPr>
          <a:xfrm>
            <a:off x="8247705" y="2103120"/>
            <a:ext cx="3358774" cy="685800"/>
          </a:xfrm>
          <a:prstGeom prst="roundRect">
            <a:avLst>
              <a:gd name="adj" fmla="val 10667"/>
            </a:avLst>
          </a:prstGeom>
          <a:solidFill>
            <a:schemeClr val="accent1"/>
          </a:solidFill>
          <a:ln/>
        </p:spPr>
      </p:sp>
      <p:sp>
        <p:nvSpPr>
          <p:cNvPr id="24" name="Text 21"/>
          <p:cNvSpPr txBox="1"/>
          <p:nvPr/>
        </p:nvSpPr>
        <p:spPr>
          <a:xfrm>
            <a:off x="8348289" y="2103120"/>
            <a:ext cx="3157606" cy="685800"/>
          </a:xfrm>
          <a:prstGeom prst="rect">
            <a:avLst/>
          </a:prstGeom>
          <a:noFill/>
          <a:ln/>
        </p:spPr>
        <p:txBody>
          <a:bodyPr wrap="square" lIns="0" tIns="0" rIns="0" bIns="0" rtlCol="0" anchor="ctr"/>
          <a:lstStyle/>
          <a:p>
            <a:pPr algn="ctr" indent="0" marL="0">
              <a:buNone/>
            </a:pPr>
            <a:r>
              <a:rPr lang="en-US" sz="1300" b="1" dirty="0">
                <a:solidFill>
                  <a:schemeClr val="bg1"/>
                </a:solidFill>
              </a:rPr>
              <a:t>Prospective workflow</a:t>
            </a:r>
            <a:endParaRPr lang="en-US" sz="1300" dirty="0"/>
          </a:p>
        </p:txBody>
      </p:sp>
      <p:sp>
        <p:nvSpPr>
          <p:cNvPr id="25" name="Shape 22"/>
          <p:cNvSpPr/>
          <p:nvPr/>
        </p:nvSpPr>
        <p:spPr>
          <a:xfrm>
            <a:off x="548640" y="2999232"/>
            <a:ext cx="502920" cy="502920"/>
          </a:xfrm>
          <a:prstGeom prst="ellipse">
            <a:avLst/>
          </a:prstGeom>
          <a:solidFill>
            <a:schemeClr val="accent3"/>
          </a:solidFill>
          <a:ln/>
        </p:spPr>
      </p:sp>
      <p:pic>
        <p:nvPicPr>
          <p:cNvPr id="26" name="Image 1" descr="preencoded.png">    </p:cNvPr>
          <p:cNvPicPr>
            <a:picLocks noChangeAspect="1"/>
          </p:cNvPicPr>
          <p:nvPr/>
        </p:nvPicPr>
        <p:blipFill>
          <a:blip r:embed="rId2"/>
          <a:stretch>
            <a:fillRect/>
          </a:stretch>
        </p:blipFill>
        <p:spPr>
          <a:xfrm>
            <a:off x="684428" y="3135020"/>
            <a:ext cx="231343" cy="231343"/>
          </a:xfrm>
          <a:prstGeom prst="rect">
            <a:avLst/>
          </a:prstGeom>
        </p:spPr>
      </p:pic>
      <p:sp>
        <p:nvSpPr>
          <p:cNvPr id="27" name="Text 23"/>
          <p:cNvSpPr txBox="1"/>
          <p:nvPr/>
        </p:nvSpPr>
        <p:spPr>
          <a:xfrm>
            <a:off x="1188720" y="2907792"/>
            <a:ext cx="1828800" cy="685800"/>
          </a:xfrm>
          <a:prstGeom prst="rect">
            <a:avLst/>
          </a:prstGeom>
          <a:noFill/>
          <a:ln/>
        </p:spPr>
        <p:txBody>
          <a:bodyPr wrap="square" lIns="0" tIns="0" rIns="0" bIns="0" rtlCol="0" anchor="ctr"/>
          <a:lstStyle/>
          <a:p>
            <a:pPr indent="0" marL="0">
              <a:buNone/>
            </a:pPr>
            <a:r>
              <a:rPr lang="en-US" sz="1500" b="1" dirty="0">
                <a:solidFill>
                  <a:schemeClr val="tx2"/>
                </a:solidFill>
              </a:rPr>
              <a:t>Digital twins</a:t>
            </a:r>
            <a:endParaRPr lang="en-US" sz="1500" dirty="0"/>
          </a:p>
        </p:txBody>
      </p:sp>
      <p:sp>
        <p:nvSpPr>
          <p:cNvPr id="28" name="Shape 24"/>
          <p:cNvSpPr/>
          <p:nvPr/>
        </p:nvSpPr>
        <p:spPr>
          <a:xfrm>
            <a:off x="3099816" y="2907792"/>
            <a:ext cx="3358774" cy="685800"/>
          </a:xfrm>
          <a:prstGeom prst="roundRect">
            <a:avLst>
              <a:gd name="adj" fmla="val 10667"/>
            </a:avLst>
          </a:prstGeom>
          <a:solidFill>
            <a:schemeClr val="accent3">
              <a:alpha val="50000"/>
            </a:schemeClr>
          </a:solidFill>
          <a:ln/>
        </p:spPr>
      </p:sp>
      <p:sp>
        <p:nvSpPr>
          <p:cNvPr id="29" name="Text 25"/>
          <p:cNvSpPr txBox="1"/>
          <p:nvPr/>
        </p:nvSpPr>
        <p:spPr>
          <a:xfrm>
            <a:off x="3200400" y="2907792"/>
            <a:ext cx="3157606" cy="685800"/>
          </a:xfrm>
          <a:prstGeom prst="rect">
            <a:avLst/>
          </a:prstGeom>
          <a:noFill/>
          <a:ln/>
        </p:spPr>
        <p:txBody>
          <a:bodyPr wrap="square" lIns="0" tIns="0" rIns="0" bIns="0" rtlCol="0" anchor="ctr"/>
          <a:lstStyle/>
          <a:p>
            <a:pPr algn="ctr" indent="0" marL="0">
              <a:buNone/>
            </a:pPr>
            <a:r>
              <a:rPr lang="en-US" sz="1300" b="1" dirty="0">
                <a:solidFill>
                  <a:schemeClr val="tx2"/>
                </a:solidFill>
              </a:rPr>
              <a:t>PBPK and dose models</a:t>
            </a:r>
            <a:endParaRPr lang="en-US" sz="1300" dirty="0"/>
          </a:p>
        </p:txBody>
      </p:sp>
      <p:sp>
        <p:nvSpPr>
          <p:cNvPr id="30" name="Shape 26"/>
          <p:cNvSpPr/>
          <p:nvPr/>
        </p:nvSpPr>
        <p:spPr>
          <a:xfrm>
            <a:off x="6531742" y="2907792"/>
            <a:ext cx="1642811" cy="685800"/>
          </a:xfrm>
          <a:prstGeom prst="roundRect">
            <a:avLst>
              <a:gd name="adj" fmla="val 10667"/>
            </a:avLst>
          </a:prstGeom>
          <a:solidFill>
            <a:schemeClr val="accent3">
              <a:alpha val="75000"/>
            </a:schemeClr>
          </a:solidFill>
          <a:ln/>
        </p:spPr>
      </p:sp>
      <p:sp>
        <p:nvSpPr>
          <p:cNvPr id="31" name="Text 27"/>
          <p:cNvSpPr txBox="1"/>
          <p:nvPr/>
        </p:nvSpPr>
        <p:spPr>
          <a:xfrm>
            <a:off x="6632326" y="2907792"/>
            <a:ext cx="1441643" cy="685800"/>
          </a:xfrm>
          <a:prstGeom prst="rect">
            <a:avLst/>
          </a:prstGeom>
          <a:noFill/>
          <a:ln/>
        </p:spPr>
        <p:txBody>
          <a:bodyPr wrap="square" lIns="0" tIns="0" rIns="0" bIns="0" rtlCol="0" anchor="ctr"/>
          <a:lstStyle/>
          <a:p>
            <a:pPr algn="ctr" indent="0" marL="0">
              <a:buNone/>
            </a:pPr>
            <a:r>
              <a:rPr lang="en-US" sz="1300" b="1" dirty="0">
                <a:solidFill>
                  <a:schemeClr val="tx2"/>
                </a:solidFill>
              </a:rPr>
              <a:t>Patient updates · uncertainty</a:t>
            </a:r>
            <a:endParaRPr lang="en-US" sz="1300" dirty="0"/>
          </a:p>
        </p:txBody>
      </p:sp>
      <p:sp>
        <p:nvSpPr>
          <p:cNvPr id="32" name="Shape 28"/>
          <p:cNvSpPr/>
          <p:nvPr/>
        </p:nvSpPr>
        <p:spPr>
          <a:xfrm>
            <a:off x="8247705" y="2907792"/>
            <a:ext cx="3358774" cy="685800"/>
          </a:xfrm>
          <a:prstGeom prst="roundRect">
            <a:avLst>
              <a:gd name="adj" fmla="val 10667"/>
            </a:avLst>
          </a:prstGeom>
          <a:solidFill>
            <a:schemeClr val="accent3"/>
          </a:solidFill>
          <a:ln/>
        </p:spPr>
      </p:sp>
      <p:sp>
        <p:nvSpPr>
          <p:cNvPr id="33" name="Text 29"/>
          <p:cNvSpPr txBox="1"/>
          <p:nvPr/>
        </p:nvSpPr>
        <p:spPr>
          <a:xfrm>
            <a:off x="8348289" y="2907792"/>
            <a:ext cx="3157606" cy="685800"/>
          </a:xfrm>
          <a:prstGeom prst="rect">
            <a:avLst/>
          </a:prstGeom>
          <a:noFill/>
          <a:ln/>
        </p:spPr>
        <p:txBody>
          <a:bodyPr wrap="square" lIns="0" tIns="0" rIns="0" bIns="0" rtlCol="0" anchor="ctr"/>
          <a:lstStyle/>
          <a:p>
            <a:pPr algn="ctr" indent="0" marL="0">
              <a:buNone/>
            </a:pPr>
            <a:r>
              <a:rPr lang="en-US" sz="1300" b="1" dirty="0">
                <a:solidFill>
                  <a:schemeClr val="bg1"/>
                </a:solidFill>
              </a:rPr>
              <a:t>Decision-support pilot</a:t>
            </a:r>
            <a:endParaRPr lang="en-US" sz="1300" dirty="0"/>
          </a:p>
        </p:txBody>
      </p:sp>
      <p:sp>
        <p:nvSpPr>
          <p:cNvPr id="34" name="Shape 30"/>
          <p:cNvSpPr/>
          <p:nvPr/>
        </p:nvSpPr>
        <p:spPr>
          <a:xfrm>
            <a:off x="548640" y="3803904"/>
            <a:ext cx="502920" cy="502920"/>
          </a:xfrm>
          <a:prstGeom prst="ellipse">
            <a:avLst/>
          </a:prstGeom>
          <a:solidFill>
            <a:schemeClr val="accent2"/>
          </a:solidFill>
          <a:ln/>
        </p:spPr>
      </p:sp>
      <p:pic>
        <p:nvPicPr>
          <p:cNvPr id="35" name="Image 2" descr="preencoded.png">    </p:cNvPr>
          <p:cNvPicPr>
            <a:picLocks noChangeAspect="1"/>
          </p:cNvPicPr>
          <p:nvPr/>
        </p:nvPicPr>
        <p:blipFill>
          <a:blip r:embed="rId3"/>
          <a:stretch>
            <a:fillRect/>
          </a:stretch>
        </p:blipFill>
        <p:spPr>
          <a:xfrm>
            <a:off x="684428" y="3939692"/>
            <a:ext cx="231343" cy="231343"/>
          </a:xfrm>
          <a:prstGeom prst="rect">
            <a:avLst/>
          </a:prstGeom>
        </p:spPr>
      </p:pic>
      <p:sp>
        <p:nvSpPr>
          <p:cNvPr id="36" name="Text 31"/>
          <p:cNvSpPr txBox="1"/>
          <p:nvPr/>
        </p:nvSpPr>
        <p:spPr>
          <a:xfrm>
            <a:off x="1188720" y="3712464"/>
            <a:ext cx="1828800" cy="685800"/>
          </a:xfrm>
          <a:prstGeom prst="rect">
            <a:avLst/>
          </a:prstGeom>
          <a:noFill/>
          <a:ln/>
        </p:spPr>
        <p:txBody>
          <a:bodyPr wrap="square" lIns="0" tIns="0" rIns="0" bIns="0" rtlCol="0" anchor="ctr"/>
          <a:lstStyle/>
          <a:p>
            <a:pPr indent="0" marL="0">
              <a:buNone/>
            </a:pPr>
            <a:r>
              <a:rPr lang="en-US" sz="1500" b="1" dirty="0">
                <a:solidFill>
                  <a:schemeClr val="tx2"/>
                </a:solidFill>
              </a:rPr>
              <a:t>Therapy integration</a:t>
            </a:r>
            <a:endParaRPr lang="en-US" sz="1500" dirty="0"/>
          </a:p>
        </p:txBody>
      </p:sp>
      <p:sp>
        <p:nvSpPr>
          <p:cNvPr id="37" name="Shape 32"/>
          <p:cNvSpPr/>
          <p:nvPr/>
        </p:nvSpPr>
        <p:spPr>
          <a:xfrm>
            <a:off x="3099816" y="3712464"/>
            <a:ext cx="3358774" cy="685800"/>
          </a:xfrm>
          <a:prstGeom prst="roundRect">
            <a:avLst>
              <a:gd name="adj" fmla="val 10667"/>
            </a:avLst>
          </a:prstGeom>
          <a:solidFill>
            <a:schemeClr val="accent2">
              <a:alpha val="50000"/>
            </a:schemeClr>
          </a:solidFill>
          <a:ln/>
        </p:spPr>
      </p:sp>
      <p:sp>
        <p:nvSpPr>
          <p:cNvPr id="38" name="Text 33"/>
          <p:cNvSpPr txBox="1"/>
          <p:nvPr/>
        </p:nvSpPr>
        <p:spPr>
          <a:xfrm>
            <a:off x="3200400" y="3712464"/>
            <a:ext cx="3157606" cy="685800"/>
          </a:xfrm>
          <a:prstGeom prst="rect">
            <a:avLst/>
          </a:prstGeom>
          <a:noFill/>
          <a:ln/>
        </p:spPr>
        <p:txBody>
          <a:bodyPr wrap="square" lIns="0" tIns="0" rIns="0" bIns="0" rtlCol="0" anchor="ctr"/>
          <a:lstStyle/>
          <a:p>
            <a:pPr algn="ctr" indent="0" marL="0">
              <a:buNone/>
            </a:pPr>
            <a:r>
              <a:rPr lang="en-US" sz="1300" b="1" dirty="0">
                <a:solidFill>
                  <a:schemeClr val="tx2"/>
                </a:solidFill>
              </a:rPr>
              <a:t>RPT use case</a:t>
            </a:r>
            <a:endParaRPr lang="en-US" sz="1300" dirty="0"/>
          </a:p>
        </p:txBody>
      </p:sp>
      <p:sp>
        <p:nvSpPr>
          <p:cNvPr id="39" name="Shape 34"/>
          <p:cNvSpPr/>
          <p:nvPr/>
        </p:nvSpPr>
        <p:spPr>
          <a:xfrm>
            <a:off x="6531742" y="3712464"/>
            <a:ext cx="1642811" cy="685800"/>
          </a:xfrm>
          <a:prstGeom prst="roundRect">
            <a:avLst>
              <a:gd name="adj" fmla="val 10667"/>
            </a:avLst>
          </a:prstGeom>
          <a:solidFill>
            <a:schemeClr val="accent2">
              <a:alpha val="75000"/>
            </a:schemeClr>
          </a:solidFill>
          <a:ln/>
        </p:spPr>
      </p:sp>
      <p:sp>
        <p:nvSpPr>
          <p:cNvPr id="40" name="Text 35"/>
          <p:cNvSpPr txBox="1"/>
          <p:nvPr/>
        </p:nvSpPr>
        <p:spPr>
          <a:xfrm>
            <a:off x="6632326" y="3712464"/>
            <a:ext cx="1441643" cy="685800"/>
          </a:xfrm>
          <a:prstGeom prst="rect">
            <a:avLst/>
          </a:prstGeom>
          <a:noFill/>
          <a:ln/>
        </p:spPr>
        <p:txBody>
          <a:bodyPr wrap="square" lIns="0" tIns="0" rIns="0" bIns="0" rtlCol="0" anchor="ctr"/>
          <a:lstStyle/>
          <a:p>
            <a:pPr algn="ctr" indent="0" marL="0">
              <a:buNone/>
            </a:pPr>
            <a:r>
              <a:rPr lang="en-US" sz="1300" b="1" dirty="0">
                <a:solidFill>
                  <a:schemeClr val="tx2"/>
                </a:solidFill>
              </a:rPr>
              <a:t>Workflow prototype</a:t>
            </a:r>
            <a:endParaRPr lang="en-US" sz="1300" dirty="0"/>
          </a:p>
        </p:txBody>
      </p:sp>
      <p:sp>
        <p:nvSpPr>
          <p:cNvPr id="41" name="Shape 36"/>
          <p:cNvSpPr/>
          <p:nvPr/>
        </p:nvSpPr>
        <p:spPr>
          <a:xfrm>
            <a:off x="8247705" y="3712464"/>
            <a:ext cx="3358774" cy="685800"/>
          </a:xfrm>
          <a:prstGeom prst="roundRect">
            <a:avLst>
              <a:gd name="adj" fmla="val 10667"/>
            </a:avLst>
          </a:prstGeom>
          <a:solidFill>
            <a:schemeClr val="accent2"/>
          </a:solidFill>
          <a:ln/>
        </p:spPr>
      </p:sp>
      <p:sp>
        <p:nvSpPr>
          <p:cNvPr id="42" name="Text 37"/>
          <p:cNvSpPr txBox="1"/>
          <p:nvPr/>
        </p:nvSpPr>
        <p:spPr>
          <a:xfrm>
            <a:off x="8348289" y="3712464"/>
            <a:ext cx="3157606" cy="685800"/>
          </a:xfrm>
          <a:prstGeom prst="rect">
            <a:avLst/>
          </a:prstGeom>
          <a:noFill/>
          <a:ln/>
        </p:spPr>
        <p:txBody>
          <a:bodyPr wrap="square" lIns="0" tIns="0" rIns="0" bIns="0" rtlCol="0" anchor="ctr"/>
          <a:lstStyle/>
          <a:p>
            <a:pPr algn="ctr" indent="0" marL="0">
              <a:buNone/>
            </a:pPr>
            <a:r>
              <a:rPr lang="en-US" sz="1300" b="1" dirty="0">
                <a:solidFill>
                  <a:schemeClr val="bg1"/>
                </a:solidFill>
              </a:rPr>
              <a:t>Partner-led extensions</a:t>
            </a:r>
            <a:endParaRPr lang="en-US" sz="1300" dirty="0"/>
          </a:p>
        </p:txBody>
      </p:sp>
      <p:sp>
        <p:nvSpPr>
          <p:cNvPr id="43" name="Shape 38"/>
          <p:cNvSpPr/>
          <p:nvPr/>
        </p:nvSpPr>
        <p:spPr>
          <a:xfrm>
            <a:off x="548640" y="4608576"/>
            <a:ext cx="502920" cy="502920"/>
          </a:xfrm>
          <a:prstGeom prst="ellipse">
            <a:avLst/>
          </a:prstGeom>
          <a:solidFill>
            <a:schemeClr val="accent4"/>
          </a:solidFill>
          <a:ln/>
        </p:spPr>
      </p:sp>
      <p:pic>
        <p:nvPicPr>
          <p:cNvPr id="44" name="Image 3" descr="preencoded.png">    </p:cNvPr>
          <p:cNvPicPr>
            <a:picLocks noChangeAspect="1"/>
          </p:cNvPicPr>
          <p:nvPr/>
        </p:nvPicPr>
        <p:blipFill>
          <a:blip r:embed="rId4"/>
          <a:stretch>
            <a:fillRect/>
          </a:stretch>
        </p:blipFill>
        <p:spPr>
          <a:xfrm>
            <a:off x="684428" y="4744364"/>
            <a:ext cx="231343" cy="231343"/>
          </a:xfrm>
          <a:prstGeom prst="rect">
            <a:avLst/>
          </a:prstGeom>
        </p:spPr>
      </p:pic>
      <p:sp>
        <p:nvSpPr>
          <p:cNvPr id="45" name="Text 39"/>
          <p:cNvSpPr txBox="1"/>
          <p:nvPr/>
        </p:nvSpPr>
        <p:spPr>
          <a:xfrm>
            <a:off x="1188720" y="4517136"/>
            <a:ext cx="1828800" cy="685800"/>
          </a:xfrm>
          <a:prstGeom prst="rect">
            <a:avLst/>
          </a:prstGeom>
          <a:noFill/>
          <a:ln/>
        </p:spPr>
        <p:txBody>
          <a:bodyPr wrap="square" lIns="0" tIns="0" rIns="0" bIns="0" rtlCol="0" anchor="ctr"/>
          <a:lstStyle/>
          <a:p>
            <a:pPr indent="0" marL="0">
              <a:buNone/>
            </a:pPr>
            <a:r>
              <a:rPr lang="en-US" sz="1500" b="1" dirty="0">
                <a:solidFill>
                  <a:schemeClr val="tx2"/>
                </a:solidFill>
              </a:rPr>
              <a:t>Virtual trials</a:t>
            </a:r>
            <a:endParaRPr lang="en-US" sz="1500" dirty="0"/>
          </a:p>
        </p:txBody>
      </p:sp>
      <p:sp>
        <p:nvSpPr>
          <p:cNvPr id="46" name="Shape 40"/>
          <p:cNvSpPr/>
          <p:nvPr/>
        </p:nvSpPr>
        <p:spPr>
          <a:xfrm>
            <a:off x="3099816" y="4517136"/>
            <a:ext cx="3358774" cy="685800"/>
          </a:xfrm>
          <a:prstGeom prst="roundRect">
            <a:avLst>
              <a:gd name="adj" fmla="val 10667"/>
            </a:avLst>
          </a:prstGeom>
          <a:solidFill>
            <a:schemeClr val="accent4">
              <a:alpha val="50000"/>
            </a:schemeClr>
          </a:solidFill>
          <a:ln/>
        </p:spPr>
      </p:sp>
      <p:sp>
        <p:nvSpPr>
          <p:cNvPr id="47" name="Text 41"/>
          <p:cNvSpPr txBox="1"/>
          <p:nvPr/>
        </p:nvSpPr>
        <p:spPr>
          <a:xfrm>
            <a:off x="3200400" y="4517136"/>
            <a:ext cx="3157606" cy="685800"/>
          </a:xfrm>
          <a:prstGeom prst="rect">
            <a:avLst/>
          </a:prstGeom>
          <a:noFill/>
          <a:ln/>
        </p:spPr>
        <p:txBody>
          <a:bodyPr wrap="square" lIns="0" tIns="0" rIns="0" bIns="0" rtlCol="0" anchor="ctr"/>
          <a:lstStyle/>
          <a:p>
            <a:pPr algn="ctr" indent="0" marL="0">
              <a:buNone/>
            </a:pPr>
            <a:r>
              <a:rPr lang="en-US" sz="1300" b="1" dirty="0">
                <a:solidFill>
                  <a:schemeClr val="tx2"/>
                </a:solidFill>
              </a:rPr>
              <a:t>Cohort specification</a:t>
            </a:r>
            <a:endParaRPr lang="en-US" sz="1300" dirty="0"/>
          </a:p>
        </p:txBody>
      </p:sp>
      <p:sp>
        <p:nvSpPr>
          <p:cNvPr id="48" name="Shape 42"/>
          <p:cNvSpPr/>
          <p:nvPr/>
        </p:nvSpPr>
        <p:spPr>
          <a:xfrm>
            <a:off x="6531742" y="4517136"/>
            <a:ext cx="1642811" cy="685800"/>
          </a:xfrm>
          <a:prstGeom prst="roundRect">
            <a:avLst>
              <a:gd name="adj" fmla="val 10667"/>
            </a:avLst>
          </a:prstGeom>
          <a:solidFill>
            <a:schemeClr val="accent4">
              <a:alpha val="75000"/>
            </a:schemeClr>
          </a:solidFill>
          <a:ln/>
        </p:spPr>
      </p:sp>
      <p:sp>
        <p:nvSpPr>
          <p:cNvPr id="49" name="Text 43"/>
          <p:cNvSpPr txBox="1"/>
          <p:nvPr/>
        </p:nvSpPr>
        <p:spPr>
          <a:xfrm>
            <a:off x="6632326" y="4517136"/>
            <a:ext cx="1441643" cy="685800"/>
          </a:xfrm>
          <a:prstGeom prst="rect">
            <a:avLst/>
          </a:prstGeom>
          <a:noFill/>
          <a:ln/>
        </p:spPr>
        <p:txBody>
          <a:bodyPr wrap="square" lIns="0" tIns="0" rIns="0" bIns="0" rtlCol="0" anchor="ctr"/>
          <a:lstStyle/>
          <a:p>
            <a:pPr algn="ctr" indent="0" marL="0">
              <a:buNone/>
            </a:pPr>
            <a:r>
              <a:rPr lang="en-US" sz="1300" b="1" dirty="0">
                <a:solidFill>
                  <a:schemeClr val="tx2"/>
                </a:solidFill>
              </a:rPr>
              <a:t>Validated simulations</a:t>
            </a:r>
            <a:endParaRPr lang="en-US" sz="1300" dirty="0"/>
          </a:p>
        </p:txBody>
      </p:sp>
      <p:sp>
        <p:nvSpPr>
          <p:cNvPr id="50" name="Shape 44"/>
          <p:cNvSpPr/>
          <p:nvPr/>
        </p:nvSpPr>
        <p:spPr>
          <a:xfrm>
            <a:off x="8247705" y="4517136"/>
            <a:ext cx="3358774" cy="685800"/>
          </a:xfrm>
          <a:prstGeom prst="roundRect">
            <a:avLst>
              <a:gd name="adj" fmla="val 10667"/>
            </a:avLst>
          </a:prstGeom>
          <a:solidFill>
            <a:schemeClr val="accent4"/>
          </a:solidFill>
          <a:ln/>
        </p:spPr>
      </p:sp>
      <p:sp>
        <p:nvSpPr>
          <p:cNvPr id="51" name="Text 45"/>
          <p:cNvSpPr txBox="1"/>
          <p:nvPr/>
        </p:nvSpPr>
        <p:spPr>
          <a:xfrm>
            <a:off x="8348289" y="4517136"/>
            <a:ext cx="3157606" cy="685800"/>
          </a:xfrm>
          <a:prstGeom prst="rect">
            <a:avLst/>
          </a:prstGeom>
          <a:noFill/>
          <a:ln/>
        </p:spPr>
        <p:txBody>
          <a:bodyPr wrap="square" lIns="0" tIns="0" rIns="0" bIns="0" rtlCol="0" anchor="ctr"/>
          <a:lstStyle/>
          <a:p>
            <a:pPr algn="ctr" indent="0" marL="0">
              <a:buNone/>
            </a:pPr>
            <a:r>
              <a:rPr lang="en-US" sz="1300" b="1" dirty="0">
                <a:solidFill>
                  <a:schemeClr val="bg1"/>
                </a:solidFill>
              </a:rPr>
              <a:t>Study prioritization</a:t>
            </a:r>
            <a:endParaRPr lang="en-US" sz="1300" dirty="0"/>
          </a:p>
        </p:txBody>
      </p:sp>
      <p:sp>
        <p:nvSpPr>
          <p:cNvPr id="52" name="Shape 46"/>
          <p:cNvSpPr/>
          <p:nvPr/>
        </p:nvSpPr>
        <p:spPr>
          <a:xfrm>
            <a:off x="3063240" y="5486400"/>
            <a:ext cx="8579815" cy="0"/>
          </a:xfrm>
          <a:prstGeom prst="line">
            <a:avLst/>
          </a:prstGeom>
          <a:noFill/>
          <a:ln w="12700">
            <a:solidFill>
              <a:schemeClr val="accent6"/>
            </a:solidFill>
            <a:prstDash val="solid"/>
          </a:ln>
        </p:spPr>
      </p:sp>
      <p:sp>
        <p:nvSpPr>
          <p:cNvPr id="53" name="Shape 47"/>
          <p:cNvSpPr/>
          <p:nvPr/>
        </p:nvSpPr>
        <p:spPr>
          <a:xfrm>
            <a:off x="6339718" y="5330952"/>
            <a:ext cx="310896" cy="310896"/>
          </a:xfrm>
          <a:prstGeom prst="diamond">
            <a:avLst/>
          </a:prstGeom>
          <a:solidFill>
            <a:schemeClr val="tx2"/>
          </a:solidFill>
          <a:ln w="19050">
            <a:solidFill>
              <a:schemeClr val="bg1"/>
            </a:solidFill>
            <a:prstDash val="solid"/>
          </a:ln>
        </p:spPr>
      </p:sp>
      <p:sp>
        <p:nvSpPr>
          <p:cNvPr id="54" name="Text 48"/>
          <p:cNvSpPr txBox="1"/>
          <p:nvPr/>
        </p:nvSpPr>
        <p:spPr>
          <a:xfrm>
            <a:off x="4117726" y="5669280"/>
            <a:ext cx="2743200" cy="274320"/>
          </a:xfrm>
          <a:prstGeom prst="rect">
            <a:avLst/>
          </a:prstGeom>
          <a:noFill/>
          <a:ln/>
        </p:spPr>
        <p:txBody>
          <a:bodyPr wrap="square" lIns="0" tIns="0" rIns="0" bIns="0" rtlCol="0" anchor="t"/>
          <a:lstStyle/>
          <a:p>
            <a:pPr algn="r" indent="0" marL="0">
              <a:buNone/>
            </a:pPr>
            <a:r>
              <a:rPr lang="en-US" sz="1300" b="1" dirty="0">
                <a:solidFill>
                  <a:schemeClr val="tx2"/>
                </a:solidFill>
              </a:rPr>
              <a:t>Gate 1: reproducible measurements</a:t>
            </a:r>
            <a:endParaRPr lang="en-US" sz="1300" dirty="0"/>
          </a:p>
        </p:txBody>
      </p:sp>
      <p:sp>
        <p:nvSpPr>
          <p:cNvPr id="55" name="Shape 49"/>
          <p:cNvSpPr/>
          <p:nvPr/>
        </p:nvSpPr>
        <p:spPr>
          <a:xfrm>
            <a:off x="8055681" y="5330952"/>
            <a:ext cx="310896" cy="310896"/>
          </a:xfrm>
          <a:prstGeom prst="diamond">
            <a:avLst/>
          </a:prstGeom>
          <a:solidFill>
            <a:schemeClr val="tx2"/>
          </a:solidFill>
          <a:ln w="19050">
            <a:solidFill>
              <a:schemeClr val="bg1"/>
            </a:solidFill>
            <a:prstDash val="solid"/>
          </a:ln>
        </p:spPr>
      </p:sp>
      <p:sp>
        <p:nvSpPr>
          <p:cNvPr id="56" name="Text 50"/>
          <p:cNvSpPr txBox="1"/>
          <p:nvPr/>
        </p:nvSpPr>
        <p:spPr>
          <a:xfrm>
            <a:off x="7845369" y="5669280"/>
            <a:ext cx="2743200" cy="274320"/>
          </a:xfrm>
          <a:prstGeom prst="rect">
            <a:avLst/>
          </a:prstGeom>
          <a:noFill/>
          <a:ln/>
        </p:spPr>
        <p:txBody>
          <a:bodyPr wrap="square" lIns="0" tIns="0" rIns="0" bIns="0" rtlCol="0" anchor="t"/>
          <a:lstStyle/>
          <a:p>
            <a:pPr algn="l" indent="0" marL="0">
              <a:buNone/>
            </a:pPr>
            <a:r>
              <a:rPr lang="en-US" sz="1300" b="1" dirty="0">
                <a:solidFill>
                  <a:schemeClr val="tx2"/>
                </a:solidFill>
              </a:rPr>
              <a:t>Gate 2: independently validated models</a:t>
            </a:r>
            <a:endParaRPr lang="en-US" sz="1300" dirty="0"/>
          </a:p>
        </p:txBody>
      </p:sp>
      <p:sp>
        <p:nvSpPr>
          <p:cNvPr id="57" name="Text 51"/>
          <p:cNvSpPr txBox="1"/>
          <p:nvPr/>
        </p:nvSpPr>
        <p:spPr>
          <a:xfrm>
            <a:off x="548640" y="6035040"/>
            <a:ext cx="11094415" cy="292608"/>
          </a:xfrm>
          <a:prstGeom prst="rect">
            <a:avLst/>
          </a:prstGeom>
          <a:noFill/>
          <a:ln/>
        </p:spPr>
        <p:txBody>
          <a:bodyPr wrap="square" lIns="0" tIns="0" rIns="0" bIns="0" rtlCol="0" anchor="t"/>
          <a:lstStyle/>
          <a:p>
            <a:pPr indent="0" marL="0">
              <a:buNone/>
            </a:pPr>
            <a:r>
              <a:rPr lang="en-US" sz="1300" i="1" dirty="0">
                <a:solidFill>
                  <a:schemeClr val="accent6"/>
                </a:solidFill>
              </a:rPr>
              <a:t>Launch condition: data access, clinical partners and approved governance.</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640080"/>
          </a:xfrm>
          <a:prstGeom prst="rect">
            <a:avLst/>
          </a:prstGeom>
          <a:noFill/>
          <a:ln/>
        </p:spPr>
        <p:txBody>
          <a:bodyPr wrap="square" lIns="0" tIns="0" rIns="0" bIns="0" rtlCol="0" anchor="ctr"/>
          <a:lstStyle/>
          <a:p>
            <a:pPr algn="l" indent="0" marL="0">
              <a:buNone/>
            </a:pPr>
            <a:r>
              <a:rPr lang="en-US" sz="3400" b="1" dirty="0">
                <a:solidFill>
                  <a:schemeClr val="tx2"/>
                </a:solidFill>
              </a:rPr>
              <a:t>The contribution I aim to make</a:t>
            </a:r>
            <a:endParaRPr lang="en-US" sz="3400" dirty="0"/>
          </a:p>
        </p:txBody>
      </p:sp>
      <p:sp>
        <p:nvSpPr>
          <p:cNvPr id="3" name="Text 1"/>
          <p:cNvSpPr txBox="1"/>
          <p:nvPr/>
        </p:nvSpPr>
        <p:spPr>
          <a:xfrm>
            <a:off x="548640" y="164592"/>
            <a:ext cx="7315200" cy="256032"/>
          </a:xfrm>
          <a:prstGeom prst="rect">
            <a:avLst/>
          </a:prstGeom>
          <a:noFill/>
          <a:ln/>
        </p:spPr>
        <p:txBody>
          <a:bodyPr wrap="square" lIns="0" tIns="0" rIns="0" bIns="0" rtlCol="0" anchor="t"/>
          <a:lstStyle/>
          <a:p>
            <a:pPr indent="0" marL="0">
              <a:buNone/>
            </a:pPr>
            <a:r>
              <a:rPr lang="en-US" sz="1200" b="1" spc="150" kern="0" dirty="0">
                <a:solidFill>
                  <a:schemeClr val="accent1"/>
                </a:solidFill>
              </a:rPr>
              <a:t>RESEARCH VISION</a:t>
            </a:r>
            <a:endParaRPr lang="en-US" sz="1200" dirty="0"/>
          </a:p>
        </p:txBody>
      </p:sp>
      <p:pic>
        <p:nvPicPr>
          <p:cNvPr id="4" name="Image 0" descr="/tmp/claude-0/-home-user-habdollahin/757748ce-ce00-518f-b6e2-dec1c5e36469/scratchpad/build/figs/c_central.png">    </p:cNvPr>
          <p:cNvPicPr>
            <a:picLocks noChangeAspect="1"/>
          </p:cNvPicPr>
          <p:nvPr/>
        </p:nvPicPr>
        <p:blipFill>
          <a:blip r:embed="rId1"/>
          <a:stretch>
            <a:fillRect/>
          </a:stretch>
        </p:blipFill>
        <p:spPr>
          <a:xfrm>
            <a:off x="548640" y="1280160"/>
            <a:ext cx="6583680" cy="3705289"/>
          </a:xfrm>
          <a:prstGeom prst="rect">
            <a:avLst/>
          </a:prstGeom>
        </p:spPr>
      </p:pic>
      <p:sp>
        <p:nvSpPr>
          <p:cNvPr id="5" name="Text 2"/>
          <p:cNvSpPr txBox="1"/>
          <p:nvPr/>
        </p:nvSpPr>
        <p:spPr>
          <a:xfrm>
            <a:off x="548640" y="4985449"/>
            <a:ext cx="6583680" cy="228600"/>
          </a:xfrm>
          <a:prstGeom prst="rect">
            <a:avLst/>
          </a:prstGeom>
          <a:noFill/>
          <a:ln/>
        </p:spPr>
        <p:txBody>
          <a:bodyPr wrap="square" lIns="0" tIns="0" rIns="0" bIns="0" rtlCol="0" anchor="t"/>
          <a:lstStyle/>
          <a:p>
            <a:pPr algn="r" indent="0" marL="0">
              <a:buNone/>
            </a:pPr>
            <a:r>
              <a:rPr lang="en-US" sz="1000" i="1" dirty="0">
                <a:solidFill>
                  <a:schemeClr val="accent6"/>
                </a:solidFill>
              </a:rPr>
              <a:t>Conceptual illustration</a:t>
            </a:r>
            <a:endParaRPr lang="en-US" sz="1000" dirty="0"/>
          </a:p>
        </p:txBody>
      </p:sp>
      <p:sp>
        <p:nvSpPr>
          <p:cNvPr id="6" name="Text 3"/>
          <p:cNvSpPr txBox="1"/>
          <p:nvPr/>
        </p:nvSpPr>
        <p:spPr>
          <a:xfrm>
            <a:off x="7498080" y="1280160"/>
            <a:ext cx="4144975" cy="1188720"/>
          </a:xfrm>
          <a:prstGeom prst="rect">
            <a:avLst/>
          </a:prstGeom>
          <a:noFill/>
          <a:ln/>
        </p:spPr>
        <p:txBody>
          <a:bodyPr wrap="square" lIns="0" tIns="0" rIns="0" bIns="0" rtlCol="0" anchor="t"/>
          <a:lstStyle/>
          <a:p>
            <a:pPr indent="0" marL="0">
              <a:buNone/>
            </a:pPr>
            <a:r>
              <a:rPr lang="en-US" sz="2400" b="1" dirty="0">
                <a:solidFill>
                  <a:schemeClr val="tx2"/>
                </a:solidFill>
              </a:rPr>
              <a:t>Molecular imaging that helps plan the next treatment</a:t>
            </a:r>
            <a:endParaRPr lang="en-US" sz="2400" dirty="0"/>
          </a:p>
        </p:txBody>
      </p:sp>
      <p:sp>
        <p:nvSpPr>
          <p:cNvPr id="7" name="Shape 4"/>
          <p:cNvSpPr/>
          <p:nvPr/>
        </p:nvSpPr>
        <p:spPr>
          <a:xfrm>
            <a:off x="7498080" y="2697480"/>
            <a:ext cx="548640" cy="548640"/>
          </a:xfrm>
          <a:prstGeom prst="ellipse">
            <a:avLst/>
          </a:prstGeom>
          <a:solidFill>
            <a:schemeClr val="accent1"/>
          </a:solidFill>
          <a:ln/>
        </p:spPr>
      </p:sp>
      <p:pic>
        <p:nvPicPr>
          <p:cNvPr id="8" name="Image 1" descr="preencoded.png">    </p:cNvPr>
          <p:cNvPicPr>
            <a:picLocks noChangeAspect="1"/>
          </p:cNvPicPr>
          <p:nvPr/>
        </p:nvPicPr>
        <p:blipFill>
          <a:blip r:embed="rId2"/>
          <a:stretch>
            <a:fillRect/>
          </a:stretch>
        </p:blipFill>
        <p:spPr>
          <a:xfrm>
            <a:off x="7646213" y="2845613"/>
            <a:ext cx="252374" cy="252374"/>
          </a:xfrm>
          <a:prstGeom prst="rect">
            <a:avLst/>
          </a:prstGeom>
        </p:spPr>
      </p:pic>
      <p:sp>
        <p:nvSpPr>
          <p:cNvPr id="9" name="Text 5"/>
          <p:cNvSpPr txBox="1"/>
          <p:nvPr/>
        </p:nvSpPr>
        <p:spPr>
          <a:xfrm>
            <a:off x="8229600" y="2697480"/>
            <a:ext cx="3413455" cy="548640"/>
          </a:xfrm>
          <a:prstGeom prst="rect">
            <a:avLst/>
          </a:prstGeom>
          <a:noFill/>
          <a:ln/>
        </p:spPr>
        <p:txBody>
          <a:bodyPr wrap="square" lIns="0" tIns="0" rIns="0" bIns="0" rtlCol="0" anchor="ctr"/>
          <a:lstStyle/>
          <a:p>
            <a:pPr indent="0" marL="0">
              <a:buNone/>
            </a:pPr>
            <a:r>
              <a:rPr lang="en-US" sz="1800" b="1" dirty="0">
                <a:solidFill>
                  <a:schemeClr val="tx2"/>
                </a:solidFill>
              </a:rPr>
              <a:t>Reliable measurements</a:t>
            </a:r>
            <a:endParaRPr lang="en-US" sz="1800" dirty="0"/>
          </a:p>
        </p:txBody>
      </p:sp>
      <p:sp>
        <p:nvSpPr>
          <p:cNvPr id="10" name="Shape 6"/>
          <p:cNvSpPr/>
          <p:nvPr/>
        </p:nvSpPr>
        <p:spPr>
          <a:xfrm>
            <a:off x="7498080" y="3474720"/>
            <a:ext cx="548640" cy="548640"/>
          </a:xfrm>
          <a:prstGeom prst="ellipse">
            <a:avLst/>
          </a:prstGeom>
          <a:solidFill>
            <a:schemeClr val="accent3"/>
          </a:solidFill>
          <a:ln/>
        </p:spPr>
      </p:sp>
      <p:pic>
        <p:nvPicPr>
          <p:cNvPr id="11" name="Image 2" descr="preencoded.png">    </p:cNvPr>
          <p:cNvPicPr>
            <a:picLocks noChangeAspect="1"/>
          </p:cNvPicPr>
          <p:nvPr/>
        </p:nvPicPr>
        <p:blipFill>
          <a:blip r:embed="rId3"/>
          <a:stretch>
            <a:fillRect/>
          </a:stretch>
        </p:blipFill>
        <p:spPr>
          <a:xfrm>
            <a:off x="7646213" y="3622853"/>
            <a:ext cx="252374" cy="252374"/>
          </a:xfrm>
          <a:prstGeom prst="rect">
            <a:avLst/>
          </a:prstGeom>
        </p:spPr>
      </p:pic>
      <p:sp>
        <p:nvSpPr>
          <p:cNvPr id="12" name="Text 7"/>
          <p:cNvSpPr txBox="1"/>
          <p:nvPr/>
        </p:nvSpPr>
        <p:spPr>
          <a:xfrm>
            <a:off x="8229600" y="3474720"/>
            <a:ext cx="3413455" cy="548640"/>
          </a:xfrm>
          <a:prstGeom prst="rect">
            <a:avLst/>
          </a:prstGeom>
          <a:noFill/>
          <a:ln/>
        </p:spPr>
        <p:txBody>
          <a:bodyPr wrap="square" lIns="0" tIns="0" rIns="0" bIns="0" rtlCol="0" anchor="ctr"/>
          <a:lstStyle/>
          <a:p>
            <a:pPr indent="0" marL="0">
              <a:buNone/>
            </a:pPr>
            <a:r>
              <a:rPr lang="en-US" sz="1800" b="1" dirty="0">
                <a:solidFill>
                  <a:schemeClr val="tx2"/>
                </a:solidFill>
              </a:rPr>
              <a:t>Patient-specific predictions</a:t>
            </a:r>
            <a:endParaRPr lang="en-US" sz="1800" dirty="0"/>
          </a:p>
        </p:txBody>
      </p:sp>
      <p:sp>
        <p:nvSpPr>
          <p:cNvPr id="13" name="Shape 8"/>
          <p:cNvSpPr/>
          <p:nvPr/>
        </p:nvSpPr>
        <p:spPr>
          <a:xfrm>
            <a:off x="7498080" y="4251960"/>
            <a:ext cx="548640" cy="548640"/>
          </a:xfrm>
          <a:prstGeom prst="ellipse">
            <a:avLst/>
          </a:prstGeom>
          <a:solidFill>
            <a:schemeClr val="accent2"/>
          </a:solidFill>
          <a:ln/>
        </p:spPr>
      </p:sp>
      <p:pic>
        <p:nvPicPr>
          <p:cNvPr id="14" name="Image 3" descr="preencoded.png">    </p:cNvPr>
          <p:cNvPicPr>
            <a:picLocks noChangeAspect="1"/>
          </p:cNvPicPr>
          <p:nvPr/>
        </p:nvPicPr>
        <p:blipFill>
          <a:blip r:embed="rId4"/>
          <a:stretch>
            <a:fillRect/>
          </a:stretch>
        </p:blipFill>
        <p:spPr>
          <a:xfrm>
            <a:off x="7646213" y="4400093"/>
            <a:ext cx="252374" cy="252374"/>
          </a:xfrm>
          <a:prstGeom prst="rect">
            <a:avLst/>
          </a:prstGeom>
        </p:spPr>
      </p:pic>
      <p:sp>
        <p:nvSpPr>
          <p:cNvPr id="15" name="Text 9"/>
          <p:cNvSpPr txBox="1"/>
          <p:nvPr/>
        </p:nvSpPr>
        <p:spPr>
          <a:xfrm>
            <a:off x="8229600" y="4251960"/>
            <a:ext cx="3413455" cy="548640"/>
          </a:xfrm>
          <a:prstGeom prst="rect">
            <a:avLst/>
          </a:prstGeom>
          <a:noFill/>
          <a:ln/>
        </p:spPr>
        <p:txBody>
          <a:bodyPr wrap="square" lIns="0" tIns="0" rIns="0" bIns="0" rtlCol="0" anchor="ctr"/>
          <a:lstStyle/>
          <a:p>
            <a:pPr indent="0" marL="0">
              <a:buNone/>
            </a:pPr>
            <a:r>
              <a:rPr lang="en-US" sz="1800" b="1" dirty="0">
                <a:solidFill>
                  <a:schemeClr val="tx2"/>
                </a:solidFill>
              </a:rPr>
              <a:t>Tested clinical decisions</a:t>
            </a:r>
            <a:endParaRPr lang="en-US" sz="1800" dirty="0"/>
          </a:p>
        </p:txBody>
      </p:sp>
      <p:sp>
        <p:nvSpPr>
          <p:cNvPr id="16" name="Text 10"/>
          <p:cNvSpPr txBox="1"/>
          <p:nvPr/>
        </p:nvSpPr>
        <p:spPr>
          <a:xfrm>
            <a:off x="7498080" y="5120640"/>
            <a:ext cx="4144975" cy="457200"/>
          </a:xfrm>
          <a:prstGeom prst="rect">
            <a:avLst/>
          </a:prstGeom>
          <a:noFill/>
          <a:ln/>
        </p:spPr>
        <p:txBody>
          <a:bodyPr wrap="square" lIns="0" tIns="0" rIns="0" bIns="0" rtlCol="0" anchor="t"/>
          <a:lstStyle/>
          <a:p>
            <a:pPr indent="0" marL="0">
              <a:buNone/>
            </a:pPr>
            <a:r>
              <a:rPr lang="en-US" sz="2400" b="1" dirty="0">
                <a:solidFill>
                  <a:schemeClr val="accent1"/>
                </a:solidFill>
              </a:rPr>
              <a:t>Thank you</a:t>
            </a:r>
            <a:endParaRPr lang="en-US" sz="2400" dirty="0"/>
          </a:p>
        </p:txBody>
      </p:sp>
      <p:sp>
        <p:nvSpPr>
          <p:cNvPr id="17" name="Shape 11"/>
          <p:cNvSpPr/>
          <p:nvPr/>
        </p:nvSpPr>
        <p:spPr>
          <a:xfrm>
            <a:off x="548640" y="5760720"/>
            <a:ext cx="11094415" cy="502920"/>
          </a:xfrm>
          <a:prstGeom prst="roundRect">
            <a:avLst>
              <a:gd name="adj" fmla="val 14545"/>
            </a:avLst>
          </a:prstGeom>
          <a:solidFill>
            <a:schemeClr val="tx2"/>
          </a:solidFill>
          <a:ln/>
        </p:spPr>
      </p:sp>
      <p:sp>
        <p:nvSpPr>
          <p:cNvPr id="18" name="Text 12"/>
          <p:cNvSpPr txBox="1"/>
          <p:nvPr/>
        </p:nvSpPr>
        <p:spPr>
          <a:xfrm>
            <a:off x="822960" y="5760720"/>
            <a:ext cx="10545775" cy="502920"/>
          </a:xfrm>
          <a:prstGeom prst="rect">
            <a:avLst/>
          </a:prstGeom>
          <a:noFill/>
          <a:ln/>
        </p:spPr>
        <p:txBody>
          <a:bodyPr wrap="square" lIns="0" tIns="0" rIns="0" bIns="0" rtlCol="0" anchor="ctr"/>
          <a:lstStyle/>
          <a:p>
            <a:pPr indent="0" marL="0">
              <a:buNone/>
            </a:pPr>
            <a:r>
              <a:rPr lang="en-US" sz="1500" b="1" dirty="0">
                <a:solidFill>
                  <a:schemeClr val="bg1"/>
                </a:solidFill>
              </a:rPr>
              <a:t>Aims 1–4 build the predictive models; Aim 5 tests strategies across virtual cohorts before real trials</a:t>
            </a:r>
            <a:endParaRPr lang="en-US" sz="1500" dirty="0"/>
          </a:p>
        </p:txBody>
      </p:sp>
      <p:sp>
        <p:nvSpPr>
          <p:cNvPr id="20" name="Text 0"/>
          <p:cNvSpPr/>
          <p:nvPr>
            <p:ph idx="101" type="body" hasCustomPrompt="1"/>
          </p:nvPr>
        </p:nvSpPr>
        <p:spPr>
          <a:xfrm>
            <a:off x="548640" y="1051560"/>
            <a:ext cx="11094415" cy="411480"/>
          </a:xfrm>
          <a:prstGeom prst="rect">
            <a:avLst/>
          </a:prstGeom>
          <a:noFill/>
          <a:ln/>
        </p:spPr>
        <p:txBody>
          <a:bodyPr wrap="square" lIns="0" tIns="0" rIns="0" bIns="0" rtlCol="0" anchor="t"/>
          <a:lstStyle/>
          <a:p>
            <a:pPr indent="0" marL="0">
              <a:buNone/>
            </a:pP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640080"/>
          </a:xfrm>
          <a:prstGeom prst="rect">
            <a:avLst/>
          </a:prstGeom>
          <a:noFill/>
          <a:ln/>
        </p:spPr>
        <p:txBody>
          <a:bodyPr wrap="square" lIns="0" tIns="0" rIns="0" bIns="0" rtlCol="0" anchor="ctr"/>
          <a:lstStyle/>
          <a:p>
            <a:pPr algn="l" indent="0" marL="0">
              <a:buNone/>
            </a:pPr>
            <a:r>
              <a:rPr lang="en-US" sz="3400" b="1" dirty="0">
                <a:solidFill>
                  <a:schemeClr val="tx2"/>
                </a:solidFill>
              </a:rPr>
              <a:t>Backup: proposed collaboration network</a:t>
            </a:r>
            <a:endParaRPr lang="en-US" sz="3400" dirty="0"/>
          </a:p>
        </p:txBody>
      </p:sp>
      <p:sp>
        <p:nvSpPr>
          <p:cNvPr id="3" name="Text 0"/>
          <p:cNvSpPr/>
          <p:nvPr>
            <p:ph idx="101" type="body" hasCustomPrompt="1"/>
          </p:nvPr>
        </p:nvSpPr>
        <p:spPr>
          <a:xfrm>
            <a:off x="548640" y="1051560"/>
            <a:ext cx="11094415" cy="411480"/>
          </a:xfrm>
          <a:prstGeom prst="rect">
            <a:avLst/>
          </a:prstGeom>
          <a:noFill/>
          <a:ln/>
        </p:spPr>
        <p:txBody>
          <a:bodyPr wrap="square" lIns="0" tIns="0" rIns="0" bIns="0" rtlCol="0" anchor="t"/>
          <a:lstStyle/>
          <a:p>
            <a:pPr indent="0" marL="0">
              <a:buNone/>
            </a:pPr>
            <a:r>
              <a:rPr lang="en-US" sz="1600" dirty="0">
                <a:solidFill>
                  <a:schemeClr val="accent6"/>
                </a:solidFill>
              </a:rPr>
              <a:t>Partners span T0 to T3, from animal imaging to multicentre clinical data</a:t>
            </a:r>
            <a:endParaRPr lang="en-US" sz="1600" dirty="0"/>
          </a:p>
        </p:txBody>
      </p:sp>
      <p:sp>
        <p:nvSpPr>
          <p:cNvPr id="4" name="Shape 2"/>
          <p:cNvSpPr/>
          <p:nvPr/>
        </p:nvSpPr>
        <p:spPr>
          <a:xfrm>
            <a:off x="548640" y="1645920"/>
            <a:ext cx="11094415" cy="841248"/>
          </a:xfrm>
          <a:prstGeom prst="roundRect">
            <a:avLst>
              <a:gd name="adj" fmla="val 8696"/>
            </a:avLst>
          </a:prstGeom>
          <a:solidFill>
            <a:schemeClr val="bg2"/>
          </a:solidFill>
          <a:ln/>
        </p:spPr>
      </p:sp>
      <p:sp>
        <p:nvSpPr>
          <p:cNvPr id="5" name="Shape 3"/>
          <p:cNvSpPr/>
          <p:nvPr/>
        </p:nvSpPr>
        <p:spPr>
          <a:xfrm>
            <a:off x="685800" y="1737360"/>
            <a:ext cx="1828800" cy="658368"/>
          </a:xfrm>
          <a:prstGeom prst="roundRect">
            <a:avLst>
              <a:gd name="adj" fmla="val 11111"/>
            </a:avLst>
          </a:prstGeom>
          <a:solidFill>
            <a:schemeClr val="bg1"/>
          </a:solidFill>
          <a:ln/>
        </p:spPr>
      </p:sp>
      <p:pic>
        <p:nvPicPr>
          <p:cNvPr id="6" name="Image 0" descr="/tmp/claude-0/-home-user-habdollahin/757748ce-ce00-518f-b6e2-dec1c5e36469/scratchpad/build/figs/logo_qurit.png">    </p:cNvPr>
          <p:cNvPicPr>
            <a:picLocks noChangeAspect="1"/>
          </p:cNvPicPr>
          <p:nvPr/>
        </p:nvPicPr>
        <p:blipFill>
          <a:blip r:embed="rId1"/>
          <a:stretch>
            <a:fillRect/>
          </a:stretch>
        </p:blipFill>
        <p:spPr>
          <a:xfrm>
            <a:off x="1093763" y="1792224"/>
            <a:ext cx="1012874" cy="548640"/>
          </a:xfrm>
          <a:prstGeom prst="rect">
            <a:avLst/>
          </a:prstGeom>
        </p:spPr>
      </p:pic>
      <p:sp>
        <p:nvSpPr>
          <p:cNvPr id="7" name="Text 4"/>
          <p:cNvSpPr txBox="1"/>
          <p:nvPr/>
        </p:nvSpPr>
        <p:spPr>
          <a:xfrm>
            <a:off x="2788920" y="1645920"/>
            <a:ext cx="4206240" cy="841248"/>
          </a:xfrm>
          <a:prstGeom prst="rect">
            <a:avLst/>
          </a:prstGeom>
          <a:noFill/>
          <a:ln/>
        </p:spPr>
        <p:txBody>
          <a:bodyPr wrap="square" lIns="0" tIns="0" rIns="0" bIns="0" rtlCol="0" anchor="ctr"/>
          <a:lstStyle/>
          <a:p>
            <a:pPr indent="0" marL="0">
              <a:buNone/>
            </a:pPr>
            <a:r>
              <a:rPr lang="en-US" sz="1600" b="1" dirty="0">
                <a:solidFill>
                  <a:schemeClr val="tx2"/>
                </a:solidFill>
              </a:rPr>
              <a:t>QURIT lab · BC Cancer / UBC, Vancouver</a:t>
            </a:r>
            <a:endParaRPr lang="en-US" sz="1600" dirty="0"/>
          </a:p>
        </p:txBody>
      </p:sp>
      <p:sp>
        <p:nvSpPr>
          <p:cNvPr id="8" name="Text 5"/>
          <p:cNvSpPr txBox="1"/>
          <p:nvPr/>
        </p:nvSpPr>
        <p:spPr>
          <a:xfrm>
            <a:off x="7132320" y="1645920"/>
            <a:ext cx="4327855" cy="841248"/>
          </a:xfrm>
          <a:prstGeom prst="rect">
            <a:avLst/>
          </a:prstGeom>
          <a:noFill/>
          <a:ln/>
        </p:spPr>
        <p:txBody>
          <a:bodyPr wrap="square" lIns="0" tIns="0" rIns="0" bIns="0" rtlCol="0" anchor="ctr"/>
          <a:lstStyle/>
          <a:p>
            <a:pPr indent="0" marL="0">
              <a:buNone/>
            </a:pPr>
            <a:r>
              <a:rPr lang="en-US" sz="1400" dirty="0">
                <a:solidFill>
                  <a:schemeClr val="tx1"/>
                </a:solidFill>
              </a:rPr>
              <a:t>Digital twins, PBPK and AI quantification · Aims 2, 3, 5</a:t>
            </a:r>
            <a:endParaRPr lang="en-US" sz="1400" dirty="0"/>
          </a:p>
        </p:txBody>
      </p:sp>
      <p:sp>
        <p:nvSpPr>
          <p:cNvPr id="9" name="Shape 6"/>
          <p:cNvSpPr/>
          <p:nvPr/>
        </p:nvSpPr>
        <p:spPr>
          <a:xfrm>
            <a:off x="548640" y="2633472"/>
            <a:ext cx="11094415" cy="841248"/>
          </a:xfrm>
          <a:prstGeom prst="roundRect">
            <a:avLst>
              <a:gd name="adj" fmla="val 8696"/>
            </a:avLst>
          </a:prstGeom>
          <a:solidFill>
            <a:schemeClr val="bg2"/>
          </a:solidFill>
          <a:ln/>
        </p:spPr>
      </p:sp>
      <p:sp>
        <p:nvSpPr>
          <p:cNvPr id="10" name="Shape 7"/>
          <p:cNvSpPr/>
          <p:nvPr/>
        </p:nvSpPr>
        <p:spPr>
          <a:xfrm>
            <a:off x="685800" y="2724912"/>
            <a:ext cx="1828800" cy="658368"/>
          </a:xfrm>
          <a:prstGeom prst="roundRect">
            <a:avLst>
              <a:gd name="adj" fmla="val 11111"/>
            </a:avLst>
          </a:prstGeom>
          <a:solidFill>
            <a:schemeClr val="bg1"/>
          </a:solidFill>
          <a:ln/>
        </p:spPr>
      </p:sp>
      <p:pic>
        <p:nvPicPr>
          <p:cNvPr id="11" name="Image 1" descr="/tmp/claude-0/-home-user-habdollahin/757748ce-ce00-518f-b6e2-dec1c5e36469/scratchpad/build/figs/logo_pin.png">    </p:cNvPr>
          <p:cNvPicPr>
            <a:picLocks noChangeAspect="1"/>
          </p:cNvPicPr>
          <p:nvPr/>
        </p:nvPicPr>
        <p:blipFill>
          <a:blip r:embed="rId2"/>
          <a:stretch>
            <a:fillRect/>
          </a:stretch>
        </p:blipFill>
        <p:spPr>
          <a:xfrm>
            <a:off x="777240" y="2883828"/>
            <a:ext cx="1645920" cy="340535"/>
          </a:xfrm>
          <a:prstGeom prst="rect">
            <a:avLst/>
          </a:prstGeom>
        </p:spPr>
      </p:pic>
      <p:sp>
        <p:nvSpPr>
          <p:cNvPr id="12" name="Text 8"/>
          <p:cNvSpPr txBox="1"/>
          <p:nvPr/>
        </p:nvSpPr>
        <p:spPr>
          <a:xfrm>
            <a:off x="2788920" y="2633472"/>
            <a:ext cx="4206240" cy="841248"/>
          </a:xfrm>
          <a:prstGeom prst="rect">
            <a:avLst/>
          </a:prstGeom>
          <a:noFill/>
          <a:ln/>
        </p:spPr>
        <p:txBody>
          <a:bodyPr wrap="square" lIns="0" tIns="0" rIns="0" bIns="0" rtlCol="0" anchor="ctr"/>
          <a:lstStyle/>
          <a:p>
            <a:pPr indent="0" marL="0">
              <a:buNone/>
            </a:pPr>
            <a:r>
              <a:rPr lang="en-US" sz="1600" b="1" dirty="0">
                <a:solidFill>
                  <a:schemeClr val="tx2"/>
                </a:solidFill>
              </a:rPr>
              <a:t>PIN lab · Geneva University Hospital</a:t>
            </a:r>
            <a:endParaRPr lang="en-US" sz="1600" dirty="0"/>
          </a:p>
        </p:txBody>
      </p:sp>
      <p:sp>
        <p:nvSpPr>
          <p:cNvPr id="13" name="Text 9"/>
          <p:cNvSpPr txBox="1"/>
          <p:nvPr/>
        </p:nvSpPr>
        <p:spPr>
          <a:xfrm>
            <a:off x="7132320" y="2633472"/>
            <a:ext cx="4327855" cy="841248"/>
          </a:xfrm>
          <a:prstGeom prst="rect">
            <a:avLst/>
          </a:prstGeom>
          <a:noFill/>
          <a:ln/>
        </p:spPr>
        <p:txBody>
          <a:bodyPr wrap="square" lIns="0" tIns="0" rIns="0" bIns="0" rtlCol="0" anchor="ctr"/>
          <a:lstStyle/>
          <a:p>
            <a:pPr indent="0" marL="0">
              <a:buNone/>
            </a:pPr>
            <a:r>
              <a:rPr lang="en-US" sz="1400" dirty="0">
                <a:solidFill>
                  <a:schemeClr val="tx1"/>
                </a:solidFill>
              </a:rPr>
              <a:t>AI quantitative imaging, Monte Carlo and DL dosimetry · Aims 2, 3</a:t>
            </a:r>
            <a:endParaRPr lang="en-US" sz="1400" dirty="0"/>
          </a:p>
        </p:txBody>
      </p:sp>
      <p:sp>
        <p:nvSpPr>
          <p:cNvPr id="14" name="Shape 10"/>
          <p:cNvSpPr/>
          <p:nvPr/>
        </p:nvSpPr>
        <p:spPr>
          <a:xfrm>
            <a:off x="548640" y="3621024"/>
            <a:ext cx="11094415" cy="841248"/>
          </a:xfrm>
          <a:prstGeom prst="roundRect">
            <a:avLst>
              <a:gd name="adj" fmla="val 8696"/>
            </a:avLst>
          </a:prstGeom>
          <a:solidFill>
            <a:schemeClr val="bg2"/>
          </a:solidFill>
          <a:ln/>
        </p:spPr>
      </p:sp>
      <p:sp>
        <p:nvSpPr>
          <p:cNvPr id="15" name="Shape 11"/>
          <p:cNvSpPr/>
          <p:nvPr/>
        </p:nvSpPr>
        <p:spPr>
          <a:xfrm>
            <a:off x="685800" y="3712464"/>
            <a:ext cx="1828800" cy="658368"/>
          </a:xfrm>
          <a:prstGeom prst="roundRect">
            <a:avLst>
              <a:gd name="adj" fmla="val 11111"/>
            </a:avLst>
          </a:prstGeom>
          <a:solidFill>
            <a:schemeClr val="bg1"/>
          </a:solidFill>
          <a:ln/>
        </p:spPr>
      </p:sp>
      <p:pic>
        <p:nvPicPr>
          <p:cNvPr id="16" name="Image 2" descr="/tmp/claude-0/-home-user-habdollahin/757748ce-ce00-518f-b6e2-dec1c5e36469/scratchpad/build/figs/logo_ut.png">    </p:cNvPr>
          <p:cNvPicPr>
            <a:picLocks noChangeAspect="1"/>
          </p:cNvPicPr>
          <p:nvPr/>
        </p:nvPicPr>
        <p:blipFill>
          <a:blip r:embed="rId3"/>
          <a:stretch>
            <a:fillRect/>
          </a:stretch>
        </p:blipFill>
        <p:spPr>
          <a:xfrm>
            <a:off x="777240" y="3800856"/>
            <a:ext cx="1645920" cy="481584"/>
          </a:xfrm>
          <a:prstGeom prst="rect">
            <a:avLst/>
          </a:prstGeom>
        </p:spPr>
      </p:pic>
      <p:sp>
        <p:nvSpPr>
          <p:cNvPr id="17" name="Text 12"/>
          <p:cNvSpPr txBox="1"/>
          <p:nvPr/>
        </p:nvSpPr>
        <p:spPr>
          <a:xfrm>
            <a:off x="2788920" y="3621024"/>
            <a:ext cx="4206240" cy="841248"/>
          </a:xfrm>
          <a:prstGeom prst="rect">
            <a:avLst/>
          </a:prstGeom>
          <a:noFill/>
          <a:ln/>
        </p:spPr>
        <p:txBody>
          <a:bodyPr wrap="square" lIns="0" tIns="0" rIns="0" bIns="0" rtlCol="0" anchor="ctr"/>
          <a:lstStyle/>
          <a:p>
            <a:pPr indent="0" marL="0">
              <a:buNone/>
            </a:pPr>
            <a:r>
              <a:rPr lang="en-US" sz="1600" b="1" dirty="0">
                <a:solidFill>
                  <a:schemeClr val="tx2"/>
                </a:solidFill>
              </a:rPr>
              <a:t>United Theranostics · Johns Hopkins University</a:t>
            </a:r>
            <a:endParaRPr lang="en-US" sz="1600" dirty="0"/>
          </a:p>
        </p:txBody>
      </p:sp>
      <p:sp>
        <p:nvSpPr>
          <p:cNvPr id="18" name="Text 13"/>
          <p:cNvSpPr txBox="1"/>
          <p:nvPr/>
        </p:nvSpPr>
        <p:spPr>
          <a:xfrm>
            <a:off x="7132320" y="3621024"/>
            <a:ext cx="4327855" cy="841248"/>
          </a:xfrm>
          <a:prstGeom prst="rect">
            <a:avLst/>
          </a:prstGeom>
          <a:noFill/>
          <a:ln/>
        </p:spPr>
        <p:txBody>
          <a:bodyPr wrap="square" lIns="0" tIns="0" rIns="0" bIns="0" rtlCol="0" anchor="ctr"/>
          <a:lstStyle/>
          <a:p>
            <a:pPr indent="0" marL="0">
              <a:buNone/>
            </a:pPr>
            <a:r>
              <a:rPr lang="en-US" sz="1400" dirty="0">
                <a:solidFill>
                  <a:schemeClr val="tx1"/>
                </a:solidFill>
              </a:rPr>
              <a:t>Clinical translation, real-world data; RPT dosimetry and radiobiology</a:t>
            </a:r>
            <a:endParaRPr lang="en-US" sz="1400" dirty="0"/>
          </a:p>
        </p:txBody>
      </p:sp>
      <p:sp>
        <p:nvSpPr>
          <p:cNvPr id="19" name="Shape 14"/>
          <p:cNvSpPr/>
          <p:nvPr/>
        </p:nvSpPr>
        <p:spPr>
          <a:xfrm>
            <a:off x="548640" y="4608576"/>
            <a:ext cx="11094415" cy="841248"/>
          </a:xfrm>
          <a:prstGeom prst="roundRect">
            <a:avLst>
              <a:gd name="adj" fmla="val 8696"/>
            </a:avLst>
          </a:prstGeom>
          <a:solidFill>
            <a:schemeClr val="bg2"/>
          </a:solidFill>
          <a:ln/>
        </p:spPr>
      </p:sp>
      <p:sp>
        <p:nvSpPr>
          <p:cNvPr id="20" name="Shape 15"/>
          <p:cNvSpPr/>
          <p:nvPr/>
        </p:nvSpPr>
        <p:spPr>
          <a:xfrm>
            <a:off x="685800" y="4700016"/>
            <a:ext cx="1828800" cy="658368"/>
          </a:xfrm>
          <a:prstGeom prst="roundRect">
            <a:avLst>
              <a:gd name="adj" fmla="val 11111"/>
            </a:avLst>
          </a:prstGeom>
          <a:solidFill>
            <a:schemeClr val="bg1"/>
          </a:solidFill>
          <a:ln/>
        </p:spPr>
      </p:sp>
      <p:sp>
        <p:nvSpPr>
          <p:cNvPr id="21" name="Shape 16"/>
          <p:cNvSpPr/>
          <p:nvPr/>
        </p:nvSpPr>
        <p:spPr>
          <a:xfrm>
            <a:off x="1325880" y="4754880"/>
            <a:ext cx="548640" cy="548640"/>
          </a:xfrm>
          <a:prstGeom prst="ellipse">
            <a:avLst/>
          </a:prstGeom>
          <a:solidFill>
            <a:schemeClr val="accent1"/>
          </a:solidFill>
          <a:ln/>
        </p:spPr>
      </p:sp>
      <p:pic>
        <p:nvPicPr>
          <p:cNvPr id="22" name="Image 3" descr="preencoded.png">    </p:cNvPr>
          <p:cNvPicPr>
            <a:picLocks noChangeAspect="1"/>
          </p:cNvPicPr>
          <p:nvPr/>
        </p:nvPicPr>
        <p:blipFill>
          <a:blip r:embed="rId4"/>
          <a:stretch>
            <a:fillRect/>
          </a:stretch>
        </p:blipFill>
        <p:spPr>
          <a:xfrm>
            <a:off x="1474013" y="4903013"/>
            <a:ext cx="252374" cy="252374"/>
          </a:xfrm>
          <a:prstGeom prst="rect">
            <a:avLst/>
          </a:prstGeom>
        </p:spPr>
      </p:pic>
      <p:sp>
        <p:nvSpPr>
          <p:cNvPr id="23" name="Text 17"/>
          <p:cNvSpPr txBox="1"/>
          <p:nvPr/>
        </p:nvSpPr>
        <p:spPr>
          <a:xfrm>
            <a:off x="2788920" y="4608576"/>
            <a:ext cx="4206240" cy="841248"/>
          </a:xfrm>
          <a:prstGeom prst="rect">
            <a:avLst/>
          </a:prstGeom>
          <a:noFill/>
          <a:ln/>
        </p:spPr>
        <p:txBody>
          <a:bodyPr wrap="square" lIns="0" tIns="0" rIns="0" bIns="0" rtlCol="0" anchor="ctr"/>
          <a:lstStyle/>
          <a:p>
            <a:pPr indent="0" marL="0">
              <a:buNone/>
            </a:pPr>
            <a:r>
              <a:rPr lang="en-US" sz="1600" b="1" dirty="0">
                <a:solidFill>
                  <a:schemeClr val="tx2"/>
                </a:solidFill>
              </a:rPr>
              <a:t>Tehran, Iran and Bushehr Universities of Medical Sciences</a:t>
            </a:r>
            <a:endParaRPr lang="en-US" sz="1600" dirty="0"/>
          </a:p>
        </p:txBody>
      </p:sp>
      <p:sp>
        <p:nvSpPr>
          <p:cNvPr id="24" name="Text 18"/>
          <p:cNvSpPr txBox="1"/>
          <p:nvPr/>
        </p:nvSpPr>
        <p:spPr>
          <a:xfrm>
            <a:off x="7132320" y="4608576"/>
            <a:ext cx="4327855" cy="841248"/>
          </a:xfrm>
          <a:prstGeom prst="rect">
            <a:avLst/>
          </a:prstGeom>
          <a:noFill/>
          <a:ln/>
        </p:spPr>
        <p:txBody>
          <a:bodyPr wrap="square" lIns="0" tIns="0" rIns="0" bIns="0" rtlCol="0" anchor="ctr"/>
          <a:lstStyle/>
          <a:p>
            <a:pPr indent="0" marL="0">
              <a:buNone/>
            </a:pPr>
            <a:r>
              <a:rPr lang="en-US" sz="1400" dirty="0">
                <a:solidFill>
                  <a:schemeClr val="tx1"/>
                </a:solidFill>
              </a:rPr>
              <a:t>Clinical cohorts, 177Lu-PSMA dosimetry, therapy clinic and animal imaging</a:t>
            </a:r>
            <a:endParaRPr lang="en-US" sz="1400" dirty="0"/>
          </a:p>
        </p:txBody>
      </p:sp>
      <p:sp>
        <p:nvSpPr>
          <p:cNvPr id="25" name="Text 19"/>
          <p:cNvSpPr txBox="1"/>
          <p:nvPr/>
        </p:nvSpPr>
        <p:spPr>
          <a:xfrm>
            <a:off x="548640" y="5715000"/>
            <a:ext cx="11094415" cy="320040"/>
          </a:xfrm>
          <a:prstGeom prst="rect">
            <a:avLst/>
          </a:prstGeom>
          <a:noFill/>
          <a:ln/>
        </p:spPr>
        <p:txBody>
          <a:bodyPr wrap="square" lIns="0" tIns="0" rIns="0" bIns="0" rtlCol="0" anchor="t"/>
          <a:lstStyle/>
          <a:p>
            <a:pPr indent="0" marL="0">
              <a:buNone/>
            </a:pPr>
            <a:r>
              <a:rPr lang="en-US" sz="1400" i="1" dirty="0">
                <a:solidFill>
                  <a:schemeClr val="accent1"/>
                </a:solidFill>
              </a:rPr>
              <a:t>Proposed collaboration pathways: confirm roles, data access and commitments before describing formal partnerships.</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640080"/>
          </a:xfrm>
          <a:prstGeom prst="rect">
            <a:avLst/>
          </a:prstGeom>
          <a:noFill/>
          <a:ln/>
        </p:spPr>
        <p:txBody>
          <a:bodyPr wrap="square" lIns="0" tIns="0" rIns="0" bIns="0" rtlCol="0" anchor="ctr"/>
          <a:lstStyle/>
          <a:p>
            <a:pPr algn="l" indent="0" marL="0">
              <a:buNone/>
            </a:pPr>
            <a:r>
              <a:rPr lang="en-US" sz="3400" b="1" dirty="0">
                <a:solidFill>
                  <a:schemeClr val="tx2"/>
                </a:solidFill>
              </a:rPr>
              <a:t>Backup: independent leadership and training</a:t>
            </a:r>
            <a:endParaRPr lang="en-US" sz="3400" dirty="0"/>
          </a:p>
        </p:txBody>
      </p:sp>
      <p:sp>
        <p:nvSpPr>
          <p:cNvPr id="3" name="Text 1"/>
          <p:cNvSpPr txBox="1"/>
          <p:nvPr/>
        </p:nvSpPr>
        <p:spPr>
          <a:xfrm>
            <a:off x="548640" y="1234440"/>
            <a:ext cx="5029200" cy="274320"/>
          </a:xfrm>
          <a:prstGeom prst="rect">
            <a:avLst/>
          </a:prstGeom>
          <a:noFill/>
          <a:ln/>
        </p:spPr>
        <p:txBody>
          <a:bodyPr wrap="square" lIns="0" tIns="0" rIns="0" bIns="0" rtlCol="0" anchor="t"/>
          <a:lstStyle/>
          <a:p>
            <a:pPr indent="0" marL="0">
              <a:buNone/>
            </a:pPr>
            <a:r>
              <a:rPr lang="en-US" sz="1200" b="1" spc="100" kern="0" dirty="0">
                <a:solidFill>
                  <a:schemeClr val="accent1"/>
                </a:solidFill>
              </a:rPr>
              <a:t>MY CONTRIBUTION</a:t>
            </a:r>
            <a:endParaRPr lang="en-US" sz="1200" dirty="0"/>
          </a:p>
        </p:txBody>
      </p:sp>
      <p:sp>
        <p:nvSpPr>
          <p:cNvPr id="4" name="Text 2"/>
          <p:cNvSpPr txBox="1"/>
          <p:nvPr/>
        </p:nvSpPr>
        <p:spPr>
          <a:xfrm>
            <a:off x="548640" y="1554480"/>
            <a:ext cx="5120640" cy="1005840"/>
          </a:xfrm>
          <a:prstGeom prst="rect">
            <a:avLst/>
          </a:prstGeom>
          <a:noFill/>
          <a:ln/>
        </p:spPr>
        <p:txBody>
          <a:bodyPr wrap="square" lIns="0" tIns="0" rIns="0" bIns="0" rtlCol="0" anchor="t"/>
          <a:lstStyle/>
          <a:p>
            <a:pPr indent="0" marL="0">
              <a:buNone/>
            </a:pPr>
            <a:r>
              <a:rPr lang="en-US" sz="2600" b="1" dirty="0">
                <a:solidFill>
                  <a:schemeClr val="tx2"/>
                </a:solidFill>
              </a:rPr>
              <a:t>Linking quantitative imaging to mechanistic prediction of therapy</a:t>
            </a:r>
            <a:endParaRPr lang="en-US" sz="2600" dirty="0"/>
          </a:p>
        </p:txBody>
      </p:sp>
      <p:sp>
        <p:nvSpPr>
          <p:cNvPr id="5" name="Text 3"/>
          <p:cNvSpPr txBox="1"/>
          <p:nvPr/>
        </p:nvSpPr>
        <p:spPr>
          <a:xfrm>
            <a:off x="548640" y="2788920"/>
            <a:ext cx="5029200" cy="274320"/>
          </a:xfrm>
          <a:prstGeom prst="rect">
            <a:avLst/>
          </a:prstGeom>
          <a:noFill/>
          <a:ln/>
        </p:spPr>
        <p:txBody>
          <a:bodyPr wrap="square" lIns="0" tIns="0" rIns="0" bIns="0" rtlCol="0" anchor="t"/>
          <a:lstStyle/>
          <a:p>
            <a:pPr indent="0" marL="0">
              <a:buNone/>
            </a:pPr>
            <a:r>
              <a:rPr lang="en-US" sz="1200" b="1" spc="100" kern="0" dirty="0">
                <a:solidFill>
                  <a:schemeClr val="accent3"/>
                </a:solidFill>
              </a:rPr>
              <a:t>FOUNDATION: PUBLISHED WORK</a:t>
            </a:r>
            <a:endParaRPr lang="en-US" sz="1200" dirty="0"/>
          </a:p>
        </p:txBody>
      </p:sp>
      <p:sp>
        <p:nvSpPr>
          <p:cNvPr id="6" name="Shape 4"/>
          <p:cNvSpPr/>
          <p:nvPr/>
        </p:nvSpPr>
        <p:spPr>
          <a:xfrm>
            <a:off x="548640" y="3154680"/>
            <a:ext cx="5120640" cy="731520"/>
          </a:xfrm>
          <a:prstGeom prst="roundRect">
            <a:avLst>
              <a:gd name="adj" fmla="val 10000"/>
            </a:avLst>
          </a:prstGeom>
          <a:solidFill>
            <a:schemeClr val="bg2"/>
          </a:solidFill>
          <a:ln/>
        </p:spPr>
      </p:sp>
      <p:sp>
        <p:nvSpPr>
          <p:cNvPr id="7" name="Shape 5"/>
          <p:cNvSpPr/>
          <p:nvPr/>
        </p:nvSpPr>
        <p:spPr>
          <a:xfrm>
            <a:off x="685800" y="3291840"/>
            <a:ext cx="457200" cy="457200"/>
          </a:xfrm>
          <a:prstGeom prst="ellipse">
            <a:avLst/>
          </a:prstGeom>
          <a:solidFill>
            <a:schemeClr val="accent3"/>
          </a:solidFill>
          <a:ln/>
        </p:spPr>
      </p:sp>
      <p:pic>
        <p:nvPicPr>
          <p:cNvPr id="8" name="Image 0" descr="preencoded.png">    </p:cNvPr>
          <p:cNvPicPr>
            <a:picLocks noChangeAspect="1"/>
          </p:cNvPicPr>
          <p:nvPr/>
        </p:nvPicPr>
        <p:blipFill>
          <a:blip r:embed="rId1"/>
          <a:stretch>
            <a:fillRect/>
          </a:stretch>
        </p:blipFill>
        <p:spPr>
          <a:xfrm>
            <a:off x="809244" y="3415284"/>
            <a:ext cx="210312" cy="210312"/>
          </a:xfrm>
          <a:prstGeom prst="rect">
            <a:avLst/>
          </a:prstGeom>
        </p:spPr>
      </p:pic>
      <p:sp>
        <p:nvSpPr>
          <p:cNvPr id="9" name="Text 6"/>
          <p:cNvSpPr txBox="1"/>
          <p:nvPr/>
        </p:nvSpPr>
        <p:spPr>
          <a:xfrm>
            <a:off x="1280160" y="3209544"/>
            <a:ext cx="4297680" cy="640080"/>
          </a:xfrm>
          <a:prstGeom prst="rect">
            <a:avLst/>
          </a:prstGeom>
          <a:noFill/>
          <a:ln/>
        </p:spPr>
        <p:txBody>
          <a:bodyPr wrap="square" lIns="0" tIns="0" rIns="0" bIns="0" rtlCol="0" anchor="ctr"/>
          <a:lstStyle/>
          <a:p>
            <a:pPr indent="0" marL="0">
              <a:buNone/>
            </a:pPr>
            <a:r>
              <a:rPr lang="en-US" sz="1400" b="1" dirty="0">
                <a:solidFill>
                  <a:schemeClr val="tx2"/>
                </a:solidFill>
              </a:rPr>
              <a:t>Theranostic digital twins: concept, framework and roadmap</a:t>
            </a:r>
            <a:endParaRPr lang="en-US" sz="1400" dirty="0"/>
          </a:p>
          <a:p>
            <a:pPr indent="0" marL="0">
              <a:buNone/>
            </a:pPr>
            <a:r>
              <a:rPr lang="en-US" sz="1200" dirty="0">
                <a:solidFill>
                  <a:schemeClr val="accent6"/>
                </a:solidFill>
              </a:rPr>
              <a:t>Abdollahi et al., Theranostics 2024;14:3404–22</a:t>
            </a:r>
            <a:endParaRPr lang="en-US" sz="1400" dirty="0"/>
          </a:p>
        </p:txBody>
      </p:sp>
      <p:sp>
        <p:nvSpPr>
          <p:cNvPr id="10" name="Shape 7"/>
          <p:cNvSpPr/>
          <p:nvPr/>
        </p:nvSpPr>
        <p:spPr>
          <a:xfrm>
            <a:off x="548640" y="4023360"/>
            <a:ext cx="5120640" cy="731520"/>
          </a:xfrm>
          <a:prstGeom prst="roundRect">
            <a:avLst>
              <a:gd name="adj" fmla="val 10000"/>
            </a:avLst>
          </a:prstGeom>
          <a:solidFill>
            <a:schemeClr val="bg2"/>
          </a:solidFill>
          <a:ln/>
        </p:spPr>
      </p:sp>
      <p:sp>
        <p:nvSpPr>
          <p:cNvPr id="11" name="Shape 8"/>
          <p:cNvSpPr/>
          <p:nvPr/>
        </p:nvSpPr>
        <p:spPr>
          <a:xfrm>
            <a:off x="685800" y="4160520"/>
            <a:ext cx="457200" cy="457200"/>
          </a:xfrm>
          <a:prstGeom prst="ellipse">
            <a:avLst/>
          </a:prstGeom>
          <a:solidFill>
            <a:schemeClr val="accent3"/>
          </a:solidFill>
          <a:ln/>
        </p:spPr>
      </p:sp>
      <p:pic>
        <p:nvPicPr>
          <p:cNvPr id="12" name="Image 1" descr="preencoded.png">    </p:cNvPr>
          <p:cNvPicPr>
            <a:picLocks noChangeAspect="1"/>
          </p:cNvPicPr>
          <p:nvPr/>
        </p:nvPicPr>
        <p:blipFill>
          <a:blip r:embed="rId2"/>
          <a:stretch>
            <a:fillRect/>
          </a:stretch>
        </p:blipFill>
        <p:spPr>
          <a:xfrm>
            <a:off x="809244" y="4283964"/>
            <a:ext cx="210312" cy="210312"/>
          </a:xfrm>
          <a:prstGeom prst="rect">
            <a:avLst/>
          </a:prstGeom>
        </p:spPr>
      </p:pic>
      <p:sp>
        <p:nvSpPr>
          <p:cNvPr id="13" name="Text 9"/>
          <p:cNvSpPr txBox="1"/>
          <p:nvPr/>
        </p:nvSpPr>
        <p:spPr>
          <a:xfrm>
            <a:off x="1280160" y="4078224"/>
            <a:ext cx="4297680" cy="640080"/>
          </a:xfrm>
          <a:prstGeom prst="rect">
            <a:avLst/>
          </a:prstGeom>
          <a:noFill/>
          <a:ln/>
        </p:spPr>
        <p:txBody>
          <a:bodyPr wrap="square" lIns="0" tIns="0" rIns="0" bIns="0" rtlCol="0" anchor="ctr"/>
          <a:lstStyle/>
          <a:p>
            <a:pPr indent="0" marL="0">
              <a:buNone/>
            </a:pPr>
            <a:r>
              <a:rPr lang="en-US" sz="1400" b="1" dirty="0">
                <a:solidFill>
                  <a:schemeClr val="tx2"/>
                </a:solidFill>
              </a:rPr>
              <a:t>Model-informed RPT optimization: PBPK in 177Lu-PSMA therapy</a:t>
            </a:r>
            <a:endParaRPr lang="en-US" sz="1400" dirty="0"/>
          </a:p>
          <a:p>
            <a:pPr indent="0" marL="0">
              <a:buNone/>
            </a:pPr>
            <a:r>
              <a:rPr lang="en-US" sz="1200" dirty="0">
                <a:solidFill>
                  <a:schemeClr val="accent6"/>
                </a:solidFill>
              </a:rPr>
              <a:t>Abdollahi et al., Cancers 2024;16:3120</a:t>
            </a:r>
            <a:endParaRPr lang="en-US" sz="1400" dirty="0"/>
          </a:p>
        </p:txBody>
      </p:sp>
      <p:sp>
        <p:nvSpPr>
          <p:cNvPr id="14" name="Shape 10"/>
          <p:cNvSpPr/>
          <p:nvPr/>
        </p:nvSpPr>
        <p:spPr>
          <a:xfrm>
            <a:off x="548640" y="4892040"/>
            <a:ext cx="5120640" cy="731520"/>
          </a:xfrm>
          <a:prstGeom prst="roundRect">
            <a:avLst>
              <a:gd name="adj" fmla="val 10000"/>
            </a:avLst>
          </a:prstGeom>
          <a:solidFill>
            <a:schemeClr val="bg2"/>
          </a:solidFill>
          <a:ln/>
        </p:spPr>
      </p:sp>
      <p:sp>
        <p:nvSpPr>
          <p:cNvPr id="15" name="Shape 11"/>
          <p:cNvSpPr/>
          <p:nvPr/>
        </p:nvSpPr>
        <p:spPr>
          <a:xfrm>
            <a:off x="685800" y="5029200"/>
            <a:ext cx="457200" cy="457200"/>
          </a:xfrm>
          <a:prstGeom prst="ellipse">
            <a:avLst/>
          </a:prstGeom>
          <a:solidFill>
            <a:schemeClr val="accent3"/>
          </a:solidFill>
          <a:ln/>
        </p:spPr>
      </p:sp>
      <p:pic>
        <p:nvPicPr>
          <p:cNvPr id="16" name="Image 2" descr="preencoded.png">    </p:cNvPr>
          <p:cNvPicPr>
            <a:picLocks noChangeAspect="1"/>
          </p:cNvPicPr>
          <p:nvPr/>
        </p:nvPicPr>
        <p:blipFill>
          <a:blip r:embed="rId3"/>
          <a:stretch>
            <a:fillRect/>
          </a:stretch>
        </p:blipFill>
        <p:spPr>
          <a:xfrm>
            <a:off x="809244" y="5152644"/>
            <a:ext cx="210312" cy="210312"/>
          </a:xfrm>
          <a:prstGeom prst="rect">
            <a:avLst/>
          </a:prstGeom>
        </p:spPr>
      </p:pic>
      <p:sp>
        <p:nvSpPr>
          <p:cNvPr id="17" name="Text 12"/>
          <p:cNvSpPr txBox="1"/>
          <p:nvPr/>
        </p:nvSpPr>
        <p:spPr>
          <a:xfrm>
            <a:off x="1280160" y="4946904"/>
            <a:ext cx="4297680" cy="640080"/>
          </a:xfrm>
          <a:prstGeom prst="rect">
            <a:avLst/>
          </a:prstGeom>
          <a:noFill/>
          <a:ln/>
        </p:spPr>
        <p:txBody>
          <a:bodyPr wrap="square" lIns="0" tIns="0" rIns="0" bIns="0" rtlCol="0" anchor="ctr"/>
          <a:lstStyle/>
          <a:p>
            <a:pPr indent="0" marL="0">
              <a:buNone/>
            </a:pPr>
            <a:r>
              <a:rPr lang="en-US" sz="1400" b="1" dirty="0">
                <a:solidFill>
                  <a:schemeClr val="tx2"/>
                </a:solidFill>
              </a:rPr>
              <a:t>Low-dose-rate radiobiology in RPT: modelling and challenges</a:t>
            </a:r>
            <a:endParaRPr lang="en-US" sz="1400" dirty="0"/>
          </a:p>
          <a:p>
            <a:pPr indent="0" marL="0">
              <a:buNone/>
            </a:pPr>
            <a:r>
              <a:rPr lang="en-US" sz="1200" dirty="0">
                <a:solidFill>
                  <a:schemeClr val="accent6"/>
                </a:solidFill>
              </a:rPr>
              <a:t>Abdollahi et al., IEEE TRPMS 2025;9:843–56</a:t>
            </a:r>
            <a:endParaRPr lang="en-US" sz="1400" dirty="0"/>
          </a:p>
        </p:txBody>
      </p:sp>
      <p:sp>
        <p:nvSpPr>
          <p:cNvPr id="18" name="Shape 13"/>
          <p:cNvSpPr/>
          <p:nvPr/>
        </p:nvSpPr>
        <p:spPr>
          <a:xfrm>
            <a:off x="7269480" y="1874520"/>
            <a:ext cx="1572768" cy="1828800"/>
          </a:xfrm>
          <a:prstGeom prst="line">
            <a:avLst/>
          </a:prstGeom>
          <a:noFill/>
          <a:ln w="25400">
            <a:solidFill>
              <a:srgbClr val="CBD5E1"/>
            </a:solidFill>
            <a:prstDash val="solid"/>
          </a:ln>
        </p:spPr>
      </p:sp>
      <p:sp>
        <p:nvSpPr>
          <p:cNvPr id="19" name="Shape 14"/>
          <p:cNvSpPr/>
          <p:nvPr/>
        </p:nvSpPr>
        <p:spPr>
          <a:xfrm flipH="1">
            <a:off x="8842248" y="1874520"/>
            <a:ext cx="1609344" cy="1828800"/>
          </a:xfrm>
          <a:prstGeom prst="line">
            <a:avLst/>
          </a:prstGeom>
          <a:noFill/>
          <a:ln w="25400">
            <a:solidFill>
              <a:srgbClr val="CBD5E1"/>
            </a:solidFill>
            <a:prstDash val="solid"/>
          </a:ln>
        </p:spPr>
      </p:sp>
      <p:sp>
        <p:nvSpPr>
          <p:cNvPr id="20" name="Shape 15"/>
          <p:cNvSpPr/>
          <p:nvPr/>
        </p:nvSpPr>
        <p:spPr>
          <a:xfrm flipV="1">
            <a:off x="7269480" y="3703320"/>
            <a:ext cx="1572768" cy="1783080"/>
          </a:xfrm>
          <a:prstGeom prst="line">
            <a:avLst/>
          </a:prstGeom>
          <a:noFill/>
          <a:ln w="25400">
            <a:solidFill>
              <a:srgbClr val="CBD5E1"/>
            </a:solidFill>
            <a:prstDash val="solid"/>
          </a:ln>
        </p:spPr>
      </p:sp>
      <p:sp>
        <p:nvSpPr>
          <p:cNvPr id="21" name="Shape 16"/>
          <p:cNvSpPr/>
          <p:nvPr/>
        </p:nvSpPr>
        <p:spPr>
          <a:xfrm flipH="1" flipV="1">
            <a:off x="8842248" y="3703320"/>
            <a:ext cx="1609344" cy="1783080"/>
          </a:xfrm>
          <a:prstGeom prst="line">
            <a:avLst/>
          </a:prstGeom>
          <a:noFill/>
          <a:ln w="25400">
            <a:solidFill>
              <a:srgbClr val="CBD5E1"/>
            </a:solidFill>
            <a:prstDash val="solid"/>
          </a:ln>
        </p:spPr>
      </p:sp>
      <p:sp>
        <p:nvSpPr>
          <p:cNvPr id="22" name="Shape 17"/>
          <p:cNvSpPr/>
          <p:nvPr/>
        </p:nvSpPr>
        <p:spPr>
          <a:xfrm>
            <a:off x="7973568" y="2834640"/>
            <a:ext cx="1737360" cy="1737360"/>
          </a:xfrm>
          <a:prstGeom prst="ellipse">
            <a:avLst/>
          </a:prstGeom>
          <a:solidFill>
            <a:schemeClr val="tx2"/>
          </a:solidFill>
          <a:ln w="38100">
            <a:solidFill>
              <a:schemeClr val="bg1"/>
            </a:solidFill>
            <a:prstDash val="solid"/>
          </a:ln>
        </p:spPr>
      </p:sp>
      <p:sp>
        <p:nvSpPr>
          <p:cNvPr id="23" name="Text 18"/>
          <p:cNvSpPr txBox="1"/>
          <p:nvPr/>
        </p:nvSpPr>
        <p:spPr>
          <a:xfrm>
            <a:off x="8110728" y="2834640"/>
            <a:ext cx="1463040" cy="1737360"/>
          </a:xfrm>
          <a:prstGeom prst="rect">
            <a:avLst/>
          </a:prstGeom>
          <a:noFill/>
          <a:ln/>
        </p:spPr>
        <p:txBody>
          <a:bodyPr wrap="square" lIns="0" tIns="0" rIns="0" bIns="0" rtlCol="0" anchor="ctr"/>
          <a:lstStyle/>
          <a:p>
            <a:pPr algn="ctr" indent="0" marL="0">
              <a:buNone/>
            </a:pPr>
            <a:r>
              <a:rPr lang="en-US" sz="1600" b="1" dirty="0">
                <a:solidFill>
                  <a:schemeClr val="bg1"/>
                </a:solidFill>
              </a:rPr>
              <a:t>Shared, reproducible platform</a:t>
            </a:r>
            <a:endParaRPr lang="en-US" sz="1600" dirty="0"/>
          </a:p>
        </p:txBody>
      </p:sp>
      <p:sp>
        <p:nvSpPr>
          <p:cNvPr id="24" name="Shape 19"/>
          <p:cNvSpPr/>
          <p:nvPr/>
        </p:nvSpPr>
        <p:spPr>
          <a:xfrm>
            <a:off x="6080760" y="1371600"/>
            <a:ext cx="2377440" cy="1005840"/>
          </a:xfrm>
          <a:prstGeom prst="roundRect">
            <a:avLst>
              <a:gd name="adj" fmla="val 7273"/>
            </a:avLst>
          </a:prstGeom>
          <a:solidFill>
            <a:schemeClr val="bg2"/>
          </a:solidFill>
          <a:ln w="25400">
            <a:solidFill>
              <a:schemeClr val="bg1"/>
            </a:solidFill>
            <a:prstDash val="solid"/>
          </a:ln>
        </p:spPr>
      </p:sp>
      <p:sp>
        <p:nvSpPr>
          <p:cNvPr id="25" name="Shape 20"/>
          <p:cNvSpPr/>
          <p:nvPr/>
        </p:nvSpPr>
        <p:spPr>
          <a:xfrm>
            <a:off x="6217920" y="1508760"/>
            <a:ext cx="411480" cy="411480"/>
          </a:xfrm>
          <a:prstGeom prst="ellipse">
            <a:avLst/>
          </a:prstGeom>
          <a:solidFill>
            <a:schemeClr val="accent1"/>
          </a:solidFill>
          <a:ln/>
        </p:spPr>
      </p:sp>
      <p:pic>
        <p:nvPicPr>
          <p:cNvPr id="26" name="Image 3" descr="preencoded.png">    </p:cNvPr>
          <p:cNvPicPr>
            <a:picLocks noChangeAspect="1"/>
          </p:cNvPicPr>
          <p:nvPr/>
        </p:nvPicPr>
        <p:blipFill>
          <a:blip r:embed="rId4"/>
          <a:stretch>
            <a:fillRect/>
          </a:stretch>
        </p:blipFill>
        <p:spPr>
          <a:xfrm>
            <a:off x="6329020" y="1619860"/>
            <a:ext cx="189281" cy="189281"/>
          </a:xfrm>
          <a:prstGeom prst="rect">
            <a:avLst/>
          </a:prstGeom>
        </p:spPr>
      </p:pic>
      <p:sp>
        <p:nvSpPr>
          <p:cNvPr id="27" name="Text 21"/>
          <p:cNvSpPr txBox="1"/>
          <p:nvPr/>
        </p:nvSpPr>
        <p:spPr>
          <a:xfrm>
            <a:off x="6720840" y="1508760"/>
            <a:ext cx="1645920" cy="411480"/>
          </a:xfrm>
          <a:prstGeom prst="rect">
            <a:avLst/>
          </a:prstGeom>
          <a:noFill/>
          <a:ln/>
        </p:spPr>
        <p:txBody>
          <a:bodyPr wrap="square" lIns="0" tIns="0" rIns="0" bIns="0" rtlCol="0" anchor="ctr"/>
          <a:lstStyle/>
          <a:p>
            <a:pPr indent="0" marL="0">
              <a:buNone/>
            </a:pPr>
            <a:r>
              <a:rPr lang="en-US" sz="1600" b="1" dirty="0">
                <a:solidFill>
                  <a:schemeClr val="tx2"/>
                </a:solidFill>
              </a:rPr>
              <a:t>MSc</a:t>
            </a:r>
            <a:endParaRPr lang="en-US" sz="1600" dirty="0"/>
          </a:p>
        </p:txBody>
      </p:sp>
      <p:sp>
        <p:nvSpPr>
          <p:cNvPr id="28" name="Text 22"/>
          <p:cNvSpPr txBox="1"/>
          <p:nvPr/>
        </p:nvSpPr>
        <p:spPr>
          <a:xfrm>
            <a:off x="6217920" y="1938528"/>
            <a:ext cx="2148840" cy="411480"/>
          </a:xfrm>
          <a:prstGeom prst="rect">
            <a:avLst/>
          </a:prstGeom>
          <a:noFill/>
          <a:ln/>
        </p:spPr>
        <p:txBody>
          <a:bodyPr wrap="square" lIns="0" tIns="0" rIns="0" bIns="0" rtlCol="0" anchor="t"/>
          <a:lstStyle/>
          <a:p>
            <a:pPr indent="0" marL="0">
              <a:buNone/>
            </a:pPr>
            <a:r>
              <a:rPr lang="en-US" sz="1200" dirty="0">
                <a:solidFill>
                  <a:schemeClr val="tx1"/>
                </a:solidFill>
              </a:rPr>
              <a:t>Imaging reproducibility and biomarkers</a:t>
            </a:r>
            <a:endParaRPr lang="en-US" sz="1200" dirty="0"/>
          </a:p>
        </p:txBody>
      </p:sp>
      <p:sp>
        <p:nvSpPr>
          <p:cNvPr id="29" name="Shape 23"/>
          <p:cNvSpPr/>
          <p:nvPr/>
        </p:nvSpPr>
        <p:spPr>
          <a:xfrm>
            <a:off x="9262872" y="1371600"/>
            <a:ext cx="2377440" cy="1005840"/>
          </a:xfrm>
          <a:prstGeom prst="roundRect">
            <a:avLst>
              <a:gd name="adj" fmla="val 7273"/>
            </a:avLst>
          </a:prstGeom>
          <a:solidFill>
            <a:schemeClr val="bg2"/>
          </a:solidFill>
          <a:ln w="25400">
            <a:solidFill>
              <a:schemeClr val="bg1"/>
            </a:solidFill>
            <a:prstDash val="solid"/>
          </a:ln>
        </p:spPr>
      </p:sp>
      <p:sp>
        <p:nvSpPr>
          <p:cNvPr id="30" name="Shape 24"/>
          <p:cNvSpPr/>
          <p:nvPr/>
        </p:nvSpPr>
        <p:spPr>
          <a:xfrm>
            <a:off x="9400032" y="1508760"/>
            <a:ext cx="411480" cy="411480"/>
          </a:xfrm>
          <a:prstGeom prst="ellipse">
            <a:avLst/>
          </a:prstGeom>
          <a:solidFill>
            <a:schemeClr val="accent3"/>
          </a:solidFill>
          <a:ln/>
        </p:spPr>
      </p:sp>
      <p:pic>
        <p:nvPicPr>
          <p:cNvPr id="31" name="Image 4" descr="preencoded.png">    </p:cNvPr>
          <p:cNvPicPr>
            <a:picLocks noChangeAspect="1"/>
          </p:cNvPicPr>
          <p:nvPr/>
        </p:nvPicPr>
        <p:blipFill>
          <a:blip r:embed="rId5"/>
          <a:stretch>
            <a:fillRect/>
          </a:stretch>
        </p:blipFill>
        <p:spPr>
          <a:xfrm>
            <a:off x="9511132" y="1619860"/>
            <a:ext cx="189281" cy="189281"/>
          </a:xfrm>
          <a:prstGeom prst="rect">
            <a:avLst/>
          </a:prstGeom>
        </p:spPr>
      </p:pic>
      <p:sp>
        <p:nvSpPr>
          <p:cNvPr id="32" name="Text 25"/>
          <p:cNvSpPr txBox="1"/>
          <p:nvPr/>
        </p:nvSpPr>
        <p:spPr>
          <a:xfrm>
            <a:off x="9902952" y="1508760"/>
            <a:ext cx="1645920" cy="411480"/>
          </a:xfrm>
          <a:prstGeom prst="rect">
            <a:avLst/>
          </a:prstGeom>
          <a:noFill/>
          <a:ln/>
        </p:spPr>
        <p:txBody>
          <a:bodyPr wrap="square" lIns="0" tIns="0" rIns="0" bIns="0" rtlCol="0" anchor="ctr"/>
          <a:lstStyle/>
          <a:p>
            <a:pPr indent="0" marL="0">
              <a:buNone/>
            </a:pPr>
            <a:r>
              <a:rPr lang="en-US" sz="1600" b="1" dirty="0">
                <a:solidFill>
                  <a:schemeClr val="tx2"/>
                </a:solidFill>
              </a:rPr>
              <a:t>PhD</a:t>
            </a:r>
            <a:endParaRPr lang="en-US" sz="1600" dirty="0"/>
          </a:p>
        </p:txBody>
      </p:sp>
      <p:sp>
        <p:nvSpPr>
          <p:cNvPr id="33" name="Text 26"/>
          <p:cNvSpPr txBox="1"/>
          <p:nvPr/>
        </p:nvSpPr>
        <p:spPr>
          <a:xfrm>
            <a:off x="9400032" y="1938528"/>
            <a:ext cx="2148840" cy="411480"/>
          </a:xfrm>
          <a:prstGeom prst="rect">
            <a:avLst/>
          </a:prstGeom>
          <a:noFill/>
          <a:ln/>
        </p:spPr>
        <p:txBody>
          <a:bodyPr wrap="square" lIns="0" tIns="0" rIns="0" bIns="0" rtlCol="0" anchor="t"/>
          <a:lstStyle/>
          <a:p>
            <a:pPr indent="0" marL="0">
              <a:buNone/>
            </a:pPr>
            <a:r>
              <a:rPr lang="en-US" sz="1200" dirty="0">
                <a:solidFill>
                  <a:schemeClr val="tx1"/>
                </a:solidFill>
              </a:rPr>
              <a:t>PK or radiobiological modelling, uncertainty</a:t>
            </a:r>
            <a:endParaRPr lang="en-US" sz="1200" dirty="0"/>
          </a:p>
        </p:txBody>
      </p:sp>
      <p:sp>
        <p:nvSpPr>
          <p:cNvPr id="34" name="Shape 27"/>
          <p:cNvSpPr/>
          <p:nvPr/>
        </p:nvSpPr>
        <p:spPr>
          <a:xfrm>
            <a:off x="6080760" y="4983480"/>
            <a:ext cx="2377440" cy="1005840"/>
          </a:xfrm>
          <a:prstGeom prst="roundRect">
            <a:avLst>
              <a:gd name="adj" fmla="val 7273"/>
            </a:avLst>
          </a:prstGeom>
          <a:solidFill>
            <a:schemeClr val="bg2"/>
          </a:solidFill>
          <a:ln w="25400">
            <a:solidFill>
              <a:schemeClr val="bg1"/>
            </a:solidFill>
            <a:prstDash val="solid"/>
          </a:ln>
        </p:spPr>
      </p:sp>
      <p:sp>
        <p:nvSpPr>
          <p:cNvPr id="35" name="Shape 28"/>
          <p:cNvSpPr/>
          <p:nvPr/>
        </p:nvSpPr>
        <p:spPr>
          <a:xfrm>
            <a:off x="6217920" y="5120640"/>
            <a:ext cx="411480" cy="411480"/>
          </a:xfrm>
          <a:prstGeom prst="ellipse">
            <a:avLst/>
          </a:prstGeom>
          <a:solidFill>
            <a:schemeClr val="accent2"/>
          </a:solidFill>
          <a:ln/>
        </p:spPr>
      </p:sp>
      <p:pic>
        <p:nvPicPr>
          <p:cNvPr id="36" name="Image 5" descr="preencoded.png">    </p:cNvPr>
          <p:cNvPicPr>
            <a:picLocks noChangeAspect="1"/>
          </p:cNvPicPr>
          <p:nvPr/>
        </p:nvPicPr>
        <p:blipFill>
          <a:blip r:embed="rId6"/>
          <a:stretch>
            <a:fillRect/>
          </a:stretch>
        </p:blipFill>
        <p:spPr>
          <a:xfrm>
            <a:off x="6329020" y="5231740"/>
            <a:ext cx="189281" cy="189281"/>
          </a:xfrm>
          <a:prstGeom prst="rect">
            <a:avLst/>
          </a:prstGeom>
        </p:spPr>
      </p:pic>
      <p:sp>
        <p:nvSpPr>
          <p:cNvPr id="37" name="Text 29"/>
          <p:cNvSpPr txBox="1"/>
          <p:nvPr/>
        </p:nvSpPr>
        <p:spPr>
          <a:xfrm>
            <a:off x="6720840" y="5120640"/>
            <a:ext cx="1645920" cy="411480"/>
          </a:xfrm>
          <a:prstGeom prst="rect">
            <a:avLst/>
          </a:prstGeom>
          <a:noFill/>
          <a:ln/>
        </p:spPr>
        <p:txBody>
          <a:bodyPr wrap="square" lIns="0" tIns="0" rIns="0" bIns="0" rtlCol="0" anchor="ctr"/>
          <a:lstStyle/>
          <a:p>
            <a:pPr indent="0" marL="0">
              <a:buNone/>
            </a:pPr>
            <a:r>
              <a:rPr lang="en-US" sz="1600" b="1" dirty="0">
                <a:solidFill>
                  <a:schemeClr val="tx2"/>
                </a:solidFill>
              </a:rPr>
              <a:t>Partners</a:t>
            </a:r>
            <a:endParaRPr lang="en-US" sz="1600" dirty="0"/>
          </a:p>
        </p:txBody>
      </p:sp>
      <p:sp>
        <p:nvSpPr>
          <p:cNvPr id="38" name="Text 30"/>
          <p:cNvSpPr txBox="1"/>
          <p:nvPr/>
        </p:nvSpPr>
        <p:spPr>
          <a:xfrm>
            <a:off x="6217920" y="5550408"/>
            <a:ext cx="2148840" cy="411480"/>
          </a:xfrm>
          <a:prstGeom prst="rect">
            <a:avLst/>
          </a:prstGeom>
          <a:noFill/>
          <a:ln/>
        </p:spPr>
        <p:txBody>
          <a:bodyPr wrap="square" lIns="0" tIns="0" rIns="0" bIns="0" rtlCol="0" anchor="t"/>
          <a:lstStyle/>
          <a:p>
            <a:pPr indent="0" marL="0">
              <a:buNone/>
            </a:pPr>
            <a:r>
              <a:rPr lang="en-US" sz="1200" dirty="0">
                <a:solidFill>
                  <a:schemeClr val="tx1"/>
                </a:solidFill>
              </a:rPr>
              <a:t>Clinical, radiochemistry and computing</a:t>
            </a:r>
            <a:endParaRPr lang="en-US" sz="1200" dirty="0"/>
          </a:p>
        </p:txBody>
      </p:sp>
      <p:sp>
        <p:nvSpPr>
          <p:cNvPr id="39" name="Shape 31"/>
          <p:cNvSpPr/>
          <p:nvPr/>
        </p:nvSpPr>
        <p:spPr>
          <a:xfrm>
            <a:off x="9262872" y="4983480"/>
            <a:ext cx="2377440" cy="1005840"/>
          </a:xfrm>
          <a:prstGeom prst="roundRect">
            <a:avLst>
              <a:gd name="adj" fmla="val 7273"/>
            </a:avLst>
          </a:prstGeom>
          <a:solidFill>
            <a:schemeClr val="bg2"/>
          </a:solidFill>
          <a:ln w="25400">
            <a:solidFill>
              <a:schemeClr val="bg1"/>
            </a:solidFill>
            <a:prstDash val="solid"/>
          </a:ln>
        </p:spPr>
      </p:sp>
      <p:sp>
        <p:nvSpPr>
          <p:cNvPr id="40" name="Shape 32"/>
          <p:cNvSpPr/>
          <p:nvPr/>
        </p:nvSpPr>
        <p:spPr>
          <a:xfrm>
            <a:off x="9400032" y="5120640"/>
            <a:ext cx="411480" cy="411480"/>
          </a:xfrm>
          <a:prstGeom prst="ellipse">
            <a:avLst/>
          </a:prstGeom>
          <a:solidFill>
            <a:schemeClr val="accent4"/>
          </a:solidFill>
          <a:ln/>
        </p:spPr>
      </p:sp>
      <p:pic>
        <p:nvPicPr>
          <p:cNvPr id="41" name="Image 6" descr="preencoded.png">    </p:cNvPr>
          <p:cNvPicPr>
            <a:picLocks noChangeAspect="1"/>
          </p:cNvPicPr>
          <p:nvPr/>
        </p:nvPicPr>
        <p:blipFill>
          <a:blip r:embed="rId7"/>
          <a:stretch>
            <a:fillRect/>
          </a:stretch>
        </p:blipFill>
        <p:spPr>
          <a:xfrm>
            <a:off x="9511132" y="5231740"/>
            <a:ext cx="189281" cy="189281"/>
          </a:xfrm>
          <a:prstGeom prst="rect">
            <a:avLst/>
          </a:prstGeom>
        </p:spPr>
      </p:pic>
      <p:sp>
        <p:nvSpPr>
          <p:cNvPr id="42" name="Text 33"/>
          <p:cNvSpPr txBox="1"/>
          <p:nvPr/>
        </p:nvSpPr>
        <p:spPr>
          <a:xfrm>
            <a:off x="9902952" y="5120640"/>
            <a:ext cx="1645920" cy="411480"/>
          </a:xfrm>
          <a:prstGeom prst="rect">
            <a:avLst/>
          </a:prstGeom>
          <a:noFill/>
          <a:ln/>
        </p:spPr>
        <p:txBody>
          <a:bodyPr wrap="square" lIns="0" tIns="0" rIns="0" bIns="0" rtlCol="0" anchor="ctr"/>
          <a:lstStyle/>
          <a:p>
            <a:pPr indent="0" marL="0">
              <a:buNone/>
            </a:pPr>
            <a:r>
              <a:rPr lang="en-US" sz="1600" b="1" dirty="0">
                <a:solidFill>
                  <a:schemeClr val="tx2"/>
                </a:solidFill>
              </a:rPr>
              <a:t>Culture</a:t>
            </a:r>
            <a:endParaRPr lang="en-US" sz="1600" dirty="0"/>
          </a:p>
        </p:txBody>
      </p:sp>
      <p:sp>
        <p:nvSpPr>
          <p:cNvPr id="43" name="Text 34"/>
          <p:cNvSpPr txBox="1"/>
          <p:nvPr/>
        </p:nvSpPr>
        <p:spPr>
          <a:xfrm>
            <a:off x="9400032" y="5550408"/>
            <a:ext cx="2148840" cy="411480"/>
          </a:xfrm>
          <a:prstGeom prst="rect">
            <a:avLst/>
          </a:prstGeom>
          <a:noFill/>
          <a:ln/>
        </p:spPr>
        <p:txBody>
          <a:bodyPr wrap="square" lIns="0" tIns="0" rIns="0" bIns="0" rtlCol="0" anchor="t"/>
          <a:lstStyle/>
          <a:p>
            <a:pPr indent="0" marL="0">
              <a:buNone/>
            </a:pPr>
            <a:r>
              <a:rPr lang="en-US" sz="1200" dirty="0">
                <a:solidFill>
                  <a:schemeClr val="tx1"/>
                </a:solidFill>
              </a:rPr>
              <a:t>Shared code review, clinical mentorship</a:t>
            </a:r>
            <a:endParaRPr lang="en-US" sz="1200" dirty="0"/>
          </a:p>
        </p:txBody>
      </p:sp>
      <p:sp>
        <p:nvSpPr>
          <p:cNvPr id="45" name="Text 0"/>
          <p:cNvSpPr/>
          <p:nvPr>
            <p:ph idx="101" type="body" hasCustomPrompt="1"/>
          </p:nvPr>
        </p:nvSpPr>
        <p:spPr>
          <a:xfrm>
            <a:off x="548640" y="1051560"/>
            <a:ext cx="11094415" cy="411480"/>
          </a:xfrm>
          <a:prstGeom prst="rect">
            <a:avLst/>
          </a:prstGeom>
          <a:noFill/>
          <a:ln/>
        </p:spPr>
        <p:txBody>
          <a:bodyPr wrap="square" lIns="0" tIns="0" rIns="0" bIns="0" rtlCol="0" anchor="t"/>
          <a:lstStyle/>
          <a:p>
            <a:pPr indent="0" marL="0">
              <a:buNone/>
            </a:pP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640080"/>
          </a:xfrm>
          <a:prstGeom prst="rect">
            <a:avLst/>
          </a:prstGeom>
          <a:noFill/>
          <a:ln/>
        </p:spPr>
        <p:txBody>
          <a:bodyPr wrap="square" lIns="0" tIns="0" rIns="0" bIns="0" rtlCol="0" anchor="ctr"/>
          <a:lstStyle/>
          <a:p>
            <a:pPr algn="l" indent="0" marL="0">
              <a:buNone/>
            </a:pPr>
            <a:r>
              <a:rPr lang="en-US" sz="3400" b="1" dirty="0">
                <a:solidFill>
                  <a:schemeClr val="tx2"/>
                </a:solidFill>
              </a:rPr>
              <a:t>Backup: what a virtual trial compares</a:t>
            </a:r>
            <a:endParaRPr lang="en-US" sz="3400" dirty="0"/>
          </a:p>
        </p:txBody>
      </p:sp>
      <p:sp>
        <p:nvSpPr>
          <p:cNvPr id="3" name="Text 0"/>
          <p:cNvSpPr/>
          <p:nvPr>
            <p:ph idx="101" type="body" hasCustomPrompt="1"/>
          </p:nvPr>
        </p:nvSpPr>
        <p:spPr>
          <a:xfrm>
            <a:off x="548640" y="1051560"/>
            <a:ext cx="11094415" cy="411480"/>
          </a:xfrm>
          <a:prstGeom prst="rect">
            <a:avLst/>
          </a:prstGeom>
          <a:noFill/>
          <a:ln/>
        </p:spPr>
        <p:txBody>
          <a:bodyPr wrap="square" lIns="0" tIns="0" rIns="0" bIns="0" rtlCol="0" anchor="t"/>
          <a:lstStyle/>
          <a:p>
            <a:pPr indent="0" marL="0">
              <a:buNone/>
            </a:pPr>
            <a:r>
              <a:rPr lang="en-US" sz="1600" dirty="0">
                <a:solidFill>
                  <a:schemeClr val="accent6"/>
                </a:solidFill>
              </a:rPr>
              <a:t>Fixed vs model-guided activity across a simulated cohort</a:t>
            </a:r>
            <a:endParaRPr lang="en-US" sz="1600" dirty="0"/>
          </a:p>
        </p:txBody>
      </p:sp>
      <p:pic>
        <p:nvPicPr>
          <p:cNvPr id="4" name="Image 0" descr="/tmp/claude-0/-home-user-habdollahin/757748ce-ce00-518f-b6e2-dec1c5e36469/scratchpad/build/figs/virtual.png">    </p:cNvPr>
          <p:cNvPicPr>
            <a:picLocks noChangeAspect="1"/>
          </p:cNvPicPr>
          <p:nvPr/>
        </p:nvPicPr>
        <p:blipFill>
          <a:blip r:embed="rId1"/>
          <a:stretch>
            <a:fillRect/>
          </a:stretch>
        </p:blipFill>
        <p:spPr>
          <a:xfrm>
            <a:off x="2103120" y="1554480"/>
            <a:ext cx="6949440" cy="4242816"/>
          </a:xfrm>
          <a:prstGeom prst="rect">
            <a:avLst/>
          </a:prstGeom>
        </p:spPr>
      </p:pic>
      <p:sp>
        <p:nvSpPr>
          <p:cNvPr id="5" name="Text 2"/>
          <p:cNvSpPr txBox="1"/>
          <p:nvPr/>
        </p:nvSpPr>
        <p:spPr>
          <a:xfrm>
            <a:off x="2103120" y="5806440"/>
            <a:ext cx="6949440" cy="274320"/>
          </a:xfrm>
          <a:prstGeom prst="rect">
            <a:avLst/>
          </a:prstGeom>
          <a:noFill/>
          <a:ln/>
        </p:spPr>
        <p:txBody>
          <a:bodyPr wrap="square" lIns="0" tIns="0" rIns="0" bIns="0" rtlCol="0" anchor="t"/>
          <a:lstStyle/>
          <a:p>
            <a:pPr algn="l" indent="0" marL="0">
              <a:buNone/>
            </a:pPr>
            <a:r>
              <a:rPr lang="en-US" sz="1000" i="1" dirty="0">
                <a:solidFill>
                  <a:schemeClr val="accent6"/>
                </a:solidFill>
              </a:rPr>
              <a:t>Schematic virtual cohort (n = 140); each dot is one simulated patient. Illustrates the comparison, not a result.</a:t>
            </a:r>
            <a:endParaRPr lang="en-US" sz="1000" dirty="0"/>
          </a:p>
        </p:txBody>
      </p:sp>
      <p:sp>
        <p:nvSpPr>
          <p:cNvPr id="6" name="Text 3"/>
          <p:cNvSpPr txBox="1"/>
          <p:nvPr/>
        </p:nvSpPr>
        <p:spPr>
          <a:xfrm>
            <a:off x="9235440" y="2103120"/>
            <a:ext cx="2407615" cy="2743200"/>
          </a:xfrm>
          <a:prstGeom prst="rect">
            <a:avLst/>
          </a:prstGeom>
          <a:noFill/>
          <a:ln/>
        </p:spPr>
        <p:txBody>
          <a:bodyPr wrap="square" lIns="0" tIns="0" rIns="0" bIns="0" rtlCol="0" anchor="t"/>
          <a:lstStyle/>
          <a:p>
            <a:pPr indent="0" marL="0">
              <a:buNone/>
            </a:pPr>
            <a:r>
              <a:rPr lang="en-US" sz="1400" dirty="0">
                <a:solidFill>
                  <a:schemeClr val="tx2"/>
                </a:solidFill>
              </a:rPr>
              <a:t>Fixed activity: many patients far below the kidney limit, some above it.</a:t>
            </a:r>
            <a:endParaRPr lang="en-US" sz="1400" dirty="0"/>
          </a:p>
          <a:p>
            <a:pPr indent="0" marL="0">
              <a:buNone/>
            </a:pPr>
            <a:endParaRPr lang="en-US" sz="1400" dirty="0"/>
          </a:p>
          <a:p>
            <a:pPr indent="0" marL="0">
              <a:buNone/>
            </a:pPr>
            <a:r>
              <a:rPr lang="en-US" sz="1400" dirty="0">
                <a:solidFill>
                  <a:schemeClr val="tx2"/>
                </a:solidFill>
              </a:rPr>
              <a:t>Model-guided: patients cluster just below the limit, with more tumour dose where safe.</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640080"/>
          </a:xfrm>
          <a:prstGeom prst="rect">
            <a:avLst/>
          </a:prstGeom>
          <a:noFill/>
          <a:ln/>
        </p:spPr>
        <p:txBody>
          <a:bodyPr wrap="square" lIns="0" tIns="0" rIns="0" bIns="0" rtlCol="0" anchor="ctr"/>
          <a:lstStyle/>
          <a:p>
            <a:pPr algn="l" indent="0" marL="0">
              <a:buNone/>
            </a:pPr>
            <a:r>
              <a:rPr lang="en-US" sz="3400" b="1" dirty="0">
                <a:solidFill>
                  <a:schemeClr val="tx2"/>
                </a:solidFill>
              </a:rPr>
              <a:t>Backup: practice and population extensions</a:t>
            </a:r>
            <a:endParaRPr lang="en-US" sz="3400" dirty="0"/>
          </a:p>
        </p:txBody>
      </p:sp>
      <p:sp>
        <p:nvSpPr>
          <p:cNvPr id="3" name="Text 0"/>
          <p:cNvSpPr/>
          <p:nvPr>
            <p:ph idx="101" type="body" hasCustomPrompt="1"/>
          </p:nvPr>
        </p:nvSpPr>
        <p:spPr>
          <a:xfrm>
            <a:off x="548640" y="1051560"/>
            <a:ext cx="11094415" cy="411480"/>
          </a:xfrm>
          <a:prstGeom prst="rect">
            <a:avLst/>
          </a:prstGeom>
          <a:noFill/>
          <a:ln/>
        </p:spPr>
        <p:txBody>
          <a:bodyPr wrap="square" lIns="0" tIns="0" rIns="0" bIns="0" rtlCol="0" anchor="t"/>
          <a:lstStyle/>
          <a:p>
            <a:pPr indent="0" marL="0">
              <a:buNone/>
            </a:pPr>
            <a:r>
              <a:rPr lang="en-US" sz="1600" dirty="0">
                <a:solidFill>
                  <a:schemeClr val="accent6"/>
                </a:solidFill>
              </a:rPr>
              <a:t>Longer-term T3–T4 extensions; findings feed back to T0–T2 models</a:t>
            </a:r>
            <a:endParaRPr lang="en-US" sz="1600" dirty="0"/>
          </a:p>
        </p:txBody>
      </p:sp>
      <p:pic>
        <p:nvPicPr>
          <p:cNvPr id="4" name="Image 0" descr="Virtual practice (T3) and population (T4) trials">    </p:cNvPr>
          <p:cNvPicPr>
            <a:picLocks noChangeAspect="1"/>
          </p:cNvPicPr>
          <p:nvPr/>
        </p:nvPicPr>
        <p:blipFill>
          <a:blip r:embed="rId1"/>
          <a:stretch>
            <a:fillRect/>
          </a:stretch>
        </p:blipFill>
        <p:spPr>
          <a:xfrm>
            <a:off x="1478128" y="1536192"/>
            <a:ext cx="9235440" cy="4777141"/>
          </a:xfrm>
          <a:prstGeom prst="rect">
            <a:avLst/>
          </a:prstGeom>
        </p:spPr>
      </p:pic>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640080"/>
          </a:xfrm>
          <a:prstGeom prst="rect">
            <a:avLst/>
          </a:prstGeom>
          <a:noFill/>
          <a:ln/>
        </p:spPr>
        <p:txBody>
          <a:bodyPr wrap="square" lIns="0" tIns="0" rIns="0" bIns="0" rtlCol="0" anchor="ctr"/>
          <a:lstStyle/>
          <a:p>
            <a:pPr algn="l" indent="0" marL="0">
              <a:buNone/>
            </a:pPr>
            <a:r>
              <a:rPr lang="en-US" sz="3400" b="1" dirty="0">
                <a:solidFill>
                  <a:schemeClr val="tx2"/>
                </a:solidFill>
              </a:rPr>
              <a:t>Backup: risks and practical alternatives</a:t>
            </a:r>
            <a:endParaRPr lang="en-US" sz="3400" dirty="0"/>
          </a:p>
        </p:txBody>
      </p:sp>
      <p:sp>
        <p:nvSpPr>
          <p:cNvPr id="3" name="Text 1"/>
          <p:cNvSpPr txBox="1"/>
          <p:nvPr/>
        </p:nvSpPr>
        <p:spPr>
          <a:xfrm>
            <a:off x="1325880" y="1325880"/>
            <a:ext cx="3657600" cy="274320"/>
          </a:xfrm>
          <a:prstGeom prst="rect">
            <a:avLst/>
          </a:prstGeom>
          <a:noFill/>
          <a:ln/>
        </p:spPr>
        <p:txBody>
          <a:bodyPr wrap="square" lIns="0" tIns="0" rIns="0" bIns="0" rtlCol="0" anchor="t"/>
          <a:lstStyle/>
          <a:p>
            <a:pPr indent="0" marL="0">
              <a:buNone/>
            </a:pPr>
            <a:r>
              <a:rPr lang="en-US" sz="1200" b="1" spc="100" kern="0" dirty="0">
                <a:solidFill>
                  <a:schemeClr val="accent2"/>
                </a:solidFill>
              </a:rPr>
              <a:t>RISK</a:t>
            </a:r>
            <a:endParaRPr lang="en-US" sz="1200" dirty="0"/>
          </a:p>
        </p:txBody>
      </p:sp>
      <p:sp>
        <p:nvSpPr>
          <p:cNvPr id="4" name="Text 2"/>
          <p:cNvSpPr txBox="1"/>
          <p:nvPr/>
        </p:nvSpPr>
        <p:spPr>
          <a:xfrm>
            <a:off x="6720840" y="1325880"/>
            <a:ext cx="3657600" cy="274320"/>
          </a:xfrm>
          <a:prstGeom prst="rect">
            <a:avLst/>
          </a:prstGeom>
          <a:noFill/>
          <a:ln/>
        </p:spPr>
        <p:txBody>
          <a:bodyPr wrap="square" lIns="0" tIns="0" rIns="0" bIns="0" rtlCol="0" anchor="t"/>
          <a:lstStyle/>
          <a:p>
            <a:pPr indent="0" marL="0">
              <a:buNone/>
            </a:pPr>
            <a:r>
              <a:rPr lang="en-US" sz="1200" b="1" spc="100" kern="0" dirty="0">
                <a:solidFill>
                  <a:schemeClr val="accent1"/>
                </a:solidFill>
              </a:rPr>
              <a:t>RESPONSE</a:t>
            </a:r>
            <a:endParaRPr lang="en-US" sz="1200" dirty="0"/>
          </a:p>
        </p:txBody>
      </p:sp>
      <p:sp>
        <p:nvSpPr>
          <p:cNvPr id="5" name="Shape 3"/>
          <p:cNvSpPr/>
          <p:nvPr/>
        </p:nvSpPr>
        <p:spPr>
          <a:xfrm>
            <a:off x="548640" y="1691640"/>
            <a:ext cx="5212080" cy="841248"/>
          </a:xfrm>
          <a:prstGeom prst="roundRect">
            <a:avLst>
              <a:gd name="adj" fmla="val 8696"/>
            </a:avLst>
          </a:prstGeom>
          <a:solidFill>
            <a:schemeClr val="accent2">
              <a:alpha val="12000"/>
            </a:schemeClr>
          </a:solidFill>
          <a:ln/>
        </p:spPr>
      </p:sp>
      <p:sp>
        <p:nvSpPr>
          <p:cNvPr id="6" name="Shape 4"/>
          <p:cNvSpPr/>
          <p:nvPr/>
        </p:nvSpPr>
        <p:spPr>
          <a:xfrm>
            <a:off x="731520" y="1856232"/>
            <a:ext cx="512064" cy="512064"/>
          </a:xfrm>
          <a:prstGeom prst="ellipse">
            <a:avLst/>
          </a:prstGeom>
          <a:solidFill>
            <a:schemeClr val="accent2"/>
          </a:solidFill>
          <a:ln/>
        </p:spPr>
      </p:sp>
      <p:pic>
        <p:nvPicPr>
          <p:cNvPr id="7" name="Image 0" descr="preencoded.png">    </p:cNvPr>
          <p:cNvPicPr>
            <a:picLocks noChangeAspect="1"/>
          </p:cNvPicPr>
          <p:nvPr/>
        </p:nvPicPr>
        <p:blipFill>
          <a:blip r:embed="rId1"/>
          <a:stretch>
            <a:fillRect/>
          </a:stretch>
        </p:blipFill>
        <p:spPr>
          <a:xfrm>
            <a:off x="869777" y="1994489"/>
            <a:ext cx="235549" cy="235549"/>
          </a:xfrm>
          <a:prstGeom prst="rect">
            <a:avLst/>
          </a:prstGeom>
        </p:spPr>
      </p:pic>
      <p:sp>
        <p:nvSpPr>
          <p:cNvPr id="8" name="Text 5"/>
          <p:cNvSpPr txBox="1"/>
          <p:nvPr/>
        </p:nvSpPr>
        <p:spPr>
          <a:xfrm>
            <a:off x="1417320" y="1691640"/>
            <a:ext cx="4206240" cy="841248"/>
          </a:xfrm>
          <a:prstGeom prst="rect">
            <a:avLst/>
          </a:prstGeom>
          <a:noFill/>
          <a:ln/>
        </p:spPr>
        <p:txBody>
          <a:bodyPr wrap="square" lIns="0" tIns="0" rIns="0" bIns="0" rtlCol="0" anchor="ctr"/>
          <a:lstStyle/>
          <a:p>
            <a:pPr indent="0" marL="0">
              <a:buNone/>
            </a:pPr>
            <a:r>
              <a:rPr lang="en-US" sz="1600" b="1" dirty="0">
                <a:solidFill>
                  <a:schemeClr val="tx2"/>
                </a:solidFill>
              </a:rPr>
              <a:t>Sparse serial measurements</a:t>
            </a:r>
            <a:endParaRPr lang="en-US" sz="1600" dirty="0"/>
          </a:p>
        </p:txBody>
      </p:sp>
      <p:sp>
        <p:nvSpPr>
          <p:cNvPr id="9" name="Shape 6"/>
          <p:cNvSpPr/>
          <p:nvPr/>
        </p:nvSpPr>
        <p:spPr>
          <a:xfrm>
            <a:off x="5852160" y="2112264"/>
            <a:ext cx="228600" cy="0"/>
          </a:xfrm>
          <a:prstGeom prst="line">
            <a:avLst/>
          </a:prstGeom>
          <a:noFill/>
          <a:ln w="25400">
            <a:solidFill>
              <a:schemeClr val="accent6"/>
            </a:solidFill>
            <a:prstDash val="solid"/>
            <a:tailEnd type="triangle"/>
          </a:ln>
        </p:spPr>
      </p:sp>
      <p:sp>
        <p:nvSpPr>
          <p:cNvPr id="10" name="Shape 7"/>
          <p:cNvSpPr/>
          <p:nvPr/>
        </p:nvSpPr>
        <p:spPr>
          <a:xfrm>
            <a:off x="6172200" y="1691640"/>
            <a:ext cx="5470855" cy="841248"/>
          </a:xfrm>
          <a:prstGeom prst="roundRect">
            <a:avLst>
              <a:gd name="adj" fmla="val 8696"/>
            </a:avLst>
          </a:prstGeom>
          <a:solidFill>
            <a:schemeClr val="accent1">
              <a:alpha val="12000"/>
            </a:schemeClr>
          </a:solidFill>
          <a:ln/>
        </p:spPr>
      </p:sp>
      <p:sp>
        <p:nvSpPr>
          <p:cNvPr id="11" name="Shape 8"/>
          <p:cNvSpPr/>
          <p:nvPr/>
        </p:nvSpPr>
        <p:spPr>
          <a:xfrm>
            <a:off x="6355080" y="1856232"/>
            <a:ext cx="512064" cy="512064"/>
          </a:xfrm>
          <a:prstGeom prst="ellipse">
            <a:avLst/>
          </a:prstGeom>
          <a:solidFill>
            <a:schemeClr val="accent1"/>
          </a:solidFill>
          <a:ln/>
        </p:spPr>
      </p:sp>
      <p:pic>
        <p:nvPicPr>
          <p:cNvPr id="12" name="Image 1" descr="preencoded.png">    </p:cNvPr>
          <p:cNvPicPr>
            <a:picLocks noChangeAspect="1"/>
          </p:cNvPicPr>
          <p:nvPr/>
        </p:nvPicPr>
        <p:blipFill>
          <a:blip r:embed="rId2"/>
          <a:stretch>
            <a:fillRect/>
          </a:stretch>
        </p:blipFill>
        <p:spPr>
          <a:xfrm>
            <a:off x="6493337" y="1994489"/>
            <a:ext cx="235549" cy="235549"/>
          </a:xfrm>
          <a:prstGeom prst="rect">
            <a:avLst/>
          </a:prstGeom>
        </p:spPr>
      </p:pic>
      <p:sp>
        <p:nvSpPr>
          <p:cNvPr id="13" name="Text 9"/>
          <p:cNvSpPr txBox="1"/>
          <p:nvPr/>
        </p:nvSpPr>
        <p:spPr>
          <a:xfrm>
            <a:off x="7040880" y="1691640"/>
            <a:ext cx="4465015" cy="841248"/>
          </a:xfrm>
          <a:prstGeom prst="rect">
            <a:avLst/>
          </a:prstGeom>
          <a:noFill/>
          <a:ln/>
        </p:spPr>
        <p:txBody>
          <a:bodyPr wrap="square" lIns="0" tIns="0" rIns="0" bIns="0" rtlCol="0" anchor="ctr"/>
          <a:lstStyle/>
          <a:p>
            <a:pPr indent="0" marL="0">
              <a:buNone/>
            </a:pPr>
            <a:r>
              <a:rPr lang="en-US" sz="1500" dirty="0">
                <a:solidFill>
                  <a:schemeClr val="tx1"/>
                </a:solidFill>
              </a:rPr>
              <a:t>Simplify the model; choose informative post-therapy time points</a:t>
            </a:r>
            <a:endParaRPr lang="en-US" sz="1500" dirty="0"/>
          </a:p>
        </p:txBody>
      </p:sp>
      <p:sp>
        <p:nvSpPr>
          <p:cNvPr id="14" name="Shape 10"/>
          <p:cNvSpPr/>
          <p:nvPr/>
        </p:nvSpPr>
        <p:spPr>
          <a:xfrm>
            <a:off x="548640" y="2715768"/>
            <a:ext cx="5212080" cy="841248"/>
          </a:xfrm>
          <a:prstGeom prst="roundRect">
            <a:avLst>
              <a:gd name="adj" fmla="val 8696"/>
            </a:avLst>
          </a:prstGeom>
          <a:solidFill>
            <a:schemeClr val="accent2">
              <a:alpha val="12000"/>
            </a:schemeClr>
          </a:solidFill>
          <a:ln/>
        </p:spPr>
      </p:sp>
      <p:sp>
        <p:nvSpPr>
          <p:cNvPr id="15" name="Shape 11"/>
          <p:cNvSpPr/>
          <p:nvPr/>
        </p:nvSpPr>
        <p:spPr>
          <a:xfrm>
            <a:off x="731520" y="2880360"/>
            <a:ext cx="512064" cy="512064"/>
          </a:xfrm>
          <a:prstGeom prst="ellipse">
            <a:avLst/>
          </a:prstGeom>
          <a:solidFill>
            <a:schemeClr val="accent2"/>
          </a:solidFill>
          <a:ln/>
        </p:spPr>
      </p:sp>
      <p:pic>
        <p:nvPicPr>
          <p:cNvPr id="16" name="Image 2" descr="preencoded.png">    </p:cNvPr>
          <p:cNvPicPr>
            <a:picLocks noChangeAspect="1"/>
          </p:cNvPicPr>
          <p:nvPr/>
        </p:nvPicPr>
        <p:blipFill>
          <a:blip r:embed="rId3"/>
          <a:stretch>
            <a:fillRect/>
          </a:stretch>
        </p:blipFill>
        <p:spPr>
          <a:xfrm>
            <a:off x="869777" y="3018617"/>
            <a:ext cx="235549" cy="235549"/>
          </a:xfrm>
          <a:prstGeom prst="rect">
            <a:avLst/>
          </a:prstGeom>
        </p:spPr>
      </p:pic>
      <p:sp>
        <p:nvSpPr>
          <p:cNvPr id="17" name="Text 12"/>
          <p:cNvSpPr txBox="1"/>
          <p:nvPr/>
        </p:nvSpPr>
        <p:spPr>
          <a:xfrm>
            <a:off x="1417320" y="2715768"/>
            <a:ext cx="4206240" cy="841248"/>
          </a:xfrm>
          <a:prstGeom prst="rect">
            <a:avLst/>
          </a:prstGeom>
          <a:noFill/>
          <a:ln/>
        </p:spPr>
        <p:txBody>
          <a:bodyPr wrap="square" lIns="0" tIns="0" rIns="0" bIns="0" rtlCol="0" anchor="ctr"/>
          <a:lstStyle/>
          <a:p>
            <a:pPr indent="0" marL="0">
              <a:buNone/>
            </a:pPr>
            <a:r>
              <a:rPr lang="en-US" sz="1600" b="1" dirty="0">
                <a:solidFill>
                  <a:schemeClr val="tx2"/>
                </a:solidFill>
              </a:rPr>
              <a:t>Poor transfer between sites</a:t>
            </a:r>
            <a:endParaRPr lang="en-US" sz="1600" dirty="0"/>
          </a:p>
        </p:txBody>
      </p:sp>
      <p:sp>
        <p:nvSpPr>
          <p:cNvPr id="18" name="Shape 13"/>
          <p:cNvSpPr/>
          <p:nvPr/>
        </p:nvSpPr>
        <p:spPr>
          <a:xfrm>
            <a:off x="5852160" y="3136392"/>
            <a:ext cx="228600" cy="0"/>
          </a:xfrm>
          <a:prstGeom prst="line">
            <a:avLst/>
          </a:prstGeom>
          <a:noFill/>
          <a:ln w="25400">
            <a:solidFill>
              <a:schemeClr val="accent6"/>
            </a:solidFill>
            <a:prstDash val="solid"/>
            <a:tailEnd type="triangle"/>
          </a:ln>
        </p:spPr>
      </p:sp>
      <p:sp>
        <p:nvSpPr>
          <p:cNvPr id="19" name="Shape 14"/>
          <p:cNvSpPr/>
          <p:nvPr/>
        </p:nvSpPr>
        <p:spPr>
          <a:xfrm>
            <a:off x="6172200" y="2715768"/>
            <a:ext cx="5470855" cy="841248"/>
          </a:xfrm>
          <a:prstGeom prst="roundRect">
            <a:avLst>
              <a:gd name="adj" fmla="val 8696"/>
            </a:avLst>
          </a:prstGeom>
          <a:solidFill>
            <a:schemeClr val="accent1">
              <a:alpha val="12000"/>
            </a:schemeClr>
          </a:solidFill>
          <a:ln/>
        </p:spPr>
      </p:sp>
      <p:sp>
        <p:nvSpPr>
          <p:cNvPr id="20" name="Shape 15"/>
          <p:cNvSpPr/>
          <p:nvPr/>
        </p:nvSpPr>
        <p:spPr>
          <a:xfrm>
            <a:off x="6355080" y="2880360"/>
            <a:ext cx="512064" cy="512064"/>
          </a:xfrm>
          <a:prstGeom prst="ellipse">
            <a:avLst/>
          </a:prstGeom>
          <a:solidFill>
            <a:schemeClr val="accent1"/>
          </a:solidFill>
          <a:ln/>
        </p:spPr>
      </p:sp>
      <p:pic>
        <p:nvPicPr>
          <p:cNvPr id="21" name="Image 3" descr="preencoded.png">    </p:cNvPr>
          <p:cNvPicPr>
            <a:picLocks noChangeAspect="1"/>
          </p:cNvPicPr>
          <p:nvPr/>
        </p:nvPicPr>
        <p:blipFill>
          <a:blip r:embed="rId4"/>
          <a:stretch>
            <a:fillRect/>
          </a:stretch>
        </p:blipFill>
        <p:spPr>
          <a:xfrm>
            <a:off x="6493337" y="3018617"/>
            <a:ext cx="235549" cy="235549"/>
          </a:xfrm>
          <a:prstGeom prst="rect">
            <a:avLst/>
          </a:prstGeom>
        </p:spPr>
      </p:pic>
      <p:sp>
        <p:nvSpPr>
          <p:cNvPr id="22" name="Text 16"/>
          <p:cNvSpPr txBox="1"/>
          <p:nvPr/>
        </p:nvSpPr>
        <p:spPr>
          <a:xfrm>
            <a:off x="7040880" y="2715768"/>
            <a:ext cx="4465015" cy="841248"/>
          </a:xfrm>
          <a:prstGeom prst="rect">
            <a:avLst/>
          </a:prstGeom>
          <a:noFill/>
          <a:ln/>
        </p:spPr>
        <p:txBody>
          <a:bodyPr wrap="square" lIns="0" tIns="0" rIns="0" bIns="0" rtlCol="0" anchor="ctr"/>
          <a:lstStyle/>
          <a:p>
            <a:pPr indent="0" marL="0">
              <a:buNone/>
            </a:pPr>
            <a:r>
              <a:rPr lang="en-US" sz="1500" dirty="0">
                <a:solidFill>
                  <a:schemeClr val="tx1"/>
                </a:solidFill>
              </a:rPr>
              <a:t>Study protocol effects and keep robust simple baselines</a:t>
            </a:r>
            <a:endParaRPr lang="en-US" sz="1500" dirty="0"/>
          </a:p>
        </p:txBody>
      </p:sp>
      <p:sp>
        <p:nvSpPr>
          <p:cNvPr id="23" name="Shape 17"/>
          <p:cNvSpPr/>
          <p:nvPr/>
        </p:nvSpPr>
        <p:spPr>
          <a:xfrm>
            <a:off x="548640" y="3739896"/>
            <a:ext cx="5212080" cy="841248"/>
          </a:xfrm>
          <a:prstGeom prst="roundRect">
            <a:avLst>
              <a:gd name="adj" fmla="val 8696"/>
            </a:avLst>
          </a:prstGeom>
          <a:solidFill>
            <a:schemeClr val="accent2">
              <a:alpha val="12000"/>
            </a:schemeClr>
          </a:solidFill>
          <a:ln/>
        </p:spPr>
      </p:sp>
      <p:sp>
        <p:nvSpPr>
          <p:cNvPr id="24" name="Shape 18"/>
          <p:cNvSpPr/>
          <p:nvPr/>
        </p:nvSpPr>
        <p:spPr>
          <a:xfrm>
            <a:off x="731520" y="3904488"/>
            <a:ext cx="512064" cy="512064"/>
          </a:xfrm>
          <a:prstGeom prst="ellipse">
            <a:avLst/>
          </a:prstGeom>
          <a:solidFill>
            <a:schemeClr val="accent2"/>
          </a:solidFill>
          <a:ln/>
        </p:spPr>
      </p:sp>
      <p:pic>
        <p:nvPicPr>
          <p:cNvPr id="25" name="Image 4" descr="preencoded.png">    </p:cNvPr>
          <p:cNvPicPr>
            <a:picLocks noChangeAspect="1"/>
          </p:cNvPicPr>
          <p:nvPr/>
        </p:nvPicPr>
        <p:blipFill>
          <a:blip r:embed="rId5"/>
          <a:stretch>
            <a:fillRect/>
          </a:stretch>
        </p:blipFill>
        <p:spPr>
          <a:xfrm>
            <a:off x="869777" y="4042745"/>
            <a:ext cx="235549" cy="235549"/>
          </a:xfrm>
          <a:prstGeom prst="rect">
            <a:avLst/>
          </a:prstGeom>
        </p:spPr>
      </p:pic>
      <p:sp>
        <p:nvSpPr>
          <p:cNvPr id="26" name="Text 19"/>
          <p:cNvSpPr txBox="1"/>
          <p:nvPr/>
        </p:nvSpPr>
        <p:spPr>
          <a:xfrm>
            <a:off x="1417320" y="3739896"/>
            <a:ext cx="4206240" cy="841248"/>
          </a:xfrm>
          <a:prstGeom prst="rect">
            <a:avLst/>
          </a:prstGeom>
          <a:noFill/>
          <a:ln/>
        </p:spPr>
        <p:txBody>
          <a:bodyPr wrap="square" lIns="0" tIns="0" rIns="0" bIns="0" rtlCol="0" anchor="ctr"/>
          <a:lstStyle/>
          <a:p>
            <a:pPr indent="0" marL="0">
              <a:buNone/>
            </a:pPr>
            <a:r>
              <a:rPr lang="en-US" sz="1600" b="1" dirty="0">
                <a:solidFill>
                  <a:schemeClr val="tx2"/>
                </a:solidFill>
              </a:rPr>
              <a:t>Uncertain dose–response relation</a:t>
            </a:r>
            <a:endParaRPr lang="en-US" sz="1600" dirty="0"/>
          </a:p>
        </p:txBody>
      </p:sp>
      <p:sp>
        <p:nvSpPr>
          <p:cNvPr id="27" name="Shape 20"/>
          <p:cNvSpPr/>
          <p:nvPr/>
        </p:nvSpPr>
        <p:spPr>
          <a:xfrm>
            <a:off x="5852160" y="4160520"/>
            <a:ext cx="228600" cy="0"/>
          </a:xfrm>
          <a:prstGeom prst="line">
            <a:avLst/>
          </a:prstGeom>
          <a:noFill/>
          <a:ln w="25400">
            <a:solidFill>
              <a:schemeClr val="accent6"/>
            </a:solidFill>
            <a:prstDash val="solid"/>
            <a:tailEnd type="triangle"/>
          </a:ln>
        </p:spPr>
      </p:sp>
      <p:sp>
        <p:nvSpPr>
          <p:cNvPr id="28" name="Shape 21"/>
          <p:cNvSpPr/>
          <p:nvPr/>
        </p:nvSpPr>
        <p:spPr>
          <a:xfrm>
            <a:off x="6172200" y="3739896"/>
            <a:ext cx="5470855" cy="841248"/>
          </a:xfrm>
          <a:prstGeom prst="roundRect">
            <a:avLst>
              <a:gd name="adj" fmla="val 8696"/>
            </a:avLst>
          </a:prstGeom>
          <a:solidFill>
            <a:schemeClr val="accent1">
              <a:alpha val="12000"/>
            </a:schemeClr>
          </a:solidFill>
          <a:ln/>
        </p:spPr>
      </p:sp>
      <p:sp>
        <p:nvSpPr>
          <p:cNvPr id="29" name="Shape 22"/>
          <p:cNvSpPr/>
          <p:nvPr/>
        </p:nvSpPr>
        <p:spPr>
          <a:xfrm>
            <a:off x="6355080" y="3904488"/>
            <a:ext cx="512064" cy="512064"/>
          </a:xfrm>
          <a:prstGeom prst="ellipse">
            <a:avLst/>
          </a:prstGeom>
          <a:solidFill>
            <a:schemeClr val="accent1"/>
          </a:solidFill>
          <a:ln/>
        </p:spPr>
      </p:sp>
      <p:pic>
        <p:nvPicPr>
          <p:cNvPr id="30" name="Image 5" descr="preencoded.png">    </p:cNvPr>
          <p:cNvPicPr>
            <a:picLocks noChangeAspect="1"/>
          </p:cNvPicPr>
          <p:nvPr/>
        </p:nvPicPr>
        <p:blipFill>
          <a:blip r:embed="rId6"/>
          <a:stretch>
            <a:fillRect/>
          </a:stretch>
        </p:blipFill>
        <p:spPr>
          <a:xfrm>
            <a:off x="6493337" y="4042745"/>
            <a:ext cx="235549" cy="235549"/>
          </a:xfrm>
          <a:prstGeom prst="rect">
            <a:avLst/>
          </a:prstGeom>
        </p:spPr>
      </p:pic>
      <p:sp>
        <p:nvSpPr>
          <p:cNvPr id="31" name="Text 23"/>
          <p:cNvSpPr txBox="1"/>
          <p:nvPr/>
        </p:nvSpPr>
        <p:spPr>
          <a:xfrm>
            <a:off x="7040880" y="3739896"/>
            <a:ext cx="4465015" cy="841248"/>
          </a:xfrm>
          <a:prstGeom prst="rect">
            <a:avLst/>
          </a:prstGeom>
          <a:noFill/>
          <a:ln/>
        </p:spPr>
        <p:txBody>
          <a:bodyPr wrap="square" lIns="0" tIns="0" rIns="0" bIns="0" rtlCol="0" anchor="ctr"/>
          <a:lstStyle/>
          <a:p>
            <a:pPr indent="0" marL="0">
              <a:buNone/>
            </a:pPr>
            <a:r>
              <a:rPr lang="en-US" sz="1500" dirty="0">
                <a:solidFill>
                  <a:schemeClr val="tx1"/>
                </a:solidFill>
              </a:rPr>
              <a:t>Validate dosimetry before claiming response prediction</a:t>
            </a:r>
            <a:endParaRPr lang="en-US" sz="1500" dirty="0"/>
          </a:p>
        </p:txBody>
      </p:sp>
      <p:sp>
        <p:nvSpPr>
          <p:cNvPr id="32" name="Shape 24"/>
          <p:cNvSpPr/>
          <p:nvPr/>
        </p:nvSpPr>
        <p:spPr>
          <a:xfrm>
            <a:off x="548640" y="4764024"/>
            <a:ext cx="5212080" cy="841248"/>
          </a:xfrm>
          <a:prstGeom prst="roundRect">
            <a:avLst>
              <a:gd name="adj" fmla="val 8696"/>
            </a:avLst>
          </a:prstGeom>
          <a:solidFill>
            <a:schemeClr val="accent2">
              <a:alpha val="12000"/>
            </a:schemeClr>
          </a:solidFill>
          <a:ln/>
        </p:spPr>
      </p:sp>
      <p:sp>
        <p:nvSpPr>
          <p:cNvPr id="33" name="Shape 25"/>
          <p:cNvSpPr/>
          <p:nvPr/>
        </p:nvSpPr>
        <p:spPr>
          <a:xfrm>
            <a:off x="731520" y="4928616"/>
            <a:ext cx="512064" cy="512064"/>
          </a:xfrm>
          <a:prstGeom prst="ellipse">
            <a:avLst/>
          </a:prstGeom>
          <a:solidFill>
            <a:schemeClr val="accent2"/>
          </a:solidFill>
          <a:ln/>
        </p:spPr>
      </p:sp>
      <p:pic>
        <p:nvPicPr>
          <p:cNvPr id="34" name="Image 6" descr="preencoded.png">    </p:cNvPr>
          <p:cNvPicPr>
            <a:picLocks noChangeAspect="1"/>
          </p:cNvPicPr>
          <p:nvPr/>
        </p:nvPicPr>
        <p:blipFill>
          <a:blip r:embed="rId7"/>
          <a:stretch>
            <a:fillRect/>
          </a:stretch>
        </p:blipFill>
        <p:spPr>
          <a:xfrm>
            <a:off x="869777" y="5066873"/>
            <a:ext cx="235549" cy="235549"/>
          </a:xfrm>
          <a:prstGeom prst="rect">
            <a:avLst/>
          </a:prstGeom>
        </p:spPr>
      </p:pic>
      <p:sp>
        <p:nvSpPr>
          <p:cNvPr id="35" name="Text 26"/>
          <p:cNvSpPr txBox="1"/>
          <p:nvPr/>
        </p:nvSpPr>
        <p:spPr>
          <a:xfrm>
            <a:off x="1417320" y="4764024"/>
            <a:ext cx="4206240" cy="841248"/>
          </a:xfrm>
          <a:prstGeom prst="rect">
            <a:avLst/>
          </a:prstGeom>
          <a:noFill/>
          <a:ln/>
        </p:spPr>
        <p:txBody>
          <a:bodyPr wrap="square" lIns="0" tIns="0" rIns="0" bIns="0" rtlCol="0" anchor="ctr"/>
          <a:lstStyle/>
          <a:p>
            <a:pPr indent="0" marL="0">
              <a:buNone/>
            </a:pPr>
            <a:r>
              <a:rPr lang="en-US" sz="1600" b="1" dirty="0">
                <a:solidFill>
                  <a:schemeClr val="tx2"/>
                </a:solidFill>
              </a:rPr>
              <a:t>Limited access to new technologies</a:t>
            </a:r>
            <a:endParaRPr lang="en-US" sz="1600" dirty="0"/>
          </a:p>
        </p:txBody>
      </p:sp>
      <p:sp>
        <p:nvSpPr>
          <p:cNvPr id="36" name="Shape 27"/>
          <p:cNvSpPr/>
          <p:nvPr/>
        </p:nvSpPr>
        <p:spPr>
          <a:xfrm>
            <a:off x="5852160" y="5184648"/>
            <a:ext cx="228600" cy="0"/>
          </a:xfrm>
          <a:prstGeom prst="line">
            <a:avLst/>
          </a:prstGeom>
          <a:noFill/>
          <a:ln w="25400">
            <a:solidFill>
              <a:schemeClr val="accent6"/>
            </a:solidFill>
            <a:prstDash val="solid"/>
            <a:tailEnd type="triangle"/>
          </a:ln>
        </p:spPr>
      </p:sp>
      <p:sp>
        <p:nvSpPr>
          <p:cNvPr id="37" name="Shape 28"/>
          <p:cNvSpPr/>
          <p:nvPr/>
        </p:nvSpPr>
        <p:spPr>
          <a:xfrm>
            <a:off x="6172200" y="4764024"/>
            <a:ext cx="5470855" cy="841248"/>
          </a:xfrm>
          <a:prstGeom prst="roundRect">
            <a:avLst>
              <a:gd name="adj" fmla="val 8696"/>
            </a:avLst>
          </a:prstGeom>
          <a:solidFill>
            <a:schemeClr val="accent1">
              <a:alpha val="12000"/>
            </a:schemeClr>
          </a:solidFill>
          <a:ln/>
        </p:spPr>
      </p:sp>
      <p:sp>
        <p:nvSpPr>
          <p:cNvPr id="38" name="Shape 29"/>
          <p:cNvSpPr/>
          <p:nvPr/>
        </p:nvSpPr>
        <p:spPr>
          <a:xfrm>
            <a:off x="6355080" y="4928616"/>
            <a:ext cx="512064" cy="512064"/>
          </a:xfrm>
          <a:prstGeom prst="ellipse">
            <a:avLst/>
          </a:prstGeom>
          <a:solidFill>
            <a:schemeClr val="accent1"/>
          </a:solidFill>
          <a:ln/>
        </p:spPr>
      </p:sp>
      <p:pic>
        <p:nvPicPr>
          <p:cNvPr id="39" name="Image 7" descr="preencoded.png">    </p:cNvPr>
          <p:cNvPicPr>
            <a:picLocks noChangeAspect="1"/>
          </p:cNvPicPr>
          <p:nvPr/>
        </p:nvPicPr>
        <p:blipFill>
          <a:blip r:embed="rId8"/>
          <a:stretch>
            <a:fillRect/>
          </a:stretch>
        </p:blipFill>
        <p:spPr>
          <a:xfrm>
            <a:off x="6493337" y="5066873"/>
            <a:ext cx="235549" cy="235549"/>
          </a:xfrm>
          <a:prstGeom prst="rect">
            <a:avLst/>
          </a:prstGeom>
        </p:spPr>
      </p:pic>
      <p:sp>
        <p:nvSpPr>
          <p:cNvPr id="40" name="Text 30"/>
          <p:cNvSpPr txBox="1"/>
          <p:nvPr/>
        </p:nvSpPr>
        <p:spPr>
          <a:xfrm>
            <a:off x="7040880" y="4764024"/>
            <a:ext cx="4465015" cy="841248"/>
          </a:xfrm>
          <a:prstGeom prst="rect">
            <a:avLst/>
          </a:prstGeom>
          <a:noFill/>
          <a:ln/>
        </p:spPr>
        <p:txBody>
          <a:bodyPr wrap="square" lIns="0" tIns="0" rIns="0" bIns="0" rtlCol="0" anchor="ctr"/>
          <a:lstStyle/>
          <a:p>
            <a:pPr indent="0" marL="0">
              <a:buNone/>
            </a:pPr>
            <a:r>
              <a:rPr lang="en-US" sz="1500" dirty="0">
                <a:solidFill>
                  <a:schemeClr val="tx1"/>
                </a:solidFill>
              </a:rPr>
              <a:t>Prioritize available RPT cohorts; staged partnerships</a:t>
            </a:r>
            <a:endParaRPr lang="en-US" sz="1500" dirty="0"/>
          </a:p>
        </p:txBody>
      </p:sp>
      <p:sp>
        <p:nvSpPr>
          <p:cNvPr id="42" name="Text 0"/>
          <p:cNvSpPr/>
          <p:nvPr>
            <p:ph idx="101" type="body" hasCustomPrompt="1"/>
          </p:nvPr>
        </p:nvSpPr>
        <p:spPr>
          <a:xfrm>
            <a:off x="548640" y="1051560"/>
            <a:ext cx="11094415" cy="411480"/>
          </a:xfrm>
          <a:prstGeom prst="rect">
            <a:avLst/>
          </a:prstGeom>
          <a:noFill/>
          <a:ln/>
        </p:spPr>
        <p:txBody>
          <a:bodyPr wrap="square" lIns="0" tIns="0" rIns="0" bIns="0" rtlCol="0" anchor="t"/>
          <a:lstStyle/>
          <a:p>
            <a:pPr indent="0" marL="0">
              <a:buNone/>
            </a:pP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18</a:t>
            </a:fld>
            <a:endParaRPr lang="en-US"/>
          </a:p>
        </p:txBody>
      </p:sp>
    </p:spTree>
  </p:cSld>
  <p:clrMapOvr>
    <a:masterClrMapping/>
  </p:clrMapOvr>
</p:sld>
</file>

<file path=ppt/theme/theme1.xml><?xml version="1.0" encoding="utf-8"?>
<a:theme xmlns:a="http://schemas.openxmlformats.org/drawingml/2006/main" name="Predictive Imaging">
  <a:themeElements>
    <a:clrScheme name="Predictive Imaging">
      <a:dk1>
        <a:srgbClr val="1F2937"/>
      </a:dk1>
      <a:lt1>
        <a:srgbClr val="FFFFFF"/>
      </a:lt1>
      <a:dk2>
        <a:srgbClr val="12263F"/>
      </a:dk2>
      <a:lt2>
        <a:srgbClr val="F1F5F9"/>
      </a:lt2>
      <a:accent1>
        <a:srgbClr val="1A9AA0"/>
      </a:accent1>
      <a:accent2>
        <a:srgbClr val="D97526"/>
      </a:accent2>
      <a:accent3>
        <a:srgbClr val="7048C8"/>
      </a:accent3>
      <a:accent4>
        <a:srgbClr val="2F6BD6"/>
      </a:accent4>
      <a:accent5>
        <a:srgbClr val="B42318"/>
      </a:accent5>
      <a:accent6>
        <a:srgbClr val="6B7280"/>
      </a:accent6>
      <a:hlink>
        <a:srgbClr val="2F6BD6"/>
      </a:hlink>
      <a:folHlink>
        <a:srgbClr val="7048C8"/>
      </a:folHlink>
    </a:clrScheme>
    <a:fontScheme name="Predictive Imaging">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Imaging-Informed Virtual Trials</dc:title>
  <dc:subject>PptxGenJS Presentation</dc:subject>
  <dc:creator>Hamid Abdollahi</dc:creator>
  <cp:lastModifiedBy>Hamid Abdollahi</cp:lastModifiedBy>
  <cp:revision>1</cp:revision>
  <dcterms:created xsi:type="dcterms:W3CDTF">2026-10-12T02:33:28Z</dcterms:created>
  <dcterms:modified xsi:type="dcterms:W3CDTF">2026-10-12T02:33:28Z</dcterms:modified>
</cp:coreProperties>
</file>